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ink/ink1.xml" ContentType="application/inkml+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ink/ink14.xml" ContentType="application/inkml+xml"/>
  <Override PartName="/ppt/ink/ink15.xml" ContentType="application/inkml+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0"/>
  </p:notesMasterIdLst>
  <p:sldIdLst>
    <p:sldId id="257" r:id="rId5"/>
    <p:sldId id="256" r:id="rId6"/>
    <p:sldId id="265" r:id="rId7"/>
    <p:sldId id="258" r:id="rId8"/>
    <p:sldId id="274" r:id="rId9"/>
    <p:sldId id="259" r:id="rId10"/>
    <p:sldId id="275" r:id="rId11"/>
    <p:sldId id="264" r:id="rId12"/>
    <p:sldId id="263" r:id="rId13"/>
    <p:sldId id="276" r:id="rId14"/>
    <p:sldId id="273" r:id="rId15"/>
    <p:sldId id="261" r:id="rId16"/>
    <p:sldId id="262" r:id="rId17"/>
    <p:sldId id="267" r:id="rId18"/>
    <p:sldId id="269" r:id="rId19"/>
    <p:sldId id="268" r:id="rId20"/>
    <p:sldId id="282" r:id="rId21"/>
    <p:sldId id="270" r:id="rId22"/>
    <p:sldId id="284" r:id="rId23"/>
    <p:sldId id="271" r:id="rId24"/>
    <p:sldId id="286" r:id="rId25"/>
    <p:sldId id="277" r:id="rId26"/>
    <p:sldId id="285" r:id="rId27"/>
    <p:sldId id="287" r:id="rId28"/>
    <p:sldId id="288" r:id="rId29"/>
    <p:sldId id="290" r:id="rId30"/>
    <p:sldId id="291" r:id="rId31"/>
    <p:sldId id="292" r:id="rId32"/>
    <p:sldId id="293" r:id="rId33"/>
    <p:sldId id="294" r:id="rId34"/>
    <p:sldId id="295" r:id="rId35"/>
    <p:sldId id="296" r:id="rId36"/>
    <p:sldId id="289" r:id="rId37"/>
    <p:sldId id="297" r:id="rId38"/>
    <p:sldId id="298" r:id="rId39"/>
    <p:sldId id="299" r:id="rId40"/>
    <p:sldId id="337" r:id="rId41"/>
    <p:sldId id="303" r:id="rId42"/>
    <p:sldId id="338" r:id="rId43"/>
    <p:sldId id="307" r:id="rId44"/>
    <p:sldId id="308" r:id="rId45"/>
    <p:sldId id="309" r:id="rId46"/>
    <p:sldId id="336" r:id="rId47"/>
    <p:sldId id="310" r:id="rId48"/>
    <p:sldId id="311" r:id="rId49"/>
    <p:sldId id="312" r:id="rId50"/>
    <p:sldId id="313" r:id="rId51"/>
    <p:sldId id="314" r:id="rId52"/>
    <p:sldId id="339" r:id="rId53"/>
    <p:sldId id="318" r:id="rId54"/>
    <p:sldId id="340" r:id="rId55"/>
    <p:sldId id="321" r:id="rId56"/>
    <p:sldId id="322" r:id="rId57"/>
    <p:sldId id="323" r:id="rId58"/>
    <p:sldId id="326" r:id="rId59"/>
    <p:sldId id="327" r:id="rId60"/>
    <p:sldId id="329" r:id="rId61"/>
    <p:sldId id="330" r:id="rId62"/>
    <p:sldId id="331" r:id="rId63"/>
    <p:sldId id="332" r:id="rId64"/>
    <p:sldId id="333" r:id="rId65"/>
    <p:sldId id="341" r:id="rId66"/>
    <p:sldId id="325" r:id="rId67"/>
    <p:sldId id="342" r:id="rId68"/>
    <p:sldId id="328" r:id="rId69"/>
    <p:sldId id="343" r:id="rId70"/>
    <p:sldId id="334" r:id="rId71"/>
    <p:sldId id="344" r:id="rId72"/>
    <p:sldId id="345" r:id="rId73"/>
    <p:sldId id="346" r:id="rId74"/>
    <p:sldId id="335" r:id="rId75"/>
    <p:sldId id="347" r:id="rId76"/>
    <p:sldId id="349" r:id="rId77"/>
    <p:sldId id="350" r:id="rId78"/>
    <p:sldId id="351" r:id="rId79"/>
    <p:sldId id="379" r:id="rId80"/>
    <p:sldId id="352" r:id="rId81"/>
    <p:sldId id="353" r:id="rId82"/>
    <p:sldId id="354" r:id="rId83"/>
    <p:sldId id="355" r:id="rId84"/>
    <p:sldId id="356" r:id="rId85"/>
    <p:sldId id="357" r:id="rId86"/>
    <p:sldId id="380" r:id="rId87"/>
    <p:sldId id="381" r:id="rId88"/>
    <p:sldId id="382" r:id="rId89"/>
    <p:sldId id="383" r:id="rId90"/>
    <p:sldId id="362" r:id="rId91"/>
    <p:sldId id="384" r:id="rId92"/>
    <p:sldId id="385" r:id="rId93"/>
    <p:sldId id="372" r:id="rId94"/>
    <p:sldId id="386" r:id="rId95"/>
    <p:sldId id="387" r:id="rId96"/>
    <p:sldId id="375" r:id="rId97"/>
    <p:sldId id="388" r:id="rId98"/>
    <p:sldId id="389" r:id="rId99"/>
    <p:sldId id="390" r:id="rId100"/>
    <p:sldId id="391" r:id="rId101"/>
    <p:sldId id="392" r:id="rId102"/>
    <p:sldId id="393" r:id="rId103"/>
    <p:sldId id="406" r:id="rId104"/>
    <p:sldId id="394" r:id="rId105"/>
    <p:sldId id="395" r:id="rId106"/>
    <p:sldId id="396" r:id="rId107"/>
    <p:sldId id="407" r:id="rId108"/>
    <p:sldId id="397" r:id="rId109"/>
    <p:sldId id="398" r:id="rId110"/>
    <p:sldId id="399" r:id="rId111"/>
    <p:sldId id="408" r:id="rId112"/>
    <p:sldId id="409" r:id="rId113"/>
    <p:sldId id="400" r:id="rId114"/>
    <p:sldId id="401" r:id="rId115"/>
    <p:sldId id="402" r:id="rId116"/>
    <p:sldId id="403" r:id="rId117"/>
    <p:sldId id="404" r:id="rId118"/>
    <p:sldId id="405" r:id="rId119"/>
    <p:sldId id="410" r:id="rId120"/>
    <p:sldId id="411" r:id="rId121"/>
    <p:sldId id="412" r:id="rId122"/>
    <p:sldId id="429" r:id="rId123"/>
    <p:sldId id="413" r:id="rId124"/>
    <p:sldId id="415" r:id="rId125"/>
    <p:sldId id="414" r:id="rId126"/>
    <p:sldId id="416" r:id="rId127"/>
    <p:sldId id="417" r:id="rId128"/>
    <p:sldId id="418" r:id="rId129"/>
    <p:sldId id="419" r:id="rId130"/>
    <p:sldId id="420" r:id="rId131"/>
    <p:sldId id="421" r:id="rId132"/>
    <p:sldId id="422" r:id="rId133"/>
    <p:sldId id="423" r:id="rId134"/>
    <p:sldId id="424" r:id="rId135"/>
    <p:sldId id="425" r:id="rId136"/>
    <p:sldId id="426" r:id="rId137"/>
    <p:sldId id="430" r:id="rId138"/>
    <p:sldId id="431" r:id="rId139"/>
    <p:sldId id="442" r:id="rId140"/>
    <p:sldId id="432" r:id="rId141"/>
    <p:sldId id="433" r:id="rId142"/>
    <p:sldId id="434" r:id="rId143"/>
    <p:sldId id="485" r:id="rId144"/>
    <p:sldId id="435" r:id="rId145"/>
    <p:sldId id="436" r:id="rId146"/>
    <p:sldId id="437" r:id="rId147"/>
    <p:sldId id="438" r:id="rId148"/>
    <p:sldId id="439" r:id="rId149"/>
    <p:sldId id="440" r:id="rId150"/>
    <p:sldId id="441" r:id="rId151"/>
    <p:sldId id="443" r:id="rId152"/>
    <p:sldId id="444" r:id="rId153"/>
    <p:sldId id="445" r:id="rId154"/>
    <p:sldId id="446" r:id="rId155"/>
    <p:sldId id="447" r:id="rId156"/>
    <p:sldId id="448" r:id="rId157"/>
    <p:sldId id="449" r:id="rId158"/>
    <p:sldId id="450" r:id="rId159"/>
    <p:sldId id="486" r:id="rId160"/>
    <p:sldId id="487" r:id="rId161"/>
    <p:sldId id="452" r:id="rId162"/>
    <p:sldId id="488" r:id="rId163"/>
    <p:sldId id="453" r:id="rId164"/>
    <p:sldId id="454" r:id="rId165"/>
    <p:sldId id="489" r:id="rId166"/>
    <p:sldId id="455" r:id="rId167"/>
    <p:sldId id="456" r:id="rId168"/>
    <p:sldId id="457" r:id="rId169"/>
    <p:sldId id="458" r:id="rId170"/>
    <p:sldId id="459" r:id="rId171"/>
    <p:sldId id="460" r:id="rId172"/>
    <p:sldId id="461" r:id="rId173"/>
    <p:sldId id="462" r:id="rId174"/>
    <p:sldId id="490" r:id="rId175"/>
    <p:sldId id="463" r:id="rId176"/>
    <p:sldId id="464" r:id="rId177"/>
    <p:sldId id="465" r:id="rId178"/>
    <p:sldId id="466" r:id="rId179"/>
    <p:sldId id="467" r:id="rId180"/>
    <p:sldId id="469" r:id="rId181"/>
    <p:sldId id="491" r:id="rId182"/>
    <p:sldId id="515" r:id="rId183"/>
    <p:sldId id="470" r:id="rId184"/>
    <p:sldId id="471" r:id="rId185"/>
    <p:sldId id="472" r:id="rId186"/>
    <p:sldId id="473" r:id="rId187"/>
    <p:sldId id="477" r:id="rId188"/>
    <p:sldId id="478" r:id="rId189"/>
    <p:sldId id="479" r:id="rId190"/>
    <p:sldId id="480" r:id="rId191"/>
    <p:sldId id="481" r:id="rId192"/>
    <p:sldId id="482" r:id="rId193"/>
    <p:sldId id="516" r:id="rId194"/>
    <p:sldId id="483" r:id="rId195"/>
    <p:sldId id="484" r:id="rId196"/>
    <p:sldId id="492" r:id="rId197"/>
    <p:sldId id="498" r:id="rId198"/>
    <p:sldId id="493" r:id="rId199"/>
    <p:sldId id="494" r:id="rId200"/>
    <p:sldId id="495" r:id="rId201"/>
    <p:sldId id="496" r:id="rId202"/>
    <p:sldId id="497" r:id="rId203"/>
    <p:sldId id="499" r:id="rId204"/>
    <p:sldId id="500" r:id="rId205"/>
    <p:sldId id="501" r:id="rId206"/>
    <p:sldId id="502" r:id="rId207"/>
    <p:sldId id="503" r:id="rId208"/>
    <p:sldId id="504" r:id="rId209"/>
    <p:sldId id="510" r:id="rId210"/>
    <p:sldId id="511" r:id="rId211"/>
    <p:sldId id="512" r:id="rId212"/>
    <p:sldId id="513" r:id="rId213"/>
    <p:sldId id="514" r:id="rId214"/>
    <p:sldId id="505" r:id="rId215"/>
    <p:sldId id="506" r:id="rId216"/>
    <p:sldId id="507" r:id="rId217"/>
    <p:sldId id="508" r:id="rId218"/>
    <p:sldId id="509" r:id="rId21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CD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0A34CB-5E51-4D70-9951-F6FB5679D5EE}" v="3" dt="2025-08-23T01:50:32.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41" autoAdjust="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slide" Target="slides/slide187.xml"/><Relationship Id="rId205" Type="http://schemas.openxmlformats.org/officeDocument/2006/relationships/slide" Target="slides/slide201.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16" Type="http://schemas.openxmlformats.org/officeDocument/2006/relationships/slide" Target="slides/slide212.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206" Type="http://schemas.openxmlformats.org/officeDocument/2006/relationships/slide" Target="slides/slide202.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217" Type="http://schemas.openxmlformats.org/officeDocument/2006/relationships/slide" Target="slides/slide213.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13" Type="http://schemas.openxmlformats.org/officeDocument/2006/relationships/slide" Target="slides/slide9.xml"/><Relationship Id="rId109" Type="http://schemas.openxmlformats.org/officeDocument/2006/relationships/slide" Target="slides/slide105.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18" Type="http://schemas.openxmlformats.org/officeDocument/2006/relationships/slide" Target="slides/slide214.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3" Type="http://schemas.openxmlformats.org/officeDocument/2006/relationships/customXml" Target="../customXml/item3.xml"/><Relationship Id="rId214" Type="http://schemas.openxmlformats.org/officeDocument/2006/relationships/slide" Target="slides/slide210.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95" Type="http://schemas.openxmlformats.org/officeDocument/2006/relationships/slide" Target="slides/slide191.xml"/><Relationship Id="rId209" Type="http://schemas.openxmlformats.org/officeDocument/2006/relationships/slide" Target="slides/slide205.xml"/><Relationship Id="rId190" Type="http://schemas.openxmlformats.org/officeDocument/2006/relationships/slide" Target="slides/slide186.xml"/><Relationship Id="rId204" Type="http://schemas.openxmlformats.org/officeDocument/2006/relationships/slide" Target="slides/slide200.xml"/><Relationship Id="rId220" Type="http://schemas.openxmlformats.org/officeDocument/2006/relationships/notesMaster" Target="notesMasters/notesMaster1.xml"/><Relationship Id="rId225" Type="http://schemas.microsoft.com/office/2015/10/relationships/revisionInfo" Target="revisionInfo.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slide" Target="slides/slide181.xml"/><Relationship Id="rId4" Type="http://schemas.openxmlformats.org/officeDocument/2006/relationships/slideMaster" Target="slideMasters/slideMaster1.xml"/><Relationship Id="rId9" Type="http://schemas.openxmlformats.org/officeDocument/2006/relationships/slide" Target="slides/slide5.xml"/><Relationship Id="rId180" Type="http://schemas.openxmlformats.org/officeDocument/2006/relationships/slide" Target="slides/slide176.xml"/><Relationship Id="rId210" Type="http://schemas.openxmlformats.org/officeDocument/2006/relationships/slide" Target="slides/slide206.xml"/><Relationship Id="rId215" Type="http://schemas.openxmlformats.org/officeDocument/2006/relationships/slide" Target="slides/slide211.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presProps" Target="presProps.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viewProps" Target="viewProps.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12" Type="http://schemas.openxmlformats.org/officeDocument/2006/relationships/slide" Target="slides/slide208.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223" Type="http://schemas.openxmlformats.org/officeDocument/2006/relationships/theme" Target="theme/theme1.xml"/><Relationship Id="rId18" Type="http://schemas.openxmlformats.org/officeDocument/2006/relationships/slide" Target="slides/slide14.xml"/><Relationship Id="rId39" Type="http://schemas.openxmlformats.org/officeDocument/2006/relationships/slide" Target="slides/slide35.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 Type="http://schemas.openxmlformats.org/officeDocument/2006/relationships/customXml" Target="../customXml/item2.xml"/><Relationship Id="rId29" Type="http://schemas.openxmlformats.org/officeDocument/2006/relationships/slide" Target="slides/slide25.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tableStyles" Target="tableStyles.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s>
</file>

<file path=ppt/diagrams/_rels/data8.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8.svg"/></Relationships>
</file>

<file path=ppt/diagrams/_rels/data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32.svg"/></Relationships>
</file>

<file path=ppt/diagrams/_rels/data10.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image" Target="../media/image38.svg"/><Relationship Id="rId9" Type="http://schemas.openxmlformats.org/officeDocument/2006/relationships/image" Target="../media/image43.png"/></Relationships>
</file>

<file path=ppt/diagrams/_rels/drawing8.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8.svg"/></Relationships>
</file>

<file path=ppt/diagrams/_rels/drawing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32.svg"/></Relationships>
</file>

<file path=ppt/diagrams/_rels/drawing10.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image" Target="../media/image38.svg"/><Relationship Id="rId9" Type="http://schemas.openxmlformats.org/officeDocument/2006/relationships/image" Target="../media/image43.pn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E51E3E-71F4-4FDC-8102-DB7FA0A183C9}" type="doc">
      <dgm:prSet loTypeId="urn:microsoft.com/office/officeart/2008/layout/LinedList" loCatId="list" qsTypeId="urn:microsoft.com/office/officeart/2005/8/quickstyle/simple4" qsCatId="simple" csTypeId="urn:microsoft.com/office/officeart/2005/8/colors/accent0_3" csCatId="mainScheme" phldr="1"/>
      <dgm:spPr/>
      <dgm:t>
        <a:bodyPr/>
        <a:lstStyle/>
        <a:p>
          <a:endParaRPr lang="en-US"/>
        </a:p>
      </dgm:t>
    </dgm:pt>
    <dgm:pt modelId="{2027C076-2112-4FAB-AE8C-1D0CD583180E}">
      <dgm:prSet/>
      <dgm:spPr/>
      <dgm:t>
        <a:bodyPr/>
        <a:lstStyle/>
        <a:p>
          <a:r>
            <a:rPr lang="en-US" b="0" i="0" baseline="0" dirty="0"/>
            <a:t>Create a code that prints the expression on the screen</a:t>
          </a:r>
          <a:endParaRPr lang="en-US" dirty="0"/>
        </a:p>
      </dgm:t>
    </dgm:pt>
    <dgm:pt modelId="{3AF9EB5F-1B29-4B9C-96A1-ECCD1B716E0C}" type="parTrans" cxnId="{098AB865-A7DD-449F-92E3-8F3249D54D46}">
      <dgm:prSet/>
      <dgm:spPr/>
      <dgm:t>
        <a:bodyPr/>
        <a:lstStyle/>
        <a:p>
          <a:endParaRPr lang="en-US"/>
        </a:p>
      </dgm:t>
    </dgm:pt>
    <dgm:pt modelId="{2781F87F-4283-40F4-B4EB-044C2AD62CF1}" type="sibTrans" cxnId="{098AB865-A7DD-449F-92E3-8F3249D54D46}">
      <dgm:prSet/>
      <dgm:spPr/>
      <dgm:t>
        <a:bodyPr/>
        <a:lstStyle/>
        <a:p>
          <a:endParaRPr lang="en-US"/>
        </a:p>
      </dgm:t>
    </dgm:pt>
    <dgm:pt modelId="{BCF72D04-A31F-475C-8EAE-DCF529B033C9}">
      <dgm:prSet/>
      <dgm:spPr/>
      <dgm:t>
        <a:bodyPr/>
        <a:lstStyle/>
        <a:p>
          <a:r>
            <a:rPr lang="es-MX" b="1" i="0" baseline="0" dirty="0"/>
            <a:t>I </a:t>
          </a:r>
          <a:r>
            <a:rPr lang="es-MX" b="1" i="0" baseline="0" dirty="0" err="1"/>
            <a:t>love</a:t>
          </a:r>
          <a:r>
            <a:rPr lang="es-MX" b="1" i="0" baseline="0" dirty="0"/>
            <a:t> </a:t>
          </a:r>
          <a:r>
            <a:rPr lang="es-MX" b="1" i="0" baseline="0" dirty="0" err="1"/>
            <a:t>studying</a:t>
          </a:r>
          <a:r>
            <a:rPr lang="es-MX" b="1" i="0" baseline="0" dirty="0"/>
            <a:t> Python</a:t>
          </a:r>
          <a:endParaRPr lang="en-US" dirty="0"/>
        </a:p>
      </dgm:t>
    </dgm:pt>
    <dgm:pt modelId="{96561F36-A0C1-40E0-90A5-EDFC5584E509}" type="parTrans" cxnId="{68EABF7B-958C-4572-A590-5CED05B51A9D}">
      <dgm:prSet/>
      <dgm:spPr/>
      <dgm:t>
        <a:bodyPr/>
        <a:lstStyle/>
        <a:p>
          <a:endParaRPr lang="en-US"/>
        </a:p>
      </dgm:t>
    </dgm:pt>
    <dgm:pt modelId="{A56DF0DB-1C13-427E-B66D-CF9A1CC6627F}" type="sibTrans" cxnId="{68EABF7B-958C-4572-A590-5CED05B51A9D}">
      <dgm:prSet/>
      <dgm:spPr/>
      <dgm:t>
        <a:bodyPr/>
        <a:lstStyle/>
        <a:p>
          <a:endParaRPr lang="en-US"/>
        </a:p>
      </dgm:t>
    </dgm:pt>
    <dgm:pt modelId="{F597D943-68D2-48C0-B628-C91CE5848057}" type="pres">
      <dgm:prSet presAssocID="{16E51E3E-71F4-4FDC-8102-DB7FA0A183C9}" presName="vert0" presStyleCnt="0">
        <dgm:presLayoutVars>
          <dgm:dir/>
          <dgm:animOne val="branch"/>
          <dgm:animLvl val="lvl"/>
        </dgm:presLayoutVars>
      </dgm:prSet>
      <dgm:spPr/>
    </dgm:pt>
    <dgm:pt modelId="{FEDC6059-8F16-4CB4-9538-BA9934996F7F}" type="pres">
      <dgm:prSet presAssocID="{2027C076-2112-4FAB-AE8C-1D0CD583180E}" presName="thickLine" presStyleLbl="alignNode1" presStyleIdx="0" presStyleCnt="2"/>
      <dgm:spPr/>
    </dgm:pt>
    <dgm:pt modelId="{7FC51D21-1993-40CE-A142-F9CCF9B1E2CF}" type="pres">
      <dgm:prSet presAssocID="{2027C076-2112-4FAB-AE8C-1D0CD583180E}" presName="horz1" presStyleCnt="0"/>
      <dgm:spPr/>
    </dgm:pt>
    <dgm:pt modelId="{40345906-98A0-4084-9104-AD1DBE854DDB}" type="pres">
      <dgm:prSet presAssocID="{2027C076-2112-4FAB-AE8C-1D0CD583180E}" presName="tx1" presStyleLbl="revTx" presStyleIdx="0" presStyleCnt="2"/>
      <dgm:spPr/>
    </dgm:pt>
    <dgm:pt modelId="{2CD88560-DEE7-4B64-977F-E9D507B2B151}" type="pres">
      <dgm:prSet presAssocID="{2027C076-2112-4FAB-AE8C-1D0CD583180E}" presName="vert1" presStyleCnt="0"/>
      <dgm:spPr/>
    </dgm:pt>
    <dgm:pt modelId="{9D2E597D-1E5D-40C8-B47E-F0AEEE996733}" type="pres">
      <dgm:prSet presAssocID="{BCF72D04-A31F-475C-8EAE-DCF529B033C9}" presName="thickLine" presStyleLbl="alignNode1" presStyleIdx="1" presStyleCnt="2"/>
      <dgm:spPr/>
    </dgm:pt>
    <dgm:pt modelId="{2E0044C2-9105-4147-8B75-A389D212A06D}" type="pres">
      <dgm:prSet presAssocID="{BCF72D04-A31F-475C-8EAE-DCF529B033C9}" presName="horz1" presStyleCnt="0"/>
      <dgm:spPr/>
    </dgm:pt>
    <dgm:pt modelId="{A4FDCE37-2D3D-423A-ACAE-3090C58FD9E3}" type="pres">
      <dgm:prSet presAssocID="{BCF72D04-A31F-475C-8EAE-DCF529B033C9}" presName="tx1" presStyleLbl="revTx" presStyleIdx="1" presStyleCnt="2"/>
      <dgm:spPr/>
    </dgm:pt>
    <dgm:pt modelId="{DFEA38A3-506F-4216-B764-43AD263200E8}" type="pres">
      <dgm:prSet presAssocID="{BCF72D04-A31F-475C-8EAE-DCF529B033C9}" presName="vert1" presStyleCnt="0"/>
      <dgm:spPr/>
    </dgm:pt>
  </dgm:ptLst>
  <dgm:cxnLst>
    <dgm:cxn modelId="{4B9C5605-41CC-4C0A-8366-F9FEBAEE257E}" type="presOf" srcId="{16E51E3E-71F4-4FDC-8102-DB7FA0A183C9}" destId="{F597D943-68D2-48C0-B628-C91CE5848057}" srcOrd="0" destOrd="0" presId="urn:microsoft.com/office/officeart/2008/layout/LinedList"/>
    <dgm:cxn modelId="{2A831C1D-AA9A-4EF7-A423-50DF99D1AA38}" type="presOf" srcId="{2027C076-2112-4FAB-AE8C-1D0CD583180E}" destId="{40345906-98A0-4084-9104-AD1DBE854DDB}" srcOrd="0" destOrd="0" presId="urn:microsoft.com/office/officeart/2008/layout/LinedList"/>
    <dgm:cxn modelId="{098AB865-A7DD-449F-92E3-8F3249D54D46}" srcId="{16E51E3E-71F4-4FDC-8102-DB7FA0A183C9}" destId="{2027C076-2112-4FAB-AE8C-1D0CD583180E}" srcOrd="0" destOrd="0" parTransId="{3AF9EB5F-1B29-4B9C-96A1-ECCD1B716E0C}" sibTransId="{2781F87F-4283-40F4-B4EB-044C2AD62CF1}"/>
    <dgm:cxn modelId="{ACA7A569-BBEC-4F7D-800B-AC5DE6119ED2}" type="presOf" srcId="{BCF72D04-A31F-475C-8EAE-DCF529B033C9}" destId="{A4FDCE37-2D3D-423A-ACAE-3090C58FD9E3}" srcOrd="0" destOrd="0" presId="urn:microsoft.com/office/officeart/2008/layout/LinedList"/>
    <dgm:cxn modelId="{68EABF7B-958C-4572-A590-5CED05B51A9D}" srcId="{16E51E3E-71F4-4FDC-8102-DB7FA0A183C9}" destId="{BCF72D04-A31F-475C-8EAE-DCF529B033C9}" srcOrd="1" destOrd="0" parTransId="{96561F36-A0C1-40E0-90A5-EDFC5584E509}" sibTransId="{A56DF0DB-1C13-427E-B66D-CF9A1CC6627F}"/>
    <dgm:cxn modelId="{F4372081-8E3E-492E-A52D-2CCF76C8F2CE}" type="presParOf" srcId="{F597D943-68D2-48C0-B628-C91CE5848057}" destId="{FEDC6059-8F16-4CB4-9538-BA9934996F7F}" srcOrd="0" destOrd="0" presId="urn:microsoft.com/office/officeart/2008/layout/LinedList"/>
    <dgm:cxn modelId="{CF919037-D05D-43AB-B6AC-6509C8D84049}" type="presParOf" srcId="{F597D943-68D2-48C0-B628-C91CE5848057}" destId="{7FC51D21-1993-40CE-A142-F9CCF9B1E2CF}" srcOrd="1" destOrd="0" presId="urn:microsoft.com/office/officeart/2008/layout/LinedList"/>
    <dgm:cxn modelId="{98505EF2-D50C-466E-A86A-304BB4C66715}" type="presParOf" srcId="{7FC51D21-1993-40CE-A142-F9CCF9B1E2CF}" destId="{40345906-98A0-4084-9104-AD1DBE854DDB}" srcOrd="0" destOrd="0" presId="urn:microsoft.com/office/officeart/2008/layout/LinedList"/>
    <dgm:cxn modelId="{4395C4B6-EBB5-420F-B308-CF75AEF54E10}" type="presParOf" srcId="{7FC51D21-1993-40CE-A142-F9CCF9B1E2CF}" destId="{2CD88560-DEE7-4B64-977F-E9D507B2B151}" srcOrd="1" destOrd="0" presId="urn:microsoft.com/office/officeart/2008/layout/LinedList"/>
    <dgm:cxn modelId="{B9B573AE-7A79-469B-91EF-01B6CF81516C}" type="presParOf" srcId="{F597D943-68D2-48C0-B628-C91CE5848057}" destId="{9D2E597D-1E5D-40C8-B47E-F0AEEE996733}" srcOrd="2" destOrd="0" presId="urn:microsoft.com/office/officeart/2008/layout/LinedList"/>
    <dgm:cxn modelId="{54A88654-C204-45FE-8759-885AF0780DBB}" type="presParOf" srcId="{F597D943-68D2-48C0-B628-C91CE5848057}" destId="{2E0044C2-9105-4147-8B75-A389D212A06D}" srcOrd="3" destOrd="0" presId="urn:microsoft.com/office/officeart/2008/layout/LinedList"/>
    <dgm:cxn modelId="{7D1AC6FB-4502-4397-AFA4-4EB572ECB0D3}" type="presParOf" srcId="{2E0044C2-9105-4147-8B75-A389D212A06D}" destId="{A4FDCE37-2D3D-423A-ACAE-3090C58FD9E3}" srcOrd="0" destOrd="0" presId="urn:microsoft.com/office/officeart/2008/layout/LinedList"/>
    <dgm:cxn modelId="{A9C6BCC1-DE64-4FE5-A8D9-95BBA394D6EB}" type="presParOf" srcId="{2E0044C2-9105-4147-8B75-A389D212A06D}" destId="{DFEA38A3-506F-4216-B764-43AD263200E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2BCC7A-3486-4BDB-ADFA-86C062ED34D2}" type="doc">
      <dgm:prSet loTypeId="urn:microsoft.com/office/officeart/2005/8/layout/list1" loCatId="list" qsTypeId="urn:microsoft.com/office/officeart/2005/8/quickstyle/simple4" qsCatId="simple" csTypeId="urn:microsoft.com/office/officeart/2005/8/colors/accent0_3" csCatId="mainScheme" phldr="1"/>
      <dgm:spPr/>
      <dgm:t>
        <a:bodyPr/>
        <a:lstStyle/>
        <a:p>
          <a:endParaRPr lang="en-US"/>
        </a:p>
      </dgm:t>
    </dgm:pt>
    <dgm:pt modelId="{F720871D-BC7B-41D6-B97D-1FE545036961}">
      <dgm:prSet/>
      <dgm:spPr/>
      <dgm:t>
        <a:bodyPr/>
        <a:lstStyle/>
        <a:p>
          <a:r>
            <a:rPr lang="es-MX" i="1"/>
            <a:t>Concatenación</a:t>
          </a:r>
          <a:endParaRPr lang="en-US" dirty="0"/>
        </a:p>
      </dgm:t>
    </dgm:pt>
    <dgm:pt modelId="{798958FE-BB86-48CA-9A0E-BADD6305FD1D}" type="parTrans" cxnId="{1E9A646F-774D-4691-A77A-45ECBC264DB7}">
      <dgm:prSet/>
      <dgm:spPr/>
      <dgm:t>
        <a:bodyPr/>
        <a:lstStyle/>
        <a:p>
          <a:endParaRPr lang="en-US"/>
        </a:p>
      </dgm:t>
    </dgm:pt>
    <dgm:pt modelId="{B2933998-A6F4-4C46-8082-9E91D63299EC}" type="sibTrans" cxnId="{1E9A646F-774D-4691-A77A-45ECBC264DB7}">
      <dgm:prSet/>
      <dgm:spPr/>
      <dgm:t>
        <a:bodyPr/>
        <a:lstStyle/>
        <a:p>
          <a:endParaRPr lang="en-US"/>
        </a:p>
      </dgm:t>
    </dgm:pt>
    <dgm:pt modelId="{B9B0EAB1-B775-4F0A-9064-FB83D89968C1}">
      <dgm:prSet/>
      <dgm:spPr/>
      <dgm:t>
        <a:bodyPr/>
        <a:lstStyle/>
        <a:p>
          <a:r>
            <a:rPr lang="en-US"/>
            <a:t>Unification of text strings:
print("Hello" + " " + "world") 
&gt;&gt; Hello world</a:t>
          </a:r>
          <a:endParaRPr lang="en-US" dirty="0"/>
        </a:p>
      </dgm:t>
    </dgm:pt>
    <dgm:pt modelId="{1EAE7B09-7BE8-4E85-ABAC-2C0CA57431D7}" type="parTrans" cxnId="{0CAD99A0-5026-44C8-990D-1795B03B2896}">
      <dgm:prSet/>
      <dgm:spPr/>
      <dgm:t>
        <a:bodyPr/>
        <a:lstStyle/>
        <a:p>
          <a:endParaRPr lang="en-US"/>
        </a:p>
      </dgm:t>
    </dgm:pt>
    <dgm:pt modelId="{8EB2EF45-F589-44B4-B148-40C8235AD4E9}" type="sibTrans" cxnId="{0CAD99A0-5026-44C8-990D-1795B03B2896}">
      <dgm:prSet/>
      <dgm:spPr/>
      <dgm:t>
        <a:bodyPr/>
        <a:lstStyle/>
        <a:p>
          <a:endParaRPr lang="en-US"/>
        </a:p>
      </dgm:t>
    </dgm:pt>
    <dgm:pt modelId="{DF78E5BD-4708-472D-933C-FB3325A5A94D}">
      <dgm:prSet/>
      <dgm:spPr/>
      <dgm:t>
        <a:bodyPr/>
        <a:lstStyle/>
        <a:p>
          <a:endParaRPr lang="en-US" dirty="0"/>
        </a:p>
      </dgm:t>
    </dgm:pt>
    <dgm:pt modelId="{5A185C3A-63BD-4BAB-BCCE-FA6886A38382}" type="parTrans" cxnId="{315A4FC2-2C4F-417F-9935-1B5679F31693}">
      <dgm:prSet/>
      <dgm:spPr/>
      <dgm:t>
        <a:bodyPr/>
        <a:lstStyle/>
        <a:p>
          <a:endParaRPr lang="en-US"/>
        </a:p>
      </dgm:t>
    </dgm:pt>
    <dgm:pt modelId="{044C043F-C7A9-4498-82A1-3F393C767439}" type="sibTrans" cxnId="{315A4FC2-2C4F-417F-9935-1B5679F31693}">
      <dgm:prSet/>
      <dgm:spPr/>
      <dgm:t>
        <a:bodyPr/>
        <a:lstStyle/>
        <a:p>
          <a:endParaRPr lang="en-US"/>
        </a:p>
      </dgm:t>
    </dgm:pt>
    <dgm:pt modelId="{8F13B8F9-AAFD-47B3-90A7-C8F6A52D9A5B}">
      <dgm:prSet/>
      <dgm:spPr/>
      <dgm:t>
        <a:bodyPr/>
        <a:lstStyle/>
        <a:p>
          <a:r>
            <a:rPr lang="es-MX" i="1" dirty="0" err="1"/>
            <a:t>Special</a:t>
          </a:r>
          <a:r>
            <a:rPr lang="es-MX" i="1" dirty="0"/>
            <a:t> </a:t>
          </a:r>
          <a:r>
            <a:rPr lang="es-MX" i="1" dirty="0" err="1"/>
            <a:t>Characters</a:t>
          </a:r>
          <a:endParaRPr lang="en-US" dirty="0"/>
        </a:p>
      </dgm:t>
    </dgm:pt>
    <dgm:pt modelId="{92BEE342-A2AD-4506-B905-5DD0E5A44B61}" type="parTrans" cxnId="{4E93A4DE-E98F-42B7-9681-A602B10E5D60}">
      <dgm:prSet/>
      <dgm:spPr/>
      <dgm:t>
        <a:bodyPr/>
        <a:lstStyle/>
        <a:p>
          <a:endParaRPr lang="en-US"/>
        </a:p>
      </dgm:t>
    </dgm:pt>
    <dgm:pt modelId="{BA85CA91-D7D1-48B8-9336-EEF620146772}" type="sibTrans" cxnId="{4E93A4DE-E98F-42B7-9681-A602B10E5D60}">
      <dgm:prSet/>
      <dgm:spPr/>
      <dgm:t>
        <a:bodyPr/>
        <a:lstStyle/>
        <a:p>
          <a:endParaRPr lang="en-US"/>
        </a:p>
      </dgm:t>
    </dgm:pt>
    <dgm:pt modelId="{43B5FAB1-D9AA-49CB-B464-7E34DC3AA5F8}">
      <dgm:prSet/>
      <dgm:spPr/>
      <dgm:t>
        <a:bodyPr/>
        <a:lstStyle/>
        <a:p>
          <a:r>
            <a:rPr lang="en-US" dirty="0"/>
            <a:t>Continuation of the symbol \ should be treated as a special character.
&gt; Print quotation marks </a:t>
          </a:r>
          <a:r>
            <a:rPr lang="en-US"/>
            <a:t>
\n </a:t>
          </a:r>
          <a:r>
            <a:rPr lang="en-US" dirty="0"/>
            <a:t>&gt; Separate text on a new line</a:t>
          </a:r>
        </a:p>
      </dgm:t>
    </dgm:pt>
    <dgm:pt modelId="{253DEED4-C488-45BB-9D7B-68F46A6CA28C}" type="parTrans" cxnId="{933E7B78-325F-4726-A4BA-A3406AC499AE}">
      <dgm:prSet/>
      <dgm:spPr/>
      <dgm:t>
        <a:bodyPr/>
        <a:lstStyle/>
        <a:p>
          <a:endParaRPr lang="en-US"/>
        </a:p>
      </dgm:t>
    </dgm:pt>
    <dgm:pt modelId="{CB3C1385-C1BC-48FC-AC97-11E3EEABE1AA}" type="sibTrans" cxnId="{933E7B78-325F-4726-A4BA-A3406AC499AE}">
      <dgm:prSet/>
      <dgm:spPr/>
      <dgm:t>
        <a:bodyPr/>
        <a:lstStyle/>
        <a:p>
          <a:endParaRPr lang="en-US"/>
        </a:p>
      </dgm:t>
    </dgm:pt>
    <dgm:pt modelId="{387E1FF8-DE28-4A85-835A-78AED6C329F1}">
      <dgm:prSet/>
      <dgm:spPr/>
      <dgm:t>
        <a:bodyPr/>
        <a:lstStyle/>
        <a:p>
          <a:endParaRPr lang="en-US" dirty="0"/>
        </a:p>
      </dgm:t>
    </dgm:pt>
    <dgm:pt modelId="{B4156BF7-57CA-4BEF-BC58-42D3AE78CDCC}" type="parTrans" cxnId="{066734E2-88AE-413F-9E60-893141BCA0B9}">
      <dgm:prSet/>
      <dgm:spPr/>
      <dgm:t>
        <a:bodyPr/>
        <a:lstStyle/>
        <a:p>
          <a:endParaRPr lang="en-US"/>
        </a:p>
      </dgm:t>
    </dgm:pt>
    <dgm:pt modelId="{FE4FF203-4B39-475D-98F0-535701A01A6B}" type="sibTrans" cxnId="{066734E2-88AE-413F-9E60-893141BCA0B9}">
      <dgm:prSet/>
      <dgm:spPr/>
      <dgm:t>
        <a:bodyPr/>
        <a:lstStyle/>
        <a:p>
          <a:endParaRPr lang="en-US"/>
        </a:p>
      </dgm:t>
    </dgm:pt>
    <dgm:pt modelId="{0E0D98B6-DB66-40D9-AA14-EEF3273E5C00}" type="pres">
      <dgm:prSet presAssocID="{9D2BCC7A-3486-4BDB-ADFA-86C062ED34D2}" presName="linear" presStyleCnt="0">
        <dgm:presLayoutVars>
          <dgm:dir/>
          <dgm:animLvl val="lvl"/>
          <dgm:resizeHandles val="exact"/>
        </dgm:presLayoutVars>
      </dgm:prSet>
      <dgm:spPr/>
    </dgm:pt>
    <dgm:pt modelId="{4474D073-B53F-4752-90A0-C38279D9EF97}" type="pres">
      <dgm:prSet presAssocID="{F720871D-BC7B-41D6-B97D-1FE545036961}" presName="parentLin" presStyleCnt="0"/>
      <dgm:spPr/>
    </dgm:pt>
    <dgm:pt modelId="{B04C1EC9-CE57-4A7E-BAAB-CB3979D81FB9}" type="pres">
      <dgm:prSet presAssocID="{F720871D-BC7B-41D6-B97D-1FE545036961}" presName="parentLeftMargin" presStyleLbl="node1" presStyleIdx="0" presStyleCnt="2"/>
      <dgm:spPr/>
    </dgm:pt>
    <dgm:pt modelId="{3042BC32-84A0-4D08-8F60-6D2B2C84B4D0}" type="pres">
      <dgm:prSet presAssocID="{F720871D-BC7B-41D6-B97D-1FE545036961}" presName="parentText" presStyleLbl="node1" presStyleIdx="0" presStyleCnt="2">
        <dgm:presLayoutVars>
          <dgm:chMax val="0"/>
          <dgm:bulletEnabled val="1"/>
        </dgm:presLayoutVars>
      </dgm:prSet>
      <dgm:spPr/>
    </dgm:pt>
    <dgm:pt modelId="{B72871EA-9D5B-49B6-AF71-5AC202C7F7A2}" type="pres">
      <dgm:prSet presAssocID="{F720871D-BC7B-41D6-B97D-1FE545036961}" presName="negativeSpace" presStyleCnt="0"/>
      <dgm:spPr/>
    </dgm:pt>
    <dgm:pt modelId="{42E7261D-6737-4791-9894-066BADF7DBBA}" type="pres">
      <dgm:prSet presAssocID="{F720871D-BC7B-41D6-B97D-1FE545036961}" presName="childText" presStyleLbl="conFgAcc1" presStyleIdx="0" presStyleCnt="2">
        <dgm:presLayoutVars>
          <dgm:bulletEnabled val="1"/>
        </dgm:presLayoutVars>
      </dgm:prSet>
      <dgm:spPr/>
    </dgm:pt>
    <dgm:pt modelId="{94AD1510-977A-4F3D-BC15-06C2A3B9800A}" type="pres">
      <dgm:prSet presAssocID="{B2933998-A6F4-4C46-8082-9E91D63299EC}" presName="spaceBetweenRectangles" presStyleCnt="0"/>
      <dgm:spPr/>
    </dgm:pt>
    <dgm:pt modelId="{EA3971F1-DC27-4FFF-BC5F-BBB5CF6D5245}" type="pres">
      <dgm:prSet presAssocID="{8F13B8F9-AAFD-47B3-90A7-C8F6A52D9A5B}" presName="parentLin" presStyleCnt="0"/>
      <dgm:spPr/>
    </dgm:pt>
    <dgm:pt modelId="{5170FCD8-08E1-435F-ADB2-89D386AF385C}" type="pres">
      <dgm:prSet presAssocID="{8F13B8F9-AAFD-47B3-90A7-C8F6A52D9A5B}" presName="parentLeftMargin" presStyleLbl="node1" presStyleIdx="0" presStyleCnt="2"/>
      <dgm:spPr/>
    </dgm:pt>
    <dgm:pt modelId="{193A4EBC-8C1B-4FF6-B679-5306F037CEE4}" type="pres">
      <dgm:prSet presAssocID="{8F13B8F9-AAFD-47B3-90A7-C8F6A52D9A5B}" presName="parentText" presStyleLbl="node1" presStyleIdx="1" presStyleCnt="2">
        <dgm:presLayoutVars>
          <dgm:chMax val="0"/>
          <dgm:bulletEnabled val="1"/>
        </dgm:presLayoutVars>
      </dgm:prSet>
      <dgm:spPr/>
    </dgm:pt>
    <dgm:pt modelId="{914DABD8-5E5C-4CF9-BA48-A6196AA2EE98}" type="pres">
      <dgm:prSet presAssocID="{8F13B8F9-AAFD-47B3-90A7-C8F6A52D9A5B}" presName="negativeSpace" presStyleCnt="0"/>
      <dgm:spPr/>
    </dgm:pt>
    <dgm:pt modelId="{CDA41923-5CDE-475E-8D50-4EBC17296290}" type="pres">
      <dgm:prSet presAssocID="{8F13B8F9-AAFD-47B3-90A7-C8F6A52D9A5B}" presName="childText" presStyleLbl="conFgAcc1" presStyleIdx="1" presStyleCnt="2">
        <dgm:presLayoutVars>
          <dgm:bulletEnabled val="1"/>
        </dgm:presLayoutVars>
      </dgm:prSet>
      <dgm:spPr/>
    </dgm:pt>
  </dgm:ptLst>
  <dgm:cxnLst>
    <dgm:cxn modelId="{D882B927-D542-4A09-8C87-AB6D75398312}" type="presOf" srcId="{43B5FAB1-D9AA-49CB-B464-7E34DC3AA5F8}" destId="{CDA41923-5CDE-475E-8D50-4EBC17296290}" srcOrd="0" destOrd="0" presId="urn:microsoft.com/office/officeart/2005/8/layout/list1"/>
    <dgm:cxn modelId="{5AC8832E-CFCD-44C4-BAF2-FAE41F25BED3}" type="presOf" srcId="{B9B0EAB1-B775-4F0A-9064-FB83D89968C1}" destId="{42E7261D-6737-4791-9894-066BADF7DBBA}" srcOrd="0" destOrd="0" presId="urn:microsoft.com/office/officeart/2005/8/layout/list1"/>
    <dgm:cxn modelId="{B6E4042F-6A07-47A3-9CBA-9170514F4379}" type="presOf" srcId="{9D2BCC7A-3486-4BDB-ADFA-86C062ED34D2}" destId="{0E0D98B6-DB66-40D9-AA14-EEF3273E5C00}" srcOrd="0" destOrd="0" presId="urn:microsoft.com/office/officeart/2005/8/layout/list1"/>
    <dgm:cxn modelId="{92E3EB31-5931-4A7F-9496-350A70B43E6B}" type="presOf" srcId="{F720871D-BC7B-41D6-B97D-1FE545036961}" destId="{B04C1EC9-CE57-4A7E-BAAB-CB3979D81FB9}" srcOrd="0" destOrd="0" presId="urn:microsoft.com/office/officeart/2005/8/layout/list1"/>
    <dgm:cxn modelId="{E5AA7348-0A1E-4CA2-A8B6-FFFB0835FDFA}" type="presOf" srcId="{8F13B8F9-AAFD-47B3-90A7-C8F6A52D9A5B}" destId="{193A4EBC-8C1B-4FF6-B679-5306F037CEE4}" srcOrd="1" destOrd="0" presId="urn:microsoft.com/office/officeart/2005/8/layout/list1"/>
    <dgm:cxn modelId="{1E9A646F-774D-4691-A77A-45ECBC264DB7}" srcId="{9D2BCC7A-3486-4BDB-ADFA-86C062ED34D2}" destId="{F720871D-BC7B-41D6-B97D-1FE545036961}" srcOrd="0" destOrd="0" parTransId="{798958FE-BB86-48CA-9A0E-BADD6305FD1D}" sibTransId="{B2933998-A6F4-4C46-8082-9E91D63299EC}"/>
    <dgm:cxn modelId="{933E7B78-325F-4726-A4BA-A3406AC499AE}" srcId="{8F13B8F9-AAFD-47B3-90A7-C8F6A52D9A5B}" destId="{43B5FAB1-D9AA-49CB-B464-7E34DC3AA5F8}" srcOrd="0" destOrd="0" parTransId="{253DEED4-C488-45BB-9D7B-68F46A6CA28C}" sibTransId="{CB3C1385-C1BC-48FC-AC97-11E3EEABE1AA}"/>
    <dgm:cxn modelId="{86660E8A-6100-47A7-8461-5FAE236D5CD3}" type="presOf" srcId="{DF78E5BD-4708-472D-933C-FB3325A5A94D}" destId="{42E7261D-6737-4791-9894-066BADF7DBBA}" srcOrd="0" destOrd="1" presId="urn:microsoft.com/office/officeart/2005/8/layout/list1"/>
    <dgm:cxn modelId="{2FFE6C8B-E4D8-4589-ADC1-EFC36305A830}" type="presOf" srcId="{387E1FF8-DE28-4A85-835A-78AED6C329F1}" destId="{CDA41923-5CDE-475E-8D50-4EBC17296290}" srcOrd="0" destOrd="1" presId="urn:microsoft.com/office/officeart/2005/8/layout/list1"/>
    <dgm:cxn modelId="{7DA8C99B-1210-4E5C-B836-98ABBD0547D2}" type="presOf" srcId="{F720871D-BC7B-41D6-B97D-1FE545036961}" destId="{3042BC32-84A0-4D08-8F60-6D2B2C84B4D0}" srcOrd="1" destOrd="0" presId="urn:microsoft.com/office/officeart/2005/8/layout/list1"/>
    <dgm:cxn modelId="{0CAD99A0-5026-44C8-990D-1795B03B2896}" srcId="{F720871D-BC7B-41D6-B97D-1FE545036961}" destId="{B9B0EAB1-B775-4F0A-9064-FB83D89968C1}" srcOrd="0" destOrd="0" parTransId="{1EAE7B09-7BE8-4E85-ABAC-2C0CA57431D7}" sibTransId="{8EB2EF45-F589-44B4-B148-40C8235AD4E9}"/>
    <dgm:cxn modelId="{315A4FC2-2C4F-417F-9935-1B5679F31693}" srcId="{F720871D-BC7B-41D6-B97D-1FE545036961}" destId="{DF78E5BD-4708-472D-933C-FB3325A5A94D}" srcOrd="1" destOrd="0" parTransId="{5A185C3A-63BD-4BAB-BCCE-FA6886A38382}" sibTransId="{044C043F-C7A9-4498-82A1-3F393C767439}"/>
    <dgm:cxn modelId="{4E93A4DE-E98F-42B7-9681-A602B10E5D60}" srcId="{9D2BCC7A-3486-4BDB-ADFA-86C062ED34D2}" destId="{8F13B8F9-AAFD-47B3-90A7-C8F6A52D9A5B}" srcOrd="1" destOrd="0" parTransId="{92BEE342-A2AD-4506-B905-5DD0E5A44B61}" sibTransId="{BA85CA91-D7D1-48B8-9336-EEF620146772}"/>
    <dgm:cxn modelId="{066734E2-88AE-413F-9E60-893141BCA0B9}" srcId="{8F13B8F9-AAFD-47B3-90A7-C8F6A52D9A5B}" destId="{387E1FF8-DE28-4A85-835A-78AED6C329F1}" srcOrd="1" destOrd="0" parTransId="{B4156BF7-57CA-4BEF-BC58-42D3AE78CDCC}" sibTransId="{FE4FF203-4B39-475D-98F0-535701A01A6B}"/>
    <dgm:cxn modelId="{EA9EB0EC-6141-41B4-B220-4E9295EE3709}" type="presOf" srcId="{8F13B8F9-AAFD-47B3-90A7-C8F6A52D9A5B}" destId="{5170FCD8-08E1-435F-ADB2-89D386AF385C}" srcOrd="0" destOrd="0" presId="urn:microsoft.com/office/officeart/2005/8/layout/list1"/>
    <dgm:cxn modelId="{0188C1B8-C4A8-4561-A485-3EC96F698A33}" type="presParOf" srcId="{0E0D98B6-DB66-40D9-AA14-EEF3273E5C00}" destId="{4474D073-B53F-4752-90A0-C38279D9EF97}" srcOrd="0" destOrd="0" presId="urn:microsoft.com/office/officeart/2005/8/layout/list1"/>
    <dgm:cxn modelId="{AD20D95F-FDB5-4B9A-AE76-39C9F97522CB}" type="presParOf" srcId="{4474D073-B53F-4752-90A0-C38279D9EF97}" destId="{B04C1EC9-CE57-4A7E-BAAB-CB3979D81FB9}" srcOrd="0" destOrd="0" presId="urn:microsoft.com/office/officeart/2005/8/layout/list1"/>
    <dgm:cxn modelId="{8B0FECD3-496A-4A61-91D2-1D9AE7054F9E}" type="presParOf" srcId="{4474D073-B53F-4752-90A0-C38279D9EF97}" destId="{3042BC32-84A0-4D08-8F60-6D2B2C84B4D0}" srcOrd="1" destOrd="0" presId="urn:microsoft.com/office/officeart/2005/8/layout/list1"/>
    <dgm:cxn modelId="{A5FD1610-C769-4525-85E5-A61951C1035B}" type="presParOf" srcId="{0E0D98B6-DB66-40D9-AA14-EEF3273E5C00}" destId="{B72871EA-9D5B-49B6-AF71-5AC202C7F7A2}" srcOrd="1" destOrd="0" presId="urn:microsoft.com/office/officeart/2005/8/layout/list1"/>
    <dgm:cxn modelId="{AEA959D5-3283-4425-BC54-E1966DF69D77}" type="presParOf" srcId="{0E0D98B6-DB66-40D9-AA14-EEF3273E5C00}" destId="{42E7261D-6737-4791-9894-066BADF7DBBA}" srcOrd="2" destOrd="0" presId="urn:microsoft.com/office/officeart/2005/8/layout/list1"/>
    <dgm:cxn modelId="{16E58C5D-9E98-42F8-A18B-6FF5626F0DA6}" type="presParOf" srcId="{0E0D98B6-DB66-40D9-AA14-EEF3273E5C00}" destId="{94AD1510-977A-4F3D-BC15-06C2A3B9800A}" srcOrd="3" destOrd="0" presId="urn:microsoft.com/office/officeart/2005/8/layout/list1"/>
    <dgm:cxn modelId="{830FD4D6-CF95-42B8-9158-C78A24D8184F}" type="presParOf" srcId="{0E0D98B6-DB66-40D9-AA14-EEF3273E5C00}" destId="{EA3971F1-DC27-4FFF-BC5F-BBB5CF6D5245}" srcOrd="4" destOrd="0" presId="urn:microsoft.com/office/officeart/2005/8/layout/list1"/>
    <dgm:cxn modelId="{891C58B6-A946-4A8B-AE1F-AC7D5C808420}" type="presParOf" srcId="{EA3971F1-DC27-4FFF-BC5F-BBB5CF6D5245}" destId="{5170FCD8-08E1-435F-ADB2-89D386AF385C}" srcOrd="0" destOrd="0" presId="urn:microsoft.com/office/officeart/2005/8/layout/list1"/>
    <dgm:cxn modelId="{4BDA8FC6-5700-4447-917F-704291FC0D8C}" type="presParOf" srcId="{EA3971F1-DC27-4FFF-BC5F-BBB5CF6D5245}" destId="{193A4EBC-8C1B-4FF6-B679-5306F037CEE4}" srcOrd="1" destOrd="0" presId="urn:microsoft.com/office/officeart/2005/8/layout/list1"/>
    <dgm:cxn modelId="{FD7A3602-A8FE-4A5F-A210-5EDD45B23E79}" type="presParOf" srcId="{0E0D98B6-DB66-40D9-AA14-EEF3273E5C00}" destId="{914DABD8-5E5C-4CF9-BA48-A6196AA2EE98}" srcOrd="5" destOrd="0" presId="urn:microsoft.com/office/officeart/2005/8/layout/list1"/>
    <dgm:cxn modelId="{1C9863A0-4CBF-4DC2-8586-B907D4F592E6}" type="presParOf" srcId="{0E0D98B6-DB66-40D9-AA14-EEF3273E5C00}" destId="{CDA41923-5CDE-475E-8D50-4EBC17296290}"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6F57B96-6BA2-4BFF-802C-0E6F615CCCFA}" type="doc">
      <dgm:prSet loTypeId="urn:microsoft.com/office/officeart/2008/layout/LinedList" loCatId="list" qsTypeId="urn:microsoft.com/office/officeart/2005/8/quickstyle/simple4" qsCatId="simple" csTypeId="urn:microsoft.com/office/officeart/2005/8/colors/accent4_2" csCatId="accent4" phldr="1"/>
      <dgm:spPr/>
      <dgm:t>
        <a:bodyPr/>
        <a:lstStyle/>
        <a:p>
          <a:endParaRPr lang="en-US"/>
        </a:p>
      </dgm:t>
    </dgm:pt>
    <dgm:pt modelId="{18A57C61-C1E9-454E-8A0B-3053CC77E956}">
      <dgm:prSet/>
      <dgm:spPr/>
      <dgm:t>
        <a:bodyPr/>
        <a:lstStyle/>
        <a:p>
          <a:r>
            <a:rPr lang="en-US" dirty="0"/>
            <a:t>Input &gt; Enter 
Input("your name")
print(input("your name"))</a:t>
          </a:r>
        </a:p>
      </dgm:t>
    </dgm:pt>
    <dgm:pt modelId="{A97939F0-589D-4A72-83D2-19D00518C757}" type="sibTrans" cxnId="{71367D19-D595-4A0E-BE77-0FB1BAA5693D}">
      <dgm:prSet/>
      <dgm:spPr/>
      <dgm:t>
        <a:bodyPr/>
        <a:lstStyle/>
        <a:p>
          <a:endParaRPr lang="en-US"/>
        </a:p>
      </dgm:t>
    </dgm:pt>
    <dgm:pt modelId="{ABE62620-DDD2-43D4-B254-7C94EC3DE177}" type="parTrans" cxnId="{71367D19-D595-4A0E-BE77-0FB1BAA5693D}">
      <dgm:prSet/>
      <dgm:spPr/>
      <dgm:t>
        <a:bodyPr/>
        <a:lstStyle/>
        <a:p>
          <a:endParaRPr lang="en-US"/>
        </a:p>
      </dgm:t>
    </dgm:pt>
    <dgm:pt modelId="{A1F29E6B-453A-4F88-A563-552701EE91EB}" type="pres">
      <dgm:prSet presAssocID="{46F57B96-6BA2-4BFF-802C-0E6F615CCCFA}" presName="vert0" presStyleCnt="0">
        <dgm:presLayoutVars>
          <dgm:dir/>
          <dgm:animOne val="branch"/>
          <dgm:animLvl val="lvl"/>
        </dgm:presLayoutVars>
      </dgm:prSet>
      <dgm:spPr/>
    </dgm:pt>
    <dgm:pt modelId="{01C4FF67-3590-4F9A-99EC-E214F38386B4}" type="pres">
      <dgm:prSet presAssocID="{18A57C61-C1E9-454E-8A0B-3053CC77E956}" presName="thickLine" presStyleLbl="alignNode1" presStyleIdx="0" presStyleCnt="1"/>
      <dgm:spPr/>
    </dgm:pt>
    <dgm:pt modelId="{2934A201-53F5-4468-BB81-5EDAC36B22F0}" type="pres">
      <dgm:prSet presAssocID="{18A57C61-C1E9-454E-8A0B-3053CC77E956}" presName="horz1" presStyleCnt="0"/>
      <dgm:spPr/>
    </dgm:pt>
    <dgm:pt modelId="{A09F3203-0AD8-4B10-A3AC-13C33D3241F1}" type="pres">
      <dgm:prSet presAssocID="{18A57C61-C1E9-454E-8A0B-3053CC77E956}" presName="tx1" presStyleLbl="revTx" presStyleIdx="0" presStyleCnt="1"/>
      <dgm:spPr/>
    </dgm:pt>
    <dgm:pt modelId="{31CD530E-AAA8-419A-AEE4-9E19B39D6294}" type="pres">
      <dgm:prSet presAssocID="{18A57C61-C1E9-454E-8A0B-3053CC77E956}" presName="vert1" presStyleCnt="0"/>
      <dgm:spPr/>
    </dgm:pt>
  </dgm:ptLst>
  <dgm:cxnLst>
    <dgm:cxn modelId="{71367D19-D595-4A0E-BE77-0FB1BAA5693D}" srcId="{46F57B96-6BA2-4BFF-802C-0E6F615CCCFA}" destId="{18A57C61-C1E9-454E-8A0B-3053CC77E956}" srcOrd="0" destOrd="0" parTransId="{ABE62620-DDD2-43D4-B254-7C94EC3DE177}" sibTransId="{A97939F0-589D-4A72-83D2-19D00518C757}"/>
    <dgm:cxn modelId="{1A625AB9-E009-4473-B22C-99F5E0BFF020}" type="presOf" srcId="{46F57B96-6BA2-4BFF-802C-0E6F615CCCFA}" destId="{A1F29E6B-453A-4F88-A563-552701EE91EB}" srcOrd="0" destOrd="0" presId="urn:microsoft.com/office/officeart/2008/layout/LinedList"/>
    <dgm:cxn modelId="{919D10E6-6974-4258-ACEF-C4138593CB5F}" type="presOf" srcId="{18A57C61-C1E9-454E-8A0B-3053CC77E956}" destId="{A09F3203-0AD8-4B10-A3AC-13C33D3241F1}" srcOrd="0" destOrd="0" presId="urn:microsoft.com/office/officeart/2008/layout/LinedList"/>
    <dgm:cxn modelId="{877BB813-5302-443F-B82D-2F35991BB58E}" type="presParOf" srcId="{A1F29E6B-453A-4F88-A563-552701EE91EB}" destId="{01C4FF67-3590-4F9A-99EC-E214F38386B4}" srcOrd="0" destOrd="0" presId="urn:microsoft.com/office/officeart/2008/layout/LinedList"/>
    <dgm:cxn modelId="{9B7BFEA4-6414-4E41-B374-53759FB6818A}" type="presParOf" srcId="{A1F29E6B-453A-4F88-A563-552701EE91EB}" destId="{2934A201-53F5-4468-BB81-5EDAC36B22F0}" srcOrd="1" destOrd="0" presId="urn:microsoft.com/office/officeart/2008/layout/LinedList"/>
    <dgm:cxn modelId="{FC8080D4-D80F-409A-9B6B-1F98517D36B0}" type="presParOf" srcId="{2934A201-53F5-4468-BB81-5EDAC36B22F0}" destId="{A09F3203-0AD8-4B10-A3AC-13C33D3241F1}" srcOrd="0" destOrd="0" presId="urn:microsoft.com/office/officeart/2008/layout/LinedList"/>
    <dgm:cxn modelId="{D890A48A-4465-4624-9458-4A05ACA40A61}" type="presParOf" srcId="{2934A201-53F5-4468-BB81-5EDAC36B22F0}" destId="{31CD530E-AAA8-419A-AEE4-9E19B39D629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B85BFE4-5FDE-45BF-853A-A8BDEFD797D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2F8048F-84F2-46E2-BCC4-6C748BE04EB0}">
      <dgm:prSet/>
      <dgm:spPr/>
      <dgm:t>
        <a:bodyPr/>
        <a:lstStyle/>
        <a:p>
          <a:r>
            <a:rPr lang="es-MX" dirty="0" err="1"/>
            <a:t>Print</a:t>
          </a:r>
          <a:r>
            <a:rPr lang="es-MX" dirty="0"/>
            <a:t>()</a:t>
          </a:r>
          <a:endParaRPr lang="en-US" dirty="0"/>
        </a:p>
      </dgm:t>
    </dgm:pt>
    <dgm:pt modelId="{0932D22C-980A-4163-8703-DD3FA424D17B}" type="parTrans" cxnId="{92D31BF0-39EB-424C-A002-96A23D954940}">
      <dgm:prSet/>
      <dgm:spPr/>
      <dgm:t>
        <a:bodyPr/>
        <a:lstStyle/>
        <a:p>
          <a:endParaRPr lang="en-US"/>
        </a:p>
      </dgm:t>
    </dgm:pt>
    <dgm:pt modelId="{D247646A-226C-4B5C-B2BA-1F261D787A2F}" type="sibTrans" cxnId="{92D31BF0-39EB-424C-A002-96A23D954940}">
      <dgm:prSet/>
      <dgm:spPr/>
      <dgm:t>
        <a:bodyPr/>
        <a:lstStyle/>
        <a:p>
          <a:endParaRPr lang="en-US"/>
        </a:p>
      </dgm:t>
    </dgm:pt>
    <dgm:pt modelId="{55A49485-6798-435A-BE82-632C561B3CEC}">
      <dgm:prSet/>
      <dgm:spPr/>
      <dgm:t>
        <a:bodyPr/>
        <a:lstStyle/>
        <a:p>
          <a:r>
            <a:rPr lang="es-MX" dirty="0"/>
            <a:t>Input()
</a:t>
          </a:r>
          <a:endParaRPr lang="en-US" dirty="0"/>
        </a:p>
      </dgm:t>
    </dgm:pt>
    <dgm:pt modelId="{15308421-799A-4EC3-9E49-7F4E96A9172F}" type="parTrans" cxnId="{FA36C558-4A98-4CCB-A875-AF6B834DF8B9}">
      <dgm:prSet/>
      <dgm:spPr/>
      <dgm:t>
        <a:bodyPr/>
        <a:lstStyle/>
        <a:p>
          <a:endParaRPr lang="es-MX"/>
        </a:p>
      </dgm:t>
    </dgm:pt>
    <dgm:pt modelId="{4526E516-DB82-4664-B8F3-06349F037DEB}" type="sibTrans" cxnId="{FA36C558-4A98-4CCB-A875-AF6B834DF8B9}">
      <dgm:prSet/>
      <dgm:spPr/>
      <dgm:t>
        <a:bodyPr/>
        <a:lstStyle/>
        <a:p>
          <a:endParaRPr lang="es-MX"/>
        </a:p>
      </dgm:t>
    </dgm:pt>
    <dgm:pt modelId="{3EA3C3C1-5420-40C2-B3E3-B566620CE0D5}">
      <dgm:prSet/>
      <dgm:spPr/>
      <dgm:t>
        <a:bodyPr/>
        <a:lstStyle/>
        <a:p>
          <a:r>
            <a:rPr lang="es-MX" dirty="0"/>
            <a:t>255
</a:t>
          </a:r>
          <a:endParaRPr lang="en-US" dirty="0"/>
        </a:p>
      </dgm:t>
    </dgm:pt>
    <dgm:pt modelId="{545BAECD-9CDC-4692-B725-E49B281E4DDD}" type="parTrans" cxnId="{0CD01CC5-2A51-4795-9841-C15091E7CC6B}">
      <dgm:prSet/>
      <dgm:spPr/>
      <dgm:t>
        <a:bodyPr/>
        <a:lstStyle/>
        <a:p>
          <a:endParaRPr lang="es-MX"/>
        </a:p>
      </dgm:t>
    </dgm:pt>
    <dgm:pt modelId="{269C15A9-EBE1-4433-AE24-581DE11E1753}" type="sibTrans" cxnId="{0CD01CC5-2A51-4795-9841-C15091E7CC6B}">
      <dgm:prSet/>
      <dgm:spPr/>
      <dgm:t>
        <a:bodyPr/>
        <a:lstStyle/>
        <a:p>
          <a:endParaRPr lang="es-MX"/>
        </a:p>
      </dgm:t>
    </dgm:pt>
    <dgm:pt modelId="{5C7EEAC0-B9C9-4A26-B0A0-3454961C0D9F}">
      <dgm:prSet/>
      <dgm:spPr/>
      <dgm:t>
        <a:bodyPr/>
        <a:lstStyle/>
        <a:p>
          <a:r>
            <a:rPr lang="es-MX" dirty="0"/>
            <a:t>22035
</a:t>
          </a:r>
          <a:endParaRPr lang="en-US" dirty="0"/>
        </a:p>
      </dgm:t>
    </dgm:pt>
    <dgm:pt modelId="{6E9DC2D5-85DF-4E0A-906D-C82EE546AB04}" type="parTrans" cxnId="{1061E838-FE61-4FF4-B892-D9960076A453}">
      <dgm:prSet/>
      <dgm:spPr/>
      <dgm:t>
        <a:bodyPr/>
        <a:lstStyle/>
        <a:p>
          <a:endParaRPr lang="es-MX"/>
        </a:p>
      </dgm:t>
    </dgm:pt>
    <dgm:pt modelId="{39B6D192-C54F-4ADE-910A-832CDDB4895E}" type="sibTrans" cxnId="{1061E838-FE61-4FF4-B892-D9960076A453}">
      <dgm:prSet/>
      <dgm:spPr/>
      <dgm:t>
        <a:bodyPr/>
        <a:lstStyle/>
        <a:p>
          <a:endParaRPr lang="es-MX"/>
        </a:p>
      </dgm:t>
    </dgm:pt>
    <dgm:pt modelId="{E5EE69B6-36B4-4DC3-BE98-7F0216C2CC3D}">
      <dgm:prSet/>
      <dgm:spPr/>
      <dgm:t>
        <a:bodyPr/>
        <a:lstStyle/>
        <a:p>
          <a:r>
            <a:rPr lang="es-MX"/>
            <a:t>Falso</a:t>
          </a:r>
          <a:endParaRPr lang="en-US" dirty="0"/>
        </a:p>
      </dgm:t>
    </dgm:pt>
    <dgm:pt modelId="{FEB4E04A-A682-434E-9EFE-F724A6CF71F8}" type="parTrans" cxnId="{F8AC44E7-68C1-4CC4-89E6-B2351F487AF5}">
      <dgm:prSet/>
      <dgm:spPr/>
      <dgm:t>
        <a:bodyPr/>
        <a:lstStyle/>
        <a:p>
          <a:endParaRPr lang="es-MX"/>
        </a:p>
      </dgm:t>
    </dgm:pt>
    <dgm:pt modelId="{8E380477-98DF-40AC-AB94-451C54D539A2}" type="sibTrans" cxnId="{F8AC44E7-68C1-4CC4-89E6-B2351F487AF5}">
      <dgm:prSet/>
      <dgm:spPr/>
      <dgm:t>
        <a:bodyPr/>
        <a:lstStyle/>
        <a:p>
          <a:endParaRPr lang="es-MX"/>
        </a:p>
      </dgm:t>
    </dgm:pt>
    <dgm:pt modelId="{F53C92FA-EED6-4408-8C40-73D2C39E1E06}" type="pres">
      <dgm:prSet presAssocID="{6B85BFE4-5FDE-45BF-853A-A8BDEFD797D5}" presName="diagram" presStyleCnt="0">
        <dgm:presLayoutVars>
          <dgm:dir/>
          <dgm:resizeHandles val="exact"/>
        </dgm:presLayoutVars>
      </dgm:prSet>
      <dgm:spPr/>
    </dgm:pt>
    <dgm:pt modelId="{EC2444FD-A0A3-482E-B277-36169972315E}" type="pres">
      <dgm:prSet presAssocID="{92F8048F-84F2-46E2-BCC4-6C748BE04EB0}" presName="node" presStyleLbl="node1" presStyleIdx="0" presStyleCnt="5">
        <dgm:presLayoutVars>
          <dgm:bulletEnabled val="1"/>
        </dgm:presLayoutVars>
      </dgm:prSet>
      <dgm:spPr/>
    </dgm:pt>
    <dgm:pt modelId="{05C2E7F0-B869-414F-B93F-5664AA5C29FD}" type="pres">
      <dgm:prSet presAssocID="{D247646A-226C-4B5C-B2BA-1F261D787A2F}" presName="sibTrans" presStyleCnt="0"/>
      <dgm:spPr/>
    </dgm:pt>
    <dgm:pt modelId="{269AAC05-DFE6-4F3C-A375-E8BC9845DDC4}" type="pres">
      <dgm:prSet presAssocID="{55A49485-6798-435A-BE82-632C561B3CEC}" presName="node" presStyleLbl="node1" presStyleIdx="1" presStyleCnt="5">
        <dgm:presLayoutVars>
          <dgm:bulletEnabled val="1"/>
        </dgm:presLayoutVars>
      </dgm:prSet>
      <dgm:spPr/>
    </dgm:pt>
    <dgm:pt modelId="{5ACF18BA-CCC1-4E6C-A62D-D4DDF9092205}" type="pres">
      <dgm:prSet presAssocID="{4526E516-DB82-4664-B8F3-06349F037DEB}" presName="sibTrans" presStyleCnt="0"/>
      <dgm:spPr/>
    </dgm:pt>
    <dgm:pt modelId="{B0F6C1EB-D66B-49E6-8933-6D50F7758584}" type="pres">
      <dgm:prSet presAssocID="{3EA3C3C1-5420-40C2-B3E3-B566620CE0D5}" presName="node" presStyleLbl="node1" presStyleIdx="2" presStyleCnt="5">
        <dgm:presLayoutVars>
          <dgm:bulletEnabled val="1"/>
        </dgm:presLayoutVars>
      </dgm:prSet>
      <dgm:spPr/>
    </dgm:pt>
    <dgm:pt modelId="{221A54DF-2FC3-4612-B7E4-B7F9C5F1ABE1}" type="pres">
      <dgm:prSet presAssocID="{269C15A9-EBE1-4433-AE24-581DE11E1753}" presName="sibTrans" presStyleCnt="0"/>
      <dgm:spPr/>
    </dgm:pt>
    <dgm:pt modelId="{C5CB8898-6FFC-4877-BE5A-967CEFACFFB3}" type="pres">
      <dgm:prSet presAssocID="{5C7EEAC0-B9C9-4A26-B0A0-3454961C0D9F}" presName="node" presStyleLbl="node1" presStyleIdx="3" presStyleCnt="5">
        <dgm:presLayoutVars>
          <dgm:bulletEnabled val="1"/>
        </dgm:presLayoutVars>
      </dgm:prSet>
      <dgm:spPr/>
    </dgm:pt>
    <dgm:pt modelId="{2A567643-1CEA-47F5-805B-7843B4404C56}" type="pres">
      <dgm:prSet presAssocID="{39B6D192-C54F-4ADE-910A-832CDDB4895E}" presName="sibTrans" presStyleCnt="0"/>
      <dgm:spPr/>
    </dgm:pt>
    <dgm:pt modelId="{F6E5B8F0-228C-4175-A395-16835FC798E0}" type="pres">
      <dgm:prSet presAssocID="{E5EE69B6-36B4-4DC3-BE98-7F0216C2CC3D}" presName="node" presStyleLbl="node1" presStyleIdx="4" presStyleCnt="5">
        <dgm:presLayoutVars>
          <dgm:bulletEnabled val="1"/>
        </dgm:presLayoutVars>
      </dgm:prSet>
      <dgm:spPr/>
    </dgm:pt>
  </dgm:ptLst>
  <dgm:cxnLst>
    <dgm:cxn modelId="{71BDF717-B98F-4E2B-A284-ED4923C45FAF}" type="presOf" srcId="{6B85BFE4-5FDE-45BF-853A-A8BDEFD797D5}" destId="{F53C92FA-EED6-4408-8C40-73D2C39E1E06}" srcOrd="0" destOrd="0" presId="urn:microsoft.com/office/officeart/2005/8/layout/default"/>
    <dgm:cxn modelId="{1061E838-FE61-4FF4-B892-D9960076A453}" srcId="{6B85BFE4-5FDE-45BF-853A-A8BDEFD797D5}" destId="{5C7EEAC0-B9C9-4A26-B0A0-3454961C0D9F}" srcOrd="3" destOrd="0" parTransId="{6E9DC2D5-85DF-4E0A-906D-C82EE546AB04}" sibTransId="{39B6D192-C54F-4ADE-910A-832CDDB4895E}"/>
    <dgm:cxn modelId="{B8F12251-BCDB-4D66-A15A-F668F6AFD036}" type="presOf" srcId="{55A49485-6798-435A-BE82-632C561B3CEC}" destId="{269AAC05-DFE6-4F3C-A375-E8BC9845DDC4}" srcOrd="0" destOrd="0" presId="urn:microsoft.com/office/officeart/2005/8/layout/default"/>
    <dgm:cxn modelId="{FA36C558-4A98-4CCB-A875-AF6B834DF8B9}" srcId="{6B85BFE4-5FDE-45BF-853A-A8BDEFD797D5}" destId="{55A49485-6798-435A-BE82-632C561B3CEC}" srcOrd="1" destOrd="0" parTransId="{15308421-799A-4EC3-9E49-7F4E96A9172F}" sibTransId="{4526E516-DB82-4664-B8F3-06349F037DEB}"/>
    <dgm:cxn modelId="{D6E02A87-AAE1-418D-84F6-B1994269DCE9}" type="presOf" srcId="{92F8048F-84F2-46E2-BCC4-6C748BE04EB0}" destId="{EC2444FD-A0A3-482E-B277-36169972315E}" srcOrd="0" destOrd="0" presId="urn:microsoft.com/office/officeart/2005/8/layout/default"/>
    <dgm:cxn modelId="{B293C694-6793-4415-B2BB-DF2343A9BBC8}" type="presOf" srcId="{E5EE69B6-36B4-4DC3-BE98-7F0216C2CC3D}" destId="{F6E5B8F0-228C-4175-A395-16835FC798E0}" srcOrd="0" destOrd="0" presId="urn:microsoft.com/office/officeart/2005/8/layout/default"/>
    <dgm:cxn modelId="{0CD01CC5-2A51-4795-9841-C15091E7CC6B}" srcId="{6B85BFE4-5FDE-45BF-853A-A8BDEFD797D5}" destId="{3EA3C3C1-5420-40C2-B3E3-B566620CE0D5}" srcOrd="2" destOrd="0" parTransId="{545BAECD-9CDC-4692-B725-E49B281E4DDD}" sibTransId="{269C15A9-EBE1-4433-AE24-581DE11E1753}"/>
    <dgm:cxn modelId="{105921CD-6E40-4181-A37B-E810B05D31CF}" type="presOf" srcId="{3EA3C3C1-5420-40C2-B3E3-B566620CE0D5}" destId="{B0F6C1EB-D66B-49E6-8933-6D50F7758584}" srcOrd="0" destOrd="0" presId="urn:microsoft.com/office/officeart/2005/8/layout/default"/>
    <dgm:cxn modelId="{6693F5D0-D976-4747-92E4-121B1C1549BF}" type="presOf" srcId="{5C7EEAC0-B9C9-4A26-B0A0-3454961C0D9F}" destId="{C5CB8898-6FFC-4877-BE5A-967CEFACFFB3}" srcOrd="0" destOrd="0" presId="urn:microsoft.com/office/officeart/2005/8/layout/default"/>
    <dgm:cxn modelId="{F8AC44E7-68C1-4CC4-89E6-B2351F487AF5}" srcId="{6B85BFE4-5FDE-45BF-853A-A8BDEFD797D5}" destId="{E5EE69B6-36B4-4DC3-BE98-7F0216C2CC3D}" srcOrd="4" destOrd="0" parTransId="{FEB4E04A-A682-434E-9EFE-F724A6CF71F8}" sibTransId="{8E380477-98DF-40AC-AB94-451C54D539A2}"/>
    <dgm:cxn modelId="{92D31BF0-39EB-424C-A002-96A23D954940}" srcId="{6B85BFE4-5FDE-45BF-853A-A8BDEFD797D5}" destId="{92F8048F-84F2-46E2-BCC4-6C748BE04EB0}" srcOrd="0" destOrd="0" parTransId="{0932D22C-980A-4163-8703-DD3FA424D17B}" sibTransId="{D247646A-226C-4B5C-B2BA-1F261D787A2F}"/>
    <dgm:cxn modelId="{13D2CD2F-DAA1-45B3-81E1-D58D33A12B9D}" type="presParOf" srcId="{F53C92FA-EED6-4408-8C40-73D2C39E1E06}" destId="{EC2444FD-A0A3-482E-B277-36169972315E}" srcOrd="0" destOrd="0" presId="urn:microsoft.com/office/officeart/2005/8/layout/default"/>
    <dgm:cxn modelId="{32690C81-E3AC-43EC-9D6D-8CEB84FB023E}" type="presParOf" srcId="{F53C92FA-EED6-4408-8C40-73D2C39E1E06}" destId="{05C2E7F0-B869-414F-B93F-5664AA5C29FD}" srcOrd="1" destOrd="0" presId="urn:microsoft.com/office/officeart/2005/8/layout/default"/>
    <dgm:cxn modelId="{EF5C3CD8-C77B-449A-B7A5-B63D25657156}" type="presParOf" srcId="{F53C92FA-EED6-4408-8C40-73D2C39E1E06}" destId="{269AAC05-DFE6-4F3C-A375-E8BC9845DDC4}" srcOrd="2" destOrd="0" presId="urn:microsoft.com/office/officeart/2005/8/layout/default"/>
    <dgm:cxn modelId="{8C9B53DB-789E-4A69-ACB4-3889D391DC2A}" type="presParOf" srcId="{F53C92FA-EED6-4408-8C40-73D2C39E1E06}" destId="{5ACF18BA-CCC1-4E6C-A62D-D4DDF9092205}" srcOrd="3" destOrd="0" presId="urn:microsoft.com/office/officeart/2005/8/layout/default"/>
    <dgm:cxn modelId="{16357169-328D-47BC-BCFF-80018E08547A}" type="presParOf" srcId="{F53C92FA-EED6-4408-8C40-73D2C39E1E06}" destId="{B0F6C1EB-D66B-49E6-8933-6D50F7758584}" srcOrd="4" destOrd="0" presId="urn:microsoft.com/office/officeart/2005/8/layout/default"/>
    <dgm:cxn modelId="{841994C9-CB16-4DC9-A736-81C413F03A07}" type="presParOf" srcId="{F53C92FA-EED6-4408-8C40-73D2C39E1E06}" destId="{221A54DF-2FC3-4612-B7E4-B7F9C5F1ABE1}" srcOrd="5" destOrd="0" presId="urn:microsoft.com/office/officeart/2005/8/layout/default"/>
    <dgm:cxn modelId="{CF1082A8-1FDE-423F-9AA3-21DD978E394C}" type="presParOf" srcId="{F53C92FA-EED6-4408-8C40-73D2C39E1E06}" destId="{C5CB8898-6FFC-4877-BE5A-967CEFACFFB3}" srcOrd="6" destOrd="0" presId="urn:microsoft.com/office/officeart/2005/8/layout/default"/>
    <dgm:cxn modelId="{A2E63842-1D3C-4E10-B514-54914755C911}" type="presParOf" srcId="{F53C92FA-EED6-4408-8C40-73D2C39E1E06}" destId="{2A567643-1CEA-47F5-805B-7843B4404C56}" srcOrd="7" destOrd="0" presId="urn:microsoft.com/office/officeart/2005/8/layout/default"/>
    <dgm:cxn modelId="{70031B1C-92B2-4B6A-8B0A-712CF4F5627A}" type="presParOf" srcId="{F53C92FA-EED6-4408-8C40-73D2C39E1E06}" destId="{F6E5B8F0-228C-4175-A395-16835FC798E0}"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96CDD23-F416-4AA2-936A-D3CD8B1B74C9}"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B782F76C-8295-4FC0-BB58-8D442230972C}">
      <dgm:prSet/>
      <dgm:spPr/>
      <dgm:t>
        <a:bodyPr/>
        <a:lstStyle/>
        <a:p>
          <a:r>
            <a:rPr lang="en-US" dirty="0"/>
            <a:t>text (str) "Python" "750"</a:t>
          </a:r>
        </a:p>
      </dgm:t>
    </dgm:pt>
    <dgm:pt modelId="{337F7035-3492-4DCC-A46A-98FCCB6CEBCC}" type="parTrans" cxnId="{FF327BDB-FE51-44DA-8FCE-DE1031936369}">
      <dgm:prSet/>
      <dgm:spPr/>
      <dgm:t>
        <a:bodyPr/>
        <a:lstStyle/>
        <a:p>
          <a:endParaRPr lang="en-US"/>
        </a:p>
      </dgm:t>
    </dgm:pt>
    <dgm:pt modelId="{7F2DB020-67EA-490C-9EC7-E3E04BB95803}" type="sibTrans" cxnId="{FF327BDB-FE51-44DA-8FCE-DE1031936369}">
      <dgm:prSet/>
      <dgm:spPr/>
      <dgm:t>
        <a:bodyPr/>
        <a:lstStyle/>
        <a:p>
          <a:endParaRPr lang="en-US"/>
        </a:p>
      </dgm:t>
    </dgm:pt>
    <dgm:pt modelId="{4302220A-BF0B-4CE0-ABD6-0746389D502E}">
      <dgm:prSet/>
      <dgm:spPr/>
      <dgm:t>
        <a:bodyPr/>
        <a:lstStyle/>
        <a:p>
          <a:r>
            <a:rPr lang="en-US" dirty="0"/>
            <a:t>INT Numbers 250 Float 12.50</a:t>
          </a:r>
        </a:p>
      </dgm:t>
    </dgm:pt>
    <dgm:pt modelId="{0E3557F0-E5A9-4264-98CB-60585CB072BC}" type="parTrans" cxnId="{023FBF06-BA8E-417D-BFCE-DD4C560AAA54}">
      <dgm:prSet/>
      <dgm:spPr/>
      <dgm:t>
        <a:bodyPr/>
        <a:lstStyle/>
        <a:p>
          <a:endParaRPr lang="en-US"/>
        </a:p>
      </dgm:t>
    </dgm:pt>
    <dgm:pt modelId="{B52F0636-1357-478D-BB54-59F76A3CD0F4}" type="sibTrans" cxnId="{023FBF06-BA8E-417D-BFCE-DD4C560AAA54}">
      <dgm:prSet/>
      <dgm:spPr/>
      <dgm:t>
        <a:bodyPr/>
        <a:lstStyle/>
        <a:p>
          <a:endParaRPr lang="en-US"/>
        </a:p>
      </dgm:t>
    </dgm:pt>
    <dgm:pt modelId="{39779E18-9EE5-4E13-BD99-9486F11BF7D0}">
      <dgm:prSet/>
      <dgm:spPr/>
      <dgm:t>
        <a:bodyPr/>
        <a:lstStyle/>
        <a:p>
          <a:r>
            <a:rPr lang="en-US" dirty="0" err="1"/>
            <a:t>booleanos</a:t>
          </a:r>
          <a:r>
            <a:rPr lang="en-US" dirty="0"/>
            <a:t> True False</a:t>
          </a:r>
        </a:p>
      </dgm:t>
    </dgm:pt>
    <dgm:pt modelId="{FD5C06A1-74CD-4E08-83E0-92A69F11A98F}" type="parTrans" cxnId="{E2AF6C1F-B0C4-4BC1-AABD-ED900C972964}">
      <dgm:prSet/>
      <dgm:spPr/>
      <dgm:t>
        <a:bodyPr/>
        <a:lstStyle/>
        <a:p>
          <a:endParaRPr lang="en-US"/>
        </a:p>
      </dgm:t>
    </dgm:pt>
    <dgm:pt modelId="{B1CCF858-5903-4426-9CFB-BAFC9FFF1DA4}" type="sibTrans" cxnId="{E2AF6C1F-B0C4-4BC1-AABD-ED900C972964}">
      <dgm:prSet/>
      <dgm:spPr/>
      <dgm:t>
        <a:bodyPr/>
        <a:lstStyle/>
        <a:p>
          <a:endParaRPr lang="en-US"/>
        </a:p>
      </dgm:t>
    </dgm:pt>
    <dgm:pt modelId="{92D8802B-02EA-41B6-833D-1F9FD26EDBC7}" type="pres">
      <dgm:prSet presAssocID="{796CDD23-F416-4AA2-936A-D3CD8B1B74C9}" presName="hierChild1" presStyleCnt="0">
        <dgm:presLayoutVars>
          <dgm:chPref val="1"/>
          <dgm:dir/>
          <dgm:animOne val="branch"/>
          <dgm:animLvl val="lvl"/>
          <dgm:resizeHandles/>
        </dgm:presLayoutVars>
      </dgm:prSet>
      <dgm:spPr/>
    </dgm:pt>
    <dgm:pt modelId="{7802C757-288B-4B94-B02B-053DF0F98DEA}" type="pres">
      <dgm:prSet presAssocID="{B782F76C-8295-4FC0-BB58-8D442230972C}" presName="hierRoot1" presStyleCnt="0"/>
      <dgm:spPr/>
    </dgm:pt>
    <dgm:pt modelId="{EAE82C08-B0AE-4676-BE8F-1430691B6E4E}" type="pres">
      <dgm:prSet presAssocID="{B782F76C-8295-4FC0-BB58-8D442230972C}" presName="composite" presStyleCnt="0"/>
      <dgm:spPr/>
    </dgm:pt>
    <dgm:pt modelId="{87D43A77-ED00-4F78-9C79-FA327C5E06EA}" type="pres">
      <dgm:prSet presAssocID="{B782F76C-8295-4FC0-BB58-8D442230972C}" presName="background" presStyleLbl="node0" presStyleIdx="0" presStyleCnt="3"/>
      <dgm:spPr/>
    </dgm:pt>
    <dgm:pt modelId="{1FC35D46-2D63-46BA-8C13-8FFAE5D9C815}" type="pres">
      <dgm:prSet presAssocID="{B782F76C-8295-4FC0-BB58-8D442230972C}" presName="text" presStyleLbl="fgAcc0" presStyleIdx="0" presStyleCnt="3">
        <dgm:presLayoutVars>
          <dgm:chPref val="3"/>
        </dgm:presLayoutVars>
      </dgm:prSet>
      <dgm:spPr/>
    </dgm:pt>
    <dgm:pt modelId="{18D6FCED-68F5-45DF-A320-FC82A4F6280C}" type="pres">
      <dgm:prSet presAssocID="{B782F76C-8295-4FC0-BB58-8D442230972C}" presName="hierChild2" presStyleCnt="0"/>
      <dgm:spPr/>
    </dgm:pt>
    <dgm:pt modelId="{3451F481-09B4-4638-B6EC-BD19DDB9C3FC}" type="pres">
      <dgm:prSet presAssocID="{4302220A-BF0B-4CE0-ABD6-0746389D502E}" presName="hierRoot1" presStyleCnt="0"/>
      <dgm:spPr/>
    </dgm:pt>
    <dgm:pt modelId="{4C6F9A98-B792-4DA4-89BD-FBEDFA8E3ECD}" type="pres">
      <dgm:prSet presAssocID="{4302220A-BF0B-4CE0-ABD6-0746389D502E}" presName="composite" presStyleCnt="0"/>
      <dgm:spPr/>
    </dgm:pt>
    <dgm:pt modelId="{64B1401C-9673-4263-9575-732475DA1928}" type="pres">
      <dgm:prSet presAssocID="{4302220A-BF0B-4CE0-ABD6-0746389D502E}" presName="background" presStyleLbl="node0" presStyleIdx="1" presStyleCnt="3"/>
      <dgm:spPr/>
    </dgm:pt>
    <dgm:pt modelId="{7765CC24-66C3-4B22-82DF-D3EF9E82E6A7}" type="pres">
      <dgm:prSet presAssocID="{4302220A-BF0B-4CE0-ABD6-0746389D502E}" presName="text" presStyleLbl="fgAcc0" presStyleIdx="1" presStyleCnt="3">
        <dgm:presLayoutVars>
          <dgm:chPref val="3"/>
        </dgm:presLayoutVars>
      </dgm:prSet>
      <dgm:spPr/>
    </dgm:pt>
    <dgm:pt modelId="{F071B693-103D-489E-BB7B-B566D22A2C0F}" type="pres">
      <dgm:prSet presAssocID="{4302220A-BF0B-4CE0-ABD6-0746389D502E}" presName="hierChild2" presStyleCnt="0"/>
      <dgm:spPr/>
    </dgm:pt>
    <dgm:pt modelId="{9C6292EC-4616-4633-A951-AC8F3C1DEB1C}" type="pres">
      <dgm:prSet presAssocID="{39779E18-9EE5-4E13-BD99-9486F11BF7D0}" presName="hierRoot1" presStyleCnt="0"/>
      <dgm:spPr/>
    </dgm:pt>
    <dgm:pt modelId="{1ECC2575-2C86-437B-930F-A10CEA3A9D12}" type="pres">
      <dgm:prSet presAssocID="{39779E18-9EE5-4E13-BD99-9486F11BF7D0}" presName="composite" presStyleCnt="0"/>
      <dgm:spPr/>
    </dgm:pt>
    <dgm:pt modelId="{5FD0A4BD-20CE-40DB-B73D-DA64211CC808}" type="pres">
      <dgm:prSet presAssocID="{39779E18-9EE5-4E13-BD99-9486F11BF7D0}" presName="background" presStyleLbl="node0" presStyleIdx="2" presStyleCnt="3"/>
      <dgm:spPr/>
    </dgm:pt>
    <dgm:pt modelId="{7273AE97-3632-44B7-B336-3588FC53C771}" type="pres">
      <dgm:prSet presAssocID="{39779E18-9EE5-4E13-BD99-9486F11BF7D0}" presName="text" presStyleLbl="fgAcc0" presStyleIdx="2" presStyleCnt="3">
        <dgm:presLayoutVars>
          <dgm:chPref val="3"/>
        </dgm:presLayoutVars>
      </dgm:prSet>
      <dgm:spPr/>
    </dgm:pt>
    <dgm:pt modelId="{8C2B5FEB-A901-47C1-A5F1-8D42534F0A02}" type="pres">
      <dgm:prSet presAssocID="{39779E18-9EE5-4E13-BD99-9486F11BF7D0}" presName="hierChild2" presStyleCnt="0"/>
      <dgm:spPr/>
    </dgm:pt>
  </dgm:ptLst>
  <dgm:cxnLst>
    <dgm:cxn modelId="{023FBF06-BA8E-417D-BFCE-DD4C560AAA54}" srcId="{796CDD23-F416-4AA2-936A-D3CD8B1B74C9}" destId="{4302220A-BF0B-4CE0-ABD6-0746389D502E}" srcOrd="1" destOrd="0" parTransId="{0E3557F0-E5A9-4264-98CB-60585CB072BC}" sibTransId="{B52F0636-1357-478D-BB54-59F76A3CD0F4}"/>
    <dgm:cxn modelId="{E2AF6C1F-B0C4-4BC1-AABD-ED900C972964}" srcId="{796CDD23-F416-4AA2-936A-D3CD8B1B74C9}" destId="{39779E18-9EE5-4E13-BD99-9486F11BF7D0}" srcOrd="2" destOrd="0" parTransId="{FD5C06A1-74CD-4E08-83E0-92A69F11A98F}" sibTransId="{B1CCF858-5903-4426-9CFB-BAFC9FFF1DA4}"/>
    <dgm:cxn modelId="{0846711F-D434-4FA4-9A7C-D8007B880378}" type="presOf" srcId="{39779E18-9EE5-4E13-BD99-9486F11BF7D0}" destId="{7273AE97-3632-44B7-B336-3588FC53C771}" srcOrd="0" destOrd="0" presId="urn:microsoft.com/office/officeart/2005/8/layout/hierarchy1"/>
    <dgm:cxn modelId="{C1B23D6F-AE72-4C34-960B-34EB92A9F357}" type="presOf" srcId="{4302220A-BF0B-4CE0-ABD6-0746389D502E}" destId="{7765CC24-66C3-4B22-82DF-D3EF9E82E6A7}" srcOrd="0" destOrd="0" presId="urn:microsoft.com/office/officeart/2005/8/layout/hierarchy1"/>
    <dgm:cxn modelId="{16D7A87E-C990-4EC2-992E-DDDE2CB5636F}" type="presOf" srcId="{796CDD23-F416-4AA2-936A-D3CD8B1B74C9}" destId="{92D8802B-02EA-41B6-833D-1F9FD26EDBC7}" srcOrd="0" destOrd="0" presId="urn:microsoft.com/office/officeart/2005/8/layout/hierarchy1"/>
    <dgm:cxn modelId="{794982D6-79EB-4759-923B-E8762330A77B}" type="presOf" srcId="{B782F76C-8295-4FC0-BB58-8D442230972C}" destId="{1FC35D46-2D63-46BA-8C13-8FFAE5D9C815}" srcOrd="0" destOrd="0" presId="urn:microsoft.com/office/officeart/2005/8/layout/hierarchy1"/>
    <dgm:cxn modelId="{FF327BDB-FE51-44DA-8FCE-DE1031936369}" srcId="{796CDD23-F416-4AA2-936A-D3CD8B1B74C9}" destId="{B782F76C-8295-4FC0-BB58-8D442230972C}" srcOrd="0" destOrd="0" parTransId="{337F7035-3492-4DCC-A46A-98FCCB6CEBCC}" sibTransId="{7F2DB020-67EA-490C-9EC7-E3E04BB95803}"/>
    <dgm:cxn modelId="{F967F893-A3A1-4843-A3E9-465951B48832}" type="presParOf" srcId="{92D8802B-02EA-41B6-833D-1F9FD26EDBC7}" destId="{7802C757-288B-4B94-B02B-053DF0F98DEA}" srcOrd="0" destOrd="0" presId="urn:microsoft.com/office/officeart/2005/8/layout/hierarchy1"/>
    <dgm:cxn modelId="{7058424D-D2E2-428C-8D2F-B0F6F5EFCFF5}" type="presParOf" srcId="{7802C757-288B-4B94-B02B-053DF0F98DEA}" destId="{EAE82C08-B0AE-4676-BE8F-1430691B6E4E}" srcOrd="0" destOrd="0" presId="urn:microsoft.com/office/officeart/2005/8/layout/hierarchy1"/>
    <dgm:cxn modelId="{FC493680-7A1F-435C-87D2-5CF6684063A1}" type="presParOf" srcId="{EAE82C08-B0AE-4676-BE8F-1430691B6E4E}" destId="{87D43A77-ED00-4F78-9C79-FA327C5E06EA}" srcOrd="0" destOrd="0" presId="urn:microsoft.com/office/officeart/2005/8/layout/hierarchy1"/>
    <dgm:cxn modelId="{EEBDC198-8F63-402B-8A97-3204C4F4D78E}" type="presParOf" srcId="{EAE82C08-B0AE-4676-BE8F-1430691B6E4E}" destId="{1FC35D46-2D63-46BA-8C13-8FFAE5D9C815}" srcOrd="1" destOrd="0" presId="urn:microsoft.com/office/officeart/2005/8/layout/hierarchy1"/>
    <dgm:cxn modelId="{BA10C7E7-A6EA-4ECE-8B7E-E08CF51065EF}" type="presParOf" srcId="{7802C757-288B-4B94-B02B-053DF0F98DEA}" destId="{18D6FCED-68F5-45DF-A320-FC82A4F6280C}" srcOrd="1" destOrd="0" presId="urn:microsoft.com/office/officeart/2005/8/layout/hierarchy1"/>
    <dgm:cxn modelId="{9C2167A6-DEE0-464F-9A6F-157DFA877F72}" type="presParOf" srcId="{92D8802B-02EA-41B6-833D-1F9FD26EDBC7}" destId="{3451F481-09B4-4638-B6EC-BD19DDB9C3FC}" srcOrd="1" destOrd="0" presId="urn:microsoft.com/office/officeart/2005/8/layout/hierarchy1"/>
    <dgm:cxn modelId="{4C4EDF24-E73A-4871-B2C2-5EBAD5A7A8CF}" type="presParOf" srcId="{3451F481-09B4-4638-B6EC-BD19DDB9C3FC}" destId="{4C6F9A98-B792-4DA4-89BD-FBEDFA8E3ECD}" srcOrd="0" destOrd="0" presId="urn:microsoft.com/office/officeart/2005/8/layout/hierarchy1"/>
    <dgm:cxn modelId="{2B62C411-53C7-4495-BB08-63F5AB8732F9}" type="presParOf" srcId="{4C6F9A98-B792-4DA4-89BD-FBEDFA8E3ECD}" destId="{64B1401C-9673-4263-9575-732475DA1928}" srcOrd="0" destOrd="0" presId="urn:microsoft.com/office/officeart/2005/8/layout/hierarchy1"/>
    <dgm:cxn modelId="{ACF88C79-D9EE-4DDF-B47D-2BFAFB36575E}" type="presParOf" srcId="{4C6F9A98-B792-4DA4-89BD-FBEDFA8E3ECD}" destId="{7765CC24-66C3-4B22-82DF-D3EF9E82E6A7}" srcOrd="1" destOrd="0" presId="urn:microsoft.com/office/officeart/2005/8/layout/hierarchy1"/>
    <dgm:cxn modelId="{405F0A3C-B7C1-47BA-86BA-41FF633BB9E9}" type="presParOf" srcId="{3451F481-09B4-4638-B6EC-BD19DDB9C3FC}" destId="{F071B693-103D-489E-BB7B-B566D22A2C0F}" srcOrd="1" destOrd="0" presId="urn:microsoft.com/office/officeart/2005/8/layout/hierarchy1"/>
    <dgm:cxn modelId="{4EA21BB0-8760-4FAB-86D0-A18460D6C761}" type="presParOf" srcId="{92D8802B-02EA-41B6-833D-1F9FD26EDBC7}" destId="{9C6292EC-4616-4633-A951-AC8F3C1DEB1C}" srcOrd="2" destOrd="0" presId="urn:microsoft.com/office/officeart/2005/8/layout/hierarchy1"/>
    <dgm:cxn modelId="{B78B9EA1-5CD2-482B-AA06-CDD00B34FF87}" type="presParOf" srcId="{9C6292EC-4616-4633-A951-AC8F3C1DEB1C}" destId="{1ECC2575-2C86-437B-930F-A10CEA3A9D12}" srcOrd="0" destOrd="0" presId="urn:microsoft.com/office/officeart/2005/8/layout/hierarchy1"/>
    <dgm:cxn modelId="{499CC441-1E85-4538-9925-4EF72C0D4E53}" type="presParOf" srcId="{1ECC2575-2C86-437B-930F-A10CEA3A9D12}" destId="{5FD0A4BD-20CE-40DB-B73D-DA64211CC808}" srcOrd="0" destOrd="0" presId="urn:microsoft.com/office/officeart/2005/8/layout/hierarchy1"/>
    <dgm:cxn modelId="{1D375C4C-1C11-41B2-A59D-9E70F4D79043}" type="presParOf" srcId="{1ECC2575-2C86-437B-930F-A10CEA3A9D12}" destId="{7273AE97-3632-44B7-B336-3588FC53C771}" srcOrd="1" destOrd="0" presId="urn:microsoft.com/office/officeart/2005/8/layout/hierarchy1"/>
    <dgm:cxn modelId="{AC79587A-1D72-4945-82E3-AF932D8C7C75}" type="presParOf" srcId="{9C6292EC-4616-4633-A951-AC8F3C1DEB1C}" destId="{8C2B5FEB-A901-47C1-A5F1-8D42534F0A02}"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EEF9FA0-6D1B-4A45-8F71-E1395197251B}" type="doc">
      <dgm:prSet loTypeId="urn:microsoft.com/office/officeart/2018/layout/CircleProcess" loCatId="simpleprocesssa" qsTypeId="urn:microsoft.com/office/officeart/2005/8/quickstyle/simple1" qsCatId="simple" csTypeId="urn:microsoft.com/office/officeart/2005/8/colors/colorful5" csCatId="colorful" phldr="1"/>
      <dgm:spPr/>
      <dgm:t>
        <a:bodyPr/>
        <a:lstStyle/>
        <a:p>
          <a:endParaRPr lang="en-US"/>
        </a:p>
      </dgm:t>
    </dgm:pt>
    <dgm:pt modelId="{6F2801D7-B287-4A78-8869-668535ADC632}">
      <dgm:prSet/>
      <dgm:spPr/>
      <dgm:t>
        <a:bodyPr/>
        <a:lstStyle/>
        <a:p>
          <a:r>
            <a:rPr lang="es-MX" dirty="0" err="1"/>
            <a:t>islower</a:t>
          </a:r>
          <a:r>
            <a:rPr lang="es-MX" dirty="0"/>
            <a:t>() </a:t>
          </a:r>
          <a:r>
            <a:rPr lang="es-MX" dirty="0" err="1"/>
            <a:t>minusculas</a:t>
          </a:r>
          <a:endParaRPr lang="en-US" dirty="0"/>
        </a:p>
      </dgm:t>
    </dgm:pt>
    <dgm:pt modelId="{FB475A82-0B4B-4578-A374-162C17C65D07}" type="parTrans" cxnId="{48DF1C24-58C1-4A6B-9DB0-71C632765CB3}">
      <dgm:prSet/>
      <dgm:spPr/>
      <dgm:t>
        <a:bodyPr/>
        <a:lstStyle/>
        <a:p>
          <a:endParaRPr lang="en-US"/>
        </a:p>
      </dgm:t>
    </dgm:pt>
    <dgm:pt modelId="{F2D3786A-4F0C-4A1F-BAF8-9DE55B2C2EF8}" type="sibTrans" cxnId="{48DF1C24-58C1-4A6B-9DB0-71C632765CB3}">
      <dgm:prSet/>
      <dgm:spPr/>
      <dgm:t>
        <a:bodyPr/>
        <a:lstStyle/>
        <a:p>
          <a:endParaRPr lang="en-US"/>
        </a:p>
      </dgm:t>
    </dgm:pt>
    <dgm:pt modelId="{318DA844-CDFD-480F-A2B6-073B9A53215E}">
      <dgm:prSet/>
      <dgm:spPr/>
      <dgm:t>
        <a:bodyPr/>
        <a:lstStyle/>
        <a:p>
          <a:r>
            <a:rPr lang="es-MX" dirty="0" err="1"/>
            <a:t>isupper</a:t>
          </a:r>
          <a:r>
            <a:rPr lang="es-MX" dirty="0"/>
            <a:t>() </a:t>
          </a:r>
          <a:r>
            <a:rPr lang="es-MX" dirty="0" err="1"/>
            <a:t>mayusculas</a:t>
          </a:r>
          <a:endParaRPr lang="en-US" dirty="0"/>
        </a:p>
      </dgm:t>
    </dgm:pt>
    <dgm:pt modelId="{74D298CE-F8BA-4686-8389-02CED989A000}" type="parTrans" cxnId="{7A9E2ED1-F1A5-4BB4-A8AC-68D4E3D291A7}">
      <dgm:prSet/>
      <dgm:spPr/>
      <dgm:t>
        <a:bodyPr/>
        <a:lstStyle/>
        <a:p>
          <a:endParaRPr lang="en-US"/>
        </a:p>
      </dgm:t>
    </dgm:pt>
    <dgm:pt modelId="{AD1C1BE9-D287-4E55-8898-F1F0C6D171ED}" type="sibTrans" cxnId="{7A9E2ED1-F1A5-4BB4-A8AC-68D4E3D291A7}">
      <dgm:prSet/>
      <dgm:spPr/>
      <dgm:t>
        <a:bodyPr/>
        <a:lstStyle/>
        <a:p>
          <a:endParaRPr lang="en-US"/>
        </a:p>
      </dgm:t>
    </dgm:pt>
    <dgm:pt modelId="{661BE073-7A17-48CD-84E4-94B152169AC1}">
      <dgm:prSet/>
      <dgm:spPr/>
      <dgm:t>
        <a:bodyPr/>
        <a:lstStyle/>
        <a:p>
          <a:r>
            <a:rPr lang="es-MX" dirty="0" err="1"/>
            <a:t>isprintable</a:t>
          </a:r>
          <a:r>
            <a:rPr lang="es-MX" dirty="0"/>
            <a:t>() verifica que no tenga caracteres especiales</a:t>
          </a:r>
          <a:endParaRPr lang="en-US" dirty="0"/>
        </a:p>
      </dgm:t>
    </dgm:pt>
    <dgm:pt modelId="{FFE64604-4023-45CA-9F26-026A7D68B643}" type="parTrans" cxnId="{0CE3949A-23BE-4220-B69D-8036EDDB0D0B}">
      <dgm:prSet/>
      <dgm:spPr/>
      <dgm:t>
        <a:bodyPr/>
        <a:lstStyle/>
        <a:p>
          <a:endParaRPr lang="en-US"/>
        </a:p>
      </dgm:t>
    </dgm:pt>
    <dgm:pt modelId="{044FFFF7-16D8-4F47-B794-32E00AE4E845}" type="sibTrans" cxnId="{0CE3949A-23BE-4220-B69D-8036EDDB0D0B}">
      <dgm:prSet/>
      <dgm:spPr/>
      <dgm:t>
        <a:bodyPr/>
        <a:lstStyle/>
        <a:p>
          <a:endParaRPr lang="en-US"/>
        </a:p>
      </dgm:t>
    </dgm:pt>
    <dgm:pt modelId="{96D10A4F-8D18-4117-92C0-FE8040BABA58}">
      <dgm:prSet/>
      <dgm:spPr/>
      <dgm:t>
        <a:bodyPr/>
        <a:lstStyle/>
        <a:p>
          <a:r>
            <a:rPr lang="es-MX" dirty="0" err="1"/>
            <a:t>isspace</a:t>
          </a:r>
          <a:r>
            <a:rPr lang="es-MX" dirty="0"/>
            <a:t>() si esta lleno o son puros espacios</a:t>
          </a:r>
          <a:endParaRPr lang="en-US" dirty="0"/>
        </a:p>
      </dgm:t>
    </dgm:pt>
    <dgm:pt modelId="{9692DCE4-D205-4CAE-8C90-C3E43D3FFA60}" type="parTrans" cxnId="{27FEEC83-B46F-4318-8C11-97365EFCAA91}">
      <dgm:prSet/>
      <dgm:spPr/>
      <dgm:t>
        <a:bodyPr/>
        <a:lstStyle/>
        <a:p>
          <a:endParaRPr lang="en-US"/>
        </a:p>
      </dgm:t>
    </dgm:pt>
    <dgm:pt modelId="{5E57CD02-7925-4F49-8474-CC824D18E5E6}" type="sibTrans" cxnId="{27FEEC83-B46F-4318-8C11-97365EFCAA91}">
      <dgm:prSet/>
      <dgm:spPr/>
      <dgm:t>
        <a:bodyPr/>
        <a:lstStyle/>
        <a:p>
          <a:endParaRPr lang="en-US"/>
        </a:p>
      </dgm:t>
    </dgm:pt>
    <dgm:pt modelId="{E3EDFFF0-F2B9-4260-83A3-E9323D832A37}" type="pres">
      <dgm:prSet presAssocID="{3EEF9FA0-6D1B-4A45-8F71-E1395197251B}" presName="Name0" presStyleCnt="0">
        <dgm:presLayoutVars>
          <dgm:chMax val="11"/>
          <dgm:chPref val="11"/>
          <dgm:dir/>
          <dgm:resizeHandles/>
        </dgm:presLayoutVars>
      </dgm:prSet>
      <dgm:spPr/>
    </dgm:pt>
    <dgm:pt modelId="{88DE5272-0880-4D22-8CAD-193F571F6425}" type="pres">
      <dgm:prSet presAssocID="{96D10A4F-8D18-4117-92C0-FE8040BABA58}" presName="Accent4" presStyleCnt="0"/>
      <dgm:spPr/>
    </dgm:pt>
    <dgm:pt modelId="{B966C904-0EA3-4072-A4F5-88B7EE0BA819}" type="pres">
      <dgm:prSet presAssocID="{96D10A4F-8D18-4117-92C0-FE8040BABA58}" presName="Accent" presStyleLbl="node1" presStyleIdx="0" presStyleCnt="8"/>
      <dgm:spPr/>
    </dgm:pt>
    <dgm:pt modelId="{A0941075-D263-465C-87FD-BF583C09741C}" type="pres">
      <dgm:prSet presAssocID="{96D10A4F-8D18-4117-92C0-FE8040BABA58}" presName="ParentBackground4" presStyleCnt="0"/>
      <dgm:spPr/>
    </dgm:pt>
    <dgm:pt modelId="{A2D3DA72-CF5D-4BAF-9EAD-ED7949DD2768}" type="pres">
      <dgm:prSet presAssocID="{96D10A4F-8D18-4117-92C0-FE8040BABA58}" presName="ParentBackground" presStyleLbl="node1" presStyleIdx="1" presStyleCnt="8"/>
      <dgm:spPr/>
    </dgm:pt>
    <dgm:pt modelId="{45DD10A2-46B0-4D97-9F0B-D552AF64F2D8}" type="pres">
      <dgm:prSet presAssocID="{96D10A4F-8D18-4117-92C0-FE8040BABA58}" presName="Parent4" presStyleLbl="fgAcc0" presStyleIdx="0" presStyleCnt="0">
        <dgm:presLayoutVars>
          <dgm:chMax val="1"/>
          <dgm:chPref val="1"/>
          <dgm:bulletEnabled val="1"/>
        </dgm:presLayoutVars>
      </dgm:prSet>
      <dgm:spPr/>
    </dgm:pt>
    <dgm:pt modelId="{913E3254-9C9A-479B-AC6C-BB1608969CB8}" type="pres">
      <dgm:prSet presAssocID="{661BE073-7A17-48CD-84E4-94B152169AC1}" presName="Accent3" presStyleCnt="0"/>
      <dgm:spPr/>
    </dgm:pt>
    <dgm:pt modelId="{5D9CE1D9-9202-4D6B-9C40-9489FF95509C}" type="pres">
      <dgm:prSet presAssocID="{661BE073-7A17-48CD-84E4-94B152169AC1}" presName="Accent" presStyleLbl="node1" presStyleIdx="2" presStyleCnt="8"/>
      <dgm:spPr/>
    </dgm:pt>
    <dgm:pt modelId="{73A64DF9-6974-4C1D-93A9-8F37B2160D6B}" type="pres">
      <dgm:prSet presAssocID="{661BE073-7A17-48CD-84E4-94B152169AC1}" presName="ParentBackground3" presStyleCnt="0"/>
      <dgm:spPr/>
    </dgm:pt>
    <dgm:pt modelId="{B8516CA5-4817-45F5-8B97-F622C4412C27}" type="pres">
      <dgm:prSet presAssocID="{661BE073-7A17-48CD-84E4-94B152169AC1}" presName="ParentBackground" presStyleLbl="node1" presStyleIdx="3" presStyleCnt="8"/>
      <dgm:spPr/>
    </dgm:pt>
    <dgm:pt modelId="{FE3CBFE1-F996-4CC7-B0F7-897A91B42A8C}" type="pres">
      <dgm:prSet presAssocID="{661BE073-7A17-48CD-84E4-94B152169AC1}" presName="Parent3" presStyleLbl="fgAcc0" presStyleIdx="0" presStyleCnt="0">
        <dgm:presLayoutVars>
          <dgm:chMax val="1"/>
          <dgm:chPref val="1"/>
          <dgm:bulletEnabled val="1"/>
        </dgm:presLayoutVars>
      </dgm:prSet>
      <dgm:spPr/>
    </dgm:pt>
    <dgm:pt modelId="{7FDECAF3-F1EB-4635-9E93-063DCBA336AC}" type="pres">
      <dgm:prSet presAssocID="{318DA844-CDFD-480F-A2B6-073B9A53215E}" presName="Accent2" presStyleCnt="0"/>
      <dgm:spPr/>
    </dgm:pt>
    <dgm:pt modelId="{7AA8777A-3E23-4108-A0B3-7C39DFDD3641}" type="pres">
      <dgm:prSet presAssocID="{318DA844-CDFD-480F-A2B6-073B9A53215E}" presName="Accent" presStyleLbl="node1" presStyleIdx="4" presStyleCnt="8"/>
      <dgm:spPr/>
    </dgm:pt>
    <dgm:pt modelId="{26BE7FEF-D6D5-46A2-8F3C-52ACA97ECF42}" type="pres">
      <dgm:prSet presAssocID="{318DA844-CDFD-480F-A2B6-073B9A53215E}" presName="ParentBackground2" presStyleCnt="0"/>
      <dgm:spPr/>
    </dgm:pt>
    <dgm:pt modelId="{85710EBF-5E45-4C00-96B1-02BD4147E7AE}" type="pres">
      <dgm:prSet presAssocID="{318DA844-CDFD-480F-A2B6-073B9A53215E}" presName="ParentBackground" presStyleLbl="node1" presStyleIdx="5" presStyleCnt="8"/>
      <dgm:spPr/>
    </dgm:pt>
    <dgm:pt modelId="{16A04BC3-2FCD-4DC7-883F-9D04DD96827C}" type="pres">
      <dgm:prSet presAssocID="{318DA844-CDFD-480F-A2B6-073B9A53215E}" presName="Parent2" presStyleLbl="fgAcc0" presStyleIdx="0" presStyleCnt="0">
        <dgm:presLayoutVars>
          <dgm:chMax val="1"/>
          <dgm:chPref val="1"/>
          <dgm:bulletEnabled val="1"/>
        </dgm:presLayoutVars>
      </dgm:prSet>
      <dgm:spPr/>
    </dgm:pt>
    <dgm:pt modelId="{8EB4FA4A-AF32-4FBC-9CA8-5F8EB0274CD8}" type="pres">
      <dgm:prSet presAssocID="{6F2801D7-B287-4A78-8869-668535ADC632}" presName="Accent1" presStyleCnt="0"/>
      <dgm:spPr/>
    </dgm:pt>
    <dgm:pt modelId="{7D02E50C-A8B0-4B3A-849E-A778EA109139}" type="pres">
      <dgm:prSet presAssocID="{6F2801D7-B287-4A78-8869-668535ADC632}" presName="Accent" presStyleLbl="node1" presStyleIdx="6" presStyleCnt="8"/>
      <dgm:spPr/>
    </dgm:pt>
    <dgm:pt modelId="{B611BAB6-A82A-4446-8656-21D0350893F3}" type="pres">
      <dgm:prSet presAssocID="{6F2801D7-B287-4A78-8869-668535ADC632}" presName="ParentBackground1" presStyleCnt="0"/>
      <dgm:spPr/>
    </dgm:pt>
    <dgm:pt modelId="{6D8E57FD-A999-4A01-B2DE-19D39BF22BA7}" type="pres">
      <dgm:prSet presAssocID="{6F2801D7-B287-4A78-8869-668535ADC632}" presName="ParentBackground" presStyleLbl="node1" presStyleIdx="7" presStyleCnt="8"/>
      <dgm:spPr/>
    </dgm:pt>
    <dgm:pt modelId="{70659369-6050-4399-ADF4-E6A1F264C3DF}" type="pres">
      <dgm:prSet presAssocID="{6F2801D7-B287-4A78-8869-668535ADC632}" presName="Parent1" presStyleLbl="fgAcc0" presStyleIdx="0" presStyleCnt="0">
        <dgm:presLayoutVars>
          <dgm:chMax val="1"/>
          <dgm:chPref val="1"/>
          <dgm:bulletEnabled val="1"/>
        </dgm:presLayoutVars>
      </dgm:prSet>
      <dgm:spPr/>
    </dgm:pt>
  </dgm:ptLst>
  <dgm:cxnLst>
    <dgm:cxn modelId="{0C131A0A-77D1-40FC-A71E-19B4DF7383DD}" type="presOf" srcId="{96D10A4F-8D18-4117-92C0-FE8040BABA58}" destId="{A2D3DA72-CF5D-4BAF-9EAD-ED7949DD2768}" srcOrd="0" destOrd="0" presId="urn:microsoft.com/office/officeart/2018/layout/CircleProcess"/>
    <dgm:cxn modelId="{73F2FE0C-52C7-4B8A-812E-B120EB62BB43}" type="presOf" srcId="{3EEF9FA0-6D1B-4A45-8F71-E1395197251B}" destId="{E3EDFFF0-F2B9-4260-83A3-E9323D832A37}" srcOrd="0" destOrd="0" presId="urn:microsoft.com/office/officeart/2018/layout/CircleProcess"/>
    <dgm:cxn modelId="{48DF1C24-58C1-4A6B-9DB0-71C632765CB3}" srcId="{3EEF9FA0-6D1B-4A45-8F71-E1395197251B}" destId="{6F2801D7-B287-4A78-8869-668535ADC632}" srcOrd="0" destOrd="0" parTransId="{FB475A82-0B4B-4578-A374-162C17C65D07}" sibTransId="{F2D3786A-4F0C-4A1F-BAF8-9DE55B2C2EF8}"/>
    <dgm:cxn modelId="{35586B83-BE98-42F0-8865-83896D318A59}" type="presOf" srcId="{6F2801D7-B287-4A78-8869-668535ADC632}" destId="{6D8E57FD-A999-4A01-B2DE-19D39BF22BA7}" srcOrd="0" destOrd="0" presId="urn:microsoft.com/office/officeart/2018/layout/CircleProcess"/>
    <dgm:cxn modelId="{27FEEC83-B46F-4318-8C11-97365EFCAA91}" srcId="{3EEF9FA0-6D1B-4A45-8F71-E1395197251B}" destId="{96D10A4F-8D18-4117-92C0-FE8040BABA58}" srcOrd="3" destOrd="0" parTransId="{9692DCE4-D205-4CAE-8C90-C3E43D3FFA60}" sibTransId="{5E57CD02-7925-4F49-8474-CC824D18E5E6}"/>
    <dgm:cxn modelId="{EFCAAD84-7C89-46E0-99AE-E6B2F5C50792}" type="presOf" srcId="{661BE073-7A17-48CD-84E4-94B152169AC1}" destId="{B8516CA5-4817-45F5-8B97-F622C4412C27}" srcOrd="0" destOrd="0" presId="urn:microsoft.com/office/officeart/2018/layout/CircleProcess"/>
    <dgm:cxn modelId="{7C30D187-B2A4-437B-9F68-5C57B9940333}" type="presOf" srcId="{96D10A4F-8D18-4117-92C0-FE8040BABA58}" destId="{45DD10A2-46B0-4D97-9F0B-D552AF64F2D8}" srcOrd="1" destOrd="0" presId="urn:microsoft.com/office/officeart/2018/layout/CircleProcess"/>
    <dgm:cxn modelId="{69E17392-EAC3-4FD9-9E81-E8A35B06CDE4}" type="presOf" srcId="{661BE073-7A17-48CD-84E4-94B152169AC1}" destId="{FE3CBFE1-F996-4CC7-B0F7-897A91B42A8C}" srcOrd="1" destOrd="0" presId="urn:microsoft.com/office/officeart/2018/layout/CircleProcess"/>
    <dgm:cxn modelId="{0CE3949A-23BE-4220-B69D-8036EDDB0D0B}" srcId="{3EEF9FA0-6D1B-4A45-8F71-E1395197251B}" destId="{661BE073-7A17-48CD-84E4-94B152169AC1}" srcOrd="2" destOrd="0" parTransId="{FFE64604-4023-45CA-9F26-026A7D68B643}" sibTransId="{044FFFF7-16D8-4F47-B794-32E00AE4E845}"/>
    <dgm:cxn modelId="{D3D6FCB3-104F-4DD2-975F-A9420F0DC688}" type="presOf" srcId="{318DA844-CDFD-480F-A2B6-073B9A53215E}" destId="{85710EBF-5E45-4C00-96B1-02BD4147E7AE}" srcOrd="0" destOrd="0" presId="urn:microsoft.com/office/officeart/2018/layout/CircleProcess"/>
    <dgm:cxn modelId="{7A9E2ED1-F1A5-4BB4-A8AC-68D4E3D291A7}" srcId="{3EEF9FA0-6D1B-4A45-8F71-E1395197251B}" destId="{318DA844-CDFD-480F-A2B6-073B9A53215E}" srcOrd="1" destOrd="0" parTransId="{74D298CE-F8BA-4686-8389-02CED989A000}" sibTransId="{AD1C1BE9-D287-4E55-8898-F1F0C6D171ED}"/>
    <dgm:cxn modelId="{25069DE4-F0A7-42F0-9C89-35EF9313F80C}" type="presOf" srcId="{6F2801D7-B287-4A78-8869-668535ADC632}" destId="{70659369-6050-4399-ADF4-E6A1F264C3DF}" srcOrd="1" destOrd="0" presId="urn:microsoft.com/office/officeart/2018/layout/CircleProcess"/>
    <dgm:cxn modelId="{82D876EA-A74B-4B90-9E52-611B426DBB7C}" type="presOf" srcId="{318DA844-CDFD-480F-A2B6-073B9A53215E}" destId="{16A04BC3-2FCD-4DC7-883F-9D04DD96827C}" srcOrd="1" destOrd="0" presId="urn:microsoft.com/office/officeart/2018/layout/CircleProcess"/>
    <dgm:cxn modelId="{6FE38FD4-FB5A-42D5-BB42-A7E5EBCF24CA}" type="presParOf" srcId="{E3EDFFF0-F2B9-4260-83A3-E9323D832A37}" destId="{88DE5272-0880-4D22-8CAD-193F571F6425}" srcOrd="0" destOrd="0" presId="urn:microsoft.com/office/officeart/2018/layout/CircleProcess"/>
    <dgm:cxn modelId="{5B20F6BC-C6E9-4DCE-A2FC-ED446D32D57C}" type="presParOf" srcId="{88DE5272-0880-4D22-8CAD-193F571F6425}" destId="{B966C904-0EA3-4072-A4F5-88B7EE0BA819}" srcOrd="0" destOrd="0" presId="urn:microsoft.com/office/officeart/2018/layout/CircleProcess"/>
    <dgm:cxn modelId="{186E3FAF-CB0B-44E7-9724-33938A4E23EA}" type="presParOf" srcId="{E3EDFFF0-F2B9-4260-83A3-E9323D832A37}" destId="{A0941075-D263-465C-87FD-BF583C09741C}" srcOrd="1" destOrd="0" presId="urn:microsoft.com/office/officeart/2018/layout/CircleProcess"/>
    <dgm:cxn modelId="{DBB4F921-DB60-4F55-A1E5-39ADAE972CB5}" type="presParOf" srcId="{A0941075-D263-465C-87FD-BF583C09741C}" destId="{A2D3DA72-CF5D-4BAF-9EAD-ED7949DD2768}" srcOrd="0" destOrd="0" presId="urn:microsoft.com/office/officeart/2018/layout/CircleProcess"/>
    <dgm:cxn modelId="{A200CCC4-9D71-49F7-9277-2AC1382BD0F1}" type="presParOf" srcId="{E3EDFFF0-F2B9-4260-83A3-E9323D832A37}" destId="{45DD10A2-46B0-4D97-9F0B-D552AF64F2D8}" srcOrd="2" destOrd="0" presId="urn:microsoft.com/office/officeart/2018/layout/CircleProcess"/>
    <dgm:cxn modelId="{E832CA04-4D01-46E8-8A55-12B050F67DF1}" type="presParOf" srcId="{E3EDFFF0-F2B9-4260-83A3-E9323D832A37}" destId="{913E3254-9C9A-479B-AC6C-BB1608969CB8}" srcOrd="3" destOrd="0" presId="urn:microsoft.com/office/officeart/2018/layout/CircleProcess"/>
    <dgm:cxn modelId="{137DAEF4-2E2D-404E-B82D-3F99629BD306}" type="presParOf" srcId="{913E3254-9C9A-479B-AC6C-BB1608969CB8}" destId="{5D9CE1D9-9202-4D6B-9C40-9489FF95509C}" srcOrd="0" destOrd="0" presId="urn:microsoft.com/office/officeart/2018/layout/CircleProcess"/>
    <dgm:cxn modelId="{9EA41150-EE66-4817-9044-8422CE1C0843}" type="presParOf" srcId="{E3EDFFF0-F2B9-4260-83A3-E9323D832A37}" destId="{73A64DF9-6974-4C1D-93A9-8F37B2160D6B}" srcOrd="4" destOrd="0" presId="urn:microsoft.com/office/officeart/2018/layout/CircleProcess"/>
    <dgm:cxn modelId="{0CB97D93-C16D-4600-9451-65C9AFC93E29}" type="presParOf" srcId="{73A64DF9-6974-4C1D-93A9-8F37B2160D6B}" destId="{B8516CA5-4817-45F5-8B97-F622C4412C27}" srcOrd="0" destOrd="0" presId="urn:microsoft.com/office/officeart/2018/layout/CircleProcess"/>
    <dgm:cxn modelId="{C4995E85-5BC0-4C82-867C-2AFC6330ABA0}" type="presParOf" srcId="{E3EDFFF0-F2B9-4260-83A3-E9323D832A37}" destId="{FE3CBFE1-F996-4CC7-B0F7-897A91B42A8C}" srcOrd="5" destOrd="0" presId="urn:microsoft.com/office/officeart/2018/layout/CircleProcess"/>
    <dgm:cxn modelId="{B0078C5D-49C0-4AC0-BBE4-29A92371DB4D}" type="presParOf" srcId="{E3EDFFF0-F2B9-4260-83A3-E9323D832A37}" destId="{7FDECAF3-F1EB-4635-9E93-063DCBA336AC}" srcOrd="6" destOrd="0" presId="urn:microsoft.com/office/officeart/2018/layout/CircleProcess"/>
    <dgm:cxn modelId="{ADB86C06-259A-4889-8C2F-F2FF4D1129E2}" type="presParOf" srcId="{7FDECAF3-F1EB-4635-9E93-063DCBA336AC}" destId="{7AA8777A-3E23-4108-A0B3-7C39DFDD3641}" srcOrd="0" destOrd="0" presId="urn:microsoft.com/office/officeart/2018/layout/CircleProcess"/>
    <dgm:cxn modelId="{7D7F81AB-237D-4905-A6CC-D7238EA527B4}" type="presParOf" srcId="{E3EDFFF0-F2B9-4260-83A3-E9323D832A37}" destId="{26BE7FEF-D6D5-46A2-8F3C-52ACA97ECF42}" srcOrd="7" destOrd="0" presId="urn:microsoft.com/office/officeart/2018/layout/CircleProcess"/>
    <dgm:cxn modelId="{AD3AF6D2-0807-4FC0-8235-7F26FFEEA851}" type="presParOf" srcId="{26BE7FEF-D6D5-46A2-8F3C-52ACA97ECF42}" destId="{85710EBF-5E45-4C00-96B1-02BD4147E7AE}" srcOrd="0" destOrd="0" presId="urn:microsoft.com/office/officeart/2018/layout/CircleProcess"/>
    <dgm:cxn modelId="{860079A5-D6EC-4023-B842-99F20431B0F1}" type="presParOf" srcId="{E3EDFFF0-F2B9-4260-83A3-E9323D832A37}" destId="{16A04BC3-2FCD-4DC7-883F-9D04DD96827C}" srcOrd="8" destOrd="0" presId="urn:microsoft.com/office/officeart/2018/layout/CircleProcess"/>
    <dgm:cxn modelId="{BD3BD181-2B81-4152-B009-CBD9ADBFEBD6}" type="presParOf" srcId="{E3EDFFF0-F2B9-4260-83A3-E9323D832A37}" destId="{8EB4FA4A-AF32-4FBC-9CA8-5F8EB0274CD8}" srcOrd="9" destOrd="0" presId="urn:microsoft.com/office/officeart/2018/layout/CircleProcess"/>
    <dgm:cxn modelId="{651BED60-A10E-4A9A-BFCF-4CAF0BE10FBC}" type="presParOf" srcId="{8EB4FA4A-AF32-4FBC-9CA8-5F8EB0274CD8}" destId="{7D02E50C-A8B0-4B3A-849E-A778EA109139}" srcOrd="0" destOrd="0" presId="urn:microsoft.com/office/officeart/2018/layout/CircleProcess"/>
    <dgm:cxn modelId="{1A23F3C1-1FBC-4EFE-84BC-5C1AE800E53B}" type="presParOf" srcId="{E3EDFFF0-F2B9-4260-83A3-E9323D832A37}" destId="{B611BAB6-A82A-4446-8656-21D0350893F3}" srcOrd="10" destOrd="0" presId="urn:microsoft.com/office/officeart/2018/layout/CircleProcess"/>
    <dgm:cxn modelId="{8E13EC34-6E5A-4730-8165-2C01BCA084F9}" type="presParOf" srcId="{B611BAB6-A82A-4446-8656-21D0350893F3}" destId="{6D8E57FD-A999-4A01-B2DE-19D39BF22BA7}" srcOrd="0" destOrd="0" presId="urn:microsoft.com/office/officeart/2018/layout/CircleProcess"/>
    <dgm:cxn modelId="{2D1FCD2F-C5A6-4503-8CAF-556719163550}" type="presParOf" srcId="{E3EDFFF0-F2B9-4260-83A3-E9323D832A37}" destId="{70659369-6050-4399-ADF4-E6A1F264C3DF}" srcOrd="11" destOrd="0" presId="urn:microsoft.com/office/officeart/2018/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8AB2A1B-AE4B-4289-98F8-B1AAA1443D37}"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07B42BE5-A305-4781-8103-9F66018FA03C}">
      <dgm:prSet/>
      <dgm:spPr/>
      <dgm:t>
        <a:bodyPr/>
        <a:lstStyle/>
        <a:p>
          <a:r>
            <a:rPr lang="es-MX"/>
            <a:t>Estos operadores permiten tomar decisiones basadas en múltiples condiciones.</a:t>
          </a:r>
          <a:endParaRPr lang="en-US"/>
        </a:p>
      </dgm:t>
    </dgm:pt>
    <dgm:pt modelId="{0828E8E2-8CFE-4EF1-9BC2-E3A2EE323CEF}" type="parTrans" cxnId="{DF00D705-68D9-4B3A-9FDE-66F2745A1FA6}">
      <dgm:prSet/>
      <dgm:spPr/>
      <dgm:t>
        <a:bodyPr/>
        <a:lstStyle/>
        <a:p>
          <a:endParaRPr lang="en-US"/>
        </a:p>
      </dgm:t>
    </dgm:pt>
    <dgm:pt modelId="{A73732B9-FB63-4C85-8AC7-A7702BD90415}" type="sibTrans" cxnId="{DF00D705-68D9-4B3A-9FDE-66F2745A1FA6}">
      <dgm:prSet/>
      <dgm:spPr/>
      <dgm:t>
        <a:bodyPr/>
        <a:lstStyle/>
        <a:p>
          <a:endParaRPr lang="en-US"/>
        </a:p>
      </dgm:t>
    </dgm:pt>
    <dgm:pt modelId="{FC0CD0BB-662A-4D5A-AD60-4010941D53F3}">
      <dgm:prSet/>
      <dgm:spPr/>
      <dgm:t>
        <a:bodyPr/>
        <a:lstStyle/>
        <a:p>
          <a:r>
            <a:rPr lang="pt-BR"/>
            <a:t>a = 6 &gt; 5                                b = 30 == 15*3</a:t>
          </a:r>
          <a:endParaRPr lang="en-US"/>
        </a:p>
      </dgm:t>
    </dgm:pt>
    <dgm:pt modelId="{E3B9F346-7A45-43C3-A98D-98540B94DB09}" type="parTrans" cxnId="{B40C4284-3B4B-4CA3-B0C7-5149B4D52C2C}">
      <dgm:prSet/>
      <dgm:spPr/>
      <dgm:t>
        <a:bodyPr/>
        <a:lstStyle/>
        <a:p>
          <a:endParaRPr lang="en-US"/>
        </a:p>
      </dgm:t>
    </dgm:pt>
    <dgm:pt modelId="{8024D54D-16ED-4401-BE0D-FA11444DC926}" type="sibTrans" cxnId="{B40C4284-3B4B-4CA3-B0C7-5149B4D52C2C}">
      <dgm:prSet/>
      <dgm:spPr/>
      <dgm:t>
        <a:bodyPr/>
        <a:lstStyle/>
        <a:p>
          <a:endParaRPr lang="en-US"/>
        </a:p>
      </dgm:t>
    </dgm:pt>
    <dgm:pt modelId="{5A98EFAD-1FC1-48C7-81A2-9447954A9108}">
      <dgm:prSet/>
      <dgm:spPr/>
      <dgm:t>
        <a:bodyPr/>
        <a:lstStyle/>
        <a:p>
          <a:r>
            <a:rPr lang="es-MX"/>
            <a:t>And    devuelve True si todas las condiciones son verdaderas </a:t>
          </a:r>
          <a:endParaRPr lang="en-US"/>
        </a:p>
      </dgm:t>
    </dgm:pt>
    <dgm:pt modelId="{636A4F06-2E95-4780-9B93-8829CE370C95}" type="parTrans" cxnId="{2D38ED54-591A-4014-8080-111BA93F6608}">
      <dgm:prSet/>
      <dgm:spPr/>
      <dgm:t>
        <a:bodyPr/>
        <a:lstStyle/>
        <a:p>
          <a:endParaRPr lang="en-US"/>
        </a:p>
      </dgm:t>
    </dgm:pt>
    <dgm:pt modelId="{E7A3CE70-3CAE-4B15-BBED-5685C5F25318}" type="sibTrans" cxnId="{2D38ED54-591A-4014-8080-111BA93F6608}">
      <dgm:prSet/>
      <dgm:spPr/>
      <dgm:t>
        <a:bodyPr/>
        <a:lstStyle/>
        <a:p>
          <a:endParaRPr lang="en-US"/>
        </a:p>
      </dgm:t>
    </dgm:pt>
    <dgm:pt modelId="{821B2037-47B8-425C-A14D-F07619D0AD19}">
      <dgm:prSet/>
      <dgm:spPr/>
      <dgm:t>
        <a:bodyPr/>
        <a:lstStyle/>
        <a:p>
          <a:r>
            <a:rPr lang="es-MX"/>
            <a:t>mi_bool = a and b </a:t>
          </a:r>
          <a:endParaRPr lang="en-US"/>
        </a:p>
      </dgm:t>
    </dgm:pt>
    <dgm:pt modelId="{B24AC2A0-8D68-4C8E-B0B6-DE8F25FF7CF6}" type="parTrans" cxnId="{B9E9445E-5410-4849-A81B-68DF00B99087}">
      <dgm:prSet/>
      <dgm:spPr/>
      <dgm:t>
        <a:bodyPr/>
        <a:lstStyle/>
        <a:p>
          <a:endParaRPr lang="en-US"/>
        </a:p>
      </dgm:t>
    </dgm:pt>
    <dgm:pt modelId="{288031A9-8BD4-44C1-9196-46E92A5F4B55}" type="sibTrans" cxnId="{B9E9445E-5410-4849-A81B-68DF00B99087}">
      <dgm:prSet/>
      <dgm:spPr/>
      <dgm:t>
        <a:bodyPr/>
        <a:lstStyle/>
        <a:p>
          <a:endParaRPr lang="en-US"/>
        </a:p>
      </dgm:t>
    </dgm:pt>
    <dgm:pt modelId="{7F23E26F-45D7-41AD-A212-3BACEB13F96D}">
      <dgm:prSet/>
      <dgm:spPr/>
      <dgm:t>
        <a:bodyPr/>
        <a:lstStyle/>
        <a:p>
          <a:r>
            <a:rPr lang="es-MX"/>
            <a:t>print(mi_bool) </a:t>
          </a:r>
          <a:endParaRPr lang="en-US"/>
        </a:p>
      </dgm:t>
    </dgm:pt>
    <dgm:pt modelId="{F998840A-08F4-4DDA-A64B-C88C533EA15E}" type="parTrans" cxnId="{A473A2CA-CD56-4DAE-8A06-B648D61BB4E1}">
      <dgm:prSet/>
      <dgm:spPr/>
      <dgm:t>
        <a:bodyPr/>
        <a:lstStyle/>
        <a:p>
          <a:endParaRPr lang="en-US"/>
        </a:p>
      </dgm:t>
    </dgm:pt>
    <dgm:pt modelId="{4F32CB58-047F-4651-A1D8-656049A50F6C}" type="sibTrans" cxnId="{A473A2CA-CD56-4DAE-8A06-B648D61BB4E1}">
      <dgm:prSet/>
      <dgm:spPr/>
      <dgm:t>
        <a:bodyPr/>
        <a:lstStyle/>
        <a:p>
          <a:endParaRPr lang="en-US"/>
        </a:p>
      </dgm:t>
    </dgm:pt>
    <dgm:pt modelId="{B9B1FEB8-5B2B-46D2-9790-2A0A8BE1D8C8}">
      <dgm:prSet/>
      <dgm:spPr/>
      <dgm:t>
        <a:bodyPr/>
        <a:lstStyle/>
        <a:p>
          <a:r>
            <a:rPr lang="es-MX"/>
            <a:t>&gt;&gt; False</a:t>
          </a:r>
          <a:endParaRPr lang="en-US"/>
        </a:p>
      </dgm:t>
    </dgm:pt>
    <dgm:pt modelId="{1CFABBC1-7638-46C1-951E-737B6FCCDB03}" type="parTrans" cxnId="{DC118BA8-84AC-4C5C-8736-279144ACD200}">
      <dgm:prSet/>
      <dgm:spPr/>
      <dgm:t>
        <a:bodyPr/>
        <a:lstStyle/>
        <a:p>
          <a:endParaRPr lang="en-US"/>
        </a:p>
      </dgm:t>
    </dgm:pt>
    <dgm:pt modelId="{BA2CFB0B-4338-4AFF-9974-E7892D0A77B9}" type="sibTrans" cxnId="{DC118BA8-84AC-4C5C-8736-279144ACD200}">
      <dgm:prSet/>
      <dgm:spPr/>
      <dgm:t>
        <a:bodyPr/>
        <a:lstStyle/>
        <a:p>
          <a:endParaRPr lang="en-US"/>
        </a:p>
      </dgm:t>
    </dgm:pt>
    <dgm:pt modelId="{7B2115D9-850C-4D71-B861-3B54A9815E87}">
      <dgm:prSet/>
      <dgm:spPr/>
      <dgm:t>
        <a:bodyPr/>
        <a:lstStyle/>
        <a:p>
          <a:r>
            <a:rPr lang="es-MX"/>
            <a:t>or   devuelve True si al menos una condición es verdadera </a:t>
          </a:r>
          <a:endParaRPr lang="en-US"/>
        </a:p>
      </dgm:t>
    </dgm:pt>
    <dgm:pt modelId="{8920AE16-A497-4BAF-A055-0C3654FE4B15}" type="parTrans" cxnId="{D4A806FF-4958-42BC-9AEF-DD253B33415A}">
      <dgm:prSet/>
      <dgm:spPr/>
      <dgm:t>
        <a:bodyPr/>
        <a:lstStyle/>
        <a:p>
          <a:endParaRPr lang="en-US"/>
        </a:p>
      </dgm:t>
    </dgm:pt>
    <dgm:pt modelId="{3828B2CD-5140-43A8-A9F1-BD96F3955CAF}" type="sibTrans" cxnId="{D4A806FF-4958-42BC-9AEF-DD253B33415A}">
      <dgm:prSet/>
      <dgm:spPr/>
      <dgm:t>
        <a:bodyPr/>
        <a:lstStyle/>
        <a:p>
          <a:endParaRPr lang="en-US"/>
        </a:p>
      </dgm:t>
    </dgm:pt>
    <dgm:pt modelId="{4DA503E7-4C29-4BAA-B084-796A820F3AAD}">
      <dgm:prSet/>
      <dgm:spPr/>
      <dgm:t>
        <a:bodyPr/>
        <a:lstStyle/>
        <a:p>
          <a:r>
            <a:rPr lang="es-MX"/>
            <a:t>mi_bool = a or b </a:t>
          </a:r>
          <a:endParaRPr lang="en-US"/>
        </a:p>
      </dgm:t>
    </dgm:pt>
    <dgm:pt modelId="{15917ECF-D7E9-41C8-8F44-90BACFFD8F71}" type="parTrans" cxnId="{61A2A1F2-D9E2-48F6-8608-3570337E42DA}">
      <dgm:prSet/>
      <dgm:spPr/>
      <dgm:t>
        <a:bodyPr/>
        <a:lstStyle/>
        <a:p>
          <a:endParaRPr lang="en-US"/>
        </a:p>
      </dgm:t>
    </dgm:pt>
    <dgm:pt modelId="{8C3E6140-EC66-402B-B858-AE7AFB410BE4}" type="sibTrans" cxnId="{61A2A1F2-D9E2-48F6-8608-3570337E42DA}">
      <dgm:prSet/>
      <dgm:spPr/>
      <dgm:t>
        <a:bodyPr/>
        <a:lstStyle/>
        <a:p>
          <a:endParaRPr lang="en-US"/>
        </a:p>
      </dgm:t>
    </dgm:pt>
    <dgm:pt modelId="{ECD80CB6-7D44-40C7-A213-62B519505185}">
      <dgm:prSet/>
      <dgm:spPr/>
      <dgm:t>
        <a:bodyPr/>
        <a:lstStyle/>
        <a:p>
          <a:r>
            <a:rPr lang="es-MX"/>
            <a:t>print(mi_bool) </a:t>
          </a:r>
          <a:endParaRPr lang="en-US"/>
        </a:p>
      </dgm:t>
    </dgm:pt>
    <dgm:pt modelId="{A0D43031-A200-4886-9095-5C15F4B288B2}" type="parTrans" cxnId="{E32E6B9E-3C0A-4E98-9053-2B974A6ED377}">
      <dgm:prSet/>
      <dgm:spPr/>
      <dgm:t>
        <a:bodyPr/>
        <a:lstStyle/>
        <a:p>
          <a:endParaRPr lang="en-US"/>
        </a:p>
      </dgm:t>
    </dgm:pt>
    <dgm:pt modelId="{0D5485A2-6512-4CA7-9035-D65BA3C519BA}" type="sibTrans" cxnId="{E32E6B9E-3C0A-4E98-9053-2B974A6ED377}">
      <dgm:prSet/>
      <dgm:spPr/>
      <dgm:t>
        <a:bodyPr/>
        <a:lstStyle/>
        <a:p>
          <a:endParaRPr lang="en-US"/>
        </a:p>
      </dgm:t>
    </dgm:pt>
    <dgm:pt modelId="{C6E085A0-C428-49D1-8BED-39CFEF843D3D}">
      <dgm:prSet/>
      <dgm:spPr/>
      <dgm:t>
        <a:bodyPr/>
        <a:lstStyle/>
        <a:p>
          <a:r>
            <a:rPr lang="es-MX"/>
            <a:t>&gt;&gt; True</a:t>
          </a:r>
          <a:endParaRPr lang="en-US"/>
        </a:p>
      </dgm:t>
    </dgm:pt>
    <dgm:pt modelId="{6E84B7A7-7E3B-4550-91FF-D54FA4112C0B}" type="parTrans" cxnId="{E913DC5C-5703-48CA-B314-E8F0F9CEAEBB}">
      <dgm:prSet/>
      <dgm:spPr/>
      <dgm:t>
        <a:bodyPr/>
        <a:lstStyle/>
        <a:p>
          <a:endParaRPr lang="en-US"/>
        </a:p>
      </dgm:t>
    </dgm:pt>
    <dgm:pt modelId="{FFE2C173-D075-4A78-8E49-EBA20A63143E}" type="sibTrans" cxnId="{E913DC5C-5703-48CA-B314-E8F0F9CEAEBB}">
      <dgm:prSet/>
      <dgm:spPr/>
      <dgm:t>
        <a:bodyPr/>
        <a:lstStyle/>
        <a:p>
          <a:endParaRPr lang="en-US"/>
        </a:p>
      </dgm:t>
    </dgm:pt>
    <dgm:pt modelId="{F55C5D14-5792-41A3-ABA6-700862408E0C}">
      <dgm:prSet/>
      <dgm:spPr/>
      <dgm:t>
        <a:bodyPr/>
        <a:lstStyle/>
        <a:p>
          <a:r>
            <a:rPr lang="es-MX"/>
            <a:t>not     devuelve True si el valor del booleano es False, y False si es True </a:t>
          </a:r>
          <a:endParaRPr lang="en-US"/>
        </a:p>
      </dgm:t>
    </dgm:pt>
    <dgm:pt modelId="{88AAD573-2B13-4D56-B832-22E0363E53DD}" type="parTrans" cxnId="{FFA7D660-8733-43FA-9162-62A8D456C977}">
      <dgm:prSet/>
      <dgm:spPr/>
      <dgm:t>
        <a:bodyPr/>
        <a:lstStyle/>
        <a:p>
          <a:endParaRPr lang="en-US"/>
        </a:p>
      </dgm:t>
    </dgm:pt>
    <dgm:pt modelId="{5E02A4E3-4B90-4ED1-9910-3BFB63D7F71F}" type="sibTrans" cxnId="{FFA7D660-8733-43FA-9162-62A8D456C977}">
      <dgm:prSet/>
      <dgm:spPr/>
      <dgm:t>
        <a:bodyPr/>
        <a:lstStyle/>
        <a:p>
          <a:endParaRPr lang="en-US"/>
        </a:p>
      </dgm:t>
    </dgm:pt>
    <dgm:pt modelId="{15D8C02E-6159-47A3-834C-D9FC66B86603}">
      <dgm:prSet/>
      <dgm:spPr/>
      <dgm:t>
        <a:bodyPr/>
        <a:lstStyle/>
        <a:p>
          <a:r>
            <a:rPr lang="es-MX"/>
            <a:t>mi_bool = not a </a:t>
          </a:r>
          <a:endParaRPr lang="en-US"/>
        </a:p>
      </dgm:t>
    </dgm:pt>
    <dgm:pt modelId="{CC03CE84-A00B-4328-940B-9E42E2458767}" type="parTrans" cxnId="{A81EB488-843F-4E0E-864C-A63F2EDFA4B4}">
      <dgm:prSet/>
      <dgm:spPr/>
      <dgm:t>
        <a:bodyPr/>
        <a:lstStyle/>
        <a:p>
          <a:endParaRPr lang="en-US"/>
        </a:p>
      </dgm:t>
    </dgm:pt>
    <dgm:pt modelId="{C5FF3E93-4114-4EFE-9AFC-7A752384FD1F}" type="sibTrans" cxnId="{A81EB488-843F-4E0E-864C-A63F2EDFA4B4}">
      <dgm:prSet/>
      <dgm:spPr/>
      <dgm:t>
        <a:bodyPr/>
        <a:lstStyle/>
        <a:p>
          <a:endParaRPr lang="en-US"/>
        </a:p>
      </dgm:t>
    </dgm:pt>
    <dgm:pt modelId="{D914C186-B9DB-4E9D-A21C-BF07CC81D3B9}">
      <dgm:prSet/>
      <dgm:spPr/>
      <dgm:t>
        <a:bodyPr/>
        <a:lstStyle/>
        <a:p>
          <a:r>
            <a:rPr lang="es-MX"/>
            <a:t>print(mi_bool) </a:t>
          </a:r>
          <a:endParaRPr lang="en-US"/>
        </a:p>
      </dgm:t>
    </dgm:pt>
    <dgm:pt modelId="{D8941B9E-8A4F-4908-AD6D-B24D25EB1FBD}" type="parTrans" cxnId="{FC7AE57F-0797-460C-B0F2-F343D790AAB2}">
      <dgm:prSet/>
      <dgm:spPr/>
      <dgm:t>
        <a:bodyPr/>
        <a:lstStyle/>
        <a:p>
          <a:endParaRPr lang="en-US"/>
        </a:p>
      </dgm:t>
    </dgm:pt>
    <dgm:pt modelId="{22B0083C-0F3D-46F8-A40D-480475886607}" type="sibTrans" cxnId="{FC7AE57F-0797-460C-B0F2-F343D790AAB2}">
      <dgm:prSet/>
      <dgm:spPr/>
      <dgm:t>
        <a:bodyPr/>
        <a:lstStyle/>
        <a:p>
          <a:endParaRPr lang="en-US"/>
        </a:p>
      </dgm:t>
    </dgm:pt>
    <dgm:pt modelId="{0B7490EC-FEDA-47DD-8EFC-EC9F68FA401E}">
      <dgm:prSet/>
      <dgm:spPr/>
      <dgm:t>
        <a:bodyPr/>
        <a:lstStyle/>
        <a:p>
          <a:r>
            <a:rPr lang="es-MX"/>
            <a:t>&gt;&gt; False</a:t>
          </a:r>
          <a:endParaRPr lang="en-US"/>
        </a:p>
      </dgm:t>
    </dgm:pt>
    <dgm:pt modelId="{3D060631-A1CA-4EE1-826E-8FE140F0606A}" type="parTrans" cxnId="{738A5860-B32C-42D8-BB3C-7F3AA825980D}">
      <dgm:prSet/>
      <dgm:spPr/>
      <dgm:t>
        <a:bodyPr/>
        <a:lstStyle/>
        <a:p>
          <a:endParaRPr lang="en-US"/>
        </a:p>
      </dgm:t>
    </dgm:pt>
    <dgm:pt modelId="{19134F70-DD28-4F85-AA73-C6D6C4FB9FC2}" type="sibTrans" cxnId="{738A5860-B32C-42D8-BB3C-7F3AA825980D}">
      <dgm:prSet/>
      <dgm:spPr/>
      <dgm:t>
        <a:bodyPr/>
        <a:lstStyle/>
        <a:p>
          <a:endParaRPr lang="en-US"/>
        </a:p>
      </dgm:t>
    </dgm:pt>
    <dgm:pt modelId="{87001B2A-3CDB-47CD-B3A0-D2AAAFE8D3A7}" type="pres">
      <dgm:prSet presAssocID="{28AB2A1B-AE4B-4289-98F8-B1AAA1443D37}" presName="diagram" presStyleCnt="0">
        <dgm:presLayoutVars>
          <dgm:dir/>
          <dgm:resizeHandles val="exact"/>
        </dgm:presLayoutVars>
      </dgm:prSet>
      <dgm:spPr/>
    </dgm:pt>
    <dgm:pt modelId="{EFF91416-71BD-44C6-8F42-DF0A9881B55B}" type="pres">
      <dgm:prSet presAssocID="{07B42BE5-A305-4781-8103-9F66018FA03C}" presName="node" presStyleLbl="node1" presStyleIdx="0" presStyleCnt="14">
        <dgm:presLayoutVars>
          <dgm:bulletEnabled val="1"/>
        </dgm:presLayoutVars>
      </dgm:prSet>
      <dgm:spPr/>
    </dgm:pt>
    <dgm:pt modelId="{C808F231-4503-44BA-9ABA-A06D21B76D7E}" type="pres">
      <dgm:prSet presAssocID="{A73732B9-FB63-4C85-8AC7-A7702BD90415}" presName="sibTrans" presStyleCnt="0"/>
      <dgm:spPr/>
    </dgm:pt>
    <dgm:pt modelId="{EB6DA4AE-75C7-46ED-9A43-7B0DB49935A6}" type="pres">
      <dgm:prSet presAssocID="{FC0CD0BB-662A-4D5A-AD60-4010941D53F3}" presName="node" presStyleLbl="node1" presStyleIdx="1" presStyleCnt="14">
        <dgm:presLayoutVars>
          <dgm:bulletEnabled val="1"/>
        </dgm:presLayoutVars>
      </dgm:prSet>
      <dgm:spPr/>
    </dgm:pt>
    <dgm:pt modelId="{AFDF24C7-569E-4F69-9929-F61A0F4C70DB}" type="pres">
      <dgm:prSet presAssocID="{8024D54D-16ED-4401-BE0D-FA11444DC926}" presName="sibTrans" presStyleCnt="0"/>
      <dgm:spPr/>
    </dgm:pt>
    <dgm:pt modelId="{48C26E51-547D-4C5E-BC64-B757E2749041}" type="pres">
      <dgm:prSet presAssocID="{5A98EFAD-1FC1-48C7-81A2-9447954A9108}" presName="node" presStyleLbl="node1" presStyleIdx="2" presStyleCnt="14">
        <dgm:presLayoutVars>
          <dgm:bulletEnabled val="1"/>
        </dgm:presLayoutVars>
      </dgm:prSet>
      <dgm:spPr/>
    </dgm:pt>
    <dgm:pt modelId="{67A70943-1229-404A-A817-F8F47887E914}" type="pres">
      <dgm:prSet presAssocID="{E7A3CE70-3CAE-4B15-BBED-5685C5F25318}" presName="sibTrans" presStyleCnt="0"/>
      <dgm:spPr/>
    </dgm:pt>
    <dgm:pt modelId="{C067CAB1-7086-4E79-9F53-85A524F21BEA}" type="pres">
      <dgm:prSet presAssocID="{821B2037-47B8-425C-A14D-F07619D0AD19}" presName="node" presStyleLbl="node1" presStyleIdx="3" presStyleCnt="14">
        <dgm:presLayoutVars>
          <dgm:bulletEnabled val="1"/>
        </dgm:presLayoutVars>
      </dgm:prSet>
      <dgm:spPr/>
    </dgm:pt>
    <dgm:pt modelId="{CCC0227B-0033-45C9-8E48-35BDE1D6D848}" type="pres">
      <dgm:prSet presAssocID="{288031A9-8BD4-44C1-9196-46E92A5F4B55}" presName="sibTrans" presStyleCnt="0"/>
      <dgm:spPr/>
    </dgm:pt>
    <dgm:pt modelId="{89A37666-A69C-497B-95C5-4D18E7317275}" type="pres">
      <dgm:prSet presAssocID="{7F23E26F-45D7-41AD-A212-3BACEB13F96D}" presName="node" presStyleLbl="node1" presStyleIdx="4" presStyleCnt="14">
        <dgm:presLayoutVars>
          <dgm:bulletEnabled val="1"/>
        </dgm:presLayoutVars>
      </dgm:prSet>
      <dgm:spPr/>
    </dgm:pt>
    <dgm:pt modelId="{65A81F6C-6A1B-4F32-A302-2360B05F3FF3}" type="pres">
      <dgm:prSet presAssocID="{4F32CB58-047F-4651-A1D8-656049A50F6C}" presName="sibTrans" presStyleCnt="0"/>
      <dgm:spPr/>
    </dgm:pt>
    <dgm:pt modelId="{A892D554-2327-4490-A268-7D472DECDFC6}" type="pres">
      <dgm:prSet presAssocID="{B9B1FEB8-5B2B-46D2-9790-2A0A8BE1D8C8}" presName="node" presStyleLbl="node1" presStyleIdx="5" presStyleCnt="14">
        <dgm:presLayoutVars>
          <dgm:bulletEnabled val="1"/>
        </dgm:presLayoutVars>
      </dgm:prSet>
      <dgm:spPr/>
    </dgm:pt>
    <dgm:pt modelId="{E4B98D96-0C80-4C9B-B5CE-751E1365F021}" type="pres">
      <dgm:prSet presAssocID="{BA2CFB0B-4338-4AFF-9974-E7892D0A77B9}" presName="sibTrans" presStyleCnt="0"/>
      <dgm:spPr/>
    </dgm:pt>
    <dgm:pt modelId="{02846CFB-F26D-4DD7-B177-3DFBCB85CCA7}" type="pres">
      <dgm:prSet presAssocID="{7B2115D9-850C-4D71-B861-3B54A9815E87}" presName="node" presStyleLbl="node1" presStyleIdx="6" presStyleCnt="14">
        <dgm:presLayoutVars>
          <dgm:bulletEnabled val="1"/>
        </dgm:presLayoutVars>
      </dgm:prSet>
      <dgm:spPr/>
    </dgm:pt>
    <dgm:pt modelId="{E6D6D264-BF62-4DCA-84B3-63BCDCD7E7EB}" type="pres">
      <dgm:prSet presAssocID="{3828B2CD-5140-43A8-A9F1-BD96F3955CAF}" presName="sibTrans" presStyleCnt="0"/>
      <dgm:spPr/>
    </dgm:pt>
    <dgm:pt modelId="{1C021006-EFD5-4533-8D67-1DB2E61A6317}" type="pres">
      <dgm:prSet presAssocID="{4DA503E7-4C29-4BAA-B084-796A820F3AAD}" presName="node" presStyleLbl="node1" presStyleIdx="7" presStyleCnt="14">
        <dgm:presLayoutVars>
          <dgm:bulletEnabled val="1"/>
        </dgm:presLayoutVars>
      </dgm:prSet>
      <dgm:spPr/>
    </dgm:pt>
    <dgm:pt modelId="{314C0685-A08E-4264-B191-83F29B6CA56F}" type="pres">
      <dgm:prSet presAssocID="{8C3E6140-EC66-402B-B858-AE7AFB410BE4}" presName="sibTrans" presStyleCnt="0"/>
      <dgm:spPr/>
    </dgm:pt>
    <dgm:pt modelId="{4E280EB2-D990-41B0-9BC8-402A8AB5664A}" type="pres">
      <dgm:prSet presAssocID="{ECD80CB6-7D44-40C7-A213-62B519505185}" presName="node" presStyleLbl="node1" presStyleIdx="8" presStyleCnt="14">
        <dgm:presLayoutVars>
          <dgm:bulletEnabled val="1"/>
        </dgm:presLayoutVars>
      </dgm:prSet>
      <dgm:spPr/>
    </dgm:pt>
    <dgm:pt modelId="{F9D1E697-917E-4CA4-AEC3-F54D71A1B3F8}" type="pres">
      <dgm:prSet presAssocID="{0D5485A2-6512-4CA7-9035-D65BA3C519BA}" presName="sibTrans" presStyleCnt="0"/>
      <dgm:spPr/>
    </dgm:pt>
    <dgm:pt modelId="{506DF560-2686-4D1B-B4BE-F926A7BF38E8}" type="pres">
      <dgm:prSet presAssocID="{C6E085A0-C428-49D1-8BED-39CFEF843D3D}" presName="node" presStyleLbl="node1" presStyleIdx="9" presStyleCnt="14">
        <dgm:presLayoutVars>
          <dgm:bulletEnabled val="1"/>
        </dgm:presLayoutVars>
      </dgm:prSet>
      <dgm:spPr/>
    </dgm:pt>
    <dgm:pt modelId="{8F0D08CD-D3D9-44C7-97FC-A50C2D9FA9E4}" type="pres">
      <dgm:prSet presAssocID="{FFE2C173-D075-4A78-8E49-EBA20A63143E}" presName="sibTrans" presStyleCnt="0"/>
      <dgm:spPr/>
    </dgm:pt>
    <dgm:pt modelId="{D0283E83-2870-42A8-98A4-E04500E388BC}" type="pres">
      <dgm:prSet presAssocID="{F55C5D14-5792-41A3-ABA6-700862408E0C}" presName="node" presStyleLbl="node1" presStyleIdx="10" presStyleCnt="14">
        <dgm:presLayoutVars>
          <dgm:bulletEnabled val="1"/>
        </dgm:presLayoutVars>
      </dgm:prSet>
      <dgm:spPr/>
    </dgm:pt>
    <dgm:pt modelId="{BC111BBD-45F8-4248-A0BB-34ACA19E5C17}" type="pres">
      <dgm:prSet presAssocID="{5E02A4E3-4B90-4ED1-9910-3BFB63D7F71F}" presName="sibTrans" presStyleCnt="0"/>
      <dgm:spPr/>
    </dgm:pt>
    <dgm:pt modelId="{CD794FEA-61C8-4D4D-8645-F0D4AAE648B1}" type="pres">
      <dgm:prSet presAssocID="{15D8C02E-6159-47A3-834C-D9FC66B86603}" presName="node" presStyleLbl="node1" presStyleIdx="11" presStyleCnt="14">
        <dgm:presLayoutVars>
          <dgm:bulletEnabled val="1"/>
        </dgm:presLayoutVars>
      </dgm:prSet>
      <dgm:spPr/>
    </dgm:pt>
    <dgm:pt modelId="{860EBEA9-1F41-4644-8817-87073B7074D8}" type="pres">
      <dgm:prSet presAssocID="{C5FF3E93-4114-4EFE-9AFC-7A752384FD1F}" presName="sibTrans" presStyleCnt="0"/>
      <dgm:spPr/>
    </dgm:pt>
    <dgm:pt modelId="{03233033-14E5-4D4B-92BF-CC9E27BABC32}" type="pres">
      <dgm:prSet presAssocID="{D914C186-B9DB-4E9D-A21C-BF07CC81D3B9}" presName="node" presStyleLbl="node1" presStyleIdx="12" presStyleCnt="14">
        <dgm:presLayoutVars>
          <dgm:bulletEnabled val="1"/>
        </dgm:presLayoutVars>
      </dgm:prSet>
      <dgm:spPr/>
    </dgm:pt>
    <dgm:pt modelId="{788BC12C-3FA4-4EE4-BF84-D69BCCE1966E}" type="pres">
      <dgm:prSet presAssocID="{22B0083C-0F3D-46F8-A40D-480475886607}" presName="sibTrans" presStyleCnt="0"/>
      <dgm:spPr/>
    </dgm:pt>
    <dgm:pt modelId="{AA553240-FC54-44AC-90EA-FF25492A69AC}" type="pres">
      <dgm:prSet presAssocID="{0B7490EC-FEDA-47DD-8EFC-EC9F68FA401E}" presName="node" presStyleLbl="node1" presStyleIdx="13" presStyleCnt="14">
        <dgm:presLayoutVars>
          <dgm:bulletEnabled val="1"/>
        </dgm:presLayoutVars>
      </dgm:prSet>
      <dgm:spPr/>
    </dgm:pt>
  </dgm:ptLst>
  <dgm:cxnLst>
    <dgm:cxn modelId="{DF00D705-68D9-4B3A-9FDE-66F2745A1FA6}" srcId="{28AB2A1B-AE4B-4289-98F8-B1AAA1443D37}" destId="{07B42BE5-A305-4781-8103-9F66018FA03C}" srcOrd="0" destOrd="0" parTransId="{0828E8E2-8CFE-4EF1-9BC2-E3A2EE323CEF}" sibTransId="{A73732B9-FB63-4C85-8AC7-A7702BD90415}"/>
    <dgm:cxn modelId="{4B2BD023-3396-4985-96CE-17E057181D09}" type="presOf" srcId="{7B2115D9-850C-4D71-B861-3B54A9815E87}" destId="{02846CFB-F26D-4DD7-B177-3DFBCB85CCA7}" srcOrd="0" destOrd="0" presId="urn:microsoft.com/office/officeart/2005/8/layout/default"/>
    <dgm:cxn modelId="{BAA5B925-6FC6-45CD-A395-AEE3A4528834}" type="presOf" srcId="{0B7490EC-FEDA-47DD-8EFC-EC9F68FA401E}" destId="{AA553240-FC54-44AC-90EA-FF25492A69AC}" srcOrd="0" destOrd="0" presId="urn:microsoft.com/office/officeart/2005/8/layout/default"/>
    <dgm:cxn modelId="{669F5229-1666-4D08-8CA0-76217F578833}" type="presOf" srcId="{5A98EFAD-1FC1-48C7-81A2-9447954A9108}" destId="{48C26E51-547D-4C5E-BC64-B757E2749041}" srcOrd="0" destOrd="0" presId="urn:microsoft.com/office/officeart/2005/8/layout/default"/>
    <dgm:cxn modelId="{34AD4932-87A0-4417-9164-AA5A2FE1AF63}" type="presOf" srcId="{B9B1FEB8-5B2B-46D2-9790-2A0A8BE1D8C8}" destId="{A892D554-2327-4490-A268-7D472DECDFC6}" srcOrd="0" destOrd="0" presId="urn:microsoft.com/office/officeart/2005/8/layout/default"/>
    <dgm:cxn modelId="{94E2035C-CC48-4B5A-8D0B-86A6B56AD95E}" type="presOf" srcId="{7F23E26F-45D7-41AD-A212-3BACEB13F96D}" destId="{89A37666-A69C-497B-95C5-4D18E7317275}" srcOrd="0" destOrd="0" presId="urn:microsoft.com/office/officeart/2005/8/layout/default"/>
    <dgm:cxn modelId="{E913DC5C-5703-48CA-B314-E8F0F9CEAEBB}" srcId="{28AB2A1B-AE4B-4289-98F8-B1AAA1443D37}" destId="{C6E085A0-C428-49D1-8BED-39CFEF843D3D}" srcOrd="9" destOrd="0" parTransId="{6E84B7A7-7E3B-4550-91FF-D54FA4112C0B}" sibTransId="{FFE2C173-D075-4A78-8E49-EBA20A63143E}"/>
    <dgm:cxn modelId="{B9E9445E-5410-4849-A81B-68DF00B99087}" srcId="{28AB2A1B-AE4B-4289-98F8-B1AAA1443D37}" destId="{821B2037-47B8-425C-A14D-F07619D0AD19}" srcOrd="3" destOrd="0" parTransId="{B24AC2A0-8D68-4C8E-B0B6-DE8F25FF7CF6}" sibTransId="{288031A9-8BD4-44C1-9196-46E92A5F4B55}"/>
    <dgm:cxn modelId="{738A5860-B32C-42D8-BB3C-7F3AA825980D}" srcId="{28AB2A1B-AE4B-4289-98F8-B1AAA1443D37}" destId="{0B7490EC-FEDA-47DD-8EFC-EC9F68FA401E}" srcOrd="13" destOrd="0" parTransId="{3D060631-A1CA-4EE1-826E-8FE140F0606A}" sibTransId="{19134F70-DD28-4F85-AA73-C6D6C4FB9FC2}"/>
    <dgm:cxn modelId="{FFA7D660-8733-43FA-9162-62A8D456C977}" srcId="{28AB2A1B-AE4B-4289-98F8-B1AAA1443D37}" destId="{F55C5D14-5792-41A3-ABA6-700862408E0C}" srcOrd="10" destOrd="0" parTransId="{88AAD573-2B13-4D56-B832-22E0363E53DD}" sibTransId="{5E02A4E3-4B90-4ED1-9910-3BFB63D7F71F}"/>
    <dgm:cxn modelId="{45028842-BDD2-4994-939C-DE57D58FCE76}" type="presOf" srcId="{4DA503E7-4C29-4BAA-B084-796A820F3AAD}" destId="{1C021006-EFD5-4533-8D67-1DB2E61A6317}" srcOrd="0" destOrd="0" presId="urn:microsoft.com/office/officeart/2005/8/layout/default"/>
    <dgm:cxn modelId="{2848B446-0F96-4613-BD36-F81A3DA05122}" type="presOf" srcId="{28AB2A1B-AE4B-4289-98F8-B1AAA1443D37}" destId="{87001B2A-3CDB-47CD-B3A0-D2AAAFE8D3A7}" srcOrd="0" destOrd="0" presId="urn:microsoft.com/office/officeart/2005/8/layout/default"/>
    <dgm:cxn modelId="{DC8B0A4D-19DD-4AA1-840D-86CCB7EAE48F}" type="presOf" srcId="{15D8C02E-6159-47A3-834C-D9FC66B86603}" destId="{CD794FEA-61C8-4D4D-8645-F0D4AAE648B1}" srcOrd="0" destOrd="0" presId="urn:microsoft.com/office/officeart/2005/8/layout/default"/>
    <dgm:cxn modelId="{2D11F970-E8DE-4C32-BA26-6938F3A11AF9}" type="presOf" srcId="{07B42BE5-A305-4781-8103-9F66018FA03C}" destId="{EFF91416-71BD-44C6-8F42-DF0A9881B55B}" srcOrd="0" destOrd="0" presId="urn:microsoft.com/office/officeart/2005/8/layout/default"/>
    <dgm:cxn modelId="{2D38ED54-591A-4014-8080-111BA93F6608}" srcId="{28AB2A1B-AE4B-4289-98F8-B1AAA1443D37}" destId="{5A98EFAD-1FC1-48C7-81A2-9447954A9108}" srcOrd="2" destOrd="0" parTransId="{636A4F06-2E95-4780-9B93-8829CE370C95}" sibTransId="{E7A3CE70-3CAE-4B15-BBED-5685C5F25318}"/>
    <dgm:cxn modelId="{FC7AE57F-0797-460C-B0F2-F343D790AAB2}" srcId="{28AB2A1B-AE4B-4289-98F8-B1AAA1443D37}" destId="{D914C186-B9DB-4E9D-A21C-BF07CC81D3B9}" srcOrd="12" destOrd="0" parTransId="{D8941B9E-8A4F-4908-AD6D-B24D25EB1FBD}" sibTransId="{22B0083C-0F3D-46F8-A40D-480475886607}"/>
    <dgm:cxn modelId="{6FF84381-15E8-4A63-A025-DCDABA3A2A3E}" type="presOf" srcId="{821B2037-47B8-425C-A14D-F07619D0AD19}" destId="{C067CAB1-7086-4E79-9F53-85A524F21BEA}" srcOrd="0" destOrd="0" presId="urn:microsoft.com/office/officeart/2005/8/layout/default"/>
    <dgm:cxn modelId="{B40C4284-3B4B-4CA3-B0C7-5149B4D52C2C}" srcId="{28AB2A1B-AE4B-4289-98F8-B1AAA1443D37}" destId="{FC0CD0BB-662A-4D5A-AD60-4010941D53F3}" srcOrd="1" destOrd="0" parTransId="{E3B9F346-7A45-43C3-A98D-98540B94DB09}" sibTransId="{8024D54D-16ED-4401-BE0D-FA11444DC926}"/>
    <dgm:cxn modelId="{A81EB488-843F-4E0E-864C-A63F2EDFA4B4}" srcId="{28AB2A1B-AE4B-4289-98F8-B1AAA1443D37}" destId="{15D8C02E-6159-47A3-834C-D9FC66B86603}" srcOrd="11" destOrd="0" parTransId="{CC03CE84-A00B-4328-940B-9E42E2458767}" sibTransId="{C5FF3E93-4114-4EFE-9AFC-7A752384FD1F}"/>
    <dgm:cxn modelId="{E32E6B9E-3C0A-4E98-9053-2B974A6ED377}" srcId="{28AB2A1B-AE4B-4289-98F8-B1AAA1443D37}" destId="{ECD80CB6-7D44-40C7-A213-62B519505185}" srcOrd="8" destOrd="0" parTransId="{A0D43031-A200-4886-9095-5C15F4B288B2}" sibTransId="{0D5485A2-6512-4CA7-9035-D65BA3C519BA}"/>
    <dgm:cxn modelId="{DC118BA8-84AC-4C5C-8736-279144ACD200}" srcId="{28AB2A1B-AE4B-4289-98F8-B1AAA1443D37}" destId="{B9B1FEB8-5B2B-46D2-9790-2A0A8BE1D8C8}" srcOrd="5" destOrd="0" parTransId="{1CFABBC1-7638-46C1-951E-737B6FCCDB03}" sibTransId="{BA2CFB0B-4338-4AFF-9974-E7892D0A77B9}"/>
    <dgm:cxn modelId="{2FF698A8-B2AD-465B-B16A-F827EBC80265}" type="presOf" srcId="{FC0CD0BB-662A-4D5A-AD60-4010941D53F3}" destId="{EB6DA4AE-75C7-46ED-9A43-7B0DB49935A6}" srcOrd="0" destOrd="0" presId="urn:microsoft.com/office/officeart/2005/8/layout/default"/>
    <dgm:cxn modelId="{2F640DB5-56D8-4C74-BC91-F361D1958408}" type="presOf" srcId="{ECD80CB6-7D44-40C7-A213-62B519505185}" destId="{4E280EB2-D990-41B0-9BC8-402A8AB5664A}" srcOrd="0" destOrd="0" presId="urn:microsoft.com/office/officeart/2005/8/layout/default"/>
    <dgm:cxn modelId="{A473A2CA-CD56-4DAE-8A06-B648D61BB4E1}" srcId="{28AB2A1B-AE4B-4289-98F8-B1AAA1443D37}" destId="{7F23E26F-45D7-41AD-A212-3BACEB13F96D}" srcOrd="4" destOrd="0" parTransId="{F998840A-08F4-4DDA-A64B-C88C533EA15E}" sibTransId="{4F32CB58-047F-4651-A1D8-656049A50F6C}"/>
    <dgm:cxn modelId="{9B103FD9-DBC4-4D42-9F5A-7833E6B9CC03}" type="presOf" srcId="{F55C5D14-5792-41A3-ABA6-700862408E0C}" destId="{D0283E83-2870-42A8-98A4-E04500E388BC}" srcOrd="0" destOrd="0" presId="urn:microsoft.com/office/officeart/2005/8/layout/default"/>
    <dgm:cxn modelId="{C604CFDA-3E93-49AF-B331-AFBEA1BBDFA0}" type="presOf" srcId="{C6E085A0-C428-49D1-8BED-39CFEF843D3D}" destId="{506DF560-2686-4D1B-B4BE-F926A7BF38E8}" srcOrd="0" destOrd="0" presId="urn:microsoft.com/office/officeart/2005/8/layout/default"/>
    <dgm:cxn modelId="{16CFFDDD-07EC-48EF-A547-1C4A815D164B}" type="presOf" srcId="{D914C186-B9DB-4E9D-A21C-BF07CC81D3B9}" destId="{03233033-14E5-4D4B-92BF-CC9E27BABC32}" srcOrd="0" destOrd="0" presId="urn:microsoft.com/office/officeart/2005/8/layout/default"/>
    <dgm:cxn modelId="{61A2A1F2-D9E2-48F6-8608-3570337E42DA}" srcId="{28AB2A1B-AE4B-4289-98F8-B1AAA1443D37}" destId="{4DA503E7-4C29-4BAA-B084-796A820F3AAD}" srcOrd="7" destOrd="0" parTransId="{15917ECF-D7E9-41C8-8F44-90BACFFD8F71}" sibTransId="{8C3E6140-EC66-402B-B858-AE7AFB410BE4}"/>
    <dgm:cxn modelId="{D4A806FF-4958-42BC-9AEF-DD253B33415A}" srcId="{28AB2A1B-AE4B-4289-98F8-B1AAA1443D37}" destId="{7B2115D9-850C-4D71-B861-3B54A9815E87}" srcOrd="6" destOrd="0" parTransId="{8920AE16-A497-4BAF-A055-0C3654FE4B15}" sibTransId="{3828B2CD-5140-43A8-A9F1-BD96F3955CAF}"/>
    <dgm:cxn modelId="{CE6A3A47-E631-43FA-AF8C-7E139AEDD5B2}" type="presParOf" srcId="{87001B2A-3CDB-47CD-B3A0-D2AAAFE8D3A7}" destId="{EFF91416-71BD-44C6-8F42-DF0A9881B55B}" srcOrd="0" destOrd="0" presId="urn:microsoft.com/office/officeart/2005/8/layout/default"/>
    <dgm:cxn modelId="{787382DB-4615-4076-BE65-228EC58595ED}" type="presParOf" srcId="{87001B2A-3CDB-47CD-B3A0-D2AAAFE8D3A7}" destId="{C808F231-4503-44BA-9ABA-A06D21B76D7E}" srcOrd="1" destOrd="0" presId="urn:microsoft.com/office/officeart/2005/8/layout/default"/>
    <dgm:cxn modelId="{FFCD8349-BA3E-4C26-9734-DC6D2F709662}" type="presParOf" srcId="{87001B2A-3CDB-47CD-B3A0-D2AAAFE8D3A7}" destId="{EB6DA4AE-75C7-46ED-9A43-7B0DB49935A6}" srcOrd="2" destOrd="0" presId="urn:microsoft.com/office/officeart/2005/8/layout/default"/>
    <dgm:cxn modelId="{6C90DAED-08E2-4EA5-BCD2-412280386A96}" type="presParOf" srcId="{87001B2A-3CDB-47CD-B3A0-D2AAAFE8D3A7}" destId="{AFDF24C7-569E-4F69-9929-F61A0F4C70DB}" srcOrd="3" destOrd="0" presId="urn:microsoft.com/office/officeart/2005/8/layout/default"/>
    <dgm:cxn modelId="{D41753BD-4E13-421E-A8F1-6489A6CDA7A7}" type="presParOf" srcId="{87001B2A-3CDB-47CD-B3A0-D2AAAFE8D3A7}" destId="{48C26E51-547D-4C5E-BC64-B757E2749041}" srcOrd="4" destOrd="0" presId="urn:microsoft.com/office/officeart/2005/8/layout/default"/>
    <dgm:cxn modelId="{26710180-6948-49AF-B490-67DD793DEE23}" type="presParOf" srcId="{87001B2A-3CDB-47CD-B3A0-D2AAAFE8D3A7}" destId="{67A70943-1229-404A-A817-F8F47887E914}" srcOrd="5" destOrd="0" presId="urn:microsoft.com/office/officeart/2005/8/layout/default"/>
    <dgm:cxn modelId="{3D6F8066-F05D-49F8-896F-0EFBE894DD14}" type="presParOf" srcId="{87001B2A-3CDB-47CD-B3A0-D2AAAFE8D3A7}" destId="{C067CAB1-7086-4E79-9F53-85A524F21BEA}" srcOrd="6" destOrd="0" presId="urn:microsoft.com/office/officeart/2005/8/layout/default"/>
    <dgm:cxn modelId="{78BDA1C4-124D-4789-B696-E7D892621128}" type="presParOf" srcId="{87001B2A-3CDB-47CD-B3A0-D2AAAFE8D3A7}" destId="{CCC0227B-0033-45C9-8E48-35BDE1D6D848}" srcOrd="7" destOrd="0" presId="urn:microsoft.com/office/officeart/2005/8/layout/default"/>
    <dgm:cxn modelId="{C9FB804C-77B9-46EA-9A78-B801B3CEC196}" type="presParOf" srcId="{87001B2A-3CDB-47CD-B3A0-D2AAAFE8D3A7}" destId="{89A37666-A69C-497B-95C5-4D18E7317275}" srcOrd="8" destOrd="0" presId="urn:microsoft.com/office/officeart/2005/8/layout/default"/>
    <dgm:cxn modelId="{CAC2FBC8-6D4A-478F-88A7-5ACA9CBFB69C}" type="presParOf" srcId="{87001B2A-3CDB-47CD-B3A0-D2AAAFE8D3A7}" destId="{65A81F6C-6A1B-4F32-A302-2360B05F3FF3}" srcOrd="9" destOrd="0" presId="urn:microsoft.com/office/officeart/2005/8/layout/default"/>
    <dgm:cxn modelId="{80B417D0-9647-414F-BADD-DD77C839B776}" type="presParOf" srcId="{87001B2A-3CDB-47CD-B3A0-D2AAAFE8D3A7}" destId="{A892D554-2327-4490-A268-7D472DECDFC6}" srcOrd="10" destOrd="0" presId="urn:microsoft.com/office/officeart/2005/8/layout/default"/>
    <dgm:cxn modelId="{0F46D9E2-2EF1-4B10-87A3-A9CE4B1E3978}" type="presParOf" srcId="{87001B2A-3CDB-47CD-B3A0-D2AAAFE8D3A7}" destId="{E4B98D96-0C80-4C9B-B5CE-751E1365F021}" srcOrd="11" destOrd="0" presId="urn:microsoft.com/office/officeart/2005/8/layout/default"/>
    <dgm:cxn modelId="{DCCF008F-1A67-4957-93A3-946E90535024}" type="presParOf" srcId="{87001B2A-3CDB-47CD-B3A0-D2AAAFE8D3A7}" destId="{02846CFB-F26D-4DD7-B177-3DFBCB85CCA7}" srcOrd="12" destOrd="0" presId="urn:microsoft.com/office/officeart/2005/8/layout/default"/>
    <dgm:cxn modelId="{7D2C1294-CF5E-4F40-B2C4-B295EA71B0BC}" type="presParOf" srcId="{87001B2A-3CDB-47CD-B3A0-D2AAAFE8D3A7}" destId="{E6D6D264-BF62-4DCA-84B3-63BCDCD7E7EB}" srcOrd="13" destOrd="0" presId="urn:microsoft.com/office/officeart/2005/8/layout/default"/>
    <dgm:cxn modelId="{9D064FEE-0312-4302-9A7E-8E0BF4F0F710}" type="presParOf" srcId="{87001B2A-3CDB-47CD-B3A0-D2AAAFE8D3A7}" destId="{1C021006-EFD5-4533-8D67-1DB2E61A6317}" srcOrd="14" destOrd="0" presId="urn:microsoft.com/office/officeart/2005/8/layout/default"/>
    <dgm:cxn modelId="{D2114C54-5232-486F-BE97-340C10638967}" type="presParOf" srcId="{87001B2A-3CDB-47CD-B3A0-D2AAAFE8D3A7}" destId="{314C0685-A08E-4264-B191-83F29B6CA56F}" srcOrd="15" destOrd="0" presId="urn:microsoft.com/office/officeart/2005/8/layout/default"/>
    <dgm:cxn modelId="{726B25BE-4118-4D66-92F2-81B420913493}" type="presParOf" srcId="{87001B2A-3CDB-47CD-B3A0-D2AAAFE8D3A7}" destId="{4E280EB2-D990-41B0-9BC8-402A8AB5664A}" srcOrd="16" destOrd="0" presId="urn:microsoft.com/office/officeart/2005/8/layout/default"/>
    <dgm:cxn modelId="{AE035C29-8308-4FA4-9248-DB86BE44D4C8}" type="presParOf" srcId="{87001B2A-3CDB-47CD-B3A0-D2AAAFE8D3A7}" destId="{F9D1E697-917E-4CA4-AEC3-F54D71A1B3F8}" srcOrd="17" destOrd="0" presId="urn:microsoft.com/office/officeart/2005/8/layout/default"/>
    <dgm:cxn modelId="{4B079B30-EB70-4AE0-9D38-BA434AF7D4B1}" type="presParOf" srcId="{87001B2A-3CDB-47CD-B3A0-D2AAAFE8D3A7}" destId="{506DF560-2686-4D1B-B4BE-F926A7BF38E8}" srcOrd="18" destOrd="0" presId="urn:microsoft.com/office/officeart/2005/8/layout/default"/>
    <dgm:cxn modelId="{AA604004-25A3-4224-A996-16B352A4FB1F}" type="presParOf" srcId="{87001B2A-3CDB-47CD-B3A0-D2AAAFE8D3A7}" destId="{8F0D08CD-D3D9-44C7-97FC-A50C2D9FA9E4}" srcOrd="19" destOrd="0" presId="urn:microsoft.com/office/officeart/2005/8/layout/default"/>
    <dgm:cxn modelId="{83D28F8C-0468-4340-B9BA-4F000AC0C97B}" type="presParOf" srcId="{87001B2A-3CDB-47CD-B3A0-D2AAAFE8D3A7}" destId="{D0283E83-2870-42A8-98A4-E04500E388BC}" srcOrd="20" destOrd="0" presId="urn:microsoft.com/office/officeart/2005/8/layout/default"/>
    <dgm:cxn modelId="{A5DEC252-0A71-47F1-915F-9648CB2C5516}" type="presParOf" srcId="{87001B2A-3CDB-47CD-B3A0-D2AAAFE8D3A7}" destId="{BC111BBD-45F8-4248-A0BB-34ACA19E5C17}" srcOrd="21" destOrd="0" presId="urn:microsoft.com/office/officeart/2005/8/layout/default"/>
    <dgm:cxn modelId="{7139FF95-9EAC-4256-9C9F-ACC7491C613A}" type="presParOf" srcId="{87001B2A-3CDB-47CD-B3A0-D2AAAFE8D3A7}" destId="{CD794FEA-61C8-4D4D-8645-F0D4AAE648B1}" srcOrd="22" destOrd="0" presId="urn:microsoft.com/office/officeart/2005/8/layout/default"/>
    <dgm:cxn modelId="{301D891E-4664-470B-8194-DF859CF480F2}" type="presParOf" srcId="{87001B2A-3CDB-47CD-B3A0-D2AAAFE8D3A7}" destId="{860EBEA9-1F41-4644-8817-87073B7074D8}" srcOrd="23" destOrd="0" presId="urn:microsoft.com/office/officeart/2005/8/layout/default"/>
    <dgm:cxn modelId="{FA57E6C5-1F77-438D-A074-36EA991AAF37}" type="presParOf" srcId="{87001B2A-3CDB-47CD-B3A0-D2AAAFE8D3A7}" destId="{03233033-14E5-4D4B-92BF-CC9E27BABC32}" srcOrd="24" destOrd="0" presId="urn:microsoft.com/office/officeart/2005/8/layout/default"/>
    <dgm:cxn modelId="{02BC7CA4-DBD9-4B77-9BE6-66C130DE04A2}" type="presParOf" srcId="{87001B2A-3CDB-47CD-B3A0-D2AAAFE8D3A7}" destId="{788BC12C-3FA4-4EE4-BF84-D69BCCE1966E}" srcOrd="25" destOrd="0" presId="urn:microsoft.com/office/officeart/2005/8/layout/default"/>
    <dgm:cxn modelId="{0FA1A622-5E13-484F-82B7-8F9223B784C9}" type="presParOf" srcId="{87001B2A-3CDB-47CD-B3A0-D2AAAFE8D3A7}" destId="{AA553240-FC54-44AC-90EA-FF25492A69AC}" srcOrd="2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9221C36-5666-4B61-A143-2A5F9E19EB02}"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6522B8C0-7842-4A77-A8E5-7844B14473F8}">
      <dgm:prSet/>
      <dgm:spPr/>
      <dgm:t>
        <a:bodyPr/>
        <a:lstStyle/>
        <a:p>
          <a:pPr>
            <a:lnSpc>
              <a:spcPct val="100000"/>
            </a:lnSpc>
          </a:pPr>
          <a:r>
            <a:rPr lang="es-MX"/>
            <a:t>Una función es un bloque de código que solamente se ejecuta cuando es llamada. Puede recibir información (en forma de parámetros), y devolver datos una vez procesados como resultado.</a:t>
          </a:r>
          <a:endParaRPr lang="en-US"/>
        </a:p>
      </dgm:t>
    </dgm:pt>
    <dgm:pt modelId="{E69C46E4-CD1A-41D6-9951-BEAC15940299}" type="parTrans" cxnId="{1E0930D3-2C19-40D9-9C59-E961E22CF190}">
      <dgm:prSet/>
      <dgm:spPr/>
      <dgm:t>
        <a:bodyPr/>
        <a:lstStyle/>
        <a:p>
          <a:endParaRPr lang="en-US"/>
        </a:p>
      </dgm:t>
    </dgm:pt>
    <dgm:pt modelId="{6B1B3CA6-59B7-4B4E-9C67-404AC57A9EB2}" type="sibTrans" cxnId="{1E0930D3-2C19-40D9-9C59-E961E22CF190}">
      <dgm:prSet/>
      <dgm:spPr/>
      <dgm:t>
        <a:bodyPr/>
        <a:lstStyle/>
        <a:p>
          <a:pPr>
            <a:lnSpc>
              <a:spcPct val="100000"/>
            </a:lnSpc>
          </a:pPr>
          <a:endParaRPr lang="en-US"/>
        </a:p>
      </dgm:t>
    </dgm:pt>
    <dgm:pt modelId="{555E090D-C638-47D8-BF45-1AEE18FCFCF2}">
      <dgm:prSet/>
      <dgm:spPr/>
      <dgm:t>
        <a:bodyPr/>
        <a:lstStyle/>
        <a:p>
          <a:pPr>
            <a:lnSpc>
              <a:spcPct val="100000"/>
            </a:lnSpc>
          </a:pPr>
          <a:r>
            <a:rPr lang="es-MX"/>
            <a:t>una función es definida mediante la palabra clave def</a:t>
          </a:r>
          <a:endParaRPr lang="en-US"/>
        </a:p>
      </dgm:t>
    </dgm:pt>
    <dgm:pt modelId="{57577D4A-041E-482C-B5A5-FFDA25A6D0EE}" type="parTrans" cxnId="{05348B2F-6538-420F-80C5-D7534A2B9B67}">
      <dgm:prSet/>
      <dgm:spPr/>
      <dgm:t>
        <a:bodyPr/>
        <a:lstStyle/>
        <a:p>
          <a:endParaRPr lang="en-US"/>
        </a:p>
      </dgm:t>
    </dgm:pt>
    <dgm:pt modelId="{7A761507-88DD-4D2F-8C1F-350F1AED16C6}" type="sibTrans" cxnId="{05348B2F-6538-420F-80C5-D7534A2B9B67}">
      <dgm:prSet/>
      <dgm:spPr/>
      <dgm:t>
        <a:bodyPr/>
        <a:lstStyle/>
        <a:p>
          <a:pPr>
            <a:lnSpc>
              <a:spcPct val="100000"/>
            </a:lnSpc>
          </a:pPr>
          <a:endParaRPr lang="en-US"/>
        </a:p>
      </dgm:t>
    </dgm:pt>
    <dgm:pt modelId="{86A33E53-D761-48F6-A558-78F2DA16F619}">
      <dgm:prSet/>
      <dgm:spPr/>
      <dgm:t>
        <a:bodyPr/>
        <a:lstStyle/>
        <a:p>
          <a:pPr>
            <a:lnSpc>
              <a:spcPct val="100000"/>
            </a:lnSpc>
          </a:pPr>
          <a:r>
            <a:rPr lang="es-MX"/>
            <a:t>def mi_funcion(argumento):</a:t>
          </a:r>
          <a:endParaRPr lang="en-US"/>
        </a:p>
      </dgm:t>
    </dgm:pt>
    <dgm:pt modelId="{C321C246-DDB8-4F05-9BF4-AD5546E9EA7F}" type="parTrans" cxnId="{396214D2-2693-4E1F-9340-B1F55B58D744}">
      <dgm:prSet/>
      <dgm:spPr/>
      <dgm:t>
        <a:bodyPr/>
        <a:lstStyle/>
        <a:p>
          <a:endParaRPr lang="en-US"/>
        </a:p>
      </dgm:t>
    </dgm:pt>
    <dgm:pt modelId="{1778DBFC-5FAE-44A2-958F-BBCF951DE57C}" type="sibTrans" cxnId="{396214D2-2693-4E1F-9340-B1F55B58D744}">
      <dgm:prSet/>
      <dgm:spPr/>
      <dgm:t>
        <a:bodyPr/>
        <a:lstStyle/>
        <a:p>
          <a:pPr>
            <a:lnSpc>
              <a:spcPct val="100000"/>
            </a:lnSpc>
          </a:pPr>
          <a:endParaRPr lang="en-US"/>
        </a:p>
      </dgm:t>
    </dgm:pt>
    <dgm:pt modelId="{535856D3-2B0F-49C4-B3F9-145345EA03AE}">
      <dgm:prSet/>
      <dgm:spPr/>
      <dgm:t>
        <a:bodyPr/>
        <a:lstStyle/>
        <a:p>
          <a:pPr>
            <a:lnSpc>
              <a:spcPct val="100000"/>
            </a:lnSpc>
          </a:pPr>
          <a:r>
            <a:rPr lang="es-MX"/>
            <a:t>Los argumentos contienen información que la función utiliza o transforma para devolver un resultado</a:t>
          </a:r>
          <a:endParaRPr lang="en-US"/>
        </a:p>
      </dgm:t>
    </dgm:pt>
    <dgm:pt modelId="{8E568839-22F7-4F3A-B61C-CE2E3249EBE1}" type="parTrans" cxnId="{C0317CD3-9DD5-4ACD-8D44-52474A088F05}">
      <dgm:prSet/>
      <dgm:spPr/>
      <dgm:t>
        <a:bodyPr/>
        <a:lstStyle/>
        <a:p>
          <a:endParaRPr lang="en-US"/>
        </a:p>
      </dgm:t>
    </dgm:pt>
    <dgm:pt modelId="{3BAACFC5-6AE6-406A-B724-788002E38601}" type="sibTrans" cxnId="{C0317CD3-9DD5-4ACD-8D44-52474A088F05}">
      <dgm:prSet/>
      <dgm:spPr/>
      <dgm:t>
        <a:bodyPr/>
        <a:lstStyle/>
        <a:p>
          <a:endParaRPr lang="en-US"/>
        </a:p>
      </dgm:t>
    </dgm:pt>
    <dgm:pt modelId="{02AE3868-C360-48DF-953E-6B22B5C6D4D1}" type="pres">
      <dgm:prSet presAssocID="{69221C36-5666-4B61-A143-2A5F9E19EB02}" presName="root" presStyleCnt="0">
        <dgm:presLayoutVars>
          <dgm:dir/>
          <dgm:resizeHandles val="exact"/>
        </dgm:presLayoutVars>
      </dgm:prSet>
      <dgm:spPr/>
    </dgm:pt>
    <dgm:pt modelId="{EC48E4F9-2E2B-4032-8735-CE32C9E1BA69}" type="pres">
      <dgm:prSet presAssocID="{69221C36-5666-4B61-A143-2A5F9E19EB02}" presName="container" presStyleCnt="0">
        <dgm:presLayoutVars>
          <dgm:dir/>
          <dgm:resizeHandles val="exact"/>
        </dgm:presLayoutVars>
      </dgm:prSet>
      <dgm:spPr/>
    </dgm:pt>
    <dgm:pt modelId="{493AC93D-0AD5-4B03-85D8-D48756145C1F}" type="pres">
      <dgm:prSet presAssocID="{6522B8C0-7842-4A77-A8E5-7844B14473F8}" presName="compNode" presStyleCnt="0"/>
      <dgm:spPr/>
    </dgm:pt>
    <dgm:pt modelId="{D822841F-2FBC-4AD8-A6E5-A44D0FFC0F1F}" type="pres">
      <dgm:prSet presAssocID="{6522B8C0-7842-4A77-A8E5-7844B14473F8}" presName="iconBgRect" presStyleLbl="bgShp" presStyleIdx="0" presStyleCnt="4"/>
      <dgm:spPr/>
    </dgm:pt>
    <dgm:pt modelId="{F4464B26-BB18-4452-AFB1-1AC306A6CFC1}" type="pres">
      <dgm:prSet presAssocID="{6522B8C0-7842-4A77-A8E5-7844B14473F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ador"/>
        </a:ext>
      </dgm:extLst>
    </dgm:pt>
    <dgm:pt modelId="{A03A006F-68A8-4083-9446-46F50F5F307B}" type="pres">
      <dgm:prSet presAssocID="{6522B8C0-7842-4A77-A8E5-7844B14473F8}" presName="spaceRect" presStyleCnt="0"/>
      <dgm:spPr/>
    </dgm:pt>
    <dgm:pt modelId="{A6B5714E-6E75-4CB7-9E4F-AB37565ECF05}" type="pres">
      <dgm:prSet presAssocID="{6522B8C0-7842-4A77-A8E5-7844B14473F8}" presName="textRect" presStyleLbl="revTx" presStyleIdx="0" presStyleCnt="4">
        <dgm:presLayoutVars>
          <dgm:chMax val="1"/>
          <dgm:chPref val="1"/>
        </dgm:presLayoutVars>
      </dgm:prSet>
      <dgm:spPr/>
    </dgm:pt>
    <dgm:pt modelId="{29049F41-F743-409B-A603-55E7564E264D}" type="pres">
      <dgm:prSet presAssocID="{6B1B3CA6-59B7-4B4E-9C67-404AC57A9EB2}" presName="sibTrans" presStyleLbl="sibTrans2D1" presStyleIdx="0" presStyleCnt="0"/>
      <dgm:spPr/>
    </dgm:pt>
    <dgm:pt modelId="{A204DA5C-BE59-4F7B-A492-8536B2C5D2A5}" type="pres">
      <dgm:prSet presAssocID="{555E090D-C638-47D8-BF45-1AEE18FCFCF2}" presName="compNode" presStyleCnt="0"/>
      <dgm:spPr/>
    </dgm:pt>
    <dgm:pt modelId="{8DA5AF00-7F28-47C6-BB11-3144CE5EDA27}" type="pres">
      <dgm:prSet presAssocID="{555E090D-C638-47D8-BF45-1AEE18FCFCF2}" presName="iconBgRect" presStyleLbl="bgShp" presStyleIdx="1" presStyleCnt="4"/>
      <dgm:spPr/>
    </dgm:pt>
    <dgm:pt modelId="{8B1BEF83-B997-4DEF-9491-4F54E1B142F7}" type="pres">
      <dgm:prSet presAssocID="{555E090D-C638-47D8-BF45-1AEE18FCFCF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lave"/>
        </a:ext>
      </dgm:extLst>
    </dgm:pt>
    <dgm:pt modelId="{4D3AFED6-DEAE-41B6-8ABB-3E8818118D12}" type="pres">
      <dgm:prSet presAssocID="{555E090D-C638-47D8-BF45-1AEE18FCFCF2}" presName="spaceRect" presStyleCnt="0"/>
      <dgm:spPr/>
    </dgm:pt>
    <dgm:pt modelId="{EA332F21-FFC1-4F3D-9A62-440439651B15}" type="pres">
      <dgm:prSet presAssocID="{555E090D-C638-47D8-BF45-1AEE18FCFCF2}" presName="textRect" presStyleLbl="revTx" presStyleIdx="1" presStyleCnt="4">
        <dgm:presLayoutVars>
          <dgm:chMax val="1"/>
          <dgm:chPref val="1"/>
        </dgm:presLayoutVars>
      </dgm:prSet>
      <dgm:spPr/>
    </dgm:pt>
    <dgm:pt modelId="{F85410B6-82A8-4A7C-B678-439DCD956CEB}" type="pres">
      <dgm:prSet presAssocID="{7A761507-88DD-4D2F-8C1F-350F1AED16C6}" presName="sibTrans" presStyleLbl="sibTrans2D1" presStyleIdx="0" presStyleCnt="0"/>
      <dgm:spPr/>
    </dgm:pt>
    <dgm:pt modelId="{412C5886-8F0C-4040-85E0-FB24D670D701}" type="pres">
      <dgm:prSet presAssocID="{86A33E53-D761-48F6-A558-78F2DA16F619}" presName="compNode" presStyleCnt="0"/>
      <dgm:spPr/>
    </dgm:pt>
    <dgm:pt modelId="{8527593F-1250-4583-B7F5-DF0CB75A31A5}" type="pres">
      <dgm:prSet presAssocID="{86A33E53-D761-48F6-A558-78F2DA16F619}" presName="iconBgRect" presStyleLbl="bgShp" presStyleIdx="2" presStyleCnt="4"/>
      <dgm:spPr/>
    </dgm:pt>
    <dgm:pt modelId="{96F89E51-478B-4F3C-BAB8-B3B7BFF9FCAF}" type="pres">
      <dgm:prSet presAssocID="{86A33E53-D761-48F6-A558-78F2DA16F61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Open Quotation Mark"/>
        </a:ext>
      </dgm:extLst>
    </dgm:pt>
    <dgm:pt modelId="{2C45D1EE-274F-44E5-97EA-606201C0B985}" type="pres">
      <dgm:prSet presAssocID="{86A33E53-D761-48F6-A558-78F2DA16F619}" presName="spaceRect" presStyleCnt="0"/>
      <dgm:spPr/>
    </dgm:pt>
    <dgm:pt modelId="{F18B0B66-1F82-4E86-A3DA-142FA59E643D}" type="pres">
      <dgm:prSet presAssocID="{86A33E53-D761-48F6-A558-78F2DA16F619}" presName="textRect" presStyleLbl="revTx" presStyleIdx="2" presStyleCnt="4">
        <dgm:presLayoutVars>
          <dgm:chMax val="1"/>
          <dgm:chPref val="1"/>
        </dgm:presLayoutVars>
      </dgm:prSet>
      <dgm:spPr/>
    </dgm:pt>
    <dgm:pt modelId="{78DC7F2E-92E2-4EF2-9AA1-9AB9BB1ECDA7}" type="pres">
      <dgm:prSet presAssocID="{1778DBFC-5FAE-44A2-958F-BBCF951DE57C}" presName="sibTrans" presStyleLbl="sibTrans2D1" presStyleIdx="0" presStyleCnt="0"/>
      <dgm:spPr/>
    </dgm:pt>
    <dgm:pt modelId="{A7F5D480-8418-4B74-BEFF-718266EEFAF6}" type="pres">
      <dgm:prSet presAssocID="{535856D3-2B0F-49C4-B3F9-145345EA03AE}" presName="compNode" presStyleCnt="0"/>
      <dgm:spPr/>
    </dgm:pt>
    <dgm:pt modelId="{251F027B-9ADA-4A01-A6EE-9908F47D276D}" type="pres">
      <dgm:prSet presAssocID="{535856D3-2B0F-49C4-B3F9-145345EA03AE}" presName="iconBgRect" presStyleLbl="bgShp" presStyleIdx="3" presStyleCnt="4"/>
      <dgm:spPr/>
    </dgm:pt>
    <dgm:pt modelId="{7BE9B692-2A43-4197-9E47-90A489B6B14C}" type="pres">
      <dgm:prSet presAssocID="{535856D3-2B0F-49C4-B3F9-145345EA03A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ead with Gears"/>
        </a:ext>
      </dgm:extLst>
    </dgm:pt>
    <dgm:pt modelId="{61A2977E-7616-402E-98C8-8F49C9BDF380}" type="pres">
      <dgm:prSet presAssocID="{535856D3-2B0F-49C4-B3F9-145345EA03AE}" presName="spaceRect" presStyleCnt="0"/>
      <dgm:spPr/>
    </dgm:pt>
    <dgm:pt modelId="{03438DA5-20FD-4C5A-9BCD-0A75BBB6347F}" type="pres">
      <dgm:prSet presAssocID="{535856D3-2B0F-49C4-B3F9-145345EA03AE}" presName="textRect" presStyleLbl="revTx" presStyleIdx="3" presStyleCnt="4">
        <dgm:presLayoutVars>
          <dgm:chMax val="1"/>
          <dgm:chPref val="1"/>
        </dgm:presLayoutVars>
      </dgm:prSet>
      <dgm:spPr/>
    </dgm:pt>
  </dgm:ptLst>
  <dgm:cxnLst>
    <dgm:cxn modelId="{05348B2F-6538-420F-80C5-D7534A2B9B67}" srcId="{69221C36-5666-4B61-A143-2A5F9E19EB02}" destId="{555E090D-C638-47D8-BF45-1AEE18FCFCF2}" srcOrd="1" destOrd="0" parTransId="{57577D4A-041E-482C-B5A5-FFDA25A6D0EE}" sibTransId="{7A761507-88DD-4D2F-8C1F-350F1AED16C6}"/>
    <dgm:cxn modelId="{5A0D0D5D-F46B-4FDA-B9AC-B72853DE5CD4}" type="presOf" srcId="{6522B8C0-7842-4A77-A8E5-7844B14473F8}" destId="{A6B5714E-6E75-4CB7-9E4F-AB37565ECF05}" srcOrd="0" destOrd="0" presId="urn:microsoft.com/office/officeart/2018/2/layout/IconCircleList"/>
    <dgm:cxn modelId="{97A1AA4B-2018-431A-BD02-6440CAB76EAB}" type="presOf" srcId="{555E090D-C638-47D8-BF45-1AEE18FCFCF2}" destId="{EA332F21-FFC1-4F3D-9A62-440439651B15}" srcOrd="0" destOrd="0" presId="urn:microsoft.com/office/officeart/2018/2/layout/IconCircleList"/>
    <dgm:cxn modelId="{F045DC7D-D474-4D22-B536-1D3D6F24789F}" type="presOf" srcId="{69221C36-5666-4B61-A143-2A5F9E19EB02}" destId="{02AE3868-C360-48DF-953E-6B22B5C6D4D1}" srcOrd="0" destOrd="0" presId="urn:microsoft.com/office/officeart/2018/2/layout/IconCircleList"/>
    <dgm:cxn modelId="{8C726193-79A4-4319-B369-520E4BF78834}" type="presOf" srcId="{6B1B3CA6-59B7-4B4E-9C67-404AC57A9EB2}" destId="{29049F41-F743-409B-A603-55E7564E264D}" srcOrd="0" destOrd="0" presId="urn:microsoft.com/office/officeart/2018/2/layout/IconCircleList"/>
    <dgm:cxn modelId="{2FD232A3-F45F-4941-BBB9-2AF33AD8525E}" type="presOf" srcId="{1778DBFC-5FAE-44A2-958F-BBCF951DE57C}" destId="{78DC7F2E-92E2-4EF2-9AA1-9AB9BB1ECDA7}" srcOrd="0" destOrd="0" presId="urn:microsoft.com/office/officeart/2018/2/layout/IconCircleList"/>
    <dgm:cxn modelId="{396214D2-2693-4E1F-9340-B1F55B58D744}" srcId="{69221C36-5666-4B61-A143-2A5F9E19EB02}" destId="{86A33E53-D761-48F6-A558-78F2DA16F619}" srcOrd="2" destOrd="0" parTransId="{C321C246-DDB8-4F05-9BF4-AD5546E9EA7F}" sibTransId="{1778DBFC-5FAE-44A2-958F-BBCF951DE57C}"/>
    <dgm:cxn modelId="{1E0930D3-2C19-40D9-9C59-E961E22CF190}" srcId="{69221C36-5666-4B61-A143-2A5F9E19EB02}" destId="{6522B8C0-7842-4A77-A8E5-7844B14473F8}" srcOrd="0" destOrd="0" parTransId="{E69C46E4-CD1A-41D6-9951-BEAC15940299}" sibTransId="{6B1B3CA6-59B7-4B4E-9C67-404AC57A9EB2}"/>
    <dgm:cxn modelId="{C0317CD3-9DD5-4ACD-8D44-52474A088F05}" srcId="{69221C36-5666-4B61-A143-2A5F9E19EB02}" destId="{535856D3-2B0F-49C4-B3F9-145345EA03AE}" srcOrd="3" destOrd="0" parTransId="{8E568839-22F7-4F3A-B61C-CE2E3249EBE1}" sibTransId="{3BAACFC5-6AE6-406A-B724-788002E38601}"/>
    <dgm:cxn modelId="{E81090F4-0E1D-444E-96EB-E517F5644A7D}" type="presOf" srcId="{535856D3-2B0F-49C4-B3F9-145345EA03AE}" destId="{03438DA5-20FD-4C5A-9BCD-0A75BBB6347F}" srcOrd="0" destOrd="0" presId="urn:microsoft.com/office/officeart/2018/2/layout/IconCircleList"/>
    <dgm:cxn modelId="{448B30F5-E14E-4D30-9CC6-333371F0D718}" type="presOf" srcId="{86A33E53-D761-48F6-A558-78F2DA16F619}" destId="{F18B0B66-1F82-4E86-A3DA-142FA59E643D}" srcOrd="0" destOrd="0" presId="urn:microsoft.com/office/officeart/2018/2/layout/IconCircleList"/>
    <dgm:cxn modelId="{E746F7FE-BDF2-403F-9D34-38C297E22322}" type="presOf" srcId="{7A761507-88DD-4D2F-8C1F-350F1AED16C6}" destId="{F85410B6-82A8-4A7C-B678-439DCD956CEB}" srcOrd="0" destOrd="0" presId="urn:microsoft.com/office/officeart/2018/2/layout/IconCircleList"/>
    <dgm:cxn modelId="{406EE924-29D5-4DDC-B0B6-BF2BBE78A629}" type="presParOf" srcId="{02AE3868-C360-48DF-953E-6B22B5C6D4D1}" destId="{EC48E4F9-2E2B-4032-8735-CE32C9E1BA69}" srcOrd="0" destOrd="0" presId="urn:microsoft.com/office/officeart/2018/2/layout/IconCircleList"/>
    <dgm:cxn modelId="{EFFD6E4C-35B6-4531-A92C-E2ED35A6251F}" type="presParOf" srcId="{EC48E4F9-2E2B-4032-8735-CE32C9E1BA69}" destId="{493AC93D-0AD5-4B03-85D8-D48756145C1F}" srcOrd="0" destOrd="0" presId="urn:microsoft.com/office/officeart/2018/2/layout/IconCircleList"/>
    <dgm:cxn modelId="{85A93031-D367-4BE1-B405-977C6FD710EA}" type="presParOf" srcId="{493AC93D-0AD5-4B03-85D8-D48756145C1F}" destId="{D822841F-2FBC-4AD8-A6E5-A44D0FFC0F1F}" srcOrd="0" destOrd="0" presId="urn:microsoft.com/office/officeart/2018/2/layout/IconCircleList"/>
    <dgm:cxn modelId="{57D3DEF3-7516-48A4-ABCA-3D671EDB5CB1}" type="presParOf" srcId="{493AC93D-0AD5-4B03-85D8-D48756145C1F}" destId="{F4464B26-BB18-4452-AFB1-1AC306A6CFC1}" srcOrd="1" destOrd="0" presId="urn:microsoft.com/office/officeart/2018/2/layout/IconCircleList"/>
    <dgm:cxn modelId="{2A2A68DB-EE90-4E6C-81B3-103C5141DA38}" type="presParOf" srcId="{493AC93D-0AD5-4B03-85D8-D48756145C1F}" destId="{A03A006F-68A8-4083-9446-46F50F5F307B}" srcOrd="2" destOrd="0" presId="urn:microsoft.com/office/officeart/2018/2/layout/IconCircleList"/>
    <dgm:cxn modelId="{97BA5B70-F530-415E-BC23-8F54069A6D9E}" type="presParOf" srcId="{493AC93D-0AD5-4B03-85D8-D48756145C1F}" destId="{A6B5714E-6E75-4CB7-9E4F-AB37565ECF05}" srcOrd="3" destOrd="0" presId="urn:microsoft.com/office/officeart/2018/2/layout/IconCircleList"/>
    <dgm:cxn modelId="{03B10EA6-F51A-4E99-A9CC-E5BA1844243F}" type="presParOf" srcId="{EC48E4F9-2E2B-4032-8735-CE32C9E1BA69}" destId="{29049F41-F743-409B-A603-55E7564E264D}" srcOrd="1" destOrd="0" presId="urn:microsoft.com/office/officeart/2018/2/layout/IconCircleList"/>
    <dgm:cxn modelId="{7136D6FD-D7A1-4A8A-BD89-7D56EB317848}" type="presParOf" srcId="{EC48E4F9-2E2B-4032-8735-CE32C9E1BA69}" destId="{A204DA5C-BE59-4F7B-A492-8536B2C5D2A5}" srcOrd="2" destOrd="0" presId="urn:microsoft.com/office/officeart/2018/2/layout/IconCircleList"/>
    <dgm:cxn modelId="{E2376227-A98E-474D-BBB2-5D4F0187EC56}" type="presParOf" srcId="{A204DA5C-BE59-4F7B-A492-8536B2C5D2A5}" destId="{8DA5AF00-7F28-47C6-BB11-3144CE5EDA27}" srcOrd="0" destOrd="0" presId="urn:microsoft.com/office/officeart/2018/2/layout/IconCircleList"/>
    <dgm:cxn modelId="{69E68015-EE9C-4970-91F8-0B7E74DE421D}" type="presParOf" srcId="{A204DA5C-BE59-4F7B-A492-8536B2C5D2A5}" destId="{8B1BEF83-B997-4DEF-9491-4F54E1B142F7}" srcOrd="1" destOrd="0" presId="urn:microsoft.com/office/officeart/2018/2/layout/IconCircleList"/>
    <dgm:cxn modelId="{C561EB94-DFDF-4C5F-AE5F-75089B46958F}" type="presParOf" srcId="{A204DA5C-BE59-4F7B-A492-8536B2C5D2A5}" destId="{4D3AFED6-DEAE-41B6-8ABB-3E8818118D12}" srcOrd="2" destOrd="0" presId="urn:microsoft.com/office/officeart/2018/2/layout/IconCircleList"/>
    <dgm:cxn modelId="{059B37F2-36C9-42A7-911B-CA9FA7ADD9CE}" type="presParOf" srcId="{A204DA5C-BE59-4F7B-A492-8536B2C5D2A5}" destId="{EA332F21-FFC1-4F3D-9A62-440439651B15}" srcOrd="3" destOrd="0" presId="urn:microsoft.com/office/officeart/2018/2/layout/IconCircleList"/>
    <dgm:cxn modelId="{4309A4A5-A6C4-4760-BA0D-5C37E36696A2}" type="presParOf" srcId="{EC48E4F9-2E2B-4032-8735-CE32C9E1BA69}" destId="{F85410B6-82A8-4A7C-B678-439DCD956CEB}" srcOrd="3" destOrd="0" presId="urn:microsoft.com/office/officeart/2018/2/layout/IconCircleList"/>
    <dgm:cxn modelId="{1081854E-EB5B-4AC4-9FC5-2CA6E037A05A}" type="presParOf" srcId="{EC48E4F9-2E2B-4032-8735-CE32C9E1BA69}" destId="{412C5886-8F0C-4040-85E0-FB24D670D701}" srcOrd="4" destOrd="0" presId="urn:microsoft.com/office/officeart/2018/2/layout/IconCircleList"/>
    <dgm:cxn modelId="{9547306F-985E-4819-8C51-B08C32205C33}" type="presParOf" srcId="{412C5886-8F0C-4040-85E0-FB24D670D701}" destId="{8527593F-1250-4583-B7F5-DF0CB75A31A5}" srcOrd="0" destOrd="0" presId="urn:microsoft.com/office/officeart/2018/2/layout/IconCircleList"/>
    <dgm:cxn modelId="{3308FA0B-9303-442E-9201-560F440CC913}" type="presParOf" srcId="{412C5886-8F0C-4040-85E0-FB24D670D701}" destId="{96F89E51-478B-4F3C-BAB8-B3B7BFF9FCAF}" srcOrd="1" destOrd="0" presId="urn:microsoft.com/office/officeart/2018/2/layout/IconCircleList"/>
    <dgm:cxn modelId="{AF4D2C85-81DE-43B6-A85C-00EFD2E42D0F}" type="presParOf" srcId="{412C5886-8F0C-4040-85E0-FB24D670D701}" destId="{2C45D1EE-274F-44E5-97EA-606201C0B985}" srcOrd="2" destOrd="0" presId="urn:microsoft.com/office/officeart/2018/2/layout/IconCircleList"/>
    <dgm:cxn modelId="{7C6C9127-F07B-4D0B-9C12-EEE524085E63}" type="presParOf" srcId="{412C5886-8F0C-4040-85E0-FB24D670D701}" destId="{F18B0B66-1F82-4E86-A3DA-142FA59E643D}" srcOrd="3" destOrd="0" presId="urn:microsoft.com/office/officeart/2018/2/layout/IconCircleList"/>
    <dgm:cxn modelId="{B32EC1EC-BA0A-4F89-B970-A8023809A483}" type="presParOf" srcId="{EC48E4F9-2E2B-4032-8735-CE32C9E1BA69}" destId="{78DC7F2E-92E2-4EF2-9AA1-9AB9BB1ECDA7}" srcOrd="5" destOrd="0" presId="urn:microsoft.com/office/officeart/2018/2/layout/IconCircleList"/>
    <dgm:cxn modelId="{A1CF5AE3-D378-4910-8470-52AB71E492D7}" type="presParOf" srcId="{EC48E4F9-2E2B-4032-8735-CE32C9E1BA69}" destId="{A7F5D480-8418-4B74-BEFF-718266EEFAF6}" srcOrd="6" destOrd="0" presId="urn:microsoft.com/office/officeart/2018/2/layout/IconCircleList"/>
    <dgm:cxn modelId="{0A84A38B-B1E9-460D-810E-424C3BD7D3AC}" type="presParOf" srcId="{A7F5D480-8418-4B74-BEFF-718266EEFAF6}" destId="{251F027B-9ADA-4A01-A6EE-9908F47D276D}" srcOrd="0" destOrd="0" presId="urn:microsoft.com/office/officeart/2018/2/layout/IconCircleList"/>
    <dgm:cxn modelId="{9799911B-49C7-4D90-843D-EB57C5C73595}" type="presParOf" srcId="{A7F5D480-8418-4B74-BEFF-718266EEFAF6}" destId="{7BE9B692-2A43-4197-9E47-90A489B6B14C}" srcOrd="1" destOrd="0" presId="urn:microsoft.com/office/officeart/2018/2/layout/IconCircleList"/>
    <dgm:cxn modelId="{6360FD30-886C-456D-BCA7-57CD315BF199}" type="presParOf" srcId="{A7F5D480-8418-4B74-BEFF-718266EEFAF6}" destId="{61A2977E-7616-402E-98C8-8F49C9BDF380}" srcOrd="2" destOrd="0" presId="urn:microsoft.com/office/officeart/2018/2/layout/IconCircleList"/>
    <dgm:cxn modelId="{EA8CE4C5-AF59-4EC2-8360-E42A634A5DC7}" type="presParOf" srcId="{A7F5D480-8418-4B74-BEFF-718266EEFAF6}" destId="{03438DA5-20FD-4C5A-9BCD-0A75BBB6347F}"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0D89CEC-AF75-4976-8869-8C1E0846F72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05FB406-9D0F-4E10-9435-E19E12F4D458}">
      <dgm:prSet/>
      <dgm:spPr/>
      <dgm:t>
        <a:bodyPr/>
        <a:lstStyle/>
        <a:p>
          <a:pPr>
            <a:lnSpc>
              <a:spcPct val="100000"/>
            </a:lnSpc>
          </a:pPr>
          <a:r>
            <a:rPr lang="es-MX"/>
            <a:t>mi_funcion(mi_argumento)</a:t>
          </a:r>
          <a:endParaRPr lang="en-US"/>
        </a:p>
      </dgm:t>
    </dgm:pt>
    <dgm:pt modelId="{94E3DCD5-F3B6-4587-A359-0669D3DA48C3}" type="parTrans" cxnId="{3B7369AC-AE27-406D-A998-C7FF1489A7F7}">
      <dgm:prSet/>
      <dgm:spPr/>
      <dgm:t>
        <a:bodyPr/>
        <a:lstStyle/>
        <a:p>
          <a:endParaRPr lang="en-US"/>
        </a:p>
      </dgm:t>
    </dgm:pt>
    <dgm:pt modelId="{25740E54-AEF1-478C-ABC3-00D5081B744C}" type="sibTrans" cxnId="{3B7369AC-AE27-406D-A998-C7FF1489A7F7}">
      <dgm:prSet/>
      <dgm:spPr/>
      <dgm:t>
        <a:bodyPr/>
        <a:lstStyle/>
        <a:p>
          <a:endParaRPr lang="en-US"/>
        </a:p>
      </dgm:t>
    </dgm:pt>
    <dgm:pt modelId="{F59EFD45-56D6-4124-9043-3DE4C10BAEE2}">
      <dgm:prSet/>
      <dgm:spPr/>
      <dgm:t>
        <a:bodyPr/>
        <a:lstStyle/>
        <a:p>
          <a:pPr>
            <a:lnSpc>
              <a:spcPct val="100000"/>
            </a:lnSpc>
          </a:pPr>
          <a:r>
            <a:rPr lang="es-MX"/>
            <a:t>Para llamar a una función, basta utilizar su nombre, entregando los argumentos que la misma requiere entre paréntesis.</a:t>
          </a:r>
          <a:endParaRPr lang="en-US"/>
        </a:p>
      </dgm:t>
    </dgm:pt>
    <dgm:pt modelId="{06CC17D6-D385-4ACB-815A-5B3C3C1E5153}" type="parTrans" cxnId="{98595081-9702-401D-B439-4642BC241116}">
      <dgm:prSet/>
      <dgm:spPr/>
      <dgm:t>
        <a:bodyPr/>
        <a:lstStyle/>
        <a:p>
          <a:endParaRPr lang="en-US"/>
        </a:p>
      </dgm:t>
    </dgm:pt>
    <dgm:pt modelId="{82FCD054-94D9-4D1E-856D-FB5C9293E84F}" type="sibTrans" cxnId="{98595081-9702-401D-B439-4642BC241116}">
      <dgm:prSet/>
      <dgm:spPr/>
      <dgm:t>
        <a:bodyPr/>
        <a:lstStyle/>
        <a:p>
          <a:endParaRPr lang="en-US"/>
        </a:p>
      </dgm:t>
    </dgm:pt>
    <dgm:pt modelId="{64D3A0DE-2CF1-4615-AF6C-533F1B82E19F}" type="pres">
      <dgm:prSet presAssocID="{70D89CEC-AF75-4976-8869-8C1E0846F722}" presName="root" presStyleCnt="0">
        <dgm:presLayoutVars>
          <dgm:dir/>
          <dgm:resizeHandles val="exact"/>
        </dgm:presLayoutVars>
      </dgm:prSet>
      <dgm:spPr/>
    </dgm:pt>
    <dgm:pt modelId="{9995E9C8-A4CA-446D-8AAF-6F4C45F88A00}" type="pres">
      <dgm:prSet presAssocID="{B05FB406-9D0F-4E10-9435-E19E12F4D458}" presName="compNode" presStyleCnt="0"/>
      <dgm:spPr/>
    </dgm:pt>
    <dgm:pt modelId="{5714E7DB-2DC1-4990-BF53-68496ECA2B08}" type="pres">
      <dgm:prSet presAssocID="{B05FB406-9D0F-4E10-9435-E19E12F4D458}" presName="bgRect" presStyleLbl="bgShp" presStyleIdx="0" presStyleCnt="2"/>
      <dgm:spPr/>
    </dgm:pt>
    <dgm:pt modelId="{0CC6E084-9A47-4643-91EB-C2464E777CA2}" type="pres">
      <dgm:prSet presAssocID="{B05FB406-9D0F-4E10-9435-E19E12F4D45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Open Quotation Mark"/>
        </a:ext>
      </dgm:extLst>
    </dgm:pt>
    <dgm:pt modelId="{DF25FF4D-F67A-4EFA-A4AC-FB06CF08AC81}" type="pres">
      <dgm:prSet presAssocID="{B05FB406-9D0F-4E10-9435-E19E12F4D458}" presName="spaceRect" presStyleCnt="0"/>
      <dgm:spPr/>
    </dgm:pt>
    <dgm:pt modelId="{FED4D016-9CEF-4AB7-B4ED-DEF4EFEE3259}" type="pres">
      <dgm:prSet presAssocID="{B05FB406-9D0F-4E10-9435-E19E12F4D458}" presName="parTx" presStyleLbl="revTx" presStyleIdx="0" presStyleCnt="2">
        <dgm:presLayoutVars>
          <dgm:chMax val="0"/>
          <dgm:chPref val="0"/>
        </dgm:presLayoutVars>
      </dgm:prSet>
      <dgm:spPr/>
    </dgm:pt>
    <dgm:pt modelId="{C9EBD04C-3157-4921-B999-1F4C5237082F}" type="pres">
      <dgm:prSet presAssocID="{25740E54-AEF1-478C-ABC3-00D5081B744C}" presName="sibTrans" presStyleCnt="0"/>
      <dgm:spPr/>
    </dgm:pt>
    <dgm:pt modelId="{FEAEFBBF-F8A5-4BA4-8F2B-283CC3EE0174}" type="pres">
      <dgm:prSet presAssocID="{F59EFD45-56D6-4124-9043-3DE4C10BAEE2}" presName="compNode" presStyleCnt="0"/>
      <dgm:spPr/>
    </dgm:pt>
    <dgm:pt modelId="{742C4FD6-98F3-4F36-A2F0-A4B562E0367E}" type="pres">
      <dgm:prSet presAssocID="{F59EFD45-56D6-4124-9043-3DE4C10BAEE2}" presName="bgRect" presStyleLbl="bgShp" presStyleIdx="1" presStyleCnt="2"/>
      <dgm:spPr/>
    </dgm:pt>
    <dgm:pt modelId="{41F2BC47-BC65-48CD-9B94-5C0BE0E796DA}" type="pres">
      <dgm:prSet presAssocID="{F59EFD45-56D6-4124-9043-3DE4C10BAEE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peaker Phone"/>
        </a:ext>
      </dgm:extLst>
    </dgm:pt>
    <dgm:pt modelId="{337C9D66-FED2-46E7-AC90-D3463018B246}" type="pres">
      <dgm:prSet presAssocID="{F59EFD45-56D6-4124-9043-3DE4C10BAEE2}" presName="spaceRect" presStyleCnt="0"/>
      <dgm:spPr/>
    </dgm:pt>
    <dgm:pt modelId="{FFC8C0F0-314E-4113-9C76-6EF2266B2D1C}" type="pres">
      <dgm:prSet presAssocID="{F59EFD45-56D6-4124-9043-3DE4C10BAEE2}" presName="parTx" presStyleLbl="revTx" presStyleIdx="1" presStyleCnt="2">
        <dgm:presLayoutVars>
          <dgm:chMax val="0"/>
          <dgm:chPref val="0"/>
        </dgm:presLayoutVars>
      </dgm:prSet>
      <dgm:spPr/>
    </dgm:pt>
  </dgm:ptLst>
  <dgm:cxnLst>
    <dgm:cxn modelId="{9B57EF0D-41B0-43D2-BB1A-781DCA44FEC0}" type="presOf" srcId="{70D89CEC-AF75-4976-8869-8C1E0846F722}" destId="{64D3A0DE-2CF1-4615-AF6C-533F1B82E19F}" srcOrd="0" destOrd="0" presId="urn:microsoft.com/office/officeart/2018/2/layout/IconVerticalSolidList"/>
    <dgm:cxn modelId="{E8183632-B69B-4191-851F-69549A34C824}" type="presOf" srcId="{B05FB406-9D0F-4E10-9435-E19E12F4D458}" destId="{FED4D016-9CEF-4AB7-B4ED-DEF4EFEE3259}" srcOrd="0" destOrd="0" presId="urn:microsoft.com/office/officeart/2018/2/layout/IconVerticalSolidList"/>
    <dgm:cxn modelId="{98595081-9702-401D-B439-4642BC241116}" srcId="{70D89CEC-AF75-4976-8869-8C1E0846F722}" destId="{F59EFD45-56D6-4124-9043-3DE4C10BAEE2}" srcOrd="1" destOrd="0" parTransId="{06CC17D6-D385-4ACB-815A-5B3C3C1E5153}" sibTransId="{82FCD054-94D9-4D1E-856D-FB5C9293E84F}"/>
    <dgm:cxn modelId="{3B7369AC-AE27-406D-A998-C7FF1489A7F7}" srcId="{70D89CEC-AF75-4976-8869-8C1E0846F722}" destId="{B05FB406-9D0F-4E10-9435-E19E12F4D458}" srcOrd="0" destOrd="0" parTransId="{94E3DCD5-F3B6-4587-A359-0669D3DA48C3}" sibTransId="{25740E54-AEF1-478C-ABC3-00D5081B744C}"/>
    <dgm:cxn modelId="{4F66E8BD-B9D8-4A5C-A328-69B0DF616AA5}" type="presOf" srcId="{F59EFD45-56D6-4124-9043-3DE4C10BAEE2}" destId="{FFC8C0F0-314E-4113-9C76-6EF2266B2D1C}" srcOrd="0" destOrd="0" presId="urn:microsoft.com/office/officeart/2018/2/layout/IconVerticalSolidList"/>
    <dgm:cxn modelId="{920E2EE5-4FA4-4228-8D48-6D024959E18B}" type="presParOf" srcId="{64D3A0DE-2CF1-4615-AF6C-533F1B82E19F}" destId="{9995E9C8-A4CA-446D-8AAF-6F4C45F88A00}" srcOrd="0" destOrd="0" presId="urn:microsoft.com/office/officeart/2018/2/layout/IconVerticalSolidList"/>
    <dgm:cxn modelId="{EB9A4892-E38E-46BE-B0EA-47FBF2046E98}" type="presParOf" srcId="{9995E9C8-A4CA-446D-8AAF-6F4C45F88A00}" destId="{5714E7DB-2DC1-4990-BF53-68496ECA2B08}" srcOrd="0" destOrd="0" presId="urn:microsoft.com/office/officeart/2018/2/layout/IconVerticalSolidList"/>
    <dgm:cxn modelId="{F879C27A-1EEA-4E09-9263-E3762BF1597C}" type="presParOf" srcId="{9995E9C8-A4CA-446D-8AAF-6F4C45F88A00}" destId="{0CC6E084-9A47-4643-91EB-C2464E777CA2}" srcOrd="1" destOrd="0" presId="urn:microsoft.com/office/officeart/2018/2/layout/IconVerticalSolidList"/>
    <dgm:cxn modelId="{DD0BA576-3ED3-4468-889C-1AB2193F6955}" type="presParOf" srcId="{9995E9C8-A4CA-446D-8AAF-6F4C45F88A00}" destId="{DF25FF4D-F67A-4EFA-A4AC-FB06CF08AC81}" srcOrd="2" destOrd="0" presId="urn:microsoft.com/office/officeart/2018/2/layout/IconVerticalSolidList"/>
    <dgm:cxn modelId="{F4591179-DF9B-4336-978D-388E1DAB6282}" type="presParOf" srcId="{9995E9C8-A4CA-446D-8AAF-6F4C45F88A00}" destId="{FED4D016-9CEF-4AB7-B4ED-DEF4EFEE3259}" srcOrd="3" destOrd="0" presId="urn:microsoft.com/office/officeart/2018/2/layout/IconVerticalSolidList"/>
    <dgm:cxn modelId="{60DF9CD4-A2B2-4DD5-B9EC-88A847285868}" type="presParOf" srcId="{64D3A0DE-2CF1-4615-AF6C-533F1B82E19F}" destId="{C9EBD04C-3157-4921-B999-1F4C5237082F}" srcOrd="1" destOrd="0" presId="urn:microsoft.com/office/officeart/2018/2/layout/IconVerticalSolidList"/>
    <dgm:cxn modelId="{815B2781-CC38-4B2C-B9C0-A3220062AEAC}" type="presParOf" srcId="{64D3A0DE-2CF1-4615-AF6C-533F1B82E19F}" destId="{FEAEFBBF-F8A5-4BA4-8F2B-283CC3EE0174}" srcOrd="2" destOrd="0" presId="urn:microsoft.com/office/officeart/2018/2/layout/IconVerticalSolidList"/>
    <dgm:cxn modelId="{4DD67569-672F-40AB-AEEB-C8109F03F974}" type="presParOf" srcId="{FEAEFBBF-F8A5-4BA4-8F2B-283CC3EE0174}" destId="{742C4FD6-98F3-4F36-A2F0-A4B562E0367E}" srcOrd="0" destOrd="0" presId="urn:microsoft.com/office/officeart/2018/2/layout/IconVerticalSolidList"/>
    <dgm:cxn modelId="{4564442F-08A6-47B6-8C40-130517A214CC}" type="presParOf" srcId="{FEAEFBBF-F8A5-4BA4-8F2B-283CC3EE0174}" destId="{41F2BC47-BC65-48CD-9B94-5C0BE0E796DA}" srcOrd="1" destOrd="0" presId="urn:microsoft.com/office/officeart/2018/2/layout/IconVerticalSolidList"/>
    <dgm:cxn modelId="{790D6379-4854-412C-AB14-64D9D70B0A82}" type="presParOf" srcId="{FEAEFBBF-F8A5-4BA4-8F2B-283CC3EE0174}" destId="{337C9D66-FED2-46E7-AC90-D3463018B246}" srcOrd="2" destOrd="0" presId="urn:microsoft.com/office/officeart/2018/2/layout/IconVerticalSolidList"/>
    <dgm:cxn modelId="{B4D4FDBD-F67C-45EC-BC7D-A023387EB21C}" type="presParOf" srcId="{FEAEFBBF-F8A5-4BA4-8F2B-283CC3EE0174}" destId="{FFC8C0F0-314E-4113-9C76-6EF2266B2D1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A805835-83C7-4D5A-BA87-DAAF7856226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77330E9-01A8-4A33-8E62-1D152CACEDA9}">
      <dgm:prSet/>
      <dgm:spPr/>
      <dgm:t>
        <a:bodyPr/>
        <a:lstStyle/>
        <a:p>
          <a:r>
            <a:rPr lang="es-MX"/>
            <a:t>La integración de diferentes herramientas de control de flujo, nos permite crear funciones dinámicas y flexibles. Si debemos utilizarlas varias veces, lograremos un programa más limpio y sencillo de mantener, evitando repeticiones de código. </a:t>
          </a:r>
          <a:endParaRPr lang="en-US"/>
        </a:p>
      </dgm:t>
    </dgm:pt>
    <dgm:pt modelId="{AD21B40A-DBF2-44C5-9B7C-C63D794DFBD0}" type="parTrans" cxnId="{736DE18F-9A21-44E5-8828-C498B31F3BC4}">
      <dgm:prSet/>
      <dgm:spPr/>
      <dgm:t>
        <a:bodyPr/>
        <a:lstStyle/>
        <a:p>
          <a:endParaRPr lang="en-US"/>
        </a:p>
      </dgm:t>
    </dgm:pt>
    <dgm:pt modelId="{C25B725F-6628-4D63-B9A6-140048481622}" type="sibTrans" cxnId="{736DE18F-9A21-44E5-8828-C498B31F3BC4}">
      <dgm:prSet/>
      <dgm:spPr/>
      <dgm:t>
        <a:bodyPr/>
        <a:lstStyle/>
        <a:p>
          <a:endParaRPr lang="en-US"/>
        </a:p>
      </dgm:t>
    </dgm:pt>
    <dgm:pt modelId="{A2A91595-E435-4F5A-9E4E-50860A2D10A5}">
      <dgm:prSet/>
      <dgm:spPr/>
      <dgm:t>
        <a:bodyPr/>
        <a:lstStyle/>
        <a:p>
          <a:r>
            <a:rPr lang="es-MX"/>
            <a:t>Funciones </a:t>
          </a:r>
          <a:endParaRPr lang="en-US"/>
        </a:p>
      </dgm:t>
    </dgm:pt>
    <dgm:pt modelId="{1A207520-D98E-4320-BC99-23F69549AFDE}" type="parTrans" cxnId="{D1B205EF-BF55-407C-864E-EFF246E0EE4C}">
      <dgm:prSet/>
      <dgm:spPr/>
      <dgm:t>
        <a:bodyPr/>
        <a:lstStyle/>
        <a:p>
          <a:endParaRPr lang="en-US"/>
        </a:p>
      </dgm:t>
    </dgm:pt>
    <dgm:pt modelId="{30040E77-CDD8-49D5-898F-08651959E6A7}" type="sibTrans" cxnId="{D1B205EF-BF55-407C-864E-EFF246E0EE4C}">
      <dgm:prSet/>
      <dgm:spPr/>
      <dgm:t>
        <a:bodyPr/>
        <a:lstStyle/>
        <a:p>
          <a:endParaRPr lang="en-US"/>
        </a:p>
      </dgm:t>
    </dgm:pt>
    <dgm:pt modelId="{18FBA25C-4207-427C-ACB9-34B8B1F6D43C}">
      <dgm:prSet/>
      <dgm:spPr/>
      <dgm:t>
        <a:bodyPr/>
        <a:lstStyle/>
        <a:p>
          <a:r>
            <a:rPr lang="es-MX"/>
            <a:t>Loops (for/while) </a:t>
          </a:r>
          <a:endParaRPr lang="en-US"/>
        </a:p>
      </dgm:t>
    </dgm:pt>
    <dgm:pt modelId="{EA1213CA-D370-4C40-8CAB-7522321C3B8B}" type="parTrans" cxnId="{2A2F5969-7C0C-48F1-9714-201874CF7AC6}">
      <dgm:prSet/>
      <dgm:spPr/>
      <dgm:t>
        <a:bodyPr/>
        <a:lstStyle/>
        <a:p>
          <a:endParaRPr lang="en-US"/>
        </a:p>
      </dgm:t>
    </dgm:pt>
    <dgm:pt modelId="{1E648F04-636B-4191-86BB-79EEEF53C1AD}" type="sibTrans" cxnId="{2A2F5969-7C0C-48F1-9714-201874CF7AC6}">
      <dgm:prSet/>
      <dgm:spPr/>
      <dgm:t>
        <a:bodyPr/>
        <a:lstStyle/>
        <a:p>
          <a:endParaRPr lang="en-US"/>
        </a:p>
      </dgm:t>
    </dgm:pt>
    <dgm:pt modelId="{9899BA55-364A-489B-8CF1-A07564EFE53D}">
      <dgm:prSet/>
      <dgm:spPr/>
      <dgm:t>
        <a:bodyPr/>
        <a:lstStyle/>
        <a:p>
          <a:r>
            <a:rPr lang="es-MX"/>
            <a:t>Estructuras condicionales</a:t>
          </a:r>
          <a:endParaRPr lang="en-US"/>
        </a:p>
      </dgm:t>
    </dgm:pt>
    <dgm:pt modelId="{6C1B57D0-1352-4865-9681-E3118F380A9C}" type="parTrans" cxnId="{95B016AF-6A57-4915-8F6F-8A1434514330}">
      <dgm:prSet/>
      <dgm:spPr/>
      <dgm:t>
        <a:bodyPr/>
        <a:lstStyle/>
        <a:p>
          <a:endParaRPr lang="en-US"/>
        </a:p>
      </dgm:t>
    </dgm:pt>
    <dgm:pt modelId="{92F7B655-8456-4E69-BC90-39F494A48F30}" type="sibTrans" cxnId="{95B016AF-6A57-4915-8F6F-8A1434514330}">
      <dgm:prSet/>
      <dgm:spPr/>
      <dgm:t>
        <a:bodyPr/>
        <a:lstStyle/>
        <a:p>
          <a:endParaRPr lang="en-US"/>
        </a:p>
      </dgm:t>
    </dgm:pt>
    <dgm:pt modelId="{2E0DA661-EDE3-4C8F-83DB-46D368C78812}">
      <dgm:prSet/>
      <dgm:spPr/>
      <dgm:t>
        <a:bodyPr/>
        <a:lstStyle/>
        <a:p>
          <a:r>
            <a:rPr lang="es-MX"/>
            <a:t>Palabras clave (return, break, continue, pass) </a:t>
          </a:r>
          <a:endParaRPr lang="en-US"/>
        </a:p>
      </dgm:t>
    </dgm:pt>
    <dgm:pt modelId="{2C477D12-8AA7-4B03-97AC-6D5EAF08CE82}" type="parTrans" cxnId="{0B026224-37A8-4702-AD1B-6A373CBDABA8}">
      <dgm:prSet/>
      <dgm:spPr/>
      <dgm:t>
        <a:bodyPr/>
        <a:lstStyle/>
        <a:p>
          <a:endParaRPr lang="en-US"/>
        </a:p>
      </dgm:t>
    </dgm:pt>
    <dgm:pt modelId="{85E4C873-3F57-4B90-87FC-76C14355622A}" type="sibTrans" cxnId="{0B026224-37A8-4702-AD1B-6A373CBDABA8}">
      <dgm:prSet/>
      <dgm:spPr/>
      <dgm:t>
        <a:bodyPr/>
        <a:lstStyle/>
        <a:p>
          <a:endParaRPr lang="en-US"/>
        </a:p>
      </dgm:t>
    </dgm:pt>
    <dgm:pt modelId="{D38E9A87-2672-4EA6-B8AE-7B0728DDEB08}" type="pres">
      <dgm:prSet presAssocID="{AA805835-83C7-4D5A-BA87-DAAF78562260}" presName="root" presStyleCnt="0">
        <dgm:presLayoutVars>
          <dgm:dir/>
          <dgm:resizeHandles val="exact"/>
        </dgm:presLayoutVars>
      </dgm:prSet>
      <dgm:spPr/>
    </dgm:pt>
    <dgm:pt modelId="{E5E5668C-5C99-40B8-BB91-ECE6140A77E6}" type="pres">
      <dgm:prSet presAssocID="{377330E9-01A8-4A33-8E62-1D152CACEDA9}" presName="compNode" presStyleCnt="0"/>
      <dgm:spPr/>
    </dgm:pt>
    <dgm:pt modelId="{422ED61A-9581-47E7-BC9F-C437133100AC}" type="pres">
      <dgm:prSet presAssocID="{377330E9-01A8-4A33-8E62-1D152CACEDA9}" presName="bgRect" presStyleLbl="bgShp" presStyleIdx="0" presStyleCnt="5"/>
      <dgm:spPr/>
    </dgm:pt>
    <dgm:pt modelId="{F1A199F7-6963-4046-A026-6C5B56670ADA}" type="pres">
      <dgm:prSet presAssocID="{377330E9-01A8-4A33-8E62-1D152CACEDA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ngranajes"/>
        </a:ext>
      </dgm:extLst>
    </dgm:pt>
    <dgm:pt modelId="{622AFB55-6157-4320-813C-A672F8D92482}" type="pres">
      <dgm:prSet presAssocID="{377330E9-01A8-4A33-8E62-1D152CACEDA9}" presName="spaceRect" presStyleCnt="0"/>
      <dgm:spPr/>
    </dgm:pt>
    <dgm:pt modelId="{421400A4-9613-44E2-98BE-0660138A551B}" type="pres">
      <dgm:prSet presAssocID="{377330E9-01A8-4A33-8E62-1D152CACEDA9}" presName="parTx" presStyleLbl="revTx" presStyleIdx="0" presStyleCnt="5">
        <dgm:presLayoutVars>
          <dgm:chMax val="0"/>
          <dgm:chPref val="0"/>
        </dgm:presLayoutVars>
      </dgm:prSet>
      <dgm:spPr/>
    </dgm:pt>
    <dgm:pt modelId="{C66162D3-2E58-4C5C-980A-0AF57D33E4F1}" type="pres">
      <dgm:prSet presAssocID="{C25B725F-6628-4D63-B9A6-140048481622}" presName="sibTrans" presStyleCnt="0"/>
      <dgm:spPr/>
    </dgm:pt>
    <dgm:pt modelId="{676BF16E-A62F-479D-BEF0-77CB2E74997E}" type="pres">
      <dgm:prSet presAssocID="{A2A91595-E435-4F5A-9E4E-50860A2D10A5}" presName="compNode" presStyleCnt="0"/>
      <dgm:spPr/>
    </dgm:pt>
    <dgm:pt modelId="{E7FDBA46-8C17-488F-8C5C-C0D4CCEFD4E5}" type="pres">
      <dgm:prSet presAssocID="{A2A91595-E435-4F5A-9E4E-50860A2D10A5}" presName="bgRect" presStyleLbl="bgShp" presStyleIdx="1" presStyleCnt="5"/>
      <dgm:spPr/>
    </dgm:pt>
    <dgm:pt modelId="{642C4A08-20DD-415E-BE59-D9E18EB25672}" type="pres">
      <dgm:prSet presAssocID="{A2A91595-E435-4F5A-9E4E-50860A2D10A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rca de verificación"/>
        </a:ext>
      </dgm:extLst>
    </dgm:pt>
    <dgm:pt modelId="{2D2689C0-8C51-4DDC-8557-018F80625BC6}" type="pres">
      <dgm:prSet presAssocID="{A2A91595-E435-4F5A-9E4E-50860A2D10A5}" presName="spaceRect" presStyleCnt="0"/>
      <dgm:spPr/>
    </dgm:pt>
    <dgm:pt modelId="{DAD9565E-3B23-4689-AE48-2C08119C91B5}" type="pres">
      <dgm:prSet presAssocID="{A2A91595-E435-4F5A-9E4E-50860A2D10A5}" presName="parTx" presStyleLbl="revTx" presStyleIdx="1" presStyleCnt="5">
        <dgm:presLayoutVars>
          <dgm:chMax val="0"/>
          <dgm:chPref val="0"/>
        </dgm:presLayoutVars>
      </dgm:prSet>
      <dgm:spPr/>
    </dgm:pt>
    <dgm:pt modelId="{2685B36B-D5EB-435E-8827-C03ADC1D7A0E}" type="pres">
      <dgm:prSet presAssocID="{30040E77-CDD8-49D5-898F-08651959E6A7}" presName="sibTrans" presStyleCnt="0"/>
      <dgm:spPr/>
    </dgm:pt>
    <dgm:pt modelId="{D6CE8D84-0BE0-4B48-A6B1-124B6CC24967}" type="pres">
      <dgm:prSet presAssocID="{18FBA25C-4207-427C-ACB9-34B8B1F6D43C}" presName="compNode" presStyleCnt="0"/>
      <dgm:spPr/>
    </dgm:pt>
    <dgm:pt modelId="{A6203FE9-38FE-4F59-8CC2-2CAC2296A040}" type="pres">
      <dgm:prSet presAssocID="{18FBA25C-4207-427C-ACB9-34B8B1F6D43C}" presName="bgRect" presStyleLbl="bgShp" presStyleIdx="2" presStyleCnt="5"/>
      <dgm:spPr/>
    </dgm:pt>
    <dgm:pt modelId="{86D4CE93-567C-4838-960A-6C586CCACE3F}" type="pres">
      <dgm:prSet presAssocID="{18FBA25C-4207-427C-ACB9-34B8B1F6D43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ujo de trabajo"/>
        </a:ext>
      </dgm:extLst>
    </dgm:pt>
    <dgm:pt modelId="{5FD3B985-59EA-4390-A805-860D479D4628}" type="pres">
      <dgm:prSet presAssocID="{18FBA25C-4207-427C-ACB9-34B8B1F6D43C}" presName="spaceRect" presStyleCnt="0"/>
      <dgm:spPr/>
    </dgm:pt>
    <dgm:pt modelId="{4A95AE03-2F20-481A-AC3D-4E5CA5DBFA80}" type="pres">
      <dgm:prSet presAssocID="{18FBA25C-4207-427C-ACB9-34B8B1F6D43C}" presName="parTx" presStyleLbl="revTx" presStyleIdx="2" presStyleCnt="5">
        <dgm:presLayoutVars>
          <dgm:chMax val="0"/>
          <dgm:chPref val="0"/>
        </dgm:presLayoutVars>
      </dgm:prSet>
      <dgm:spPr/>
    </dgm:pt>
    <dgm:pt modelId="{EACAB7E9-2674-4645-9E90-4F10365E1313}" type="pres">
      <dgm:prSet presAssocID="{1E648F04-636B-4191-86BB-79EEEF53C1AD}" presName="sibTrans" presStyleCnt="0"/>
      <dgm:spPr/>
    </dgm:pt>
    <dgm:pt modelId="{8F7CF19F-B81B-4524-8905-CA8474425E82}" type="pres">
      <dgm:prSet presAssocID="{9899BA55-364A-489B-8CF1-A07564EFE53D}" presName="compNode" presStyleCnt="0"/>
      <dgm:spPr/>
    </dgm:pt>
    <dgm:pt modelId="{F0FE35F9-430A-4C59-9AF1-0F4C960211C6}" type="pres">
      <dgm:prSet presAssocID="{9899BA55-364A-489B-8CF1-A07564EFE53D}" presName="bgRect" presStyleLbl="bgShp" presStyleIdx="3" presStyleCnt="5"/>
      <dgm:spPr/>
    </dgm:pt>
    <dgm:pt modelId="{973D8CE5-6A52-47F4-8BE1-CC394C0115CA}" type="pres">
      <dgm:prSet presAssocID="{9899BA55-364A-489B-8CF1-A07564EFE53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o"/>
        </a:ext>
      </dgm:extLst>
    </dgm:pt>
    <dgm:pt modelId="{1A6482DF-F50D-4EA0-B9B3-D3B1171859FF}" type="pres">
      <dgm:prSet presAssocID="{9899BA55-364A-489B-8CF1-A07564EFE53D}" presName="spaceRect" presStyleCnt="0"/>
      <dgm:spPr/>
    </dgm:pt>
    <dgm:pt modelId="{DB26362B-7F80-4418-BB2D-A460BC7EEA31}" type="pres">
      <dgm:prSet presAssocID="{9899BA55-364A-489B-8CF1-A07564EFE53D}" presName="parTx" presStyleLbl="revTx" presStyleIdx="3" presStyleCnt="5">
        <dgm:presLayoutVars>
          <dgm:chMax val="0"/>
          <dgm:chPref val="0"/>
        </dgm:presLayoutVars>
      </dgm:prSet>
      <dgm:spPr/>
    </dgm:pt>
    <dgm:pt modelId="{E427AD6E-E61F-4704-92B0-998DE6905C66}" type="pres">
      <dgm:prSet presAssocID="{92F7B655-8456-4E69-BC90-39F494A48F30}" presName="sibTrans" presStyleCnt="0"/>
      <dgm:spPr/>
    </dgm:pt>
    <dgm:pt modelId="{68DDD21D-E19C-4B06-954F-C6F5472E7131}" type="pres">
      <dgm:prSet presAssocID="{2E0DA661-EDE3-4C8F-83DB-46D368C78812}" presName="compNode" presStyleCnt="0"/>
      <dgm:spPr/>
    </dgm:pt>
    <dgm:pt modelId="{76A49A33-822C-4C6C-9B14-CEF603A05266}" type="pres">
      <dgm:prSet presAssocID="{2E0DA661-EDE3-4C8F-83DB-46D368C78812}" presName="bgRect" presStyleLbl="bgShp" presStyleIdx="4" presStyleCnt="5"/>
      <dgm:spPr/>
    </dgm:pt>
    <dgm:pt modelId="{319BD432-F71D-49E9-B6E2-040BBB79F0BF}" type="pres">
      <dgm:prSet presAssocID="{2E0DA661-EDE3-4C8F-83DB-46D368C7881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lave"/>
        </a:ext>
      </dgm:extLst>
    </dgm:pt>
    <dgm:pt modelId="{6CD98781-72B6-4CB2-B996-D518FC9500D9}" type="pres">
      <dgm:prSet presAssocID="{2E0DA661-EDE3-4C8F-83DB-46D368C78812}" presName="spaceRect" presStyleCnt="0"/>
      <dgm:spPr/>
    </dgm:pt>
    <dgm:pt modelId="{73201FCE-EE22-4158-8931-18A4A998EC23}" type="pres">
      <dgm:prSet presAssocID="{2E0DA661-EDE3-4C8F-83DB-46D368C78812}" presName="parTx" presStyleLbl="revTx" presStyleIdx="4" presStyleCnt="5">
        <dgm:presLayoutVars>
          <dgm:chMax val="0"/>
          <dgm:chPref val="0"/>
        </dgm:presLayoutVars>
      </dgm:prSet>
      <dgm:spPr/>
    </dgm:pt>
  </dgm:ptLst>
  <dgm:cxnLst>
    <dgm:cxn modelId="{1709E707-38F8-411B-A101-35D530883DE5}" type="presOf" srcId="{9899BA55-364A-489B-8CF1-A07564EFE53D}" destId="{DB26362B-7F80-4418-BB2D-A460BC7EEA31}" srcOrd="0" destOrd="0" presId="urn:microsoft.com/office/officeart/2018/2/layout/IconVerticalSolidList"/>
    <dgm:cxn modelId="{0B026224-37A8-4702-AD1B-6A373CBDABA8}" srcId="{AA805835-83C7-4D5A-BA87-DAAF78562260}" destId="{2E0DA661-EDE3-4C8F-83DB-46D368C78812}" srcOrd="4" destOrd="0" parTransId="{2C477D12-8AA7-4B03-97AC-6D5EAF08CE82}" sibTransId="{85E4C873-3F57-4B90-87FC-76C14355622A}"/>
    <dgm:cxn modelId="{04146039-4867-44FD-97A9-E8D670149922}" type="presOf" srcId="{A2A91595-E435-4F5A-9E4E-50860A2D10A5}" destId="{DAD9565E-3B23-4689-AE48-2C08119C91B5}" srcOrd="0" destOrd="0" presId="urn:microsoft.com/office/officeart/2018/2/layout/IconVerticalSolidList"/>
    <dgm:cxn modelId="{3DA94468-1AF8-432F-99E9-43E52B53937D}" type="presOf" srcId="{2E0DA661-EDE3-4C8F-83DB-46D368C78812}" destId="{73201FCE-EE22-4158-8931-18A4A998EC23}" srcOrd="0" destOrd="0" presId="urn:microsoft.com/office/officeart/2018/2/layout/IconVerticalSolidList"/>
    <dgm:cxn modelId="{2A2F5969-7C0C-48F1-9714-201874CF7AC6}" srcId="{AA805835-83C7-4D5A-BA87-DAAF78562260}" destId="{18FBA25C-4207-427C-ACB9-34B8B1F6D43C}" srcOrd="2" destOrd="0" parTransId="{EA1213CA-D370-4C40-8CAB-7522321C3B8B}" sibTransId="{1E648F04-636B-4191-86BB-79EEEF53C1AD}"/>
    <dgm:cxn modelId="{D7D12085-FEBF-4571-BDCC-7369E695B0C3}" type="presOf" srcId="{18FBA25C-4207-427C-ACB9-34B8B1F6D43C}" destId="{4A95AE03-2F20-481A-AC3D-4E5CA5DBFA80}" srcOrd="0" destOrd="0" presId="urn:microsoft.com/office/officeart/2018/2/layout/IconVerticalSolidList"/>
    <dgm:cxn modelId="{6191D58C-A82F-411A-8094-C24ACC62AA2A}" type="presOf" srcId="{377330E9-01A8-4A33-8E62-1D152CACEDA9}" destId="{421400A4-9613-44E2-98BE-0660138A551B}" srcOrd="0" destOrd="0" presId="urn:microsoft.com/office/officeart/2018/2/layout/IconVerticalSolidList"/>
    <dgm:cxn modelId="{736DE18F-9A21-44E5-8828-C498B31F3BC4}" srcId="{AA805835-83C7-4D5A-BA87-DAAF78562260}" destId="{377330E9-01A8-4A33-8E62-1D152CACEDA9}" srcOrd="0" destOrd="0" parTransId="{AD21B40A-DBF2-44C5-9B7C-C63D794DFBD0}" sibTransId="{C25B725F-6628-4D63-B9A6-140048481622}"/>
    <dgm:cxn modelId="{95B016AF-6A57-4915-8F6F-8A1434514330}" srcId="{AA805835-83C7-4D5A-BA87-DAAF78562260}" destId="{9899BA55-364A-489B-8CF1-A07564EFE53D}" srcOrd="3" destOrd="0" parTransId="{6C1B57D0-1352-4865-9681-E3118F380A9C}" sibTransId="{92F7B655-8456-4E69-BC90-39F494A48F30}"/>
    <dgm:cxn modelId="{5910B3E2-340A-437F-9C84-E83BDF5ED27E}" type="presOf" srcId="{AA805835-83C7-4D5A-BA87-DAAF78562260}" destId="{D38E9A87-2672-4EA6-B8AE-7B0728DDEB08}" srcOrd="0" destOrd="0" presId="urn:microsoft.com/office/officeart/2018/2/layout/IconVerticalSolidList"/>
    <dgm:cxn modelId="{D1B205EF-BF55-407C-864E-EFF246E0EE4C}" srcId="{AA805835-83C7-4D5A-BA87-DAAF78562260}" destId="{A2A91595-E435-4F5A-9E4E-50860A2D10A5}" srcOrd="1" destOrd="0" parTransId="{1A207520-D98E-4320-BC99-23F69549AFDE}" sibTransId="{30040E77-CDD8-49D5-898F-08651959E6A7}"/>
    <dgm:cxn modelId="{FD1E527D-0BB5-4268-88E9-A77F0671901C}" type="presParOf" srcId="{D38E9A87-2672-4EA6-B8AE-7B0728DDEB08}" destId="{E5E5668C-5C99-40B8-BB91-ECE6140A77E6}" srcOrd="0" destOrd="0" presId="urn:microsoft.com/office/officeart/2018/2/layout/IconVerticalSolidList"/>
    <dgm:cxn modelId="{7F3D4FD4-857D-42F7-99E5-61E359DB0B55}" type="presParOf" srcId="{E5E5668C-5C99-40B8-BB91-ECE6140A77E6}" destId="{422ED61A-9581-47E7-BC9F-C437133100AC}" srcOrd="0" destOrd="0" presId="urn:microsoft.com/office/officeart/2018/2/layout/IconVerticalSolidList"/>
    <dgm:cxn modelId="{F695B077-A39A-4A36-BE51-B19958ADCD5A}" type="presParOf" srcId="{E5E5668C-5C99-40B8-BB91-ECE6140A77E6}" destId="{F1A199F7-6963-4046-A026-6C5B56670ADA}" srcOrd="1" destOrd="0" presId="urn:microsoft.com/office/officeart/2018/2/layout/IconVerticalSolidList"/>
    <dgm:cxn modelId="{E2D818F3-910B-4259-8C46-F61805C80C79}" type="presParOf" srcId="{E5E5668C-5C99-40B8-BB91-ECE6140A77E6}" destId="{622AFB55-6157-4320-813C-A672F8D92482}" srcOrd="2" destOrd="0" presId="urn:microsoft.com/office/officeart/2018/2/layout/IconVerticalSolidList"/>
    <dgm:cxn modelId="{97EFA1CB-ED43-4436-A71D-8625C44846D0}" type="presParOf" srcId="{E5E5668C-5C99-40B8-BB91-ECE6140A77E6}" destId="{421400A4-9613-44E2-98BE-0660138A551B}" srcOrd="3" destOrd="0" presId="urn:microsoft.com/office/officeart/2018/2/layout/IconVerticalSolidList"/>
    <dgm:cxn modelId="{572A1FA6-CAF7-4B68-ABD9-271AE2904F64}" type="presParOf" srcId="{D38E9A87-2672-4EA6-B8AE-7B0728DDEB08}" destId="{C66162D3-2E58-4C5C-980A-0AF57D33E4F1}" srcOrd="1" destOrd="0" presId="urn:microsoft.com/office/officeart/2018/2/layout/IconVerticalSolidList"/>
    <dgm:cxn modelId="{02B667D7-D614-4E03-AAB3-4BFD764DC8CC}" type="presParOf" srcId="{D38E9A87-2672-4EA6-B8AE-7B0728DDEB08}" destId="{676BF16E-A62F-479D-BEF0-77CB2E74997E}" srcOrd="2" destOrd="0" presId="urn:microsoft.com/office/officeart/2018/2/layout/IconVerticalSolidList"/>
    <dgm:cxn modelId="{6D893C51-EBCE-4F6D-ACFE-0638907CBF29}" type="presParOf" srcId="{676BF16E-A62F-479D-BEF0-77CB2E74997E}" destId="{E7FDBA46-8C17-488F-8C5C-C0D4CCEFD4E5}" srcOrd="0" destOrd="0" presId="urn:microsoft.com/office/officeart/2018/2/layout/IconVerticalSolidList"/>
    <dgm:cxn modelId="{C0505460-F7CF-4CF0-ADCA-D3538D078B57}" type="presParOf" srcId="{676BF16E-A62F-479D-BEF0-77CB2E74997E}" destId="{642C4A08-20DD-415E-BE59-D9E18EB25672}" srcOrd="1" destOrd="0" presId="urn:microsoft.com/office/officeart/2018/2/layout/IconVerticalSolidList"/>
    <dgm:cxn modelId="{DA1D7D3D-6422-4100-8DDE-48773186D20F}" type="presParOf" srcId="{676BF16E-A62F-479D-BEF0-77CB2E74997E}" destId="{2D2689C0-8C51-4DDC-8557-018F80625BC6}" srcOrd="2" destOrd="0" presId="urn:microsoft.com/office/officeart/2018/2/layout/IconVerticalSolidList"/>
    <dgm:cxn modelId="{F22690B3-74DD-48F7-BE36-81D313E4FCEB}" type="presParOf" srcId="{676BF16E-A62F-479D-BEF0-77CB2E74997E}" destId="{DAD9565E-3B23-4689-AE48-2C08119C91B5}" srcOrd="3" destOrd="0" presId="urn:microsoft.com/office/officeart/2018/2/layout/IconVerticalSolidList"/>
    <dgm:cxn modelId="{6393F98E-3D72-463F-9170-710D966A7A9C}" type="presParOf" srcId="{D38E9A87-2672-4EA6-B8AE-7B0728DDEB08}" destId="{2685B36B-D5EB-435E-8827-C03ADC1D7A0E}" srcOrd="3" destOrd="0" presId="urn:microsoft.com/office/officeart/2018/2/layout/IconVerticalSolidList"/>
    <dgm:cxn modelId="{EC3AD463-F105-4BC9-86A1-97086581097A}" type="presParOf" srcId="{D38E9A87-2672-4EA6-B8AE-7B0728DDEB08}" destId="{D6CE8D84-0BE0-4B48-A6B1-124B6CC24967}" srcOrd="4" destOrd="0" presId="urn:microsoft.com/office/officeart/2018/2/layout/IconVerticalSolidList"/>
    <dgm:cxn modelId="{4AAA4608-C370-40A8-863E-E3EEC1062135}" type="presParOf" srcId="{D6CE8D84-0BE0-4B48-A6B1-124B6CC24967}" destId="{A6203FE9-38FE-4F59-8CC2-2CAC2296A040}" srcOrd="0" destOrd="0" presId="urn:microsoft.com/office/officeart/2018/2/layout/IconVerticalSolidList"/>
    <dgm:cxn modelId="{9650ABBD-75C8-43B1-B989-9568D1769E44}" type="presParOf" srcId="{D6CE8D84-0BE0-4B48-A6B1-124B6CC24967}" destId="{86D4CE93-567C-4838-960A-6C586CCACE3F}" srcOrd="1" destOrd="0" presId="urn:microsoft.com/office/officeart/2018/2/layout/IconVerticalSolidList"/>
    <dgm:cxn modelId="{9BF4ADBD-7577-4E4E-9175-4947BD64A377}" type="presParOf" srcId="{D6CE8D84-0BE0-4B48-A6B1-124B6CC24967}" destId="{5FD3B985-59EA-4390-A805-860D479D4628}" srcOrd="2" destOrd="0" presId="urn:microsoft.com/office/officeart/2018/2/layout/IconVerticalSolidList"/>
    <dgm:cxn modelId="{FF83E112-4DD4-41C1-9ECB-4759363A472E}" type="presParOf" srcId="{D6CE8D84-0BE0-4B48-A6B1-124B6CC24967}" destId="{4A95AE03-2F20-481A-AC3D-4E5CA5DBFA80}" srcOrd="3" destOrd="0" presId="urn:microsoft.com/office/officeart/2018/2/layout/IconVerticalSolidList"/>
    <dgm:cxn modelId="{2CE0D0A6-7EC3-445F-9527-E4CA993614BB}" type="presParOf" srcId="{D38E9A87-2672-4EA6-B8AE-7B0728DDEB08}" destId="{EACAB7E9-2674-4645-9E90-4F10365E1313}" srcOrd="5" destOrd="0" presId="urn:microsoft.com/office/officeart/2018/2/layout/IconVerticalSolidList"/>
    <dgm:cxn modelId="{F7903991-717D-4897-80D7-7BC99E3596AB}" type="presParOf" srcId="{D38E9A87-2672-4EA6-B8AE-7B0728DDEB08}" destId="{8F7CF19F-B81B-4524-8905-CA8474425E82}" srcOrd="6" destOrd="0" presId="urn:microsoft.com/office/officeart/2018/2/layout/IconVerticalSolidList"/>
    <dgm:cxn modelId="{1C0CFA69-765E-4DB9-988C-2F74ABAF6FEC}" type="presParOf" srcId="{8F7CF19F-B81B-4524-8905-CA8474425E82}" destId="{F0FE35F9-430A-4C59-9AF1-0F4C960211C6}" srcOrd="0" destOrd="0" presId="urn:microsoft.com/office/officeart/2018/2/layout/IconVerticalSolidList"/>
    <dgm:cxn modelId="{AA6444FC-1927-4BD1-BB75-88DBC8689140}" type="presParOf" srcId="{8F7CF19F-B81B-4524-8905-CA8474425E82}" destId="{973D8CE5-6A52-47F4-8BE1-CC394C0115CA}" srcOrd="1" destOrd="0" presId="urn:microsoft.com/office/officeart/2018/2/layout/IconVerticalSolidList"/>
    <dgm:cxn modelId="{E3A10523-B8AF-4863-BC44-3B8064A0C8C0}" type="presParOf" srcId="{8F7CF19F-B81B-4524-8905-CA8474425E82}" destId="{1A6482DF-F50D-4EA0-B9B3-D3B1171859FF}" srcOrd="2" destOrd="0" presId="urn:microsoft.com/office/officeart/2018/2/layout/IconVerticalSolidList"/>
    <dgm:cxn modelId="{DA80854D-771A-45CE-A82F-33795FFF3271}" type="presParOf" srcId="{8F7CF19F-B81B-4524-8905-CA8474425E82}" destId="{DB26362B-7F80-4418-BB2D-A460BC7EEA31}" srcOrd="3" destOrd="0" presId="urn:microsoft.com/office/officeart/2018/2/layout/IconVerticalSolidList"/>
    <dgm:cxn modelId="{EB159B12-E1B6-4F94-B50E-2F56A0E35947}" type="presParOf" srcId="{D38E9A87-2672-4EA6-B8AE-7B0728DDEB08}" destId="{E427AD6E-E61F-4704-92B0-998DE6905C66}" srcOrd="7" destOrd="0" presId="urn:microsoft.com/office/officeart/2018/2/layout/IconVerticalSolidList"/>
    <dgm:cxn modelId="{042D00A8-989F-4261-8ABD-9BEE6F178AD4}" type="presParOf" srcId="{D38E9A87-2672-4EA6-B8AE-7B0728DDEB08}" destId="{68DDD21D-E19C-4B06-954F-C6F5472E7131}" srcOrd="8" destOrd="0" presId="urn:microsoft.com/office/officeart/2018/2/layout/IconVerticalSolidList"/>
    <dgm:cxn modelId="{AC61C0C2-39E5-4596-9592-F926B7FAAF41}" type="presParOf" srcId="{68DDD21D-E19C-4B06-954F-C6F5472E7131}" destId="{76A49A33-822C-4C6C-9B14-CEF603A05266}" srcOrd="0" destOrd="0" presId="urn:microsoft.com/office/officeart/2018/2/layout/IconVerticalSolidList"/>
    <dgm:cxn modelId="{BD52A607-F854-4579-A375-01BA01C3C30C}" type="presParOf" srcId="{68DDD21D-E19C-4B06-954F-C6F5472E7131}" destId="{319BD432-F71D-49E9-B6E2-040BBB79F0BF}" srcOrd="1" destOrd="0" presId="urn:microsoft.com/office/officeart/2018/2/layout/IconVerticalSolidList"/>
    <dgm:cxn modelId="{3AE48AA5-7D26-426B-9586-EE261534ACB2}" type="presParOf" srcId="{68DDD21D-E19C-4B06-954F-C6F5472E7131}" destId="{6CD98781-72B6-4CB2-B996-D518FC9500D9}" srcOrd="2" destOrd="0" presId="urn:microsoft.com/office/officeart/2018/2/layout/IconVerticalSolidList"/>
    <dgm:cxn modelId="{B51A0A80-5516-4DB9-BA30-7A7D9CE06650}" type="presParOf" srcId="{68DDD21D-E19C-4B06-954F-C6F5472E7131}" destId="{73201FCE-EE22-4158-8931-18A4A998EC2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C1C054C-5C42-4304-B0A6-6ECDB5B80F65}"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E9E8608-F647-4E6D-81C7-4626C5E2E67E}">
      <dgm:prSet/>
      <dgm:spPr/>
      <dgm:t>
        <a:bodyPr/>
        <a:lstStyle/>
        <a:p>
          <a:r>
            <a:rPr lang="es-MX" b="0" i="0" baseline="0"/>
            <a:t>Crea una </a:t>
          </a:r>
          <a:r>
            <a:rPr lang="es-MX" b="1" i="0" baseline="0"/>
            <a:t>función </a:t>
          </a:r>
          <a:r>
            <a:rPr lang="es-MX" b="0" i="0" baseline="0"/>
            <a:t>(todos_positivos) que reciba una lista de números como parámetro, y </a:t>
          </a:r>
          <a:r>
            <a:rPr lang="es-MX" b="0" i="1" baseline="0"/>
            <a:t>devuelva </a:t>
          </a:r>
          <a:r>
            <a:rPr lang="es-MX" b="0" i="0" baseline="0"/>
            <a:t>True si todos los valores de una </a:t>
          </a:r>
          <a:r>
            <a:rPr lang="es-MX" b="1" i="0" baseline="0"/>
            <a:t>lista</a:t>
          </a:r>
          <a:r>
            <a:rPr lang="es-MX" b="0" i="0" baseline="0"/>
            <a:t> son positivos, y False </a:t>
          </a:r>
          <a:r>
            <a:rPr lang="es-MX" b="0" i="1" baseline="0"/>
            <a:t>si al menos uno de los valores es negativo. </a:t>
          </a:r>
          <a:r>
            <a:rPr lang="es-MX" b="0" i="0" baseline="0"/>
            <a:t>Crea una lista llamada lista_numeros con valores positivos y negativos.</a:t>
          </a:r>
          <a:endParaRPr lang="en-US"/>
        </a:p>
      </dgm:t>
    </dgm:pt>
    <dgm:pt modelId="{725EC465-2567-463E-BA80-ACF6039F94D5}" type="parTrans" cxnId="{FFF588EE-3FAB-4E72-84FE-57A17D621251}">
      <dgm:prSet/>
      <dgm:spPr/>
      <dgm:t>
        <a:bodyPr/>
        <a:lstStyle/>
        <a:p>
          <a:endParaRPr lang="en-US"/>
        </a:p>
      </dgm:t>
    </dgm:pt>
    <dgm:pt modelId="{F674C2EF-E0BC-4445-89CF-D4330C8E4E8B}" type="sibTrans" cxnId="{FFF588EE-3FAB-4E72-84FE-57A17D621251}">
      <dgm:prSet/>
      <dgm:spPr/>
      <dgm:t>
        <a:bodyPr/>
        <a:lstStyle/>
        <a:p>
          <a:endParaRPr lang="en-US"/>
        </a:p>
      </dgm:t>
    </dgm:pt>
    <dgm:pt modelId="{F7626FA1-8049-4D10-A295-5BC466AF98CD}">
      <dgm:prSet/>
      <dgm:spPr/>
      <dgm:t>
        <a:bodyPr/>
        <a:lstStyle/>
        <a:p>
          <a:r>
            <a:rPr lang="es-MX" b="0" i="1" baseline="0"/>
            <a:t>No invoques la función, solo es necesario definirla</a:t>
          </a:r>
          <a:endParaRPr lang="en-US"/>
        </a:p>
      </dgm:t>
    </dgm:pt>
    <dgm:pt modelId="{5EC05B12-CEF9-4EDB-BE4C-42BC186288EA}" type="parTrans" cxnId="{84D1C822-8540-4C47-BC77-1C3487745CED}">
      <dgm:prSet/>
      <dgm:spPr/>
      <dgm:t>
        <a:bodyPr/>
        <a:lstStyle/>
        <a:p>
          <a:endParaRPr lang="en-US"/>
        </a:p>
      </dgm:t>
    </dgm:pt>
    <dgm:pt modelId="{58FD9CFF-4505-4C3F-A7C9-C9DBA14F428B}" type="sibTrans" cxnId="{84D1C822-8540-4C47-BC77-1C3487745CED}">
      <dgm:prSet/>
      <dgm:spPr/>
      <dgm:t>
        <a:bodyPr/>
        <a:lstStyle/>
        <a:p>
          <a:endParaRPr lang="en-US"/>
        </a:p>
      </dgm:t>
    </dgm:pt>
    <dgm:pt modelId="{422016FE-3C1B-4F3B-B5E4-7C40ED4FF350}">
      <dgm:prSet/>
      <dgm:spPr/>
      <dgm:t>
        <a:bodyPr/>
        <a:lstStyle/>
        <a:p>
          <a:r>
            <a:rPr lang="es-MX" b="0" i="0" baseline="0"/>
            <a:t>Crea una </a:t>
          </a:r>
          <a:r>
            <a:rPr lang="es-MX" b="1" i="0" baseline="0"/>
            <a:t>función </a:t>
          </a:r>
          <a:r>
            <a:rPr lang="es-MX" b="0" i="0" baseline="0"/>
            <a:t>(suma_menores) que sume los números de una </a:t>
          </a:r>
          <a:r>
            <a:rPr lang="es-MX" b="1" i="0" baseline="0"/>
            <a:t>lista </a:t>
          </a:r>
          <a:r>
            <a:rPr lang="es-MX" b="0" i="0" baseline="0"/>
            <a:t>(almacenada en la </a:t>
          </a:r>
          <a:r>
            <a:rPr lang="es-MX" b="1" i="0" baseline="0"/>
            <a:t>variable </a:t>
          </a:r>
          <a:r>
            <a:rPr lang="es-MX" b="0" i="0" baseline="0"/>
            <a:t>lista_numeros) siempre y cuando sean </a:t>
          </a:r>
          <a:r>
            <a:rPr lang="es-MX" b="1" i="0" baseline="0"/>
            <a:t>mayores a 0 y menores a 1000</a:t>
          </a:r>
          <a:r>
            <a:rPr lang="es-MX" b="0" i="0" baseline="0"/>
            <a:t>, y </a:t>
          </a:r>
          <a:r>
            <a:rPr lang="es-MX" b="0" i="1" baseline="0"/>
            <a:t>devuelva </a:t>
          </a:r>
          <a:r>
            <a:rPr lang="es-MX" b="0" i="0" baseline="0"/>
            <a:t>el </a:t>
          </a:r>
          <a:r>
            <a:rPr lang="es-MX" b="0" i="1" baseline="0"/>
            <a:t>resultado </a:t>
          </a:r>
          <a:r>
            <a:rPr lang="es-MX" b="0" i="0" baseline="0"/>
            <a:t>de dicha suma</a:t>
          </a:r>
          <a:endParaRPr lang="en-US"/>
        </a:p>
      </dgm:t>
    </dgm:pt>
    <dgm:pt modelId="{80937558-3344-43B4-A168-5D9F31266F51}" type="parTrans" cxnId="{F6696B3C-8AF8-4703-94D5-9AEF3A88EECB}">
      <dgm:prSet/>
      <dgm:spPr/>
      <dgm:t>
        <a:bodyPr/>
        <a:lstStyle/>
        <a:p>
          <a:endParaRPr lang="en-US"/>
        </a:p>
      </dgm:t>
    </dgm:pt>
    <dgm:pt modelId="{F02C110A-0459-4E5D-9851-799D6D439F75}" type="sibTrans" cxnId="{F6696B3C-8AF8-4703-94D5-9AEF3A88EECB}">
      <dgm:prSet/>
      <dgm:spPr/>
      <dgm:t>
        <a:bodyPr/>
        <a:lstStyle/>
        <a:p>
          <a:endParaRPr lang="en-US"/>
        </a:p>
      </dgm:t>
    </dgm:pt>
    <dgm:pt modelId="{80C3BC97-C1B0-4A7C-9BB0-6DB46A467A1A}">
      <dgm:prSet/>
      <dgm:spPr/>
      <dgm:t>
        <a:bodyPr/>
        <a:lstStyle/>
        <a:p>
          <a:r>
            <a:rPr lang="es-MX" b="0" i="0" baseline="0"/>
            <a:t>Crea una </a:t>
          </a:r>
          <a:r>
            <a:rPr lang="es-MX" b="1" i="0" baseline="0"/>
            <a:t>función </a:t>
          </a:r>
          <a:r>
            <a:rPr lang="es-MX" b="0" i="0" baseline="0"/>
            <a:t>(cantidad_pares) que </a:t>
          </a:r>
          <a:r>
            <a:rPr lang="es-MX" b="1" i="0" baseline="0"/>
            <a:t>cuente </a:t>
          </a:r>
          <a:r>
            <a:rPr lang="es-MX" b="0" i="0" baseline="0"/>
            <a:t>la cantidad de números pares que existen en una </a:t>
          </a:r>
          <a:r>
            <a:rPr lang="es-MX" b="1" i="0" baseline="0"/>
            <a:t>lista </a:t>
          </a:r>
          <a:r>
            <a:rPr lang="es-MX" b="0" i="0" baseline="0"/>
            <a:t>(lista_numeros), y </a:t>
          </a:r>
          <a:r>
            <a:rPr lang="es-MX" b="0" i="1" baseline="0"/>
            <a:t>devuelva </a:t>
          </a:r>
          <a:r>
            <a:rPr lang="es-MX" b="0" i="0" baseline="0"/>
            <a:t>el resultado de dicha </a:t>
          </a:r>
          <a:r>
            <a:rPr lang="es-MX" b="0" i="1" baseline="0"/>
            <a:t>cuenta</a:t>
          </a:r>
          <a:endParaRPr lang="en-US"/>
        </a:p>
      </dgm:t>
    </dgm:pt>
    <dgm:pt modelId="{90F9D9E5-A711-48C3-960B-35B2E1130377}" type="parTrans" cxnId="{3FA6AD9B-EF7D-4113-9F14-C5A248407C7D}">
      <dgm:prSet/>
      <dgm:spPr/>
      <dgm:t>
        <a:bodyPr/>
        <a:lstStyle/>
        <a:p>
          <a:endParaRPr lang="en-US"/>
        </a:p>
      </dgm:t>
    </dgm:pt>
    <dgm:pt modelId="{408113AD-5EA9-431C-BCD8-2920AF4BA4EF}" type="sibTrans" cxnId="{3FA6AD9B-EF7D-4113-9F14-C5A248407C7D}">
      <dgm:prSet/>
      <dgm:spPr/>
      <dgm:t>
        <a:bodyPr/>
        <a:lstStyle/>
        <a:p>
          <a:endParaRPr lang="en-US"/>
        </a:p>
      </dgm:t>
    </dgm:pt>
    <dgm:pt modelId="{1D52FBE0-1878-483E-9C35-D5BF9A8E0E0B}" type="pres">
      <dgm:prSet presAssocID="{8C1C054C-5C42-4304-B0A6-6ECDB5B80F65}" presName="linear" presStyleCnt="0">
        <dgm:presLayoutVars>
          <dgm:animLvl val="lvl"/>
          <dgm:resizeHandles val="exact"/>
        </dgm:presLayoutVars>
      </dgm:prSet>
      <dgm:spPr/>
    </dgm:pt>
    <dgm:pt modelId="{8911CB49-5CA8-433F-B6D5-77607F06ED32}" type="pres">
      <dgm:prSet presAssocID="{5E9E8608-F647-4E6D-81C7-4626C5E2E67E}" presName="parentText" presStyleLbl="node1" presStyleIdx="0" presStyleCnt="4">
        <dgm:presLayoutVars>
          <dgm:chMax val="0"/>
          <dgm:bulletEnabled val="1"/>
        </dgm:presLayoutVars>
      </dgm:prSet>
      <dgm:spPr/>
    </dgm:pt>
    <dgm:pt modelId="{91769C15-E73E-4A56-9565-FF09F747EAA0}" type="pres">
      <dgm:prSet presAssocID="{F674C2EF-E0BC-4445-89CF-D4330C8E4E8B}" presName="spacer" presStyleCnt="0"/>
      <dgm:spPr/>
    </dgm:pt>
    <dgm:pt modelId="{876AF1CF-C852-4979-AA3F-32018D7A539F}" type="pres">
      <dgm:prSet presAssocID="{F7626FA1-8049-4D10-A295-5BC466AF98CD}" presName="parentText" presStyleLbl="node1" presStyleIdx="1" presStyleCnt="4">
        <dgm:presLayoutVars>
          <dgm:chMax val="0"/>
          <dgm:bulletEnabled val="1"/>
        </dgm:presLayoutVars>
      </dgm:prSet>
      <dgm:spPr/>
    </dgm:pt>
    <dgm:pt modelId="{F9B23D64-B8B7-42C6-9F20-3ED1B7BD3544}" type="pres">
      <dgm:prSet presAssocID="{58FD9CFF-4505-4C3F-A7C9-C9DBA14F428B}" presName="spacer" presStyleCnt="0"/>
      <dgm:spPr/>
    </dgm:pt>
    <dgm:pt modelId="{66B627AA-9280-4F9E-BFB9-75C6437E9F92}" type="pres">
      <dgm:prSet presAssocID="{422016FE-3C1B-4F3B-B5E4-7C40ED4FF350}" presName="parentText" presStyleLbl="node1" presStyleIdx="2" presStyleCnt="4">
        <dgm:presLayoutVars>
          <dgm:chMax val="0"/>
          <dgm:bulletEnabled val="1"/>
        </dgm:presLayoutVars>
      </dgm:prSet>
      <dgm:spPr/>
    </dgm:pt>
    <dgm:pt modelId="{D60832F3-64E0-452F-A2E2-00DD38C9ED46}" type="pres">
      <dgm:prSet presAssocID="{F02C110A-0459-4E5D-9851-799D6D439F75}" presName="spacer" presStyleCnt="0"/>
      <dgm:spPr/>
    </dgm:pt>
    <dgm:pt modelId="{4A11618E-9F1F-47ED-81B7-203DF8FF11E4}" type="pres">
      <dgm:prSet presAssocID="{80C3BC97-C1B0-4A7C-9BB0-6DB46A467A1A}" presName="parentText" presStyleLbl="node1" presStyleIdx="3" presStyleCnt="4">
        <dgm:presLayoutVars>
          <dgm:chMax val="0"/>
          <dgm:bulletEnabled val="1"/>
        </dgm:presLayoutVars>
      </dgm:prSet>
      <dgm:spPr/>
    </dgm:pt>
  </dgm:ptLst>
  <dgm:cxnLst>
    <dgm:cxn modelId="{55FFD109-B110-41A4-B00B-FE50761AF075}" type="presOf" srcId="{F7626FA1-8049-4D10-A295-5BC466AF98CD}" destId="{876AF1CF-C852-4979-AA3F-32018D7A539F}" srcOrd="0" destOrd="0" presId="urn:microsoft.com/office/officeart/2005/8/layout/vList2"/>
    <dgm:cxn modelId="{84D1C822-8540-4C47-BC77-1C3487745CED}" srcId="{8C1C054C-5C42-4304-B0A6-6ECDB5B80F65}" destId="{F7626FA1-8049-4D10-A295-5BC466AF98CD}" srcOrd="1" destOrd="0" parTransId="{5EC05B12-CEF9-4EDB-BE4C-42BC186288EA}" sibTransId="{58FD9CFF-4505-4C3F-A7C9-C9DBA14F428B}"/>
    <dgm:cxn modelId="{F6696B3C-8AF8-4703-94D5-9AEF3A88EECB}" srcId="{8C1C054C-5C42-4304-B0A6-6ECDB5B80F65}" destId="{422016FE-3C1B-4F3B-B5E4-7C40ED4FF350}" srcOrd="2" destOrd="0" parTransId="{80937558-3344-43B4-A168-5D9F31266F51}" sibTransId="{F02C110A-0459-4E5D-9851-799D6D439F75}"/>
    <dgm:cxn modelId="{483DAF7F-02BF-416D-AA14-610AA51EF5ED}" type="presOf" srcId="{422016FE-3C1B-4F3B-B5E4-7C40ED4FF350}" destId="{66B627AA-9280-4F9E-BFB9-75C6437E9F92}" srcOrd="0" destOrd="0" presId="urn:microsoft.com/office/officeart/2005/8/layout/vList2"/>
    <dgm:cxn modelId="{F8DD9790-1206-4A59-932E-C8D43DFADB4F}" type="presOf" srcId="{80C3BC97-C1B0-4A7C-9BB0-6DB46A467A1A}" destId="{4A11618E-9F1F-47ED-81B7-203DF8FF11E4}" srcOrd="0" destOrd="0" presId="urn:microsoft.com/office/officeart/2005/8/layout/vList2"/>
    <dgm:cxn modelId="{3FA6AD9B-EF7D-4113-9F14-C5A248407C7D}" srcId="{8C1C054C-5C42-4304-B0A6-6ECDB5B80F65}" destId="{80C3BC97-C1B0-4A7C-9BB0-6DB46A467A1A}" srcOrd="3" destOrd="0" parTransId="{90F9D9E5-A711-48C3-960B-35B2E1130377}" sibTransId="{408113AD-5EA9-431C-BCD8-2920AF4BA4EF}"/>
    <dgm:cxn modelId="{21CEA4AB-DDDC-41D3-8638-6A4BC48E4B9E}" type="presOf" srcId="{5E9E8608-F647-4E6D-81C7-4626C5E2E67E}" destId="{8911CB49-5CA8-433F-B6D5-77607F06ED32}" srcOrd="0" destOrd="0" presId="urn:microsoft.com/office/officeart/2005/8/layout/vList2"/>
    <dgm:cxn modelId="{F17924E1-FF05-4676-A50F-93DED1B3A200}" type="presOf" srcId="{8C1C054C-5C42-4304-B0A6-6ECDB5B80F65}" destId="{1D52FBE0-1878-483E-9C35-D5BF9A8E0E0B}" srcOrd="0" destOrd="0" presId="urn:microsoft.com/office/officeart/2005/8/layout/vList2"/>
    <dgm:cxn modelId="{FFF588EE-3FAB-4E72-84FE-57A17D621251}" srcId="{8C1C054C-5C42-4304-B0A6-6ECDB5B80F65}" destId="{5E9E8608-F647-4E6D-81C7-4626C5E2E67E}" srcOrd="0" destOrd="0" parTransId="{725EC465-2567-463E-BA80-ACF6039F94D5}" sibTransId="{F674C2EF-E0BC-4445-89CF-D4330C8E4E8B}"/>
    <dgm:cxn modelId="{62DAC63A-CC62-40FB-A135-BF46AB8F25B9}" type="presParOf" srcId="{1D52FBE0-1878-483E-9C35-D5BF9A8E0E0B}" destId="{8911CB49-5CA8-433F-B6D5-77607F06ED32}" srcOrd="0" destOrd="0" presId="urn:microsoft.com/office/officeart/2005/8/layout/vList2"/>
    <dgm:cxn modelId="{E115DA70-2FF5-41FA-88A7-745B1300BA17}" type="presParOf" srcId="{1D52FBE0-1878-483E-9C35-D5BF9A8E0E0B}" destId="{91769C15-E73E-4A56-9565-FF09F747EAA0}" srcOrd="1" destOrd="0" presId="urn:microsoft.com/office/officeart/2005/8/layout/vList2"/>
    <dgm:cxn modelId="{E8244FA1-5650-4F48-87BA-EE27D4891F9C}" type="presParOf" srcId="{1D52FBE0-1878-483E-9C35-D5BF9A8E0E0B}" destId="{876AF1CF-C852-4979-AA3F-32018D7A539F}" srcOrd="2" destOrd="0" presId="urn:microsoft.com/office/officeart/2005/8/layout/vList2"/>
    <dgm:cxn modelId="{8D145801-F28F-4806-A2A8-886C7B7C1695}" type="presParOf" srcId="{1D52FBE0-1878-483E-9C35-D5BF9A8E0E0B}" destId="{F9B23D64-B8B7-42C6-9F20-3ED1B7BD3544}" srcOrd="3" destOrd="0" presId="urn:microsoft.com/office/officeart/2005/8/layout/vList2"/>
    <dgm:cxn modelId="{952F3DC7-8C5D-4DD1-9503-238959200A7E}" type="presParOf" srcId="{1D52FBE0-1878-483E-9C35-D5BF9A8E0E0B}" destId="{66B627AA-9280-4F9E-BFB9-75C6437E9F92}" srcOrd="4" destOrd="0" presId="urn:microsoft.com/office/officeart/2005/8/layout/vList2"/>
    <dgm:cxn modelId="{4077DF7A-DAAC-4E96-B5F3-1EF2A4E2565F}" type="presParOf" srcId="{1D52FBE0-1878-483E-9C35-D5BF9A8E0E0B}" destId="{D60832F3-64E0-452F-A2E2-00DD38C9ED46}" srcOrd="5" destOrd="0" presId="urn:microsoft.com/office/officeart/2005/8/layout/vList2"/>
    <dgm:cxn modelId="{802AB367-0D14-457F-90B1-5B9590DED237}" type="presParOf" srcId="{1D52FBE0-1878-483E-9C35-D5BF9A8E0E0B}" destId="{4A11618E-9F1F-47ED-81B7-203DF8FF11E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9BCEDE8-CC5D-408C-9A30-35D2226AF707}"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B68E63C1-1DE9-4EEC-8287-EF8622A5E938}">
      <dgm:prSet/>
      <dgm:spPr/>
      <dgm:t>
        <a:bodyPr/>
        <a:lstStyle/>
        <a:p>
          <a:r>
            <a:rPr lang="es-MX"/>
            <a:t>Los atributos son variables que pertenecen a la clase. Existen atributos de clase (compartidos por todas las instancias de la clase), y de instancia (que son distintos en cada instancia de la clase). </a:t>
          </a:r>
          <a:endParaRPr lang="en-US"/>
        </a:p>
      </dgm:t>
    </dgm:pt>
    <dgm:pt modelId="{06E15F5D-7D8B-4F66-B46A-35C5A581C16C}" type="parTrans" cxnId="{8DBF3A66-AE1C-48DB-8414-F84A5B35CA79}">
      <dgm:prSet/>
      <dgm:spPr/>
      <dgm:t>
        <a:bodyPr/>
        <a:lstStyle/>
        <a:p>
          <a:endParaRPr lang="en-US"/>
        </a:p>
      </dgm:t>
    </dgm:pt>
    <dgm:pt modelId="{A53BD84D-C123-4AE8-94D5-996524138B0E}" type="sibTrans" cxnId="{8DBF3A66-AE1C-48DB-8414-F84A5B35CA79}">
      <dgm:prSet/>
      <dgm:spPr/>
      <dgm:t>
        <a:bodyPr/>
        <a:lstStyle/>
        <a:p>
          <a:endParaRPr lang="en-US"/>
        </a:p>
      </dgm:t>
    </dgm:pt>
    <dgm:pt modelId="{D0621FC3-2F2A-4B56-A868-63C40EA11184}">
      <dgm:prSet/>
      <dgm:spPr/>
      <dgm:t>
        <a:bodyPr/>
        <a:lstStyle/>
        <a:p>
          <a:r>
            <a:rPr lang="es-MX"/>
            <a:t>Cada objeto creado a partir de la clase puede compartir determinadas características = atributos de clase (por ejemplo: cantidad de caras)</a:t>
          </a:r>
          <a:endParaRPr lang="en-US"/>
        </a:p>
      </dgm:t>
    </dgm:pt>
    <dgm:pt modelId="{00B12F2F-EA39-444F-9CD9-45CA2EC953F4}" type="parTrans" cxnId="{6C17E48E-6708-402C-A5B6-33CFDDC03E4A}">
      <dgm:prSet/>
      <dgm:spPr/>
      <dgm:t>
        <a:bodyPr/>
        <a:lstStyle/>
        <a:p>
          <a:endParaRPr lang="en-US"/>
        </a:p>
      </dgm:t>
    </dgm:pt>
    <dgm:pt modelId="{7CE5B813-D84B-480F-A76C-CEFFE04F6B5F}" type="sibTrans" cxnId="{6C17E48E-6708-402C-A5B6-33CFDDC03E4A}">
      <dgm:prSet/>
      <dgm:spPr/>
      <dgm:t>
        <a:bodyPr/>
        <a:lstStyle/>
        <a:p>
          <a:endParaRPr lang="en-US"/>
        </a:p>
      </dgm:t>
    </dgm:pt>
    <dgm:pt modelId="{BDCB349F-973A-4D37-9A78-D5843C0F8342}">
      <dgm:prSet/>
      <dgm:spPr/>
      <dgm:t>
        <a:bodyPr/>
        <a:lstStyle/>
        <a:p>
          <a:r>
            <a:rPr lang="es-MX"/>
            <a:t>Cada objeto creado a partir de la clase puede contener características específicas = atributos de instancia (por ejemplo: color, altura, ancho, largo...)</a:t>
          </a:r>
          <a:endParaRPr lang="en-US"/>
        </a:p>
      </dgm:t>
    </dgm:pt>
    <dgm:pt modelId="{F9E23988-1223-451A-BA2E-6AC9AF97C50C}" type="parTrans" cxnId="{E21113B5-2EB5-4601-948A-16FB643E04AA}">
      <dgm:prSet/>
      <dgm:spPr/>
      <dgm:t>
        <a:bodyPr/>
        <a:lstStyle/>
        <a:p>
          <a:endParaRPr lang="en-US"/>
        </a:p>
      </dgm:t>
    </dgm:pt>
    <dgm:pt modelId="{4B94EE48-492E-4920-93AE-9A51233C85F6}" type="sibTrans" cxnId="{E21113B5-2EB5-4601-948A-16FB643E04AA}">
      <dgm:prSet/>
      <dgm:spPr/>
      <dgm:t>
        <a:bodyPr/>
        <a:lstStyle/>
        <a:p>
          <a:endParaRPr lang="en-US"/>
        </a:p>
      </dgm:t>
    </dgm:pt>
    <dgm:pt modelId="{0393A9CA-9064-48FE-ABE3-45DE39FB6DD4}">
      <dgm:prSet/>
      <dgm:spPr/>
      <dgm:t>
        <a:bodyPr/>
        <a:lstStyle/>
        <a:p>
          <a:r>
            <a:rPr lang="es-MX"/>
            <a:t>Todas las clases tienen una función que se ejecuta al instanciarla, llamada __init__(), y que se utiliza para asignar valores a las propiedades del objeto que está siendo creado. self: representa a la instancia del objeto que se va a crear</a:t>
          </a:r>
          <a:endParaRPr lang="en-US"/>
        </a:p>
      </dgm:t>
    </dgm:pt>
    <dgm:pt modelId="{A65A6BA4-FF02-4F7B-A580-C4DE89138E85}" type="parTrans" cxnId="{89E1ACFF-587B-45A7-A458-F69618801B5B}">
      <dgm:prSet/>
      <dgm:spPr/>
      <dgm:t>
        <a:bodyPr/>
        <a:lstStyle/>
        <a:p>
          <a:endParaRPr lang="en-US"/>
        </a:p>
      </dgm:t>
    </dgm:pt>
    <dgm:pt modelId="{5A5F79C8-46DF-431A-9630-CF6D1DDEE9FA}" type="sibTrans" cxnId="{89E1ACFF-587B-45A7-A458-F69618801B5B}">
      <dgm:prSet/>
      <dgm:spPr/>
      <dgm:t>
        <a:bodyPr/>
        <a:lstStyle/>
        <a:p>
          <a:endParaRPr lang="en-US"/>
        </a:p>
      </dgm:t>
    </dgm:pt>
    <dgm:pt modelId="{A96DA6DA-CDE6-4591-B679-A2B5D2CB2696}" type="pres">
      <dgm:prSet presAssocID="{79BCEDE8-CC5D-408C-9A30-35D2226AF707}" presName="linear" presStyleCnt="0">
        <dgm:presLayoutVars>
          <dgm:animLvl val="lvl"/>
          <dgm:resizeHandles val="exact"/>
        </dgm:presLayoutVars>
      </dgm:prSet>
      <dgm:spPr/>
    </dgm:pt>
    <dgm:pt modelId="{93F27667-55D6-45C3-A0E2-ECA0CA8BF55A}" type="pres">
      <dgm:prSet presAssocID="{B68E63C1-1DE9-4EEC-8287-EF8622A5E938}" presName="parentText" presStyleLbl="node1" presStyleIdx="0" presStyleCnt="4">
        <dgm:presLayoutVars>
          <dgm:chMax val="0"/>
          <dgm:bulletEnabled val="1"/>
        </dgm:presLayoutVars>
      </dgm:prSet>
      <dgm:spPr/>
    </dgm:pt>
    <dgm:pt modelId="{68C06C42-9306-4E22-8E18-556C63C3980C}" type="pres">
      <dgm:prSet presAssocID="{A53BD84D-C123-4AE8-94D5-996524138B0E}" presName="spacer" presStyleCnt="0"/>
      <dgm:spPr/>
    </dgm:pt>
    <dgm:pt modelId="{EB055F76-228A-440A-A29F-29BA77D12F9C}" type="pres">
      <dgm:prSet presAssocID="{D0621FC3-2F2A-4B56-A868-63C40EA11184}" presName="parentText" presStyleLbl="node1" presStyleIdx="1" presStyleCnt="4">
        <dgm:presLayoutVars>
          <dgm:chMax val="0"/>
          <dgm:bulletEnabled val="1"/>
        </dgm:presLayoutVars>
      </dgm:prSet>
      <dgm:spPr/>
    </dgm:pt>
    <dgm:pt modelId="{D61DF7A6-C8F9-4664-B83B-A433B4FCCC44}" type="pres">
      <dgm:prSet presAssocID="{7CE5B813-D84B-480F-A76C-CEFFE04F6B5F}" presName="spacer" presStyleCnt="0"/>
      <dgm:spPr/>
    </dgm:pt>
    <dgm:pt modelId="{340F0635-5BB5-4635-A2F8-5A001261E449}" type="pres">
      <dgm:prSet presAssocID="{BDCB349F-973A-4D37-9A78-D5843C0F8342}" presName="parentText" presStyleLbl="node1" presStyleIdx="2" presStyleCnt="4">
        <dgm:presLayoutVars>
          <dgm:chMax val="0"/>
          <dgm:bulletEnabled val="1"/>
        </dgm:presLayoutVars>
      </dgm:prSet>
      <dgm:spPr/>
    </dgm:pt>
    <dgm:pt modelId="{345945A9-6684-4607-AE40-F7BB8F239BC3}" type="pres">
      <dgm:prSet presAssocID="{4B94EE48-492E-4920-93AE-9A51233C85F6}" presName="spacer" presStyleCnt="0"/>
      <dgm:spPr/>
    </dgm:pt>
    <dgm:pt modelId="{5BA112C6-05A6-49E8-935F-8B0CC2C9D943}" type="pres">
      <dgm:prSet presAssocID="{0393A9CA-9064-48FE-ABE3-45DE39FB6DD4}" presName="parentText" presStyleLbl="node1" presStyleIdx="3" presStyleCnt="4">
        <dgm:presLayoutVars>
          <dgm:chMax val="0"/>
          <dgm:bulletEnabled val="1"/>
        </dgm:presLayoutVars>
      </dgm:prSet>
      <dgm:spPr/>
    </dgm:pt>
  </dgm:ptLst>
  <dgm:cxnLst>
    <dgm:cxn modelId="{CAD76822-5EF2-4D21-8E4F-29A9DCF913F4}" type="presOf" srcId="{B68E63C1-1DE9-4EEC-8287-EF8622A5E938}" destId="{93F27667-55D6-45C3-A0E2-ECA0CA8BF55A}" srcOrd="0" destOrd="0" presId="urn:microsoft.com/office/officeart/2005/8/layout/vList2"/>
    <dgm:cxn modelId="{8DBF3A66-AE1C-48DB-8414-F84A5B35CA79}" srcId="{79BCEDE8-CC5D-408C-9A30-35D2226AF707}" destId="{B68E63C1-1DE9-4EEC-8287-EF8622A5E938}" srcOrd="0" destOrd="0" parTransId="{06E15F5D-7D8B-4F66-B46A-35C5A581C16C}" sibTransId="{A53BD84D-C123-4AE8-94D5-996524138B0E}"/>
    <dgm:cxn modelId="{A77B7466-5611-42A3-97D1-A0D4DE4FD8FE}" type="presOf" srcId="{0393A9CA-9064-48FE-ABE3-45DE39FB6DD4}" destId="{5BA112C6-05A6-49E8-935F-8B0CC2C9D943}" srcOrd="0" destOrd="0" presId="urn:microsoft.com/office/officeart/2005/8/layout/vList2"/>
    <dgm:cxn modelId="{754D7147-DE4D-494E-A0E4-EC8440B4089F}" type="presOf" srcId="{BDCB349F-973A-4D37-9A78-D5843C0F8342}" destId="{340F0635-5BB5-4635-A2F8-5A001261E449}" srcOrd="0" destOrd="0" presId="urn:microsoft.com/office/officeart/2005/8/layout/vList2"/>
    <dgm:cxn modelId="{62D87549-2652-482A-BD88-0428947F7076}" type="presOf" srcId="{D0621FC3-2F2A-4B56-A868-63C40EA11184}" destId="{EB055F76-228A-440A-A29F-29BA77D12F9C}" srcOrd="0" destOrd="0" presId="urn:microsoft.com/office/officeart/2005/8/layout/vList2"/>
    <dgm:cxn modelId="{6C17E48E-6708-402C-A5B6-33CFDDC03E4A}" srcId="{79BCEDE8-CC5D-408C-9A30-35D2226AF707}" destId="{D0621FC3-2F2A-4B56-A868-63C40EA11184}" srcOrd="1" destOrd="0" parTransId="{00B12F2F-EA39-444F-9CD9-45CA2EC953F4}" sibTransId="{7CE5B813-D84B-480F-A76C-CEFFE04F6B5F}"/>
    <dgm:cxn modelId="{E21113B5-2EB5-4601-948A-16FB643E04AA}" srcId="{79BCEDE8-CC5D-408C-9A30-35D2226AF707}" destId="{BDCB349F-973A-4D37-9A78-D5843C0F8342}" srcOrd="2" destOrd="0" parTransId="{F9E23988-1223-451A-BA2E-6AC9AF97C50C}" sibTransId="{4B94EE48-492E-4920-93AE-9A51233C85F6}"/>
    <dgm:cxn modelId="{8B1241FB-DAE3-4A0E-AB78-641478FB4CFB}" type="presOf" srcId="{79BCEDE8-CC5D-408C-9A30-35D2226AF707}" destId="{A96DA6DA-CDE6-4591-B679-A2B5D2CB2696}" srcOrd="0" destOrd="0" presId="urn:microsoft.com/office/officeart/2005/8/layout/vList2"/>
    <dgm:cxn modelId="{89E1ACFF-587B-45A7-A458-F69618801B5B}" srcId="{79BCEDE8-CC5D-408C-9A30-35D2226AF707}" destId="{0393A9CA-9064-48FE-ABE3-45DE39FB6DD4}" srcOrd="3" destOrd="0" parTransId="{A65A6BA4-FF02-4F7B-A580-C4DE89138E85}" sibTransId="{5A5F79C8-46DF-431A-9630-CF6D1DDEE9FA}"/>
    <dgm:cxn modelId="{88092DEC-42B9-4960-9A47-CB8647BEAB2B}" type="presParOf" srcId="{A96DA6DA-CDE6-4591-B679-A2B5D2CB2696}" destId="{93F27667-55D6-45C3-A0E2-ECA0CA8BF55A}" srcOrd="0" destOrd="0" presId="urn:microsoft.com/office/officeart/2005/8/layout/vList2"/>
    <dgm:cxn modelId="{14162F76-8475-4DC0-82C3-2AF517F736F0}" type="presParOf" srcId="{A96DA6DA-CDE6-4591-B679-A2B5D2CB2696}" destId="{68C06C42-9306-4E22-8E18-556C63C3980C}" srcOrd="1" destOrd="0" presId="urn:microsoft.com/office/officeart/2005/8/layout/vList2"/>
    <dgm:cxn modelId="{F5BD2FC1-7B4D-4060-9360-55F30ADCBCD0}" type="presParOf" srcId="{A96DA6DA-CDE6-4591-B679-A2B5D2CB2696}" destId="{EB055F76-228A-440A-A29F-29BA77D12F9C}" srcOrd="2" destOrd="0" presId="urn:microsoft.com/office/officeart/2005/8/layout/vList2"/>
    <dgm:cxn modelId="{5030459C-E0A5-4777-A604-EDEEF3AD5801}" type="presParOf" srcId="{A96DA6DA-CDE6-4591-B679-A2B5D2CB2696}" destId="{D61DF7A6-C8F9-4664-B83B-A433B4FCCC44}" srcOrd="3" destOrd="0" presId="urn:microsoft.com/office/officeart/2005/8/layout/vList2"/>
    <dgm:cxn modelId="{5E6C0514-F4EA-47C9-94B3-2CD3BE477B84}" type="presParOf" srcId="{A96DA6DA-CDE6-4591-B679-A2B5D2CB2696}" destId="{340F0635-5BB5-4635-A2F8-5A001261E449}" srcOrd="4" destOrd="0" presId="urn:microsoft.com/office/officeart/2005/8/layout/vList2"/>
    <dgm:cxn modelId="{72F0F1EB-5432-4572-BA7E-9BE695AAA83E}" type="presParOf" srcId="{A96DA6DA-CDE6-4591-B679-A2B5D2CB2696}" destId="{345945A9-6684-4607-AE40-F7BB8F239BC3}" srcOrd="5" destOrd="0" presId="urn:microsoft.com/office/officeart/2005/8/layout/vList2"/>
    <dgm:cxn modelId="{F541A67A-6CDE-45F6-B970-382FDED3700A}" type="presParOf" srcId="{A96DA6DA-CDE6-4591-B679-A2B5D2CB2696}" destId="{5BA112C6-05A6-49E8-935F-8B0CC2C9D94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A0C2475-C6ED-4DA6-85D0-B3E12A7CD7AC}" type="doc">
      <dgm:prSet loTypeId="urn:microsoft.com/office/officeart/2008/layout/LinedList" loCatId="list" qsTypeId="urn:microsoft.com/office/officeart/2005/8/quickstyle/simple4" qsCatId="simple" csTypeId="urn:microsoft.com/office/officeart/2005/8/colors/colorful1" csCatId="colorful"/>
      <dgm:spPr/>
      <dgm:t>
        <a:bodyPr/>
        <a:lstStyle/>
        <a:p>
          <a:endParaRPr lang="en-US"/>
        </a:p>
      </dgm:t>
    </dgm:pt>
    <dgm:pt modelId="{B31BA968-5814-4CC6-8565-2DC2A77190BC}">
      <dgm:prSet/>
      <dgm:spPr/>
      <dgm:t>
        <a:bodyPr/>
        <a:lstStyle/>
        <a:p>
          <a:r>
            <a:rPr lang="es-MX" b="0" i="0" baseline="0"/>
            <a:t>Crea una clase llamada Casa, y asígnale atributos: color, cantidad_pisos.</a:t>
          </a:r>
          <a:endParaRPr lang="en-US"/>
        </a:p>
      </dgm:t>
    </dgm:pt>
    <dgm:pt modelId="{B14003E6-930F-4D46-AF76-F7DA968ED526}" type="parTrans" cxnId="{1F0B2A57-3DE9-4A7B-8398-703DAB83A58E}">
      <dgm:prSet/>
      <dgm:spPr/>
      <dgm:t>
        <a:bodyPr/>
        <a:lstStyle/>
        <a:p>
          <a:endParaRPr lang="en-US"/>
        </a:p>
      </dgm:t>
    </dgm:pt>
    <dgm:pt modelId="{141C1705-29B8-4EDF-922A-7AD64FB6D128}" type="sibTrans" cxnId="{1F0B2A57-3DE9-4A7B-8398-703DAB83A58E}">
      <dgm:prSet/>
      <dgm:spPr/>
      <dgm:t>
        <a:bodyPr/>
        <a:lstStyle/>
        <a:p>
          <a:endParaRPr lang="en-US"/>
        </a:p>
      </dgm:t>
    </dgm:pt>
    <dgm:pt modelId="{A351BE27-7003-40EC-97FE-549150A47150}">
      <dgm:prSet/>
      <dgm:spPr/>
      <dgm:t>
        <a:bodyPr/>
        <a:lstStyle/>
        <a:p>
          <a:r>
            <a:rPr lang="es-MX" b="0" i="0" baseline="0"/>
            <a:t>Crea una instancia de Casa, llamada casa_blanca, de color "blanco" y cantidad de pisos igual a 4.</a:t>
          </a:r>
          <a:endParaRPr lang="en-US"/>
        </a:p>
      </dgm:t>
    </dgm:pt>
    <dgm:pt modelId="{44043226-63EA-44C7-8063-20B82DD4BC3A}" type="parTrans" cxnId="{D1EA3497-5BD3-4B8C-A2B1-6AD51FB6A567}">
      <dgm:prSet/>
      <dgm:spPr/>
      <dgm:t>
        <a:bodyPr/>
        <a:lstStyle/>
        <a:p>
          <a:endParaRPr lang="en-US"/>
        </a:p>
      </dgm:t>
    </dgm:pt>
    <dgm:pt modelId="{766F8DA9-E67E-4AD5-BEDB-EEC3ECD56D3C}" type="sibTrans" cxnId="{D1EA3497-5BD3-4B8C-A2B1-6AD51FB6A567}">
      <dgm:prSet/>
      <dgm:spPr/>
      <dgm:t>
        <a:bodyPr/>
        <a:lstStyle/>
        <a:p>
          <a:endParaRPr lang="en-US"/>
        </a:p>
      </dgm:t>
    </dgm:pt>
    <dgm:pt modelId="{DC50F489-DDE7-4257-A051-02D491528907}">
      <dgm:prSet/>
      <dgm:spPr/>
      <dgm:t>
        <a:bodyPr/>
        <a:lstStyle/>
        <a:p>
          <a:r>
            <a:rPr lang="es-MX" b="0" i="0" baseline="0"/>
            <a:t>Crea una clase llamada Cubo, y asígnale el atributo de clase:</a:t>
          </a:r>
          <a:endParaRPr lang="en-US"/>
        </a:p>
      </dgm:t>
    </dgm:pt>
    <dgm:pt modelId="{543ECE39-F2D5-4F04-886B-8B9A3E7D6DB7}" type="parTrans" cxnId="{B6EE3633-C9E4-4852-A0E4-7157EC6404C2}">
      <dgm:prSet/>
      <dgm:spPr/>
      <dgm:t>
        <a:bodyPr/>
        <a:lstStyle/>
        <a:p>
          <a:endParaRPr lang="en-US"/>
        </a:p>
      </dgm:t>
    </dgm:pt>
    <dgm:pt modelId="{1E4571B7-EA72-42E4-BBB4-525C60BC8141}" type="sibTrans" cxnId="{B6EE3633-C9E4-4852-A0E4-7157EC6404C2}">
      <dgm:prSet/>
      <dgm:spPr/>
      <dgm:t>
        <a:bodyPr/>
        <a:lstStyle/>
        <a:p>
          <a:endParaRPr lang="en-US"/>
        </a:p>
      </dgm:t>
    </dgm:pt>
    <dgm:pt modelId="{F988A459-AAC2-414D-8BF1-D74F15491A46}">
      <dgm:prSet/>
      <dgm:spPr/>
      <dgm:t>
        <a:bodyPr/>
        <a:lstStyle/>
        <a:p>
          <a:r>
            <a:rPr lang="es-MX" b="0" i="0" baseline="0"/>
            <a:t>caras = 6</a:t>
          </a:r>
          <a:endParaRPr lang="en-US"/>
        </a:p>
      </dgm:t>
    </dgm:pt>
    <dgm:pt modelId="{D18F9A18-0E34-4E54-929F-10AA522EFF25}" type="parTrans" cxnId="{4CFC4D72-315D-45B8-AEB7-28BCE4C5C285}">
      <dgm:prSet/>
      <dgm:spPr/>
      <dgm:t>
        <a:bodyPr/>
        <a:lstStyle/>
        <a:p>
          <a:endParaRPr lang="en-US"/>
        </a:p>
      </dgm:t>
    </dgm:pt>
    <dgm:pt modelId="{795CCFDA-EDFB-4DEA-906C-EFAC5593496A}" type="sibTrans" cxnId="{4CFC4D72-315D-45B8-AEB7-28BCE4C5C285}">
      <dgm:prSet/>
      <dgm:spPr/>
      <dgm:t>
        <a:bodyPr/>
        <a:lstStyle/>
        <a:p>
          <a:endParaRPr lang="en-US"/>
        </a:p>
      </dgm:t>
    </dgm:pt>
    <dgm:pt modelId="{305F28FD-67FB-4E8F-8957-309FF869D19C}">
      <dgm:prSet/>
      <dgm:spPr/>
      <dgm:t>
        <a:bodyPr/>
        <a:lstStyle/>
        <a:p>
          <a:r>
            <a:rPr lang="es-MX" b="0" i="0" baseline="0"/>
            <a:t>y el atributo de instancia:</a:t>
          </a:r>
          <a:endParaRPr lang="en-US"/>
        </a:p>
      </dgm:t>
    </dgm:pt>
    <dgm:pt modelId="{CD3A425C-92B5-4AA8-A6BC-DD7E84436354}" type="parTrans" cxnId="{301FC23F-BA6A-47B3-AEB9-DAF52E3A370E}">
      <dgm:prSet/>
      <dgm:spPr/>
      <dgm:t>
        <a:bodyPr/>
        <a:lstStyle/>
        <a:p>
          <a:endParaRPr lang="en-US"/>
        </a:p>
      </dgm:t>
    </dgm:pt>
    <dgm:pt modelId="{961AFB00-D0CD-4CF7-A585-31A1974B651A}" type="sibTrans" cxnId="{301FC23F-BA6A-47B3-AEB9-DAF52E3A370E}">
      <dgm:prSet/>
      <dgm:spPr/>
      <dgm:t>
        <a:bodyPr/>
        <a:lstStyle/>
        <a:p>
          <a:endParaRPr lang="en-US"/>
        </a:p>
      </dgm:t>
    </dgm:pt>
    <dgm:pt modelId="{400C81C5-AE07-44D3-A1C6-8CA892D7202C}">
      <dgm:prSet/>
      <dgm:spPr/>
      <dgm:t>
        <a:bodyPr/>
        <a:lstStyle/>
        <a:p>
          <a:r>
            <a:rPr lang="es-MX" b="0" i="0" baseline="0"/>
            <a:t>color</a:t>
          </a:r>
          <a:endParaRPr lang="en-US"/>
        </a:p>
      </dgm:t>
    </dgm:pt>
    <dgm:pt modelId="{3FE60FD2-632E-4B2E-A7D4-D73102751189}" type="parTrans" cxnId="{1B096D6F-AC44-4148-A299-0B1B054AE757}">
      <dgm:prSet/>
      <dgm:spPr/>
      <dgm:t>
        <a:bodyPr/>
        <a:lstStyle/>
        <a:p>
          <a:endParaRPr lang="en-US"/>
        </a:p>
      </dgm:t>
    </dgm:pt>
    <dgm:pt modelId="{E09D9E56-F0D9-40E9-8953-2CB4981EC4F4}" type="sibTrans" cxnId="{1B096D6F-AC44-4148-A299-0B1B054AE757}">
      <dgm:prSet/>
      <dgm:spPr/>
      <dgm:t>
        <a:bodyPr/>
        <a:lstStyle/>
        <a:p>
          <a:endParaRPr lang="en-US"/>
        </a:p>
      </dgm:t>
    </dgm:pt>
    <dgm:pt modelId="{F169D357-D1AA-4FE6-975E-6B4465FA38DA}">
      <dgm:prSet/>
      <dgm:spPr/>
      <dgm:t>
        <a:bodyPr/>
        <a:lstStyle/>
        <a:p>
          <a:r>
            <a:rPr lang="es-MX" b="0" i="0" baseline="0"/>
            <a:t>Crea una instancia cubo_rojo, de dicho color.</a:t>
          </a:r>
          <a:endParaRPr lang="en-US"/>
        </a:p>
      </dgm:t>
    </dgm:pt>
    <dgm:pt modelId="{368DEB3B-B082-44F9-91FF-8B23D534A375}" type="parTrans" cxnId="{EA165F07-D714-4D71-83FF-304225A703D9}">
      <dgm:prSet/>
      <dgm:spPr/>
      <dgm:t>
        <a:bodyPr/>
        <a:lstStyle/>
        <a:p>
          <a:endParaRPr lang="en-US"/>
        </a:p>
      </dgm:t>
    </dgm:pt>
    <dgm:pt modelId="{10FBF180-437C-469F-BFAE-F8124C3C12A3}" type="sibTrans" cxnId="{EA165F07-D714-4D71-83FF-304225A703D9}">
      <dgm:prSet/>
      <dgm:spPr/>
      <dgm:t>
        <a:bodyPr/>
        <a:lstStyle/>
        <a:p>
          <a:endParaRPr lang="en-US"/>
        </a:p>
      </dgm:t>
    </dgm:pt>
    <dgm:pt modelId="{33E0CC4C-1FE4-4807-A0E8-70DB3A301882}">
      <dgm:prSet/>
      <dgm:spPr/>
      <dgm:t>
        <a:bodyPr/>
        <a:lstStyle/>
        <a:p>
          <a:r>
            <a:rPr lang="es-MX" b="0" i="0" baseline="0"/>
            <a:t>Crea una clase llamada Personaje, y asígnale el siguiente atributo de clase:</a:t>
          </a:r>
          <a:endParaRPr lang="en-US"/>
        </a:p>
      </dgm:t>
    </dgm:pt>
    <dgm:pt modelId="{60618E6D-2AB2-43C2-981F-C4320867068D}" type="parTrans" cxnId="{82291105-6B33-422A-AA3F-1A81627982DA}">
      <dgm:prSet/>
      <dgm:spPr/>
      <dgm:t>
        <a:bodyPr/>
        <a:lstStyle/>
        <a:p>
          <a:endParaRPr lang="en-US"/>
        </a:p>
      </dgm:t>
    </dgm:pt>
    <dgm:pt modelId="{86C25335-7627-4109-8BB2-EEC152804180}" type="sibTrans" cxnId="{82291105-6B33-422A-AA3F-1A81627982DA}">
      <dgm:prSet/>
      <dgm:spPr/>
      <dgm:t>
        <a:bodyPr/>
        <a:lstStyle/>
        <a:p>
          <a:endParaRPr lang="en-US"/>
        </a:p>
      </dgm:t>
    </dgm:pt>
    <dgm:pt modelId="{7C5F2CE0-1255-4455-A0BE-2DCEE18BAEDE}">
      <dgm:prSet/>
      <dgm:spPr/>
      <dgm:t>
        <a:bodyPr/>
        <a:lstStyle/>
        <a:p>
          <a:r>
            <a:rPr lang="es-MX" b="0" i="0" baseline="0"/>
            <a:t>real = False</a:t>
          </a:r>
          <a:endParaRPr lang="en-US"/>
        </a:p>
      </dgm:t>
    </dgm:pt>
    <dgm:pt modelId="{F980066A-F71C-4E9F-AE72-5AFDC714F95B}" type="parTrans" cxnId="{448C3F12-8DA7-4386-9BD1-32CBEA521006}">
      <dgm:prSet/>
      <dgm:spPr/>
      <dgm:t>
        <a:bodyPr/>
        <a:lstStyle/>
        <a:p>
          <a:endParaRPr lang="en-US"/>
        </a:p>
      </dgm:t>
    </dgm:pt>
    <dgm:pt modelId="{A3ED7D7C-13C4-49CE-8350-C3CCDD46207A}" type="sibTrans" cxnId="{448C3F12-8DA7-4386-9BD1-32CBEA521006}">
      <dgm:prSet/>
      <dgm:spPr/>
      <dgm:t>
        <a:bodyPr/>
        <a:lstStyle/>
        <a:p>
          <a:endParaRPr lang="en-US"/>
        </a:p>
      </dgm:t>
    </dgm:pt>
    <dgm:pt modelId="{F91112E0-3CBA-4FD8-97FC-80383D899F1B}">
      <dgm:prSet/>
      <dgm:spPr/>
      <dgm:t>
        <a:bodyPr/>
        <a:lstStyle/>
        <a:p>
          <a:r>
            <a:rPr lang="es-MX" b="0" i="0" baseline="0"/>
            <a:t>Crea una instancia llamada harry_potter con los siguientes atributos de instancia:</a:t>
          </a:r>
          <a:endParaRPr lang="en-US"/>
        </a:p>
      </dgm:t>
    </dgm:pt>
    <dgm:pt modelId="{F3580ABE-F858-4BB6-9E00-86C1D5AB819B}" type="parTrans" cxnId="{853B4052-17D9-469F-99D2-FB446A7C8A6B}">
      <dgm:prSet/>
      <dgm:spPr/>
      <dgm:t>
        <a:bodyPr/>
        <a:lstStyle/>
        <a:p>
          <a:endParaRPr lang="en-US"/>
        </a:p>
      </dgm:t>
    </dgm:pt>
    <dgm:pt modelId="{66DC57BE-36FD-4E5D-ACB3-3DCA7AA1260C}" type="sibTrans" cxnId="{853B4052-17D9-469F-99D2-FB446A7C8A6B}">
      <dgm:prSet/>
      <dgm:spPr/>
      <dgm:t>
        <a:bodyPr/>
        <a:lstStyle/>
        <a:p>
          <a:endParaRPr lang="en-US"/>
        </a:p>
      </dgm:t>
    </dgm:pt>
    <dgm:pt modelId="{31C5671C-15A0-45DA-821D-B0C7D03725BD}">
      <dgm:prSet/>
      <dgm:spPr/>
      <dgm:t>
        <a:bodyPr/>
        <a:lstStyle/>
        <a:p>
          <a:r>
            <a:rPr lang="es-MX" b="0" i="0" baseline="0"/>
            <a:t>especie = "Humano"</a:t>
          </a:r>
          <a:endParaRPr lang="en-US"/>
        </a:p>
      </dgm:t>
    </dgm:pt>
    <dgm:pt modelId="{DAE4B91A-F2F6-4CA6-89EB-A0A0271BC1D7}" type="parTrans" cxnId="{135C2D34-D827-4A8F-9D6C-41953E064C52}">
      <dgm:prSet/>
      <dgm:spPr/>
      <dgm:t>
        <a:bodyPr/>
        <a:lstStyle/>
        <a:p>
          <a:endParaRPr lang="en-US"/>
        </a:p>
      </dgm:t>
    </dgm:pt>
    <dgm:pt modelId="{27EE1BA3-FEBB-4D97-993C-8389C3CF065D}" type="sibTrans" cxnId="{135C2D34-D827-4A8F-9D6C-41953E064C52}">
      <dgm:prSet/>
      <dgm:spPr/>
      <dgm:t>
        <a:bodyPr/>
        <a:lstStyle/>
        <a:p>
          <a:endParaRPr lang="en-US"/>
        </a:p>
      </dgm:t>
    </dgm:pt>
    <dgm:pt modelId="{FA6B25A5-ED90-4A2D-BAF5-618674BE8AFE}">
      <dgm:prSet/>
      <dgm:spPr/>
      <dgm:t>
        <a:bodyPr/>
        <a:lstStyle/>
        <a:p>
          <a:r>
            <a:rPr lang="es-MX" b="0" i="0" baseline="0"/>
            <a:t>magico = True</a:t>
          </a:r>
          <a:endParaRPr lang="en-US"/>
        </a:p>
      </dgm:t>
    </dgm:pt>
    <dgm:pt modelId="{2F5B9A9E-5BF5-4F26-9C23-C41904C63FB5}" type="parTrans" cxnId="{2012EB46-CAAE-4DB0-AD31-1003EC3A5B2A}">
      <dgm:prSet/>
      <dgm:spPr/>
      <dgm:t>
        <a:bodyPr/>
        <a:lstStyle/>
        <a:p>
          <a:endParaRPr lang="en-US"/>
        </a:p>
      </dgm:t>
    </dgm:pt>
    <dgm:pt modelId="{9956399C-911F-446A-833A-2B36C1B41F03}" type="sibTrans" cxnId="{2012EB46-CAAE-4DB0-AD31-1003EC3A5B2A}">
      <dgm:prSet/>
      <dgm:spPr/>
      <dgm:t>
        <a:bodyPr/>
        <a:lstStyle/>
        <a:p>
          <a:endParaRPr lang="en-US"/>
        </a:p>
      </dgm:t>
    </dgm:pt>
    <dgm:pt modelId="{345C481C-C62A-47E5-B95D-0349D61C6E74}">
      <dgm:prSet/>
      <dgm:spPr/>
      <dgm:t>
        <a:bodyPr/>
        <a:lstStyle/>
        <a:p>
          <a:r>
            <a:rPr lang="es-MX" b="0" i="0" baseline="0"/>
            <a:t>edad = 17</a:t>
          </a:r>
          <a:endParaRPr lang="en-US"/>
        </a:p>
      </dgm:t>
    </dgm:pt>
    <dgm:pt modelId="{D73FFFC4-7761-475B-9785-4283D49472D0}" type="parTrans" cxnId="{D5E0C96A-D9DA-40BC-ACC0-8399BD3BF430}">
      <dgm:prSet/>
      <dgm:spPr/>
      <dgm:t>
        <a:bodyPr/>
        <a:lstStyle/>
        <a:p>
          <a:endParaRPr lang="en-US"/>
        </a:p>
      </dgm:t>
    </dgm:pt>
    <dgm:pt modelId="{4B3534B6-B51D-4CAC-9DFA-C6DB175CC4E8}" type="sibTrans" cxnId="{D5E0C96A-D9DA-40BC-ACC0-8399BD3BF430}">
      <dgm:prSet/>
      <dgm:spPr/>
      <dgm:t>
        <a:bodyPr/>
        <a:lstStyle/>
        <a:p>
          <a:endParaRPr lang="en-US"/>
        </a:p>
      </dgm:t>
    </dgm:pt>
    <dgm:pt modelId="{48240AF0-DBE2-47B7-A21E-1FDDB7AC11E0}" type="pres">
      <dgm:prSet presAssocID="{1A0C2475-C6ED-4DA6-85D0-B3E12A7CD7AC}" presName="vert0" presStyleCnt="0">
        <dgm:presLayoutVars>
          <dgm:dir/>
          <dgm:animOne val="branch"/>
          <dgm:animLvl val="lvl"/>
        </dgm:presLayoutVars>
      </dgm:prSet>
      <dgm:spPr/>
    </dgm:pt>
    <dgm:pt modelId="{E01F9126-647B-49CB-A923-6146B77D6FA5}" type="pres">
      <dgm:prSet presAssocID="{B31BA968-5814-4CC6-8565-2DC2A77190BC}" presName="thickLine" presStyleLbl="alignNode1" presStyleIdx="0" presStyleCnt="13"/>
      <dgm:spPr/>
    </dgm:pt>
    <dgm:pt modelId="{BAB7DAE0-31CC-4EA9-B023-1C3E284C2A5B}" type="pres">
      <dgm:prSet presAssocID="{B31BA968-5814-4CC6-8565-2DC2A77190BC}" presName="horz1" presStyleCnt="0"/>
      <dgm:spPr/>
    </dgm:pt>
    <dgm:pt modelId="{68500FB9-6828-4D06-9005-3DA26ACFC75A}" type="pres">
      <dgm:prSet presAssocID="{B31BA968-5814-4CC6-8565-2DC2A77190BC}" presName="tx1" presStyleLbl="revTx" presStyleIdx="0" presStyleCnt="13"/>
      <dgm:spPr/>
    </dgm:pt>
    <dgm:pt modelId="{FE0ED3E4-86DC-46D3-9F2A-C2B6BDF7739C}" type="pres">
      <dgm:prSet presAssocID="{B31BA968-5814-4CC6-8565-2DC2A77190BC}" presName="vert1" presStyleCnt="0"/>
      <dgm:spPr/>
    </dgm:pt>
    <dgm:pt modelId="{05878A40-6118-4759-9FC4-4FD59CA4E4D6}" type="pres">
      <dgm:prSet presAssocID="{A351BE27-7003-40EC-97FE-549150A47150}" presName="thickLine" presStyleLbl="alignNode1" presStyleIdx="1" presStyleCnt="13"/>
      <dgm:spPr/>
    </dgm:pt>
    <dgm:pt modelId="{6FE6FC47-F907-49D9-A86B-39A26CA5C25B}" type="pres">
      <dgm:prSet presAssocID="{A351BE27-7003-40EC-97FE-549150A47150}" presName="horz1" presStyleCnt="0"/>
      <dgm:spPr/>
    </dgm:pt>
    <dgm:pt modelId="{57247890-C34C-44CE-A6B3-838D3DCB38FB}" type="pres">
      <dgm:prSet presAssocID="{A351BE27-7003-40EC-97FE-549150A47150}" presName="tx1" presStyleLbl="revTx" presStyleIdx="1" presStyleCnt="13"/>
      <dgm:spPr/>
    </dgm:pt>
    <dgm:pt modelId="{84E6BF4B-597F-4471-9AC1-DE3B6B9AE1D9}" type="pres">
      <dgm:prSet presAssocID="{A351BE27-7003-40EC-97FE-549150A47150}" presName="vert1" presStyleCnt="0"/>
      <dgm:spPr/>
    </dgm:pt>
    <dgm:pt modelId="{C4ED4497-E933-4828-8A26-225A4C369816}" type="pres">
      <dgm:prSet presAssocID="{DC50F489-DDE7-4257-A051-02D491528907}" presName="thickLine" presStyleLbl="alignNode1" presStyleIdx="2" presStyleCnt="13"/>
      <dgm:spPr/>
    </dgm:pt>
    <dgm:pt modelId="{C2D328B0-8520-4077-8284-A632FDEC7A7A}" type="pres">
      <dgm:prSet presAssocID="{DC50F489-DDE7-4257-A051-02D491528907}" presName="horz1" presStyleCnt="0"/>
      <dgm:spPr/>
    </dgm:pt>
    <dgm:pt modelId="{EC8A986C-F994-425C-9C43-A575DBE2FE4E}" type="pres">
      <dgm:prSet presAssocID="{DC50F489-DDE7-4257-A051-02D491528907}" presName="tx1" presStyleLbl="revTx" presStyleIdx="2" presStyleCnt="13"/>
      <dgm:spPr/>
    </dgm:pt>
    <dgm:pt modelId="{45CF56D8-5B18-411E-A49F-EA3873B1A3ED}" type="pres">
      <dgm:prSet presAssocID="{DC50F489-DDE7-4257-A051-02D491528907}" presName="vert1" presStyleCnt="0"/>
      <dgm:spPr/>
    </dgm:pt>
    <dgm:pt modelId="{33408BBB-04E6-498F-9D6D-9CC8AF4293BA}" type="pres">
      <dgm:prSet presAssocID="{F988A459-AAC2-414D-8BF1-D74F15491A46}" presName="thickLine" presStyleLbl="alignNode1" presStyleIdx="3" presStyleCnt="13"/>
      <dgm:spPr/>
    </dgm:pt>
    <dgm:pt modelId="{EE112683-A7C2-419D-A4A4-1DE075D119C7}" type="pres">
      <dgm:prSet presAssocID="{F988A459-AAC2-414D-8BF1-D74F15491A46}" presName="horz1" presStyleCnt="0"/>
      <dgm:spPr/>
    </dgm:pt>
    <dgm:pt modelId="{FEAEBE5D-2F4B-4ECD-8D9C-A64818921280}" type="pres">
      <dgm:prSet presAssocID="{F988A459-AAC2-414D-8BF1-D74F15491A46}" presName="tx1" presStyleLbl="revTx" presStyleIdx="3" presStyleCnt="13"/>
      <dgm:spPr/>
    </dgm:pt>
    <dgm:pt modelId="{64CDBCFA-8647-4369-9B17-25E26989F578}" type="pres">
      <dgm:prSet presAssocID="{F988A459-AAC2-414D-8BF1-D74F15491A46}" presName="vert1" presStyleCnt="0"/>
      <dgm:spPr/>
    </dgm:pt>
    <dgm:pt modelId="{3E6ABCA9-83AE-4B0F-9BB5-F9A06BD16E67}" type="pres">
      <dgm:prSet presAssocID="{305F28FD-67FB-4E8F-8957-309FF869D19C}" presName="thickLine" presStyleLbl="alignNode1" presStyleIdx="4" presStyleCnt="13"/>
      <dgm:spPr/>
    </dgm:pt>
    <dgm:pt modelId="{0604A5F3-9099-4C50-BFB1-BDA020475701}" type="pres">
      <dgm:prSet presAssocID="{305F28FD-67FB-4E8F-8957-309FF869D19C}" presName="horz1" presStyleCnt="0"/>
      <dgm:spPr/>
    </dgm:pt>
    <dgm:pt modelId="{B15E94E7-5943-4222-9243-4C919E3CF1F5}" type="pres">
      <dgm:prSet presAssocID="{305F28FD-67FB-4E8F-8957-309FF869D19C}" presName="tx1" presStyleLbl="revTx" presStyleIdx="4" presStyleCnt="13"/>
      <dgm:spPr/>
    </dgm:pt>
    <dgm:pt modelId="{02C93CDA-D81A-4ED5-ACE0-C88FCAA3E46C}" type="pres">
      <dgm:prSet presAssocID="{305F28FD-67FB-4E8F-8957-309FF869D19C}" presName="vert1" presStyleCnt="0"/>
      <dgm:spPr/>
    </dgm:pt>
    <dgm:pt modelId="{963430EE-B01A-48EA-B46B-6DDA89A947CD}" type="pres">
      <dgm:prSet presAssocID="{400C81C5-AE07-44D3-A1C6-8CA892D7202C}" presName="thickLine" presStyleLbl="alignNode1" presStyleIdx="5" presStyleCnt="13"/>
      <dgm:spPr/>
    </dgm:pt>
    <dgm:pt modelId="{311340E3-BFDC-49EB-A363-10A40FEB25AA}" type="pres">
      <dgm:prSet presAssocID="{400C81C5-AE07-44D3-A1C6-8CA892D7202C}" presName="horz1" presStyleCnt="0"/>
      <dgm:spPr/>
    </dgm:pt>
    <dgm:pt modelId="{83E4D822-1689-4616-86B4-A79C631CF795}" type="pres">
      <dgm:prSet presAssocID="{400C81C5-AE07-44D3-A1C6-8CA892D7202C}" presName="tx1" presStyleLbl="revTx" presStyleIdx="5" presStyleCnt="13"/>
      <dgm:spPr/>
    </dgm:pt>
    <dgm:pt modelId="{5EA7D4EE-D56B-46F4-9420-B3872C0F0D60}" type="pres">
      <dgm:prSet presAssocID="{400C81C5-AE07-44D3-A1C6-8CA892D7202C}" presName="vert1" presStyleCnt="0"/>
      <dgm:spPr/>
    </dgm:pt>
    <dgm:pt modelId="{0C8DEFE9-E150-4085-BE90-71D3014DBD29}" type="pres">
      <dgm:prSet presAssocID="{F169D357-D1AA-4FE6-975E-6B4465FA38DA}" presName="thickLine" presStyleLbl="alignNode1" presStyleIdx="6" presStyleCnt="13"/>
      <dgm:spPr/>
    </dgm:pt>
    <dgm:pt modelId="{2483EF40-D08B-4333-A701-6072A6FD7112}" type="pres">
      <dgm:prSet presAssocID="{F169D357-D1AA-4FE6-975E-6B4465FA38DA}" presName="horz1" presStyleCnt="0"/>
      <dgm:spPr/>
    </dgm:pt>
    <dgm:pt modelId="{71C2EAE0-54FA-4086-8A40-60A76A54CEC3}" type="pres">
      <dgm:prSet presAssocID="{F169D357-D1AA-4FE6-975E-6B4465FA38DA}" presName="tx1" presStyleLbl="revTx" presStyleIdx="6" presStyleCnt="13"/>
      <dgm:spPr/>
    </dgm:pt>
    <dgm:pt modelId="{C3D09D14-093D-49F1-9CFD-CC4107B7A1EC}" type="pres">
      <dgm:prSet presAssocID="{F169D357-D1AA-4FE6-975E-6B4465FA38DA}" presName="vert1" presStyleCnt="0"/>
      <dgm:spPr/>
    </dgm:pt>
    <dgm:pt modelId="{9259D1D3-2FCA-4BD4-9FC0-B3E1A37DFFDA}" type="pres">
      <dgm:prSet presAssocID="{33E0CC4C-1FE4-4807-A0E8-70DB3A301882}" presName="thickLine" presStyleLbl="alignNode1" presStyleIdx="7" presStyleCnt="13"/>
      <dgm:spPr/>
    </dgm:pt>
    <dgm:pt modelId="{C45E7845-8899-4E05-B0B8-417CC5A4E913}" type="pres">
      <dgm:prSet presAssocID="{33E0CC4C-1FE4-4807-A0E8-70DB3A301882}" presName="horz1" presStyleCnt="0"/>
      <dgm:spPr/>
    </dgm:pt>
    <dgm:pt modelId="{44B1E78B-9FF9-4320-852B-DED156FB3675}" type="pres">
      <dgm:prSet presAssocID="{33E0CC4C-1FE4-4807-A0E8-70DB3A301882}" presName="tx1" presStyleLbl="revTx" presStyleIdx="7" presStyleCnt="13"/>
      <dgm:spPr/>
    </dgm:pt>
    <dgm:pt modelId="{580A2043-AE61-4BF4-864A-0414F7D86869}" type="pres">
      <dgm:prSet presAssocID="{33E0CC4C-1FE4-4807-A0E8-70DB3A301882}" presName="vert1" presStyleCnt="0"/>
      <dgm:spPr/>
    </dgm:pt>
    <dgm:pt modelId="{5DAEC630-DBD3-4EF8-8785-42F8E24948FD}" type="pres">
      <dgm:prSet presAssocID="{7C5F2CE0-1255-4455-A0BE-2DCEE18BAEDE}" presName="thickLine" presStyleLbl="alignNode1" presStyleIdx="8" presStyleCnt="13"/>
      <dgm:spPr/>
    </dgm:pt>
    <dgm:pt modelId="{7D9DE100-A8E8-4E7E-BDE0-29D167B52F3C}" type="pres">
      <dgm:prSet presAssocID="{7C5F2CE0-1255-4455-A0BE-2DCEE18BAEDE}" presName="horz1" presStyleCnt="0"/>
      <dgm:spPr/>
    </dgm:pt>
    <dgm:pt modelId="{65294F8D-51D3-445F-83BE-B62832D07E32}" type="pres">
      <dgm:prSet presAssocID="{7C5F2CE0-1255-4455-A0BE-2DCEE18BAEDE}" presName="tx1" presStyleLbl="revTx" presStyleIdx="8" presStyleCnt="13"/>
      <dgm:spPr/>
    </dgm:pt>
    <dgm:pt modelId="{44FA2A16-74F1-4A17-AC3C-E09998D13944}" type="pres">
      <dgm:prSet presAssocID="{7C5F2CE0-1255-4455-A0BE-2DCEE18BAEDE}" presName="vert1" presStyleCnt="0"/>
      <dgm:spPr/>
    </dgm:pt>
    <dgm:pt modelId="{F7B0DC81-B1EA-41D7-BE04-50840F9C35B8}" type="pres">
      <dgm:prSet presAssocID="{F91112E0-3CBA-4FD8-97FC-80383D899F1B}" presName="thickLine" presStyleLbl="alignNode1" presStyleIdx="9" presStyleCnt="13"/>
      <dgm:spPr/>
    </dgm:pt>
    <dgm:pt modelId="{008D7A92-7C91-4B5F-9A81-351A794C59F1}" type="pres">
      <dgm:prSet presAssocID="{F91112E0-3CBA-4FD8-97FC-80383D899F1B}" presName="horz1" presStyleCnt="0"/>
      <dgm:spPr/>
    </dgm:pt>
    <dgm:pt modelId="{8B967A37-B50A-4037-AC26-45CE9B9A493A}" type="pres">
      <dgm:prSet presAssocID="{F91112E0-3CBA-4FD8-97FC-80383D899F1B}" presName="tx1" presStyleLbl="revTx" presStyleIdx="9" presStyleCnt="13"/>
      <dgm:spPr/>
    </dgm:pt>
    <dgm:pt modelId="{533A24A5-817D-4216-B862-490A0667A4C8}" type="pres">
      <dgm:prSet presAssocID="{F91112E0-3CBA-4FD8-97FC-80383D899F1B}" presName="vert1" presStyleCnt="0"/>
      <dgm:spPr/>
    </dgm:pt>
    <dgm:pt modelId="{5A17CA86-AA5C-46C7-A3EE-67307A991E73}" type="pres">
      <dgm:prSet presAssocID="{31C5671C-15A0-45DA-821D-B0C7D03725BD}" presName="thickLine" presStyleLbl="alignNode1" presStyleIdx="10" presStyleCnt="13"/>
      <dgm:spPr/>
    </dgm:pt>
    <dgm:pt modelId="{03B41946-39A8-460F-A0BF-2A55C89349F9}" type="pres">
      <dgm:prSet presAssocID="{31C5671C-15A0-45DA-821D-B0C7D03725BD}" presName="horz1" presStyleCnt="0"/>
      <dgm:spPr/>
    </dgm:pt>
    <dgm:pt modelId="{3B5DB2D3-75BF-4841-AAB0-AC74FA413A92}" type="pres">
      <dgm:prSet presAssocID="{31C5671C-15A0-45DA-821D-B0C7D03725BD}" presName="tx1" presStyleLbl="revTx" presStyleIdx="10" presStyleCnt="13"/>
      <dgm:spPr/>
    </dgm:pt>
    <dgm:pt modelId="{FDB17300-5B49-48BE-AB75-BFA4BE5AA720}" type="pres">
      <dgm:prSet presAssocID="{31C5671C-15A0-45DA-821D-B0C7D03725BD}" presName="vert1" presStyleCnt="0"/>
      <dgm:spPr/>
    </dgm:pt>
    <dgm:pt modelId="{A1693C6F-835B-44E6-B2F7-2A87AD740AFA}" type="pres">
      <dgm:prSet presAssocID="{FA6B25A5-ED90-4A2D-BAF5-618674BE8AFE}" presName="thickLine" presStyleLbl="alignNode1" presStyleIdx="11" presStyleCnt="13"/>
      <dgm:spPr/>
    </dgm:pt>
    <dgm:pt modelId="{5093EB8B-1CE3-416A-BA20-86175CCA08C1}" type="pres">
      <dgm:prSet presAssocID="{FA6B25A5-ED90-4A2D-BAF5-618674BE8AFE}" presName="horz1" presStyleCnt="0"/>
      <dgm:spPr/>
    </dgm:pt>
    <dgm:pt modelId="{0F4FB6B3-AAFB-4B1B-8990-DC9411A3874E}" type="pres">
      <dgm:prSet presAssocID="{FA6B25A5-ED90-4A2D-BAF5-618674BE8AFE}" presName="tx1" presStyleLbl="revTx" presStyleIdx="11" presStyleCnt="13"/>
      <dgm:spPr/>
    </dgm:pt>
    <dgm:pt modelId="{2C48F436-4E3A-4FE8-B139-1DBF1D67AA2F}" type="pres">
      <dgm:prSet presAssocID="{FA6B25A5-ED90-4A2D-BAF5-618674BE8AFE}" presName="vert1" presStyleCnt="0"/>
      <dgm:spPr/>
    </dgm:pt>
    <dgm:pt modelId="{3D402745-9E5F-4609-B519-EBC7259FC4CF}" type="pres">
      <dgm:prSet presAssocID="{345C481C-C62A-47E5-B95D-0349D61C6E74}" presName="thickLine" presStyleLbl="alignNode1" presStyleIdx="12" presStyleCnt="13"/>
      <dgm:spPr/>
    </dgm:pt>
    <dgm:pt modelId="{3CB49291-D897-404A-8270-34553BA9D31C}" type="pres">
      <dgm:prSet presAssocID="{345C481C-C62A-47E5-B95D-0349D61C6E74}" presName="horz1" presStyleCnt="0"/>
      <dgm:spPr/>
    </dgm:pt>
    <dgm:pt modelId="{EFD2FF62-B5CB-4422-85E5-613A23FE1EF3}" type="pres">
      <dgm:prSet presAssocID="{345C481C-C62A-47E5-B95D-0349D61C6E74}" presName="tx1" presStyleLbl="revTx" presStyleIdx="12" presStyleCnt="13"/>
      <dgm:spPr/>
    </dgm:pt>
    <dgm:pt modelId="{5DC93DB4-4978-48BA-A061-22E4E5D754FD}" type="pres">
      <dgm:prSet presAssocID="{345C481C-C62A-47E5-B95D-0349D61C6E74}" presName="vert1" presStyleCnt="0"/>
      <dgm:spPr/>
    </dgm:pt>
  </dgm:ptLst>
  <dgm:cxnLst>
    <dgm:cxn modelId="{82291105-6B33-422A-AA3F-1A81627982DA}" srcId="{1A0C2475-C6ED-4DA6-85D0-B3E12A7CD7AC}" destId="{33E0CC4C-1FE4-4807-A0E8-70DB3A301882}" srcOrd="7" destOrd="0" parTransId="{60618E6D-2AB2-43C2-981F-C4320867068D}" sibTransId="{86C25335-7627-4109-8BB2-EEC152804180}"/>
    <dgm:cxn modelId="{EA165F07-D714-4D71-83FF-304225A703D9}" srcId="{1A0C2475-C6ED-4DA6-85D0-B3E12A7CD7AC}" destId="{F169D357-D1AA-4FE6-975E-6B4465FA38DA}" srcOrd="6" destOrd="0" parTransId="{368DEB3B-B082-44F9-91FF-8B23D534A375}" sibTransId="{10FBF180-437C-469F-BFAE-F8124C3C12A3}"/>
    <dgm:cxn modelId="{99C85E09-2A81-4AAF-833A-993FB0CAD99E}" type="presOf" srcId="{33E0CC4C-1FE4-4807-A0E8-70DB3A301882}" destId="{44B1E78B-9FF9-4320-852B-DED156FB3675}" srcOrd="0" destOrd="0" presId="urn:microsoft.com/office/officeart/2008/layout/LinedList"/>
    <dgm:cxn modelId="{F8BE8B0A-5A1C-4473-8254-EA5EEE4E0771}" type="presOf" srcId="{DC50F489-DDE7-4257-A051-02D491528907}" destId="{EC8A986C-F994-425C-9C43-A575DBE2FE4E}" srcOrd="0" destOrd="0" presId="urn:microsoft.com/office/officeart/2008/layout/LinedList"/>
    <dgm:cxn modelId="{448C3F12-8DA7-4386-9BD1-32CBEA521006}" srcId="{1A0C2475-C6ED-4DA6-85D0-B3E12A7CD7AC}" destId="{7C5F2CE0-1255-4455-A0BE-2DCEE18BAEDE}" srcOrd="8" destOrd="0" parTransId="{F980066A-F71C-4E9F-AE72-5AFDC714F95B}" sibTransId="{A3ED7D7C-13C4-49CE-8350-C3CCDD46207A}"/>
    <dgm:cxn modelId="{A107E314-0C14-44DE-88C0-E004C7072622}" type="presOf" srcId="{1A0C2475-C6ED-4DA6-85D0-B3E12A7CD7AC}" destId="{48240AF0-DBE2-47B7-A21E-1FDDB7AC11E0}" srcOrd="0" destOrd="0" presId="urn:microsoft.com/office/officeart/2008/layout/LinedList"/>
    <dgm:cxn modelId="{B6EE3633-C9E4-4852-A0E4-7157EC6404C2}" srcId="{1A0C2475-C6ED-4DA6-85D0-B3E12A7CD7AC}" destId="{DC50F489-DDE7-4257-A051-02D491528907}" srcOrd="2" destOrd="0" parTransId="{543ECE39-F2D5-4F04-886B-8B9A3E7D6DB7}" sibTransId="{1E4571B7-EA72-42E4-BBB4-525C60BC8141}"/>
    <dgm:cxn modelId="{135C2D34-D827-4A8F-9D6C-41953E064C52}" srcId="{1A0C2475-C6ED-4DA6-85D0-B3E12A7CD7AC}" destId="{31C5671C-15A0-45DA-821D-B0C7D03725BD}" srcOrd="10" destOrd="0" parTransId="{DAE4B91A-F2F6-4CA6-89EB-A0A0271BC1D7}" sibTransId="{27EE1BA3-FEBB-4D97-993C-8389C3CF065D}"/>
    <dgm:cxn modelId="{E8BC6D35-99FE-474F-B24A-83C814F79517}" type="presOf" srcId="{F169D357-D1AA-4FE6-975E-6B4465FA38DA}" destId="{71C2EAE0-54FA-4086-8A40-60A76A54CEC3}" srcOrd="0" destOrd="0" presId="urn:microsoft.com/office/officeart/2008/layout/LinedList"/>
    <dgm:cxn modelId="{7E5FF63E-6A10-4C50-9F54-894FE874A884}" type="presOf" srcId="{F91112E0-3CBA-4FD8-97FC-80383D899F1B}" destId="{8B967A37-B50A-4037-AC26-45CE9B9A493A}" srcOrd="0" destOrd="0" presId="urn:microsoft.com/office/officeart/2008/layout/LinedList"/>
    <dgm:cxn modelId="{301FC23F-BA6A-47B3-AEB9-DAF52E3A370E}" srcId="{1A0C2475-C6ED-4DA6-85D0-B3E12A7CD7AC}" destId="{305F28FD-67FB-4E8F-8957-309FF869D19C}" srcOrd="4" destOrd="0" parTransId="{CD3A425C-92B5-4AA8-A6BC-DD7E84436354}" sibTransId="{961AFB00-D0CD-4CF7-A585-31A1974B651A}"/>
    <dgm:cxn modelId="{83F17C44-B004-4BF1-BF19-BF6FFA3CD841}" type="presOf" srcId="{7C5F2CE0-1255-4455-A0BE-2DCEE18BAEDE}" destId="{65294F8D-51D3-445F-83BE-B62832D07E32}" srcOrd="0" destOrd="0" presId="urn:microsoft.com/office/officeart/2008/layout/LinedList"/>
    <dgm:cxn modelId="{2012EB46-CAAE-4DB0-AD31-1003EC3A5B2A}" srcId="{1A0C2475-C6ED-4DA6-85D0-B3E12A7CD7AC}" destId="{FA6B25A5-ED90-4A2D-BAF5-618674BE8AFE}" srcOrd="11" destOrd="0" parTransId="{2F5B9A9E-5BF5-4F26-9C23-C41904C63FB5}" sibTransId="{9956399C-911F-446A-833A-2B36C1B41F03}"/>
    <dgm:cxn modelId="{6E90B168-4148-4156-A276-1AA0F6A93A75}" type="presOf" srcId="{F988A459-AAC2-414D-8BF1-D74F15491A46}" destId="{FEAEBE5D-2F4B-4ECD-8D9C-A64818921280}" srcOrd="0" destOrd="0" presId="urn:microsoft.com/office/officeart/2008/layout/LinedList"/>
    <dgm:cxn modelId="{D5E0C96A-D9DA-40BC-ACC0-8399BD3BF430}" srcId="{1A0C2475-C6ED-4DA6-85D0-B3E12A7CD7AC}" destId="{345C481C-C62A-47E5-B95D-0349D61C6E74}" srcOrd="12" destOrd="0" parTransId="{D73FFFC4-7761-475B-9785-4283D49472D0}" sibTransId="{4B3534B6-B51D-4CAC-9DFA-C6DB175CC4E8}"/>
    <dgm:cxn modelId="{C105454F-38A8-4F30-9553-8CF4AD448C8F}" type="presOf" srcId="{400C81C5-AE07-44D3-A1C6-8CA892D7202C}" destId="{83E4D822-1689-4616-86B4-A79C631CF795}" srcOrd="0" destOrd="0" presId="urn:microsoft.com/office/officeart/2008/layout/LinedList"/>
    <dgm:cxn modelId="{1B096D6F-AC44-4148-A299-0B1B054AE757}" srcId="{1A0C2475-C6ED-4DA6-85D0-B3E12A7CD7AC}" destId="{400C81C5-AE07-44D3-A1C6-8CA892D7202C}" srcOrd="5" destOrd="0" parTransId="{3FE60FD2-632E-4B2E-A7D4-D73102751189}" sibTransId="{E09D9E56-F0D9-40E9-8953-2CB4981EC4F4}"/>
    <dgm:cxn modelId="{853B4052-17D9-469F-99D2-FB446A7C8A6B}" srcId="{1A0C2475-C6ED-4DA6-85D0-B3E12A7CD7AC}" destId="{F91112E0-3CBA-4FD8-97FC-80383D899F1B}" srcOrd="9" destOrd="0" parTransId="{F3580ABE-F858-4BB6-9E00-86C1D5AB819B}" sibTransId="{66DC57BE-36FD-4E5D-ACB3-3DCA7AA1260C}"/>
    <dgm:cxn modelId="{4CFC4D72-315D-45B8-AEB7-28BCE4C5C285}" srcId="{1A0C2475-C6ED-4DA6-85D0-B3E12A7CD7AC}" destId="{F988A459-AAC2-414D-8BF1-D74F15491A46}" srcOrd="3" destOrd="0" parTransId="{D18F9A18-0E34-4E54-929F-10AA522EFF25}" sibTransId="{795CCFDA-EDFB-4DEA-906C-EFAC5593496A}"/>
    <dgm:cxn modelId="{1F0B2A57-3DE9-4A7B-8398-703DAB83A58E}" srcId="{1A0C2475-C6ED-4DA6-85D0-B3E12A7CD7AC}" destId="{B31BA968-5814-4CC6-8565-2DC2A77190BC}" srcOrd="0" destOrd="0" parTransId="{B14003E6-930F-4D46-AF76-F7DA968ED526}" sibTransId="{141C1705-29B8-4EDF-922A-7AD64FB6D128}"/>
    <dgm:cxn modelId="{D1EA3497-5BD3-4B8C-A2B1-6AD51FB6A567}" srcId="{1A0C2475-C6ED-4DA6-85D0-B3E12A7CD7AC}" destId="{A351BE27-7003-40EC-97FE-549150A47150}" srcOrd="1" destOrd="0" parTransId="{44043226-63EA-44C7-8063-20B82DD4BC3A}" sibTransId="{766F8DA9-E67E-4AD5-BEDB-EEC3ECD56D3C}"/>
    <dgm:cxn modelId="{89974BA8-55DE-4256-ADB8-9859481B2054}" type="presOf" srcId="{31C5671C-15A0-45DA-821D-B0C7D03725BD}" destId="{3B5DB2D3-75BF-4841-AAB0-AC74FA413A92}" srcOrd="0" destOrd="0" presId="urn:microsoft.com/office/officeart/2008/layout/LinedList"/>
    <dgm:cxn modelId="{685927B1-6A7D-4239-BCC9-8C1CD8F5EE78}" type="presOf" srcId="{B31BA968-5814-4CC6-8565-2DC2A77190BC}" destId="{68500FB9-6828-4D06-9005-3DA26ACFC75A}" srcOrd="0" destOrd="0" presId="urn:microsoft.com/office/officeart/2008/layout/LinedList"/>
    <dgm:cxn modelId="{7D9D1BC1-40F4-4E8D-991F-369E5F6D1022}" type="presOf" srcId="{A351BE27-7003-40EC-97FE-549150A47150}" destId="{57247890-C34C-44CE-A6B3-838D3DCB38FB}" srcOrd="0" destOrd="0" presId="urn:microsoft.com/office/officeart/2008/layout/LinedList"/>
    <dgm:cxn modelId="{B7597EC5-7763-47D0-8B2C-920D4C60FFD8}" type="presOf" srcId="{345C481C-C62A-47E5-B95D-0349D61C6E74}" destId="{EFD2FF62-B5CB-4422-85E5-613A23FE1EF3}" srcOrd="0" destOrd="0" presId="urn:microsoft.com/office/officeart/2008/layout/LinedList"/>
    <dgm:cxn modelId="{CF0B3ECF-4ABA-4A4F-8D37-09899E60A02F}" type="presOf" srcId="{305F28FD-67FB-4E8F-8957-309FF869D19C}" destId="{B15E94E7-5943-4222-9243-4C919E3CF1F5}" srcOrd="0" destOrd="0" presId="urn:microsoft.com/office/officeart/2008/layout/LinedList"/>
    <dgm:cxn modelId="{DF044FFB-9620-4F6F-9D9E-E9490B26F53F}" type="presOf" srcId="{FA6B25A5-ED90-4A2D-BAF5-618674BE8AFE}" destId="{0F4FB6B3-AAFB-4B1B-8990-DC9411A3874E}" srcOrd="0" destOrd="0" presId="urn:microsoft.com/office/officeart/2008/layout/LinedList"/>
    <dgm:cxn modelId="{B38E0158-7B0B-48FC-9A29-759F91A22A5E}" type="presParOf" srcId="{48240AF0-DBE2-47B7-A21E-1FDDB7AC11E0}" destId="{E01F9126-647B-49CB-A923-6146B77D6FA5}" srcOrd="0" destOrd="0" presId="urn:microsoft.com/office/officeart/2008/layout/LinedList"/>
    <dgm:cxn modelId="{77CA1791-799A-407C-81A9-4233E7D99E42}" type="presParOf" srcId="{48240AF0-DBE2-47B7-A21E-1FDDB7AC11E0}" destId="{BAB7DAE0-31CC-4EA9-B023-1C3E284C2A5B}" srcOrd="1" destOrd="0" presId="urn:microsoft.com/office/officeart/2008/layout/LinedList"/>
    <dgm:cxn modelId="{1281624C-B552-431F-95B4-C4C7657F871C}" type="presParOf" srcId="{BAB7DAE0-31CC-4EA9-B023-1C3E284C2A5B}" destId="{68500FB9-6828-4D06-9005-3DA26ACFC75A}" srcOrd="0" destOrd="0" presId="urn:microsoft.com/office/officeart/2008/layout/LinedList"/>
    <dgm:cxn modelId="{BCACEA1D-59D1-469D-98F1-BD6F167D86A2}" type="presParOf" srcId="{BAB7DAE0-31CC-4EA9-B023-1C3E284C2A5B}" destId="{FE0ED3E4-86DC-46D3-9F2A-C2B6BDF7739C}" srcOrd="1" destOrd="0" presId="urn:microsoft.com/office/officeart/2008/layout/LinedList"/>
    <dgm:cxn modelId="{4D8485F9-A715-4DF7-924C-D61EAEC2FDB7}" type="presParOf" srcId="{48240AF0-DBE2-47B7-A21E-1FDDB7AC11E0}" destId="{05878A40-6118-4759-9FC4-4FD59CA4E4D6}" srcOrd="2" destOrd="0" presId="urn:microsoft.com/office/officeart/2008/layout/LinedList"/>
    <dgm:cxn modelId="{06E11A3A-21DC-4A1A-A6EC-4B82034BCD7C}" type="presParOf" srcId="{48240AF0-DBE2-47B7-A21E-1FDDB7AC11E0}" destId="{6FE6FC47-F907-49D9-A86B-39A26CA5C25B}" srcOrd="3" destOrd="0" presId="urn:microsoft.com/office/officeart/2008/layout/LinedList"/>
    <dgm:cxn modelId="{6B528269-7895-4EAA-A267-98FA3FCB2E1D}" type="presParOf" srcId="{6FE6FC47-F907-49D9-A86B-39A26CA5C25B}" destId="{57247890-C34C-44CE-A6B3-838D3DCB38FB}" srcOrd="0" destOrd="0" presId="urn:microsoft.com/office/officeart/2008/layout/LinedList"/>
    <dgm:cxn modelId="{7EF8A58B-BD1C-4FD2-A0A5-36D326A7987E}" type="presParOf" srcId="{6FE6FC47-F907-49D9-A86B-39A26CA5C25B}" destId="{84E6BF4B-597F-4471-9AC1-DE3B6B9AE1D9}" srcOrd="1" destOrd="0" presId="urn:microsoft.com/office/officeart/2008/layout/LinedList"/>
    <dgm:cxn modelId="{6211C37A-317E-4E01-8B00-FC1E2FAEFA3A}" type="presParOf" srcId="{48240AF0-DBE2-47B7-A21E-1FDDB7AC11E0}" destId="{C4ED4497-E933-4828-8A26-225A4C369816}" srcOrd="4" destOrd="0" presId="urn:microsoft.com/office/officeart/2008/layout/LinedList"/>
    <dgm:cxn modelId="{FF68B0E8-D547-4D58-8159-8AF7425166D4}" type="presParOf" srcId="{48240AF0-DBE2-47B7-A21E-1FDDB7AC11E0}" destId="{C2D328B0-8520-4077-8284-A632FDEC7A7A}" srcOrd="5" destOrd="0" presId="urn:microsoft.com/office/officeart/2008/layout/LinedList"/>
    <dgm:cxn modelId="{FD8B1F3C-5965-4F94-B523-9DE2F3AB8FF7}" type="presParOf" srcId="{C2D328B0-8520-4077-8284-A632FDEC7A7A}" destId="{EC8A986C-F994-425C-9C43-A575DBE2FE4E}" srcOrd="0" destOrd="0" presId="urn:microsoft.com/office/officeart/2008/layout/LinedList"/>
    <dgm:cxn modelId="{5C390BD4-B5BC-4BB8-9F2B-2C84939081EB}" type="presParOf" srcId="{C2D328B0-8520-4077-8284-A632FDEC7A7A}" destId="{45CF56D8-5B18-411E-A49F-EA3873B1A3ED}" srcOrd="1" destOrd="0" presId="urn:microsoft.com/office/officeart/2008/layout/LinedList"/>
    <dgm:cxn modelId="{6D1AA095-CF16-48DE-BE5F-D9580E961EC1}" type="presParOf" srcId="{48240AF0-DBE2-47B7-A21E-1FDDB7AC11E0}" destId="{33408BBB-04E6-498F-9D6D-9CC8AF4293BA}" srcOrd="6" destOrd="0" presId="urn:microsoft.com/office/officeart/2008/layout/LinedList"/>
    <dgm:cxn modelId="{D319D587-21B4-4545-98DB-C529CEED41D8}" type="presParOf" srcId="{48240AF0-DBE2-47B7-A21E-1FDDB7AC11E0}" destId="{EE112683-A7C2-419D-A4A4-1DE075D119C7}" srcOrd="7" destOrd="0" presId="urn:microsoft.com/office/officeart/2008/layout/LinedList"/>
    <dgm:cxn modelId="{BF4B8D53-F474-4FB4-9230-52C785240628}" type="presParOf" srcId="{EE112683-A7C2-419D-A4A4-1DE075D119C7}" destId="{FEAEBE5D-2F4B-4ECD-8D9C-A64818921280}" srcOrd="0" destOrd="0" presId="urn:microsoft.com/office/officeart/2008/layout/LinedList"/>
    <dgm:cxn modelId="{9B5D0A3E-E538-4DF0-8F20-46165AF8A735}" type="presParOf" srcId="{EE112683-A7C2-419D-A4A4-1DE075D119C7}" destId="{64CDBCFA-8647-4369-9B17-25E26989F578}" srcOrd="1" destOrd="0" presId="urn:microsoft.com/office/officeart/2008/layout/LinedList"/>
    <dgm:cxn modelId="{C6876319-B5B4-464F-8B9D-F253704FED47}" type="presParOf" srcId="{48240AF0-DBE2-47B7-A21E-1FDDB7AC11E0}" destId="{3E6ABCA9-83AE-4B0F-9BB5-F9A06BD16E67}" srcOrd="8" destOrd="0" presId="urn:microsoft.com/office/officeart/2008/layout/LinedList"/>
    <dgm:cxn modelId="{D107E84A-CDE8-4970-8606-E652907C5876}" type="presParOf" srcId="{48240AF0-DBE2-47B7-A21E-1FDDB7AC11E0}" destId="{0604A5F3-9099-4C50-BFB1-BDA020475701}" srcOrd="9" destOrd="0" presId="urn:microsoft.com/office/officeart/2008/layout/LinedList"/>
    <dgm:cxn modelId="{2E2D62FA-7BD8-4DC8-9CA8-DF4AE0CA8DCA}" type="presParOf" srcId="{0604A5F3-9099-4C50-BFB1-BDA020475701}" destId="{B15E94E7-5943-4222-9243-4C919E3CF1F5}" srcOrd="0" destOrd="0" presId="urn:microsoft.com/office/officeart/2008/layout/LinedList"/>
    <dgm:cxn modelId="{AC2CB346-E176-4466-8D65-8E5368ABE903}" type="presParOf" srcId="{0604A5F3-9099-4C50-BFB1-BDA020475701}" destId="{02C93CDA-D81A-4ED5-ACE0-C88FCAA3E46C}" srcOrd="1" destOrd="0" presId="urn:microsoft.com/office/officeart/2008/layout/LinedList"/>
    <dgm:cxn modelId="{3E796875-7068-44D8-8AF9-87617A16D31D}" type="presParOf" srcId="{48240AF0-DBE2-47B7-A21E-1FDDB7AC11E0}" destId="{963430EE-B01A-48EA-B46B-6DDA89A947CD}" srcOrd="10" destOrd="0" presId="urn:microsoft.com/office/officeart/2008/layout/LinedList"/>
    <dgm:cxn modelId="{96EA838C-B500-4963-BEC3-D474C5889D7B}" type="presParOf" srcId="{48240AF0-DBE2-47B7-A21E-1FDDB7AC11E0}" destId="{311340E3-BFDC-49EB-A363-10A40FEB25AA}" srcOrd="11" destOrd="0" presId="urn:microsoft.com/office/officeart/2008/layout/LinedList"/>
    <dgm:cxn modelId="{3786F5F3-EF7A-41D0-BC72-4D8C2063869B}" type="presParOf" srcId="{311340E3-BFDC-49EB-A363-10A40FEB25AA}" destId="{83E4D822-1689-4616-86B4-A79C631CF795}" srcOrd="0" destOrd="0" presId="urn:microsoft.com/office/officeart/2008/layout/LinedList"/>
    <dgm:cxn modelId="{25AF59A8-F41A-461E-9C08-A95CCBC6826D}" type="presParOf" srcId="{311340E3-BFDC-49EB-A363-10A40FEB25AA}" destId="{5EA7D4EE-D56B-46F4-9420-B3872C0F0D60}" srcOrd="1" destOrd="0" presId="urn:microsoft.com/office/officeart/2008/layout/LinedList"/>
    <dgm:cxn modelId="{CD1A6F3F-93B5-4EF2-A0B1-354C618746A0}" type="presParOf" srcId="{48240AF0-DBE2-47B7-A21E-1FDDB7AC11E0}" destId="{0C8DEFE9-E150-4085-BE90-71D3014DBD29}" srcOrd="12" destOrd="0" presId="urn:microsoft.com/office/officeart/2008/layout/LinedList"/>
    <dgm:cxn modelId="{53DDD3F8-1B0E-49D7-A0EF-1863FAF8B308}" type="presParOf" srcId="{48240AF0-DBE2-47B7-A21E-1FDDB7AC11E0}" destId="{2483EF40-D08B-4333-A701-6072A6FD7112}" srcOrd="13" destOrd="0" presId="urn:microsoft.com/office/officeart/2008/layout/LinedList"/>
    <dgm:cxn modelId="{39FD567D-4208-44FA-A477-15B2959FD1D1}" type="presParOf" srcId="{2483EF40-D08B-4333-A701-6072A6FD7112}" destId="{71C2EAE0-54FA-4086-8A40-60A76A54CEC3}" srcOrd="0" destOrd="0" presId="urn:microsoft.com/office/officeart/2008/layout/LinedList"/>
    <dgm:cxn modelId="{B88CA570-9F3A-4FDD-951B-963948246861}" type="presParOf" srcId="{2483EF40-D08B-4333-A701-6072A6FD7112}" destId="{C3D09D14-093D-49F1-9CFD-CC4107B7A1EC}" srcOrd="1" destOrd="0" presId="urn:microsoft.com/office/officeart/2008/layout/LinedList"/>
    <dgm:cxn modelId="{42842716-0F87-423B-A2C6-ACCFFBEEBDC2}" type="presParOf" srcId="{48240AF0-DBE2-47B7-A21E-1FDDB7AC11E0}" destId="{9259D1D3-2FCA-4BD4-9FC0-B3E1A37DFFDA}" srcOrd="14" destOrd="0" presId="urn:microsoft.com/office/officeart/2008/layout/LinedList"/>
    <dgm:cxn modelId="{FEA320EA-425C-48C2-BFBC-4315B8E4F74D}" type="presParOf" srcId="{48240AF0-DBE2-47B7-A21E-1FDDB7AC11E0}" destId="{C45E7845-8899-4E05-B0B8-417CC5A4E913}" srcOrd="15" destOrd="0" presId="urn:microsoft.com/office/officeart/2008/layout/LinedList"/>
    <dgm:cxn modelId="{541F3A3A-1F8D-495F-8B36-3C87E1235380}" type="presParOf" srcId="{C45E7845-8899-4E05-B0B8-417CC5A4E913}" destId="{44B1E78B-9FF9-4320-852B-DED156FB3675}" srcOrd="0" destOrd="0" presId="urn:microsoft.com/office/officeart/2008/layout/LinedList"/>
    <dgm:cxn modelId="{F87BEDEA-0DE3-497F-80D4-F2112EB3C62E}" type="presParOf" srcId="{C45E7845-8899-4E05-B0B8-417CC5A4E913}" destId="{580A2043-AE61-4BF4-864A-0414F7D86869}" srcOrd="1" destOrd="0" presId="urn:microsoft.com/office/officeart/2008/layout/LinedList"/>
    <dgm:cxn modelId="{E45ED67E-7FEC-48B0-84F3-F46E9C7D5C54}" type="presParOf" srcId="{48240AF0-DBE2-47B7-A21E-1FDDB7AC11E0}" destId="{5DAEC630-DBD3-4EF8-8785-42F8E24948FD}" srcOrd="16" destOrd="0" presId="urn:microsoft.com/office/officeart/2008/layout/LinedList"/>
    <dgm:cxn modelId="{018B40AB-FE65-4A6B-B077-BE87BAC4E467}" type="presParOf" srcId="{48240AF0-DBE2-47B7-A21E-1FDDB7AC11E0}" destId="{7D9DE100-A8E8-4E7E-BDE0-29D167B52F3C}" srcOrd="17" destOrd="0" presId="urn:microsoft.com/office/officeart/2008/layout/LinedList"/>
    <dgm:cxn modelId="{0A7E5115-EF62-41A1-B810-D575800FEE9F}" type="presParOf" srcId="{7D9DE100-A8E8-4E7E-BDE0-29D167B52F3C}" destId="{65294F8D-51D3-445F-83BE-B62832D07E32}" srcOrd="0" destOrd="0" presId="urn:microsoft.com/office/officeart/2008/layout/LinedList"/>
    <dgm:cxn modelId="{880372A4-1D5B-42A4-8267-E81A2CF27ADF}" type="presParOf" srcId="{7D9DE100-A8E8-4E7E-BDE0-29D167B52F3C}" destId="{44FA2A16-74F1-4A17-AC3C-E09998D13944}" srcOrd="1" destOrd="0" presId="urn:microsoft.com/office/officeart/2008/layout/LinedList"/>
    <dgm:cxn modelId="{50566DF9-E2E2-4000-BF05-77EF1D91EFFA}" type="presParOf" srcId="{48240AF0-DBE2-47B7-A21E-1FDDB7AC11E0}" destId="{F7B0DC81-B1EA-41D7-BE04-50840F9C35B8}" srcOrd="18" destOrd="0" presId="urn:microsoft.com/office/officeart/2008/layout/LinedList"/>
    <dgm:cxn modelId="{7D54B6E9-C4BD-4E60-A96A-9CBDF737838A}" type="presParOf" srcId="{48240AF0-DBE2-47B7-A21E-1FDDB7AC11E0}" destId="{008D7A92-7C91-4B5F-9A81-351A794C59F1}" srcOrd="19" destOrd="0" presId="urn:microsoft.com/office/officeart/2008/layout/LinedList"/>
    <dgm:cxn modelId="{7BC1EE28-5D00-4393-A395-0A12AF2B19C0}" type="presParOf" srcId="{008D7A92-7C91-4B5F-9A81-351A794C59F1}" destId="{8B967A37-B50A-4037-AC26-45CE9B9A493A}" srcOrd="0" destOrd="0" presId="urn:microsoft.com/office/officeart/2008/layout/LinedList"/>
    <dgm:cxn modelId="{73833B32-C26E-49E8-9735-DAD98A24D57C}" type="presParOf" srcId="{008D7A92-7C91-4B5F-9A81-351A794C59F1}" destId="{533A24A5-817D-4216-B862-490A0667A4C8}" srcOrd="1" destOrd="0" presId="urn:microsoft.com/office/officeart/2008/layout/LinedList"/>
    <dgm:cxn modelId="{F97ADB12-4C09-4355-B00B-5419C6DE915D}" type="presParOf" srcId="{48240AF0-DBE2-47B7-A21E-1FDDB7AC11E0}" destId="{5A17CA86-AA5C-46C7-A3EE-67307A991E73}" srcOrd="20" destOrd="0" presId="urn:microsoft.com/office/officeart/2008/layout/LinedList"/>
    <dgm:cxn modelId="{A2434C0A-2A96-4AFF-9674-BC7D98F4D6F3}" type="presParOf" srcId="{48240AF0-DBE2-47B7-A21E-1FDDB7AC11E0}" destId="{03B41946-39A8-460F-A0BF-2A55C89349F9}" srcOrd="21" destOrd="0" presId="urn:microsoft.com/office/officeart/2008/layout/LinedList"/>
    <dgm:cxn modelId="{2DD0C36E-7F49-47EA-801C-670E4DA618EB}" type="presParOf" srcId="{03B41946-39A8-460F-A0BF-2A55C89349F9}" destId="{3B5DB2D3-75BF-4841-AAB0-AC74FA413A92}" srcOrd="0" destOrd="0" presId="urn:microsoft.com/office/officeart/2008/layout/LinedList"/>
    <dgm:cxn modelId="{CB0EC434-9A2D-4E13-8ACF-D3F160551DC2}" type="presParOf" srcId="{03B41946-39A8-460F-A0BF-2A55C89349F9}" destId="{FDB17300-5B49-48BE-AB75-BFA4BE5AA720}" srcOrd="1" destOrd="0" presId="urn:microsoft.com/office/officeart/2008/layout/LinedList"/>
    <dgm:cxn modelId="{E00A8CCE-498C-4307-8341-0F01D26235E8}" type="presParOf" srcId="{48240AF0-DBE2-47B7-A21E-1FDDB7AC11E0}" destId="{A1693C6F-835B-44E6-B2F7-2A87AD740AFA}" srcOrd="22" destOrd="0" presId="urn:microsoft.com/office/officeart/2008/layout/LinedList"/>
    <dgm:cxn modelId="{A7858CDD-C7D4-442B-8A32-2FB2E7D12A38}" type="presParOf" srcId="{48240AF0-DBE2-47B7-A21E-1FDDB7AC11E0}" destId="{5093EB8B-1CE3-416A-BA20-86175CCA08C1}" srcOrd="23" destOrd="0" presId="urn:microsoft.com/office/officeart/2008/layout/LinedList"/>
    <dgm:cxn modelId="{AE1FB322-375A-4F93-A52C-FDA6542D67FF}" type="presParOf" srcId="{5093EB8B-1CE3-416A-BA20-86175CCA08C1}" destId="{0F4FB6B3-AAFB-4B1B-8990-DC9411A3874E}" srcOrd="0" destOrd="0" presId="urn:microsoft.com/office/officeart/2008/layout/LinedList"/>
    <dgm:cxn modelId="{97040B38-37EC-48B4-9E63-113503427487}" type="presParOf" srcId="{5093EB8B-1CE3-416A-BA20-86175CCA08C1}" destId="{2C48F436-4E3A-4FE8-B139-1DBF1D67AA2F}" srcOrd="1" destOrd="0" presId="urn:microsoft.com/office/officeart/2008/layout/LinedList"/>
    <dgm:cxn modelId="{FCCAD740-148A-47EA-8765-1AFFA443A92F}" type="presParOf" srcId="{48240AF0-DBE2-47B7-A21E-1FDDB7AC11E0}" destId="{3D402745-9E5F-4609-B519-EBC7259FC4CF}" srcOrd="24" destOrd="0" presId="urn:microsoft.com/office/officeart/2008/layout/LinedList"/>
    <dgm:cxn modelId="{12847973-3009-4DFF-A7F9-356C51708DC6}" type="presParOf" srcId="{48240AF0-DBE2-47B7-A21E-1FDDB7AC11E0}" destId="{3CB49291-D897-404A-8270-34553BA9D31C}" srcOrd="25" destOrd="0" presId="urn:microsoft.com/office/officeart/2008/layout/LinedList"/>
    <dgm:cxn modelId="{4F20DA16-A4BA-4D7A-B128-F23C0C892F46}" type="presParOf" srcId="{3CB49291-D897-404A-8270-34553BA9D31C}" destId="{EFD2FF62-B5CB-4422-85E5-613A23FE1EF3}" srcOrd="0" destOrd="0" presId="urn:microsoft.com/office/officeart/2008/layout/LinedList"/>
    <dgm:cxn modelId="{4A2B91D8-7D99-4888-A092-1A278DD62922}" type="presParOf" srcId="{3CB49291-D897-404A-8270-34553BA9D31C}" destId="{5DC93DB4-4978-48BA-A061-22E4E5D754F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DC6059-8F16-4CB4-9538-BA9934996F7F}">
      <dsp:nvSpPr>
        <dsp:cNvPr id="0" name=""/>
        <dsp:cNvSpPr/>
      </dsp:nvSpPr>
      <dsp:spPr>
        <a:xfrm>
          <a:off x="0" y="0"/>
          <a:ext cx="6666833"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0345906-98A0-4084-9104-AD1DBE854DDB}">
      <dsp:nvSpPr>
        <dsp:cNvPr id="0" name=""/>
        <dsp:cNvSpPr/>
      </dsp:nvSpPr>
      <dsp:spPr>
        <a:xfrm>
          <a:off x="0" y="0"/>
          <a:ext cx="6666833" cy="2726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0" tIns="209550" rIns="209550" bIns="209550" numCol="1" spcCol="1270" anchor="t" anchorCtr="0">
          <a:noAutofit/>
        </a:bodyPr>
        <a:lstStyle/>
        <a:p>
          <a:pPr marL="0" lvl="0" indent="0" algn="l" defTabSz="2444750">
            <a:lnSpc>
              <a:spcPct val="90000"/>
            </a:lnSpc>
            <a:spcBef>
              <a:spcPct val="0"/>
            </a:spcBef>
            <a:spcAft>
              <a:spcPct val="35000"/>
            </a:spcAft>
            <a:buNone/>
          </a:pPr>
          <a:r>
            <a:rPr lang="en-US" sz="5500" b="0" i="0" kern="1200" baseline="0" dirty="0"/>
            <a:t>Create a code that prints the expression on the screen</a:t>
          </a:r>
          <a:endParaRPr lang="en-US" sz="5500" kern="1200" dirty="0"/>
        </a:p>
      </dsp:txBody>
      <dsp:txXfrm>
        <a:off x="0" y="0"/>
        <a:ext cx="6666833" cy="2726960"/>
      </dsp:txXfrm>
    </dsp:sp>
    <dsp:sp modelId="{9D2E597D-1E5D-40C8-B47E-F0AEEE996733}">
      <dsp:nvSpPr>
        <dsp:cNvPr id="0" name=""/>
        <dsp:cNvSpPr/>
      </dsp:nvSpPr>
      <dsp:spPr>
        <a:xfrm>
          <a:off x="0" y="2726960"/>
          <a:ext cx="6666833"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4FDCE37-2D3D-423A-ACAE-3090C58FD9E3}">
      <dsp:nvSpPr>
        <dsp:cNvPr id="0" name=""/>
        <dsp:cNvSpPr/>
      </dsp:nvSpPr>
      <dsp:spPr>
        <a:xfrm>
          <a:off x="0" y="2726960"/>
          <a:ext cx="6666833" cy="2726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0" tIns="209550" rIns="209550" bIns="209550" numCol="1" spcCol="1270" anchor="t" anchorCtr="0">
          <a:noAutofit/>
        </a:bodyPr>
        <a:lstStyle/>
        <a:p>
          <a:pPr marL="0" lvl="0" indent="0" algn="l" defTabSz="2444750">
            <a:lnSpc>
              <a:spcPct val="90000"/>
            </a:lnSpc>
            <a:spcBef>
              <a:spcPct val="0"/>
            </a:spcBef>
            <a:spcAft>
              <a:spcPct val="35000"/>
            </a:spcAft>
            <a:buNone/>
          </a:pPr>
          <a:r>
            <a:rPr lang="es-MX" sz="5500" b="1" i="0" kern="1200" baseline="0" dirty="0"/>
            <a:t>I </a:t>
          </a:r>
          <a:r>
            <a:rPr lang="es-MX" sz="5500" b="1" i="0" kern="1200" baseline="0" dirty="0" err="1"/>
            <a:t>love</a:t>
          </a:r>
          <a:r>
            <a:rPr lang="es-MX" sz="5500" b="1" i="0" kern="1200" baseline="0" dirty="0"/>
            <a:t> </a:t>
          </a:r>
          <a:r>
            <a:rPr lang="es-MX" sz="5500" b="1" i="0" kern="1200" baseline="0" dirty="0" err="1"/>
            <a:t>studying</a:t>
          </a:r>
          <a:r>
            <a:rPr lang="es-MX" sz="5500" b="1" i="0" kern="1200" baseline="0" dirty="0"/>
            <a:t> Python</a:t>
          </a:r>
          <a:endParaRPr lang="en-US" sz="5500" kern="1200" dirty="0"/>
        </a:p>
      </dsp:txBody>
      <dsp:txXfrm>
        <a:off x="0" y="2726960"/>
        <a:ext cx="6666833" cy="27269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E7261D-6737-4791-9894-066BADF7DBBA}">
      <dsp:nvSpPr>
        <dsp:cNvPr id="0" name=""/>
        <dsp:cNvSpPr/>
      </dsp:nvSpPr>
      <dsp:spPr>
        <a:xfrm>
          <a:off x="0" y="382685"/>
          <a:ext cx="6666833" cy="2101050"/>
        </a:xfrm>
        <a:prstGeom prst="rect">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79044" rIns="517420"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a:t>Unification of text strings:
print("Hello" + " " + "world") 
&gt;&gt; Hello world</a:t>
          </a:r>
          <a:endParaRPr lang="en-US" sz="2300" kern="1200" dirty="0"/>
        </a:p>
        <a:p>
          <a:pPr marL="228600" lvl="1" indent="-228600" algn="l" defTabSz="1022350">
            <a:lnSpc>
              <a:spcPct val="90000"/>
            </a:lnSpc>
            <a:spcBef>
              <a:spcPct val="0"/>
            </a:spcBef>
            <a:spcAft>
              <a:spcPct val="15000"/>
            </a:spcAft>
            <a:buChar char="•"/>
          </a:pPr>
          <a:endParaRPr lang="en-US" sz="2300" kern="1200" dirty="0"/>
        </a:p>
      </dsp:txBody>
      <dsp:txXfrm>
        <a:off x="0" y="382685"/>
        <a:ext cx="6666833" cy="2101050"/>
      </dsp:txXfrm>
    </dsp:sp>
    <dsp:sp modelId="{3042BC32-84A0-4D08-8F60-6D2B2C84B4D0}">
      <dsp:nvSpPr>
        <dsp:cNvPr id="0" name=""/>
        <dsp:cNvSpPr/>
      </dsp:nvSpPr>
      <dsp:spPr>
        <a:xfrm>
          <a:off x="333341" y="43204"/>
          <a:ext cx="4666783" cy="678960"/>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22350">
            <a:lnSpc>
              <a:spcPct val="90000"/>
            </a:lnSpc>
            <a:spcBef>
              <a:spcPct val="0"/>
            </a:spcBef>
            <a:spcAft>
              <a:spcPct val="35000"/>
            </a:spcAft>
            <a:buNone/>
          </a:pPr>
          <a:r>
            <a:rPr lang="es-MX" sz="2300" i="1" kern="1200"/>
            <a:t>Concatenación</a:t>
          </a:r>
          <a:endParaRPr lang="en-US" sz="2300" kern="1200" dirty="0"/>
        </a:p>
      </dsp:txBody>
      <dsp:txXfrm>
        <a:off x="366485" y="76348"/>
        <a:ext cx="4600495" cy="612672"/>
      </dsp:txXfrm>
    </dsp:sp>
    <dsp:sp modelId="{CDA41923-5CDE-475E-8D50-4EBC17296290}">
      <dsp:nvSpPr>
        <dsp:cNvPr id="0" name=""/>
        <dsp:cNvSpPr/>
      </dsp:nvSpPr>
      <dsp:spPr>
        <a:xfrm>
          <a:off x="0" y="2947415"/>
          <a:ext cx="6666833" cy="2463300"/>
        </a:xfrm>
        <a:prstGeom prst="rect">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79044" rIns="517420"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Continuation of the symbol \ should be treated as a special character.
&gt; Print quotation marks </a:t>
          </a:r>
          <a:r>
            <a:rPr lang="en-US" sz="2300" kern="1200"/>
            <a:t>
\n </a:t>
          </a:r>
          <a:r>
            <a:rPr lang="en-US" sz="2300" kern="1200" dirty="0"/>
            <a:t>&gt; Separate text on a new line</a:t>
          </a:r>
        </a:p>
        <a:p>
          <a:pPr marL="228600" lvl="1" indent="-228600" algn="l" defTabSz="1022350">
            <a:lnSpc>
              <a:spcPct val="90000"/>
            </a:lnSpc>
            <a:spcBef>
              <a:spcPct val="0"/>
            </a:spcBef>
            <a:spcAft>
              <a:spcPct val="15000"/>
            </a:spcAft>
            <a:buChar char="•"/>
          </a:pPr>
          <a:endParaRPr lang="en-US" sz="2300" kern="1200" dirty="0"/>
        </a:p>
      </dsp:txBody>
      <dsp:txXfrm>
        <a:off x="0" y="2947415"/>
        <a:ext cx="6666833" cy="2463300"/>
      </dsp:txXfrm>
    </dsp:sp>
    <dsp:sp modelId="{193A4EBC-8C1B-4FF6-B679-5306F037CEE4}">
      <dsp:nvSpPr>
        <dsp:cNvPr id="0" name=""/>
        <dsp:cNvSpPr/>
      </dsp:nvSpPr>
      <dsp:spPr>
        <a:xfrm>
          <a:off x="333341" y="2607935"/>
          <a:ext cx="4666783" cy="678960"/>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22350">
            <a:lnSpc>
              <a:spcPct val="90000"/>
            </a:lnSpc>
            <a:spcBef>
              <a:spcPct val="0"/>
            </a:spcBef>
            <a:spcAft>
              <a:spcPct val="35000"/>
            </a:spcAft>
            <a:buNone/>
          </a:pPr>
          <a:r>
            <a:rPr lang="es-MX" sz="2300" i="1" kern="1200" dirty="0" err="1"/>
            <a:t>Special</a:t>
          </a:r>
          <a:r>
            <a:rPr lang="es-MX" sz="2300" i="1" kern="1200" dirty="0"/>
            <a:t> </a:t>
          </a:r>
          <a:r>
            <a:rPr lang="es-MX" sz="2300" i="1" kern="1200" dirty="0" err="1"/>
            <a:t>Characters</a:t>
          </a:r>
          <a:endParaRPr lang="en-US" sz="2300" kern="1200" dirty="0"/>
        </a:p>
      </dsp:txBody>
      <dsp:txXfrm>
        <a:off x="366485" y="2641079"/>
        <a:ext cx="4600495" cy="6126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C4FF67-3590-4F9A-99EC-E214F38386B4}">
      <dsp:nvSpPr>
        <dsp:cNvPr id="0" name=""/>
        <dsp:cNvSpPr/>
      </dsp:nvSpPr>
      <dsp:spPr>
        <a:xfrm>
          <a:off x="0" y="0"/>
          <a:ext cx="6666833"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09F3203-0AD8-4B10-A3AC-13C33D3241F1}">
      <dsp:nvSpPr>
        <dsp:cNvPr id="0" name=""/>
        <dsp:cNvSpPr/>
      </dsp:nvSpPr>
      <dsp:spPr>
        <a:xfrm>
          <a:off x="0" y="0"/>
          <a:ext cx="6666833" cy="1892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Input &gt; Enter 
Input("your name")
print(input("your name"))</a:t>
          </a:r>
        </a:p>
      </dsp:txBody>
      <dsp:txXfrm>
        <a:off x="0" y="0"/>
        <a:ext cx="6666833" cy="18929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2444FD-A0A3-482E-B277-36169972315E}">
      <dsp:nvSpPr>
        <dsp:cNvPr id="0" name=""/>
        <dsp:cNvSpPr/>
      </dsp:nvSpPr>
      <dsp:spPr>
        <a:xfrm>
          <a:off x="540011" y="1990"/>
          <a:ext cx="2331634" cy="139898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s-MX" sz="3400" kern="1200" dirty="0" err="1"/>
            <a:t>Print</a:t>
          </a:r>
          <a:r>
            <a:rPr lang="es-MX" sz="3400" kern="1200" dirty="0"/>
            <a:t>()</a:t>
          </a:r>
          <a:endParaRPr lang="en-US" sz="3400" kern="1200" dirty="0"/>
        </a:p>
      </dsp:txBody>
      <dsp:txXfrm>
        <a:off x="540011" y="1990"/>
        <a:ext cx="2331634" cy="1398980"/>
      </dsp:txXfrm>
    </dsp:sp>
    <dsp:sp modelId="{269AAC05-DFE6-4F3C-A375-E8BC9845DDC4}">
      <dsp:nvSpPr>
        <dsp:cNvPr id="0" name=""/>
        <dsp:cNvSpPr/>
      </dsp:nvSpPr>
      <dsp:spPr>
        <a:xfrm>
          <a:off x="3104809" y="1990"/>
          <a:ext cx="2331634" cy="139898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s-MX" sz="3400" kern="1200" dirty="0"/>
            <a:t>Input()
</a:t>
          </a:r>
          <a:endParaRPr lang="en-US" sz="3400" kern="1200" dirty="0"/>
        </a:p>
      </dsp:txBody>
      <dsp:txXfrm>
        <a:off x="3104809" y="1990"/>
        <a:ext cx="2331634" cy="1398980"/>
      </dsp:txXfrm>
    </dsp:sp>
    <dsp:sp modelId="{B0F6C1EB-D66B-49E6-8933-6D50F7758584}">
      <dsp:nvSpPr>
        <dsp:cNvPr id="0" name=""/>
        <dsp:cNvSpPr/>
      </dsp:nvSpPr>
      <dsp:spPr>
        <a:xfrm>
          <a:off x="540011" y="1634134"/>
          <a:ext cx="2331634" cy="139898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s-MX" sz="3400" kern="1200" dirty="0"/>
            <a:t>255
</a:t>
          </a:r>
          <a:endParaRPr lang="en-US" sz="3400" kern="1200" dirty="0"/>
        </a:p>
      </dsp:txBody>
      <dsp:txXfrm>
        <a:off x="540011" y="1634134"/>
        <a:ext cx="2331634" cy="1398980"/>
      </dsp:txXfrm>
    </dsp:sp>
    <dsp:sp modelId="{C5CB8898-6FFC-4877-BE5A-967CEFACFFB3}">
      <dsp:nvSpPr>
        <dsp:cNvPr id="0" name=""/>
        <dsp:cNvSpPr/>
      </dsp:nvSpPr>
      <dsp:spPr>
        <a:xfrm>
          <a:off x="3104809" y="1634134"/>
          <a:ext cx="2331634" cy="139898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s-MX" sz="3400" kern="1200" dirty="0"/>
            <a:t>22035
</a:t>
          </a:r>
          <a:endParaRPr lang="en-US" sz="3400" kern="1200" dirty="0"/>
        </a:p>
      </dsp:txBody>
      <dsp:txXfrm>
        <a:off x="3104809" y="1634134"/>
        <a:ext cx="2331634" cy="1398980"/>
      </dsp:txXfrm>
    </dsp:sp>
    <dsp:sp modelId="{F6E5B8F0-228C-4175-A395-16835FC798E0}">
      <dsp:nvSpPr>
        <dsp:cNvPr id="0" name=""/>
        <dsp:cNvSpPr/>
      </dsp:nvSpPr>
      <dsp:spPr>
        <a:xfrm>
          <a:off x="1822410" y="3266278"/>
          <a:ext cx="2331634" cy="139898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s-MX" sz="3400" kern="1200"/>
            <a:t>Falso</a:t>
          </a:r>
          <a:endParaRPr lang="en-US" sz="3400" kern="1200" dirty="0"/>
        </a:p>
      </dsp:txBody>
      <dsp:txXfrm>
        <a:off x="1822410" y="3266278"/>
        <a:ext cx="2331634" cy="13989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D43A77-ED00-4F78-9C79-FA327C5E06EA}">
      <dsp:nvSpPr>
        <dsp:cNvPr id="0" name=""/>
        <dsp:cNvSpPr/>
      </dsp:nvSpPr>
      <dsp:spPr>
        <a:xfrm>
          <a:off x="0" y="397796"/>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C35D46-2D63-46BA-8C13-8FFAE5D9C815}">
      <dsp:nvSpPr>
        <dsp:cNvPr id="0" name=""/>
        <dsp:cNvSpPr/>
      </dsp:nvSpPr>
      <dsp:spPr>
        <a:xfrm>
          <a:off x="328612" y="709978"/>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text (str) "Python" "750"</a:t>
          </a:r>
        </a:p>
      </dsp:txBody>
      <dsp:txXfrm>
        <a:off x="383617" y="764983"/>
        <a:ext cx="2847502" cy="1768010"/>
      </dsp:txXfrm>
    </dsp:sp>
    <dsp:sp modelId="{64B1401C-9673-4263-9575-732475DA1928}">
      <dsp:nvSpPr>
        <dsp:cNvPr id="0" name=""/>
        <dsp:cNvSpPr/>
      </dsp:nvSpPr>
      <dsp:spPr>
        <a:xfrm>
          <a:off x="3614737" y="397796"/>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65CC24-66C3-4B22-82DF-D3EF9E82E6A7}">
      <dsp:nvSpPr>
        <dsp:cNvPr id="0" name=""/>
        <dsp:cNvSpPr/>
      </dsp:nvSpPr>
      <dsp:spPr>
        <a:xfrm>
          <a:off x="3943350" y="709978"/>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INT Numbers 250 Float 12.50</a:t>
          </a:r>
        </a:p>
      </dsp:txBody>
      <dsp:txXfrm>
        <a:off x="3998355" y="764983"/>
        <a:ext cx="2847502" cy="1768010"/>
      </dsp:txXfrm>
    </dsp:sp>
    <dsp:sp modelId="{5FD0A4BD-20CE-40DB-B73D-DA64211CC808}">
      <dsp:nvSpPr>
        <dsp:cNvPr id="0" name=""/>
        <dsp:cNvSpPr/>
      </dsp:nvSpPr>
      <dsp:spPr>
        <a:xfrm>
          <a:off x="7229475" y="397796"/>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73AE97-3632-44B7-B336-3588FC53C771}">
      <dsp:nvSpPr>
        <dsp:cNvPr id="0" name=""/>
        <dsp:cNvSpPr/>
      </dsp:nvSpPr>
      <dsp:spPr>
        <a:xfrm>
          <a:off x="7558087" y="709978"/>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err="1"/>
            <a:t>booleanos</a:t>
          </a:r>
          <a:r>
            <a:rPr lang="en-US" sz="3500" kern="1200" dirty="0"/>
            <a:t> True False</a:t>
          </a:r>
        </a:p>
      </dsp:txBody>
      <dsp:txXfrm>
        <a:off x="7613092" y="764983"/>
        <a:ext cx="2847502" cy="176801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66C904-0EA3-4072-A4F5-88B7EE0BA819}">
      <dsp:nvSpPr>
        <dsp:cNvPr id="0" name=""/>
        <dsp:cNvSpPr/>
      </dsp:nvSpPr>
      <dsp:spPr>
        <a:xfrm>
          <a:off x="7854097" y="849403"/>
          <a:ext cx="2250349" cy="2250464"/>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D3DA72-CF5D-4BAF-9EAD-ED7949DD2768}">
      <dsp:nvSpPr>
        <dsp:cNvPr id="0" name=""/>
        <dsp:cNvSpPr/>
      </dsp:nvSpPr>
      <dsp:spPr>
        <a:xfrm>
          <a:off x="7929366" y="924431"/>
          <a:ext cx="2100776" cy="2100407"/>
        </a:xfrm>
        <a:prstGeom prst="ellipse">
          <a:avLst/>
        </a:prstGeom>
        <a:solidFill>
          <a:schemeClr val="accent5">
            <a:hueOff val="-965506"/>
            <a:satOff val="-2488"/>
            <a:lumOff val="-16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s-MX" sz="2000" kern="1200" dirty="0" err="1"/>
            <a:t>isspace</a:t>
          </a:r>
          <a:r>
            <a:rPr lang="es-MX" sz="2000" kern="1200" dirty="0"/>
            <a:t>() si esta lleno o son puros espacios</a:t>
          </a:r>
          <a:endParaRPr lang="en-US" sz="2000" kern="1200" dirty="0"/>
        </a:p>
      </dsp:txBody>
      <dsp:txXfrm>
        <a:off x="8229476" y="1224546"/>
        <a:ext cx="1500554" cy="1500177"/>
      </dsp:txXfrm>
    </dsp:sp>
    <dsp:sp modelId="{5D9CE1D9-9202-4D6B-9C40-9489FF95509C}">
      <dsp:nvSpPr>
        <dsp:cNvPr id="0" name=""/>
        <dsp:cNvSpPr/>
      </dsp:nvSpPr>
      <dsp:spPr>
        <a:xfrm rot="2700000">
          <a:off x="5518810" y="849244"/>
          <a:ext cx="2250386" cy="2250386"/>
        </a:xfrm>
        <a:prstGeom prst="teardrop">
          <a:avLst>
            <a:gd name="adj" fmla="val 100000"/>
          </a:avLst>
        </a:prstGeom>
        <a:solidFill>
          <a:schemeClr val="accent5">
            <a:hueOff val="-1931012"/>
            <a:satOff val="-4977"/>
            <a:lumOff val="-33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516CA5-4817-45F5-8B97-F622C4412C27}">
      <dsp:nvSpPr>
        <dsp:cNvPr id="0" name=""/>
        <dsp:cNvSpPr/>
      </dsp:nvSpPr>
      <dsp:spPr>
        <a:xfrm>
          <a:off x="5603747" y="924431"/>
          <a:ext cx="2100776" cy="2100407"/>
        </a:xfrm>
        <a:prstGeom prst="ellipse">
          <a:avLst/>
        </a:prstGeom>
        <a:solidFill>
          <a:schemeClr val="accent5">
            <a:hueOff val="-2896518"/>
            <a:satOff val="-7465"/>
            <a:lumOff val="-50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s-MX" sz="2000" kern="1200" dirty="0" err="1"/>
            <a:t>isprintable</a:t>
          </a:r>
          <a:r>
            <a:rPr lang="es-MX" sz="2000" kern="1200" dirty="0"/>
            <a:t>() verifica que no tenga caracteres especiales</a:t>
          </a:r>
          <a:endParaRPr lang="en-US" sz="2000" kern="1200" dirty="0"/>
        </a:p>
      </dsp:txBody>
      <dsp:txXfrm>
        <a:off x="5903858" y="1224546"/>
        <a:ext cx="1500554" cy="1500177"/>
      </dsp:txXfrm>
    </dsp:sp>
    <dsp:sp modelId="{7AA8777A-3E23-4108-A0B3-7C39DFDD3641}">
      <dsp:nvSpPr>
        <dsp:cNvPr id="0" name=""/>
        <dsp:cNvSpPr/>
      </dsp:nvSpPr>
      <dsp:spPr>
        <a:xfrm rot="2700000">
          <a:off x="3202842" y="849244"/>
          <a:ext cx="2250386" cy="2250386"/>
        </a:xfrm>
        <a:prstGeom prst="teardrop">
          <a:avLst>
            <a:gd name="adj" fmla="val 100000"/>
          </a:avLst>
        </a:prstGeom>
        <a:solidFill>
          <a:schemeClr val="accent5">
            <a:hueOff val="-3862025"/>
            <a:satOff val="-9954"/>
            <a:lumOff val="-67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710EBF-5E45-4C00-96B1-02BD4147E7AE}">
      <dsp:nvSpPr>
        <dsp:cNvPr id="0" name=""/>
        <dsp:cNvSpPr/>
      </dsp:nvSpPr>
      <dsp:spPr>
        <a:xfrm>
          <a:off x="3278129" y="924431"/>
          <a:ext cx="2100776" cy="2100407"/>
        </a:xfrm>
        <a:prstGeom prst="ellipse">
          <a:avLst/>
        </a:prstGeom>
        <a:solidFill>
          <a:schemeClr val="accent5">
            <a:hueOff val="-4827531"/>
            <a:satOff val="-12442"/>
            <a:lumOff val="-84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s-MX" sz="2000" kern="1200" dirty="0" err="1"/>
            <a:t>isupper</a:t>
          </a:r>
          <a:r>
            <a:rPr lang="es-MX" sz="2000" kern="1200" dirty="0"/>
            <a:t>() </a:t>
          </a:r>
          <a:r>
            <a:rPr lang="es-MX" sz="2000" kern="1200" dirty="0" err="1"/>
            <a:t>mayusculas</a:t>
          </a:r>
          <a:endParaRPr lang="en-US" sz="2000" kern="1200" dirty="0"/>
        </a:p>
      </dsp:txBody>
      <dsp:txXfrm>
        <a:off x="3578240" y="1224546"/>
        <a:ext cx="1500554" cy="1500177"/>
      </dsp:txXfrm>
    </dsp:sp>
    <dsp:sp modelId="{7D02E50C-A8B0-4B3A-849E-A778EA109139}">
      <dsp:nvSpPr>
        <dsp:cNvPr id="0" name=""/>
        <dsp:cNvSpPr/>
      </dsp:nvSpPr>
      <dsp:spPr>
        <a:xfrm rot="2700000">
          <a:off x="877223" y="849244"/>
          <a:ext cx="2250386" cy="2250386"/>
        </a:xfrm>
        <a:prstGeom prst="teardrop">
          <a:avLst>
            <a:gd name="adj" fmla="val 100000"/>
          </a:avLst>
        </a:prstGeom>
        <a:solidFill>
          <a:schemeClr val="accent5">
            <a:hueOff val="-5793037"/>
            <a:satOff val="-14931"/>
            <a:lumOff val="-100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8E57FD-A999-4A01-B2DE-19D39BF22BA7}">
      <dsp:nvSpPr>
        <dsp:cNvPr id="0" name=""/>
        <dsp:cNvSpPr/>
      </dsp:nvSpPr>
      <dsp:spPr>
        <a:xfrm>
          <a:off x="952511" y="924431"/>
          <a:ext cx="2100776" cy="2100407"/>
        </a:xfrm>
        <a:prstGeom prst="ellipse">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s-MX" sz="2000" kern="1200" dirty="0" err="1"/>
            <a:t>islower</a:t>
          </a:r>
          <a:r>
            <a:rPr lang="es-MX" sz="2000" kern="1200" dirty="0"/>
            <a:t>() </a:t>
          </a:r>
          <a:r>
            <a:rPr lang="es-MX" sz="2000" kern="1200" dirty="0" err="1"/>
            <a:t>minusculas</a:t>
          </a:r>
          <a:endParaRPr lang="en-US" sz="2000" kern="1200" dirty="0"/>
        </a:p>
      </dsp:txBody>
      <dsp:txXfrm>
        <a:off x="1252622" y="1224546"/>
        <a:ext cx="1500554" cy="150017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F91416-71BD-44C6-8F42-DF0A9881B55B}">
      <dsp:nvSpPr>
        <dsp:cNvPr id="0" name=""/>
        <dsp:cNvSpPr/>
      </dsp:nvSpPr>
      <dsp:spPr>
        <a:xfrm>
          <a:off x="3735" y="74113"/>
          <a:ext cx="2022288" cy="12133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a:t>Estos operadores permiten tomar decisiones basadas en múltiples condiciones.</a:t>
          </a:r>
          <a:endParaRPr lang="en-US" sz="1600" kern="1200"/>
        </a:p>
      </dsp:txBody>
      <dsp:txXfrm>
        <a:off x="3735" y="74113"/>
        <a:ext cx="2022288" cy="1213373"/>
      </dsp:txXfrm>
    </dsp:sp>
    <dsp:sp modelId="{EB6DA4AE-75C7-46ED-9A43-7B0DB49935A6}">
      <dsp:nvSpPr>
        <dsp:cNvPr id="0" name=""/>
        <dsp:cNvSpPr/>
      </dsp:nvSpPr>
      <dsp:spPr>
        <a:xfrm>
          <a:off x="2228252" y="74113"/>
          <a:ext cx="2022288" cy="12133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pt-BR" sz="1600" kern="1200"/>
            <a:t>a = 6 &gt; 5                                b = 30 == 15*3</a:t>
          </a:r>
          <a:endParaRPr lang="en-US" sz="1600" kern="1200"/>
        </a:p>
      </dsp:txBody>
      <dsp:txXfrm>
        <a:off x="2228252" y="74113"/>
        <a:ext cx="2022288" cy="1213373"/>
      </dsp:txXfrm>
    </dsp:sp>
    <dsp:sp modelId="{48C26E51-547D-4C5E-BC64-B757E2749041}">
      <dsp:nvSpPr>
        <dsp:cNvPr id="0" name=""/>
        <dsp:cNvSpPr/>
      </dsp:nvSpPr>
      <dsp:spPr>
        <a:xfrm>
          <a:off x="4452770" y="74113"/>
          <a:ext cx="2022288" cy="12133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a:t>And    devuelve True si todas las condiciones son verdaderas </a:t>
          </a:r>
          <a:endParaRPr lang="en-US" sz="1600" kern="1200"/>
        </a:p>
      </dsp:txBody>
      <dsp:txXfrm>
        <a:off x="4452770" y="74113"/>
        <a:ext cx="2022288" cy="1213373"/>
      </dsp:txXfrm>
    </dsp:sp>
    <dsp:sp modelId="{C067CAB1-7086-4E79-9F53-85A524F21BEA}">
      <dsp:nvSpPr>
        <dsp:cNvPr id="0" name=""/>
        <dsp:cNvSpPr/>
      </dsp:nvSpPr>
      <dsp:spPr>
        <a:xfrm>
          <a:off x="6677287" y="74113"/>
          <a:ext cx="2022288" cy="12133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a:t>mi_bool = a and b </a:t>
          </a:r>
          <a:endParaRPr lang="en-US" sz="1600" kern="1200"/>
        </a:p>
      </dsp:txBody>
      <dsp:txXfrm>
        <a:off x="6677287" y="74113"/>
        <a:ext cx="2022288" cy="1213373"/>
      </dsp:txXfrm>
    </dsp:sp>
    <dsp:sp modelId="{89A37666-A69C-497B-95C5-4D18E7317275}">
      <dsp:nvSpPr>
        <dsp:cNvPr id="0" name=""/>
        <dsp:cNvSpPr/>
      </dsp:nvSpPr>
      <dsp:spPr>
        <a:xfrm>
          <a:off x="8901805" y="74113"/>
          <a:ext cx="2022288" cy="12133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a:t>print(mi_bool) </a:t>
          </a:r>
          <a:endParaRPr lang="en-US" sz="1600" kern="1200"/>
        </a:p>
      </dsp:txBody>
      <dsp:txXfrm>
        <a:off x="8901805" y="74113"/>
        <a:ext cx="2022288" cy="1213373"/>
      </dsp:txXfrm>
    </dsp:sp>
    <dsp:sp modelId="{A892D554-2327-4490-A268-7D472DECDFC6}">
      <dsp:nvSpPr>
        <dsp:cNvPr id="0" name=""/>
        <dsp:cNvSpPr/>
      </dsp:nvSpPr>
      <dsp:spPr>
        <a:xfrm>
          <a:off x="3735" y="1489715"/>
          <a:ext cx="2022288" cy="12133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a:t>&gt;&gt; False</a:t>
          </a:r>
          <a:endParaRPr lang="en-US" sz="1600" kern="1200"/>
        </a:p>
      </dsp:txBody>
      <dsp:txXfrm>
        <a:off x="3735" y="1489715"/>
        <a:ext cx="2022288" cy="1213373"/>
      </dsp:txXfrm>
    </dsp:sp>
    <dsp:sp modelId="{02846CFB-F26D-4DD7-B177-3DFBCB85CCA7}">
      <dsp:nvSpPr>
        <dsp:cNvPr id="0" name=""/>
        <dsp:cNvSpPr/>
      </dsp:nvSpPr>
      <dsp:spPr>
        <a:xfrm>
          <a:off x="2228252" y="1489715"/>
          <a:ext cx="2022288" cy="12133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a:t>or   devuelve True si al menos una condición es verdadera </a:t>
          </a:r>
          <a:endParaRPr lang="en-US" sz="1600" kern="1200"/>
        </a:p>
      </dsp:txBody>
      <dsp:txXfrm>
        <a:off x="2228252" y="1489715"/>
        <a:ext cx="2022288" cy="1213373"/>
      </dsp:txXfrm>
    </dsp:sp>
    <dsp:sp modelId="{1C021006-EFD5-4533-8D67-1DB2E61A6317}">
      <dsp:nvSpPr>
        <dsp:cNvPr id="0" name=""/>
        <dsp:cNvSpPr/>
      </dsp:nvSpPr>
      <dsp:spPr>
        <a:xfrm>
          <a:off x="4452770" y="1489715"/>
          <a:ext cx="2022288" cy="12133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a:t>mi_bool = a or b </a:t>
          </a:r>
          <a:endParaRPr lang="en-US" sz="1600" kern="1200"/>
        </a:p>
      </dsp:txBody>
      <dsp:txXfrm>
        <a:off x="4452770" y="1489715"/>
        <a:ext cx="2022288" cy="1213373"/>
      </dsp:txXfrm>
    </dsp:sp>
    <dsp:sp modelId="{4E280EB2-D990-41B0-9BC8-402A8AB5664A}">
      <dsp:nvSpPr>
        <dsp:cNvPr id="0" name=""/>
        <dsp:cNvSpPr/>
      </dsp:nvSpPr>
      <dsp:spPr>
        <a:xfrm>
          <a:off x="6677287" y="1489715"/>
          <a:ext cx="2022288" cy="12133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a:t>print(mi_bool) </a:t>
          </a:r>
          <a:endParaRPr lang="en-US" sz="1600" kern="1200"/>
        </a:p>
      </dsp:txBody>
      <dsp:txXfrm>
        <a:off x="6677287" y="1489715"/>
        <a:ext cx="2022288" cy="1213373"/>
      </dsp:txXfrm>
    </dsp:sp>
    <dsp:sp modelId="{506DF560-2686-4D1B-B4BE-F926A7BF38E8}">
      <dsp:nvSpPr>
        <dsp:cNvPr id="0" name=""/>
        <dsp:cNvSpPr/>
      </dsp:nvSpPr>
      <dsp:spPr>
        <a:xfrm>
          <a:off x="8901805" y="1489715"/>
          <a:ext cx="2022288" cy="12133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a:t>&gt;&gt; True</a:t>
          </a:r>
          <a:endParaRPr lang="en-US" sz="1600" kern="1200"/>
        </a:p>
      </dsp:txBody>
      <dsp:txXfrm>
        <a:off x="8901805" y="1489715"/>
        <a:ext cx="2022288" cy="1213373"/>
      </dsp:txXfrm>
    </dsp:sp>
    <dsp:sp modelId="{D0283E83-2870-42A8-98A4-E04500E388BC}">
      <dsp:nvSpPr>
        <dsp:cNvPr id="0" name=""/>
        <dsp:cNvSpPr/>
      </dsp:nvSpPr>
      <dsp:spPr>
        <a:xfrm>
          <a:off x="1115993" y="2905317"/>
          <a:ext cx="2022288" cy="12133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a:t>not     devuelve True si el valor del booleano es False, y False si es True </a:t>
          </a:r>
          <a:endParaRPr lang="en-US" sz="1600" kern="1200"/>
        </a:p>
      </dsp:txBody>
      <dsp:txXfrm>
        <a:off x="1115993" y="2905317"/>
        <a:ext cx="2022288" cy="1213373"/>
      </dsp:txXfrm>
    </dsp:sp>
    <dsp:sp modelId="{CD794FEA-61C8-4D4D-8645-F0D4AAE648B1}">
      <dsp:nvSpPr>
        <dsp:cNvPr id="0" name=""/>
        <dsp:cNvSpPr/>
      </dsp:nvSpPr>
      <dsp:spPr>
        <a:xfrm>
          <a:off x="3340511" y="2905317"/>
          <a:ext cx="2022288" cy="12133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a:t>mi_bool = not a </a:t>
          </a:r>
          <a:endParaRPr lang="en-US" sz="1600" kern="1200"/>
        </a:p>
      </dsp:txBody>
      <dsp:txXfrm>
        <a:off x="3340511" y="2905317"/>
        <a:ext cx="2022288" cy="1213373"/>
      </dsp:txXfrm>
    </dsp:sp>
    <dsp:sp modelId="{03233033-14E5-4D4B-92BF-CC9E27BABC32}">
      <dsp:nvSpPr>
        <dsp:cNvPr id="0" name=""/>
        <dsp:cNvSpPr/>
      </dsp:nvSpPr>
      <dsp:spPr>
        <a:xfrm>
          <a:off x="5565028" y="2905317"/>
          <a:ext cx="2022288" cy="12133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a:t>print(mi_bool) </a:t>
          </a:r>
          <a:endParaRPr lang="en-US" sz="1600" kern="1200"/>
        </a:p>
      </dsp:txBody>
      <dsp:txXfrm>
        <a:off x="5565028" y="2905317"/>
        <a:ext cx="2022288" cy="1213373"/>
      </dsp:txXfrm>
    </dsp:sp>
    <dsp:sp modelId="{AA553240-FC54-44AC-90EA-FF25492A69AC}">
      <dsp:nvSpPr>
        <dsp:cNvPr id="0" name=""/>
        <dsp:cNvSpPr/>
      </dsp:nvSpPr>
      <dsp:spPr>
        <a:xfrm>
          <a:off x="7789546" y="2905317"/>
          <a:ext cx="2022288" cy="12133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a:t>&gt;&gt; False</a:t>
          </a:r>
          <a:endParaRPr lang="en-US" sz="1600" kern="1200"/>
        </a:p>
      </dsp:txBody>
      <dsp:txXfrm>
        <a:off x="7789546" y="2905317"/>
        <a:ext cx="2022288" cy="121337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22841F-2FBC-4AD8-A6E5-A44D0FFC0F1F}">
      <dsp:nvSpPr>
        <dsp:cNvPr id="0" name=""/>
        <dsp:cNvSpPr/>
      </dsp:nvSpPr>
      <dsp:spPr>
        <a:xfrm>
          <a:off x="212335"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464B26-BB18-4452-AFB1-1AC306A6CFC1}">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B5714E-6E75-4CB7-9E4F-AB37565ECF05}">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s-MX" sz="1500" kern="1200"/>
            <a:t>Una función es un bloque de código que solamente se ejecuta cuando es llamada. Puede recibir información (en forma de parámetros), y devolver datos una vez procesados como resultado.</a:t>
          </a:r>
          <a:endParaRPr lang="en-US" sz="1500" kern="1200"/>
        </a:p>
      </dsp:txBody>
      <dsp:txXfrm>
        <a:off x="1834517" y="469890"/>
        <a:ext cx="3148942" cy="1335915"/>
      </dsp:txXfrm>
    </dsp:sp>
    <dsp:sp modelId="{8DA5AF00-7F28-47C6-BB11-3144CE5EDA27}">
      <dsp:nvSpPr>
        <dsp:cNvPr id="0" name=""/>
        <dsp:cNvSpPr/>
      </dsp:nvSpPr>
      <dsp:spPr>
        <a:xfrm>
          <a:off x="5532139"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1BEF83-B997-4DEF-9491-4F54E1B142F7}">
      <dsp:nvSpPr>
        <dsp:cNvPr id="0" name=""/>
        <dsp:cNvSpPr/>
      </dsp:nvSpPr>
      <dsp:spPr>
        <a:xfrm>
          <a:off x="5812681" y="7504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332F21-FFC1-4F3D-9A62-440439651B15}">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s-MX" sz="1500" kern="1200"/>
            <a:t>una función es definida mediante la palabra clave def</a:t>
          </a:r>
          <a:endParaRPr lang="en-US" sz="1500" kern="1200"/>
        </a:p>
      </dsp:txBody>
      <dsp:txXfrm>
        <a:off x="7154322" y="469890"/>
        <a:ext cx="3148942" cy="1335915"/>
      </dsp:txXfrm>
    </dsp:sp>
    <dsp:sp modelId="{8527593F-1250-4583-B7F5-DF0CB75A31A5}">
      <dsp:nvSpPr>
        <dsp:cNvPr id="0" name=""/>
        <dsp:cNvSpPr/>
      </dsp:nvSpPr>
      <dsp:spPr>
        <a:xfrm>
          <a:off x="212335"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F89E51-478B-4F3C-BAB8-B3B7BFF9FCAF}">
      <dsp:nvSpPr>
        <dsp:cNvPr id="0" name=""/>
        <dsp:cNvSpPr/>
      </dsp:nvSpPr>
      <dsp:spPr>
        <a:xfrm>
          <a:off x="492877" y="282607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8B0B66-1F82-4E86-A3DA-142FA59E643D}">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s-MX" sz="1500" kern="1200"/>
            <a:t>def mi_funcion(argumento):</a:t>
          </a:r>
          <a:endParaRPr lang="en-US" sz="1500" kern="1200"/>
        </a:p>
      </dsp:txBody>
      <dsp:txXfrm>
        <a:off x="1834517" y="2545532"/>
        <a:ext cx="3148942" cy="1335915"/>
      </dsp:txXfrm>
    </dsp:sp>
    <dsp:sp modelId="{251F027B-9ADA-4A01-A6EE-9908F47D276D}">
      <dsp:nvSpPr>
        <dsp:cNvPr id="0" name=""/>
        <dsp:cNvSpPr/>
      </dsp:nvSpPr>
      <dsp:spPr>
        <a:xfrm>
          <a:off x="5532139"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E9B692-2A43-4197-9E47-90A489B6B14C}">
      <dsp:nvSpPr>
        <dsp:cNvPr id="0" name=""/>
        <dsp:cNvSpPr/>
      </dsp:nvSpPr>
      <dsp:spPr>
        <a:xfrm>
          <a:off x="5812681" y="282607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438DA5-20FD-4C5A-9BCD-0A75BBB6347F}">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s-MX" sz="1500" kern="1200"/>
            <a:t>Los argumentos contienen información que la función utiliza o transforma para devolver un resultado</a:t>
          </a:r>
          <a:endParaRPr lang="en-US" sz="1500" kern="1200"/>
        </a:p>
      </dsp:txBody>
      <dsp:txXfrm>
        <a:off x="7154322" y="2545532"/>
        <a:ext cx="3148942" cy="133591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14E7DB-2DC1-4990-BF53-68496ECA2B08}">
      <dsp:nvSpPr>
        <dsp:cNvPr id="0" name=""/>
        <dsp:cNvSpPr/>
      </dsp:nvSpPr>
      <dsp:spPr>
        <a:xfrm>
          <a:off x="0" y="707092"/>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C6E084-9A47-4643-91EB-C2464E777CA2}">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D4D016-9CEF-4AB7-B4ED-DEF4EFEE3259}">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es-MX" sz="2500" kern="1200"/>
            <a:t>mi_funcion(mi_argumento)</a:t>
          </a:r>
          <a:endParaRPr lang="en-US" sz="2500" kern="1200"/>
        </a:p>
      </dsp:txBody>
      <dsp:txXfrm>
        <a:off x="1507738" y="707092"/>
        <a:ext cx="9007861" cy="1305401"/>
      </dsp:txXfrm>
    </dsp:sp>
    <dsp:sp modelId="{742C4FD6-98F3-4F36-A2F0-A4B562E0367E}">
      <dsp:nvSpPr>
        <dsp:cNvPr id="0" name=""/>
        <dsp:cNvSpPr/>
      </dsp:nvSpPr>
      <dsp:spPr>
        <a:xfrm>
          <a:off x="0" y="2338844"/>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F2BC47-BC65-48CD-9B94-5C0BE0E796DA}">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C8C0F0-314E-4113-9C76-6EF2266B2D1C}">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r>
            <a:rPr lang="es-MX" sz="2500" kern="1200"/>
            <a:t>Para llamar a una función, basta utilizar su nombre, entregando los argumentos que la misma requiere entre paréntesis.</a:t>
          </a:r>
          <a:endParaRPr lang="en-US" sz="2500" kern="1200"/>
        </a:p>
      </dsp:txBody>
      <dsp:txXfrm>
        <a:off x="1507738" y="2338844"/>
        <a:ext cx="9007861" cy="130540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2ED61A-9581-47E7-BC9F-C437133100AC}">
      <dsp:nvSpPr>
        <dsp:cNvPr id="0" name=""/>
        <dsp:cNvSpPr/>
      </dsp:nvSpPr>
      <dsp:spPr>
        <a:xfrm>
          <a:off x="0" y="7091"/>
          <a:ext cx="6245265" cy="84954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A199F7-6963-4046-A026-6C5B56670ADA}">
      <dsp:nvSpPr>
        <dsp:cNvPr id="0" name=""/>
        <dsp:cNvSpPr/>
      </dsp:nvSpPr>
      <dsp:spPr>
        <a:xfrm>
          <a:off x="256988" y="198240"/>
          <a:ext cx="467708" cy="4672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1400A4-9613-44E2-98BE-0660138A551B}">
      <dsp:nvSpPr>
        <dsp:cNvPr id="0" name=""/>
        <dsp:cNvSpPr/>
      </dsp:nvSpPr>
      <dsp:spPr>
        <a:xfrm>
          <a:off x="981685" y="7091"/>
          <a:ext cx="5219229" cy="92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340" tIns="98340" rIns="98340" bIns="98340" numCol="1" spcCol="1270" anchor="ctr" anchorCtr="0">
          <a:noAutofit/>
        </a:bodyPr>
        <a:lstStyle/>
        <a:p>
          <a:pPr marL="0" lvl="0" indent="0" algn="l" defTabSz="622300">
            <a:lnSpc>
              <a:spcPct val="90000"/>
            </a:lnSpc>
            <a:spcBef>
              <a:spcPct val="0"/>
            </a:spcBef>
            <a:spcAft>
              <a:spcPct val="35000"/>
            </a:spcAft>
            <a:buNone/>
          </a:pPr>
          <a:r>
            <a:rPr lang="es-MX" sz="1400" kern="1200"/>
            <a:t>La integración de diferentes herramientas de control de flujo, nos permite crear funciones dinámicas y flexibles. Si debemos utilizarlas varias veces, lograremos un programa más limpio y sencillo de mantener, evitando repeticiones de código. </a:t>
          </a:r>
          <a:endParaRPr lang="en-US" sz="1400" kern="1200"/>
        </a:p>
      </dsp:txBody>
      <dsp:txXfrm>
        <a:off x="981685" y="7091"/>
        <a:ext cx="5219229" cy="929193"/>
      </dsp:txXfrm>
    </dsp:sp>
    <dsp:sp modelId="{E7FDBA46-8C17-488F-8C5C-C0D4CCEFD4E5}">
      <dsp:nvSpPr>
        <dsp:cNvPr id="0" name=""/>
        <dsp:cNvSpPr/>
      </dsp:nvSpPr>
      <dsp:spPr>
        <a:xfrm>
          <a:off x="0" y="1168584"/>
          <a:ext cx="6245265" cy="84954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2C4A08-20DD-415E-BE59-D9E18EB25672}">
      <dsp:nvSpPr>
        <dsp:cNvPr id="0" name=""/>
        <dsp:cNvSpPr/>
      </dsp:nvSpPr>
      <dsp:spPr>
        <a:xfrm>
          <a:off x="256988" y="1359732"/>
          <a:ext cx="467708" cy="4672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D9565E-3B23-4689-AE48-2C08119C91B5}">
      <dsp:nvSpPr>
        <dsp:cNvPr id="0" name=""/>
        <dsp:cNvSpPr/>
      </dsp:nvSpPr>
      <dsp:spPr>
        <a:xfrm>
          <a:off x="981685" y="1168584"/>
          <a:ext cx="5219229" cy="92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340" tIns="98340" rIns="98340" bIns="98340" numCol="1" spcCol="1270" anchor="ctr" anchorCtr="0">
          <a:noAutofit/>
        </a:bodyPr>
        <a:lstStyle/>
        <a:p>
          <a:pPr marL="0" lvl="0" indent="0" algn="l" defTabSz="622300">
            <a:lnSpc>
              <a:spcPct val="90000"/>
            </a:lnSpc>
            <a:spcBef>
              <a:spcPct val="0"/>
            </a:spcBef>
            <a:spcAft>
              <a:spcPct val="35000"/>
            </a:spcAft>
            <a:buNone/>
          </a:pPr>
          <a:r>
            <a:rPr lang="es-MX" sz="1400" kern="1200"/>
            <a:t>Funciones </a:t>
          </a:r>
          <a:endParaRPr lang="en-US" sz="1400" kern="1200"/>
        </a:p>
      </dsp:txBody>
      <dsp:txXfrm>
        <a:off x="981685" y="1168584"/>
        <a:ext cx="5219229" cy="929193"/>
      </dsp:txXfrm>
    </dsp:sp>
    <dsp:sp modelId="{A6203FE9-38FE-4F59-8CC2-2CAC2296A040}">
      <dsp:nvSpPr>
        <dsp:cNvPr id="0" name=""/>
        <dsp:cNvSpPr/>
      </dsp:nvSpPr>
      <dsp:spPr>
        <a:xfrm>
          <a:off x="0" y="2330076"/>
          <a:ext cx="6245265" cy="84954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D4CE93-567C-4838-960A-6C586CCACE3F}">
      <dsp:nvSpPr>
        <dsp:cNvPr id="0" name=""/>
        <dsp:cNvSpPr/>
      </dsp:nvSpPr>
      <dsp:spPr>
        <a:xfrm>
          <a:off x="256988" y="2521224"/>
          <a:ext cx="467708" cy="4672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A95AE03-2F20-481A-AC3D-4E5CA5DBFA80}">
      <dsp:nvSpPr>
        <dsp:cNvPr id="0" name=""/>
        <dsp:cNvSpPr/>
      </dsp:nvSpPr>
      <dsp:spPr>
        <a:xfrm>
          <a:off x="981685" y="2330076"/>
          <a:ext cx="5219229" cy="92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340" tIns="98340" rIns="98340" bIns="98340" numCol="1" spcCol="1270" anchor="ctr" anchorCtr="0">
          <a:noAutofit/>
        </a:bodyPr>
        <a:lstStyle/>
        <a:p>
          <a:pPr marL="0" lvl="0" indent="0" algn="l" defTabSz="622300">
            <a:lnSpc>
              <a:spcPct val="90000"/>
            </a:lnSpc>
            <a:spcBef>
              <a:spcPct val="0"/>
            </a:spcBef>
            <a:spcAft>
              <a:spcPct val="35000"/>
            </a:spcAft>
            <a:buNone/>
          </a:pPr>
          <a:r>
            <a:rPr lang="es-MX" sz="1400" kern="1200"/>
            <a:t>Loops (for/while) </a:t>
          </a:r>
          <a:endParaRPr lang="en-US" sz="1400" kern="1200"/>
        </a:p>
      </dsp:txBody>
      <dsp:txXfrm>
        <a:off x="981685" y="2330076"/>
        <a:ext cx="5219229" cy="929193"/>
      </dsp:txXfrm>
    </dsp:sp>
    <dsp:sp modelId="{F0FE35F9-430A-4C59-9AF1-0F4C960211C6}">
      <dsp:nvSpPr>
        <dsp:cNvPr id="0" name=""/>
        <dsp:cNvSpPr/>
      </dsp:nvSpPr>
      <dsp:spPr>
        <a:xfrm>
          <a:off x="0" y="3491568"/>
          <a:ext cx="6245265" cy="84954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3D8CE5-6A52-47F4-8BE1-CC394C0115CA}">
      <dsp:nvSpPr>
        <dsp:cNvPr id="0" name=""/>
        <dsp:cNvSpPr/>
      </dsp:nvSpPr>
      <dsp:spPr>
        <a:xfrm>
          <a:off x="256988" y="3682717"/>
          <a:ext cx="467708" cy="4672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26362B-7F80-4418-BB2D-A460BC7EEA31}">
      <dsp:nvSpPr>
        <dsp:cNvPr id="0" name=""/>
        <dsp:cNvSpPr/>
      </dsp:nvSpPr>
      <dsp:spPr>
        <a:xfrm>
          <a:off x="981685" y="3491568"/>
          <a:ext cx="5219229" cy="92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340" tIns="98340" rIns="98340" bIns="98340" numCol="1" spcCol="1270" anchor="ctr" anchorCtr="0">
          <a:noAutofit/>
        </a:bodyPr>
        <a:lstStyle/>
        <a:p>
          <a:pPr marL="0" lvl="0" indent="0" algn="l" defTabSz="622300">
            <a:lnSpc>
              <a:spcPct val="90000"/>
            </a:lnSpc>
            <a:spcBef>
              <a:spcPct val="0"/>
            </a:spcBef>
            <a:spcAft>
              <a:spcPct val="35000"/>
            </a:spcAft>
            <a:buNone/>
          </a:pPr>
          <a:r>
            <a:rPr lang="es-MX" sz="1400" kern="1200"/>
            <a:t>Estructuras condicionales</a:t>
          </a:r>
          <a:endParaRPr lang="en-US" sz="1400" kern="1200"/>
        </a:p>
      </dsp:txBody>
      <dsp:txXfrm>
        <a:off x="981685" y="3491568"/>
        <a:ext cx="5219229" cy="929193"/>
      </dsp:txXfrm>
    </dsp:sp>
    <dsp:sp modelId="{76A49A33-822C-4C6C-9B14-CEF603A05266}">
      <dsp:nvSpPr>
        <dsp:cNvPr id="0" name=""/>
        <dsp:cNvSpPr/>
      </dsp:nvSpPr>
      <dsp:spPr>
        <a:xfrm>
          <a:off x="0" y="4653061"/>
          <a:ext cx="6245265" cy="849548"/>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9BD432-F71D-49E9-B6E2-040BBB79F0BF}">
      <dsp:nvSpPr>
        <dsp:cNvPr id="0" name=""/>
        <dsp:cNvSpPr/>
      </dsp:nvSpPr>
      <dsp:spPr>
        <a:xfrm>
          <a:off x="256988" y="4844209"/>
          <a:ext cx="467708" cy="46725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201FCE-EE22-4158-8931-18A4A998EC23}">
      <dsp:nvSpPr>
        <dsp:cNvPr id="0" name=""/>
        <dsp:cNvSpPr/>
      </dsp:nvSpPr>
      <dsp:spPr>
        <a:xfrm>
          <a:off x="981685" y="4653061"/>
          <a:ext cx="5219229" cy="92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340" tIns="98340" rIns="98340" bIns="98340" numCol="1" spcCol="1270" anchor="ctr" anchorCtr="0">
          <a:noAutofit/>
        </a:bodyPr>
        <a:lstStyle/>
        <a:p>
          <a:pPr marL="0" lvl="0" indent="0" algn="l" defTabSz="622300">
            <a:lnSpc>
              <a:spcPct val="90000"/>
            </a:lnSpc>
            <a:spcBef>
              <a:spcPct val="0"/>
            </a:spcBef>
            <a:spcAft>
              <a:spcPct val="35000"/>
            </a:spcAft>
            <a:buNone/>
          </a:pPr>
          <a:r>
            <a:rPr lang="es-MX" sz="1400" kern="1200"/>
            <a:t>Palabras clave (return, break, continue, pass) </a:t>
          </a:r>
          <a:endParaRPr lang="en-US" sz="1400" kern="1200"/>
        </a:p>
      </dsp:txBody>
      <dsp:txXfrm>
        <a:off x="981685" y="4653061"/>
        <a:ext cx="5219229" cy="92919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11CB49-5CA8-433F-B6D5-77607F06ED32}">
      <dsp:nvSpPr>
        <dsp:cNvPr id="0" name=""/>
        <dsp:cNvSpPr/>
      </dsp:nvSpPr>
      <dsp:spPr>
        <a:xfrm>
          <a:off x="0" y="441713"/>
          <a:ext cx="6245265" cy="11419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s-MX" sz="1600" b="0" i="0" kern="1200" baseline="0"/>
            <a:t>Crea una </a:t>
          </a:r>
          <a:r>
            <a:rPr lang="es-MX" sz="1600" b="1" i="0" kern="1200" baseline="0"/>
            <a:t>función </a:t>
          </a:r>
          <a:r>
            <a:rPr lang="es-MX" sz="1600" b="0" i="0" kern="1200" baseline="0"/>
            <a:t>(todos_positivos) que reciba una lista de números como parámetro, y </a:t>
          </a:r>
          <a:r>
            <a:rPr lang="es-MX" sz="1600" b="0" i="1" kern="1200" baseline="0"/>
            <a:t>devuelva </a:t>
          </a:r>
          <a:r>
            <a:rPr lang="es-MX" sz="1600" b="0" i="0" kern="1200" baseline="0"/>
            <a:t>True si todos los valores de una </a:t>
          </a:r>
          <a:r>
            <a:rPr lang="es-MX" sz="1600" b="1" i="0" kern="1200" baseline="0"/>
            <a:t>lista</a:t>
          </a:r>
          <a:r>
            <a:rPr lang="es-MX" sz="1600" b="0" i="0" kern="1200" baseline="0"/>
            <a:t> son positivos, y False </a:t>
          </a:r>
          <a:r>
            <a:rPr lang="es-MX" sz="1600" b="0" i="1" kern="1200" baseline="0"/>
            <a:t>si al menos uno de los valores es negativo. </a:t>
          </a:r>
          <a:r>
            <a:rPr lang="es-MX" sz="1600" b="0" i="0" kern="1200" baseline="0"/>
            <a:t>Crea una lista llamada lista_numeros con valores positivos y negativos.</a:t>
          </a:r>
          <a:endParaRPr lang="en-US" sz="1600" kern="1200"/>
        </a:p>
      </dsp:txBody>
      <dsp:txXfrm>
        <a:off x="55744" y="497457"/>
        <a:ext cx="6133777" cy="1030432"/>
      </dsp:txXfrm>
    </dsp:sp>
    <dsp:sp modelId="{876AF1CF-C852-4979-AA3F-32018D7A539F}">
      <dsp:nvSpPr>
        <dsp:cNvPr id="0" name=""/>
        <dsp:cNvSpPr/>
      </dsp:nvSpPr>
      <dsp:spPr>
        <a:xfrm>
          <a:off x="0" y="1629713"/>
          <a:ext cx="6245265" cy="1141920"/>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s-MX" sz="1600" b="0" i="1" kern="1200" baseline="0"/>
            <a:t>No invoques la función, solo es necesario definirla</a:t>
          </a:r>
          <a:endParaRPr lang="en-US" sz="1600" kern="1200"/>
        </a:p>
      </dsp:txBody>
      <dsp:txXfrm>
        <a:off x="55744" y="1685457"/>
        <a:ext cx="6133777" cy="1030432"/>
      </dsp:txXfrm>
    </dsp:sp>
    <dsp:sp modelId="{66B627AA-9280-4F9E-BFB9-75C6437E9F92}">
      <dsp:nvSpPr>
        <dsp:cNvPr id="0" name=""/>
        <dsp:cNvSpPr/>
      </dsp:nvSpPr>
      <dsp:spPr>
        <a:xfrm>
          <a:off x="0" y="2817713"/>
          <a:ext cx="6245265" cy="1141920"/>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s-MX" sz="1600" b="0" i="0" kern="1200" baseline="0"/>
            <a:t>Crea una </a:t>
          </a:r>
          <a:r>
            <a:rPr lang="es-MX" sz="1600" b="1" i="0" kern="1200" baseline="0"/>
            <a:t>función </a:t>
          </a:r>
          <a:r>
            <a:rPr lang="es-MX" sz="1600" b="0" i="0" kern="1200" baseline="0"/>
            <a:t>(suma_menores) que sume los números de una </a:t>
          </a:r>
          <a:r>
            <a:rPr lang="es-MX" sz="1600" b="1" i="0" kern="1200" baseline="0"/>
            <a:t>lista </a:t>
          </a:r>
          <a:r>
            <a:rPr lang="es-MX" sz="1600" b="0" i="0" kern="1200" baseline="0"/>
            <a:t>(almacenada en la </a:t>
          </a:r>
          <a:r>
            <a:rPr lang="es-MX" sz="1600" b="1" i="0" kern="1200" baseline="0"/>
            <a:t>variable </a:t>
          </a:r>
          <a:r>
            <a:rPr lang="es-MX" sz="1600" b="0" i="0" kern="1200" baseline="0"/>
            <a:t>lista_numeros) siempre y cuando sean </a:t>
          </a:r>
          <a:r>
            <a:rPr lang="es-MX" sz="1600" b="1" i="0" kern="1200" baseline="0"/>
            <a:t>mayores a 0 y menores a 1000</a:t>
          </a:r>
          <a:r>
            <a:rPr lang="es-MX" sz="1600" b="0" i="0" kern="1200" baseline="0"/>
            <a:t>, y </a:t>
          </a:r>
          <a:r>
            <a:rPr lang="es-MX" sz="1600" b="0" i="1" kern="1200" baseline="0"/>
            <a:t>devuelva </a:t>
          </a:r>
          <a:r>
            <a:rPr lang="es-MX" sz="1600" b="0" i="0" kern="1200" baseline="0"/>
            <a:t>el </a:t>
          </a:r>
          <a:r>
            <a:rPr lang="es-MX" sz="1600" b="0" i="1" kern="1200" baseline="0"/>
            <a:t>resultado </a:t>
          </a:r>
          <a:r>
            <a:rPr lang="es-MX" sz="1600" b="0" i="0" kern="1200" baseline="0"/>
            <a:t>de dicha suma</a:t>
          </a:r>
          <a:endParaRPr lang="en-US" sz="1600" kern="1200"/>
        </a:p>
      </dsp:txBody>
      <dsp:txXfrm>
        <a:off x="55744" y="2873457"/>
        <a:ext cx="6133777" cy="1030432"/>
      </dsp:txXfrm>
    </dsp:sp>
    <dsp:sp modelId="{4A11618E-9F1F-47ED-81B7-203DF8FF11E4}">
      <dsp:nvSpPr>
        <dsp:cNvPr id="0" name=""/>
        <dsp:cNvSpPr/>
      </dsp:nvSpPr>
      <dsp:spPr>
        <a:xfrm>
          <a:off x="0" y="4005713"/>
          <a:ext cx="6245265" cy="114192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s-MX" sz="1600" b="0" i="0" kern="1200" baseline="0"/>
            <a:t>Crea una </a:t>
          </a:r>
          <a:r>
            <a:rPr lang="es-MX" sz="1600" b="1" i="0" kern="1200" baseline="0"/>
            <a:t>función </a:t>
          </a:r>
          <a:r>
            <a:rPr lang="es-MX" sz="1600" b="0" i="0" kern="1200" baseline="0"/>
            <a:t>(cantidad_pares) que </a:t>
          </a:r>
          <a:r>
            <a:rPr lang="es-MX" sz="1600" b="1" i="0" kern="1200" baseline="0"/>
            <a:t>cuente </a:t>
          </a:r>
          <a:r>
            <a:rPr lang="es-MX" sz="1600" b="0" i="0" kern="1200" baseline="0"/>
            <a:t>la cantidad de números pares que existen en una </a:t>
          </a:r>
          <a:r>
            <a:rPr lang="es-MX" sz="1600" b="1" i="0" kern="1200" baseline="0"/>
            <a:t>lista </a:t>
          </a:r>
          <a:r>
            <a:rPr lang="es-MX" sz="1600" b="0" i="0" kern="1200" baseline="0"/>
            <a:t>(lista_numeros), y </a:t>
          </a:r>
          <a:r>
            <a:rPr lang="es-MX" sz="1600" b="0" i="1" kern="1200" baseline="0"/>
            <a:t>devuelva </a:t>
          </a:r>
          <a:r>
            <a:rPr lang="es-MX" sz="1600" b="0" i="0" kern="1200" baseline="0"/>
            <a:t>el resultado de dicha </a:t>
          </a:r>
          <a:r>
            <a:rPr lang="es-MX" sz="1600" b="0" i="1" kern="1200" baseline="0"/>
            <a:t>cuenta</a:t>
          </a:r>
          <a:endParaRPr lang="en-US" sz="1600" kern="1200"/>
        </a:p>
      </dsp:txBody>
      <dsp:txXfrm>
        <a:off x="55744" y="4061457"/>
        <a:ext cx="6133777" cy="103043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F27667-55D6-45C3-A0E2-ECA0CA8BF55A}">
      <dsp:nvSpPr>
        <dsp:cNvPr id="0" name=""/>
        <dsp:cNvSpPr/>
      </dsp:nvSpPr>
      <dsp:spPr>
        <a:xfrm>
          <a:off x="0" y="112786"/>
          <a:ext cx="6666833" cy="1268206"/>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MX" sz="1800" kern="1200"/>
            <a:t>Los atributos son variables que pertenecen a la clase. Existen atributos de clase (compartidos por todas las instancias de la clase), y de instancia (que son distintos en cada instancia de la clase). </a:t>
          </a:r>
          <a:endParaRPr lang="en-US" sz="1800" kern="1200"/>
        </a:p>
      </dsp:txBody>
      <dsp:txXfrm>
        <a:off x="61909" y="174695"/>
        <a:ext cx="6543015" cy="1144388"/>
      </dsp:txXfrm>
    </dsp:sp>
    <dsp:sp modelId="{EB055F76-228A-440A-A29F-29BA77D12F9C}">
      <dsp:nvSpPr>
        <dsp:cNvPr id="0" name=""/>
        <dsp:cNvSpPr/>
      </dsp:nvSpPr>
      <dsp:spPr>
        <a:xfrm>
          <a:off x="0" y="1432833"/>
          <a:ext cx="6666833" cy="1268206"/>
        </a:xfrm>
        <a:prstGeom prst="roundRect">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MX" sz="1800" kern="1200"/>
            <a:t>Cada objeto creado a partir de la clase puede compartir determinadas características = atributos de clase (por ejemplo: cantidad de caras)</a:t>
          </a:r>
          <a:endParaRPr lang="en-US" sz="1800" kern="1200"/>
        </a:p>
      </dsp:txBody>
      <dsp:txXfrm>
        <a:off x="61909" y="1494742"/>
        <a:ext cx="6543015" cy="1144388"/>
      </dsp:txXfrm>
    </dsp:sp>
    <dsp:sp modelId="{340F0635-5BB5-4635-A2F8-5A001261E449}">
      <dsp:nvSpPr>
        <dsp:cNvPr id="0" name=""/>
        <dsp:cNvSpPr/>
      </dsp:nvSpPr>
      <dsp:spPr>
        <a:xfrm>
          <a:off x="0" y="2752880"/>
          <a:ext cx="6666833" cy="1268206"/>
        </a:xfrm>
        <a:prstGeom prst="roundRect">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MX" sz="1800" kern="1200"/>
            <a:t>Cada objeto creado a partir de la clase puede contener características específicas = atributos de instancia (por ejemplo: color, altura, ancho, largo...)</a:t>
          </a:r>
          <a:endParaRPr lang="en-US" sz="1800" kern="1200"/>
        </a:p>
      </dsp:txBody>
      <dsp:txXfrm>
        <a:off x="61909" y="2814789"/>
        <a:ext cx="6543015" cy="1144388"/>
      </dsp:txXfrm>
    </dsp:sp>
    <dsp:sp modelId="{5BA112C6-05A6-49E8-935F-8B0CC2C9D943}">
      <dsp:nvSpPr>
        <dsp:cNvPr id="0" name=""/>
        <dsp:cNvSpPr/>
      </dsp:nvSpPr>
      <dsp:spPr>
        <a:xfrm>
          <a:off x="0" y="4072926"/>
          <a:ext cx="6666833" cy="1268206"/>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MX" sz="1800" kern="1200"/>
            <a:t>Todas las clases tienen una función que se ejecuta al instanciarla, llamada __init__(), y que se utiliza para asignar valores a las propiedades del objeto que está siendo creado. self: representa a la instancia del objeto que se va a crear</a:t>
          </a:r>
          <a:endParaRPr lang="en-US" sz="1800" kern="1200"/>
        </a:p>
      </dsp:txBody>
      <dsp:txXfrm>
        <a:off x="61909" y="4134835"/>
        <a:ext cx="6543015" cy="114438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1F9126-647B-49CB-A923-6146B77D6FA5}">
      <dsp:nvSpPr>
        <dsp:cNvPr id="0" name=""/>
        <dsp:cNvSpPr/>
      </dsp:nvSpPr>
      <dsp:spPr>
        <a:xfrm>
          <a:off x="0" y="665"/>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68500FB9-6828-4D06-9005-3DA26ACFC75A}">
      <dsp:nvSpPr>
        <dsp:cNvPr id="0" name=""/>
        <dsp:cNvSpPr/>
      </dsp:nvSpPr>
      <dsp:spPr>
        <a:xfrm>
          <a:off x="0" y="665"/>
          <a:ext cx="6666833" cy="419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MX" sz="1300" b="0" i="0" kern="1200" baseline="0"/>
            <a:t>Crea una clase llamada Casa, y asígnale atributos: color, cantidad_pisos.</a:t>
          </a:r>
          <a:endParaRPr lang="en-US" sz="1300" kern="1200"/>
        </a:p>
      </dsp:txBody>
      <dsp:txXfrm>
        <a:off x="0" y="665"/>
        <a:ext cx="6666833" cy="419429"/>
      </dsp:txXfrm>
    </dsp:sp>
    <dsp:sp modelId="{05878A40-6118-4759-9FC4-4FD59CA4E4D6}">
      <dsp:nvSpPr>
        <dsp:cNvPr id="0" name=""/>
        <dsp:cNvSpPr/>
      </dsp:nvSpPr>
      <dsp:spPr>
        <a:xfrm>
          <a:off x="0" y="420095"/>
          <a:ext cx="6666833"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57247890-C34C-44CE-A6B3-838D3DCB38FB}">
      <dsp:nvSpPr>
        <dsp:cNvPr id="0" name=""/>
        <dsp:cNvSpPr/>
      </dsp:nvSpPr>
      <dsp:spPr>
        <a:xfrm>
          <a:off x="0" y="420095"/>
          <a:ext cx="6666833" cy="419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MX" sz="1300" b="0" i="0" kern="1200" baseline="0"/>
            <a:t>Crea una instancia de Casa, llamada casa_blanca, de color "blanco" y cantidad de pisos igual a 4.</a:t>
          </a:r>
          <a:endParaRPr lang="en-US" sz="1300" kern="1200"/>
        </a:p>
      </dsp:txBody>
      <dsp:txXfrm>
        <a:off x="0" y="420095"/>
        <a:ext cx="6666833" cy="419429"/>
      </dsp:txXfrm>
    </dsp:sp>
    <dsp:sp modelId="{C4ED4497-E933-4828-8A26-225A4C369816}">
      <dsp:nvSpPr>
        <dsp:cNvPr id="0" name=""/>
        <dsp:cNvSpPr/>
      </dsp:nvSpPr>
      <dsp:spPr>
        <a:xfrm>
          <a:off x="0" y="839525"/>
          <a:ext cx="6666833"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C8A986C-F994-425C-9C43-A575DBE2FE4E}">
      <dsp:nvSpPr>
        <dsp:cNvPr id="0" name=""/>
        <dsp:cNvSpPr/>
      </dsp:nvSpPr>
      <dsp:spPr>
        <a:xfrm>
          <a:off x="0" y="839525"/>
          <a:ext cx="6666833" cy="419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MX" sz="1300" b="0" i="0" kern="1200" baseline="0"/>
            <a:t>Crea una clase llamada Cubo, y asígnale el atributo de clase:</a:t>
          </a:r>
          <a:endParaRPr lang="en-US" sz="1300" kern="1200"/>
        </a:p>
      </dsp:txBody>
      <dsp:txXfrm>
        <a:off x="0" y="839525"/>
        <a:ext cx="6666833" cy="419429"/>
      </dsp:txXfrm>
    </dsp:sp>
    <dsp:sp modelId="{33408BBB-04E6-498F-9D6D-9CC8AF4293BA}">
      <dsp:nvSpPr>
        <dsp:cNvPr id="0" name=""/>
        <dsp:cNvSpPr/>
      </dsp:nvSpPr>
      <dsp:spPr>
        <a:xfrm>
          <a:off x="0" y="1258955"/>
          <a:ext cx="6666833"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FEAEBE5D-2F4B-4ECD-8D9C-A64818921280}">
      <dsp:nvSpPr>
        <dsp:cNvPr id="0" name=""/>
        <dsp:cNvSpPr/>
      </dsp:nvSpPr>
      <dsp:spPr>
        <a:xfrm>
          <a:off x="0" y="1258955"/>
          <a:ext cx="6666833" cy="419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MX" sz="1300" b="0" i="0" kern="1200" baseline="0"/>
            <a:t>caras = 6</a:t>
          </a:r>
          <a:endParaRPr lang="en-US" sz="1300" kern="1200"/>
        </a:p>
      </dsp:txBody>
      <dsp:txXfrm>
        <a:off x="0" y="1258955"/>
        <a:ext cx="6666833" cy="419429"/>
      </dsp:txXfrm>
    </dsp:sp>
    <dsp:sp modelId="{3E6ABCA9-83AE-4B0F-9BB5-F9A06BD16E67}">
      <dsp:nvSpPr>
        <dsp:cNvPr id="0" name=""/>
        <dsp:cNvSpPr/>
      </dsp:nvSpPr>
      <dsp:spPr>
        <a:xfrm>
          <a:off x="0" y="1678385"/>
          <a:ext cx="6666833"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B15E94E7-5943-4222-9243-4C919E3CF1F5}">
      <dsp:nvSpPr>
        <dsp:cNvPr id="0" name=""/>
        <dsp:cNvSpPr/>
      </dsp:nvSpPr>
      <dsp:spPr>
        <a:xfrm>
          <a:off x="0" y="1678385"/>
          <a:ext cx="6666833" cy="419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MX" sz="1300" b="0" i="0" kern="1200" baseline="0"/>
            <a:t>y el atributo de instancia:</a:t>
          </a:r>
          <a:endParaRPr lang="en-US" sz="1300" kern="1200"/>
        </a:p>
      </dsp:txBody>
      <dsp:txXfrm>
        <a:off x="0" y="1678385"/>
        <a:ext cx="6666833" cy="419429"/>
      </dsp:txXfrm>
    </dsp:sp>
    <dsp:sp modelId="{963430EE-B01A-48EA-B46B-6DDA89A947CD}">
      <dsp:nvSpPr>
        <dsp:cNvPr id="0" name=""/>
        <dsp:cNvSpPr/>
      </dsp:nvSpPr>
      <dsp:spPr>
        <a:xfrm>
          <a:off x="0" y="2097815"/>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3E4D822-1689-4616-86B4-A79C631CF795}">
      <dsp:nvSpPr>
        <dsp:cNvPr id="0" name=""/>
        <dsp:cNvSpPr/>
      </dsp:nvSpPr>
      <dsp:spPr>
        <a:xfrm>
          <a:off x="0" y="2097815"/>
          <a:ext cx="6666833" cy="419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MX" sz="1300" b="0" i="0" kern="1200" baseline="0"/>
            <a:t>color</a:t>
          </a:r>
          <a:endParaRPr lang="en-US" sz="1300" kern="1200"/>
        </a:p>
      </dsp:txBody>
      <dsp:txXfrm>
        <a:off x="0" y="2097815"/>
        <a:ext cx="6666833" cy="419429"/>
      </dsp:txXfrm>
    </dsp:sp>
    <dsp:sp modelId="{0C8DEFE9-E150-4085-BE90-71D3014DBD29}">
      <dsp:nvSpPr>
        <dsp:cNvPr id="0" name=""/>
        <dsp:cNvSpPr/>
      </dsp:nvSpPr>
      <dsp:spPr>
        <a:xfrm>
          <a:off x="0" y="2517245"/>
          <a:ext cx="6666833"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71C2EAE0-54FA-4086-8A40-60A76A54CEC3}">
      <dsp:nvSpPr>
        <dsp:cNvPr id="0" name=""/>
        <dsp:cNvSpPr/>
      </dsp:nvSpPr>
      <dsp:spPr>
        <a:xfrm>
          <a:off x="0" y="2517245"/>
          <a:ext cx="6666833" cy="419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MX" sz="1300" b="0" i="0" kern="1200" baseline="0"/>
            <a:t>Crea una instancia cubo_rojo, de dicho color.</a:t>
          </a:r>
          <a:endParaRPr lang="en-US" sz="1300" kern="1200"/>
        </a:p>
      </dsp:txBody>
      <dsp:txXfrm>
        <a:off x="0" y="2517245"/>
        <a:ext cx="6666833" cy="419429"/>
      </dsp:txXfrm>
    </dsp:sp>
    <dsp:sp modelId="{9259D1D3-2FCA-4BD4-9FC0-B3E1A37DFFDA}">
      <dsp:nvSpPr>
        <dsp:cNvPr id="0" name=""/>
        <dsp:cNvSpPr/>
      </dsp:nvSpPr>
      <dsp:spPr>
        <a:xfrm>
          <a:off x="0" y="2936674"/>
          <a:ext cx="6666833"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4B1E78B-9FF9-4320-852B-DED156FB3675}">
      <dsp:nvSpPr>
        <dsp:cNvPr id="0" name=""/>
        <dsp:cNvSpPr/>
      </dsp:nvSpPr>
      <dsp:spPr>
        <a:xfrm>
          <a:off x="0" y="2936674"/>
          <a:ext cx="6666833" cy="419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MX" sz="1300" b="0" i="0" kern="1200" baseline="0"/>
            <a:t>Crea una clase llamada Personaje, y asígnale el siguiente atributo de clase:</a:t>
          </a:r>
          <a:endParaRPr lang="en-US" sz="1300" kern="1200"/>
        </a:p>
      </dsp:txBody>
      <dsp:txXfrm>
        <a:off x="0" y="2936674"/>
        <a:ext cx="6666833" cy="419429"/>
      </dsp:txXfrm>
    </dsp:sp>
    <dsp:sp modelId="{5DAEC630-DBD3-4EF8-8785-42F8E24948FD}">
      <dsp:nvSpPr>
        <dsp:cNvPr id="0" name=""/>
        <dsp:cNvSpPr/>
      </dsp:nvSpPr>
      <dsp:spPr>
        <a:xfrm>
          <a:off x="0" y="3356104"/>
          <a:ext cx="6666833"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65294F8D-51D3-445F-83BE-B62832D07E32}">
      <dsp:nvSpPr>
        <dsp:cNvPr id="0" name=""/>
        <dsp:cNvSpPr/>
      </dsp:nvSpPr>
      <dsp:spPr>
        <a:xfrm>
          <a:off x="0" y="3356104"/>
          <a:ext cx="6666833" cy="419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MX" sz="1300" b="0" i="0" kern="1200" baseline="0"/>
            <a:t>real = False</a:t>
          </a:r>
          <a:endParaRPr lang="en-US" sz="1300" kern="1200"/>
        </a:p>
      </dsp:txBody>
      <dsp:txXfrm>
        <a:off x="0" y="3356104"/>
        <a:ext cx="6666833" cy="419429"/>
      </dsp:txXfrm>
    </dsp:sp>
    <dsp:sp modelId="{F7B0DC81-B1EA-41D7-BE04-50840F9C35B8}">
      <dsp:nvSpPr>
        <dsp:cNvPr id="0" name=""/>
        <dsp:cNvSpPr/>
      </dsp:nvSpPr>
      <dsp:spPr>
        <a:xfrm>
          <a:off x="0" y="3775534"/>
          <a:ext cx="6666833"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B967A37-B50A-4037-AC26-45CE9B9A493A}">
      <dsp:nvSpPr>
        <dsp:cNvPr id="0" name=""/>
        <dsp:cNvSpPr/>
      </dsp:nvSpPr>
      <dsp:spPr>
        <a:xfrm>
          <a:off x="0" y="3775534"/>
          <a:ext cx="6666833" cy="419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MX" sz="1300" b="0" i="0" kern="1200" baseline="0"/>
            <a:t>Crea una instancia llamada harry_potter con los siguientes atributos de instancia:</a:t>
          </a:r>
          <a:endParaRPr lang="en-US" sz="1300" kern="1200"/>
        </a:p>
      </dsp:txBody>
      <dsp:txXfrm>
        <a:off x="0" y="3775534"/>
        <a:ext cx="6666833" cy="419429"/>
      </dsp:txXfrm>
    </dsp:sp>
    <dsp:sp modelId="{5A17CA86-AA5C-46C7-A3EE-67307A991E73}">
      <dsp:nvSpPr>
        <dsp:cNvPr id="0" name=""/>
        <dsp:cNvSpPr/>
      </dsp:nvSpPr>
      <dsp:spPr>
        <a:xfrm>
          <a:off x="0" y="4194964"/>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B5DB2D3-75BF-4841-AAB0-AC74FA413A92}">
      <dsp:nvSpPr>
        <dsp:cNvPr id="0" name=""/>
        <dsp:cNvSpPr/>
      </dsp:nvSpPr>
      <dsp:spPr>
        <a:xfrm>
          <a:off x="0" y="4194964"/>
          <a:ext cx="6666833" cy="419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MX" sz="1300" b="0" i="0" kern="1200" baseline="0"/>
            <a:t>especie = "Humano"</a:t>
          </a:r>
          <a:endParaRPr lang="en-US" sz="1300" kern="1200"/>
        </a:p>
      </dsp:txBody>
      <dsp:txXfrm>
        <a:off x="0" y="4194964"/>
        <a:ext cx="6666833" cy="419429"/>
      </dsp:txXfrm>
    </dsp:sp>
    <dsp:sp modelId="{A1693C6F-835B-44E6-B2F7-2A87AD740AFA}">
      <dsp:nvSpPr>
        <dsp:cNvPr id="0" name=""/>
        <dsp:cNvSpPr/>
      </dsp:nvSpPr>
      <dsp:spPr>
        <a:xfrm>
          <a:off x="0" y="4614394"/>
          <a:ext cx="6666833"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0F4FB6B3-AAFB-4B1B-8990-DC9411A3874E}">
      <dsp:nvSpPr>
        <dsp:cNvPr id="0" name=""/>
        <dsp:cNvSpPr/>
      </dsp:nvSpPr>
      <dsp:spPr>
        <a:xfrm>
          <a:off x="0" y="4614394"/>
          <a:ext cx="6666833" cy="419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MX" sz="1300" b="0" i="0" kern="1200" baseline="0"/>
            <a:t>magico = True</a:t>
          </a:r>
          <a:endParaRPr lang="en-US" sz="1300" kern="1200"/>
        </a:p>
      </dsp:txBody>
      <dsp:txXfrm>
        <a:off x="0" y="4614394"/>
        <a:ext cx="6666833" cy="419429"/>
      </dsp:txXfrm>
    </dsp:sp>
    <dsp:sp modelId="{3D402745-9E5F-4609-B519-EBC7259FC4CF}">
      <dsp:nvSpPr>
        <dsp:cNvPr id="0" name=""/>
        <dsp:cNvSpPr/>
      </dsp:nvSpPr>
      <dsp:spPr>
        <a:xfrm>
          <a:off x="0" y="5033824"/>
          <a:ext cx="6666833"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FD2FF62-B5CB-4422-85E5-613A23FE1EF3}">
      <dsp:nvSpPr>
        <dsp:cNvPr id="0" name=""/>
        <dsp:cNvSpPr/>
      </dsp:nvSpPr>
      <dsp:spPr>
        <a:xfrm>
          <a:off x="0" y="5033824"/>
          <a:ext cx="6666833" cy="419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MX" sz="1300" b="0" i="0" kern="1200" baseline="0"/>
            <a:t>edad = 17</a:t>
          </a:r>
          <a:endParaRPr lang="en-US" sz="1300" kern="1200"/>
        </a:p>
      </dsp:txBody>
      <dsp:txXfrm>
        <a:off x="0" y="5033824"/>
        <a:ext cx="6666833" cy="41942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node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1920" max="3840" units="cm"/>
          <inkml:channel name="Y" type="integer" max="1094" units="cm"/>
          <inkml:channel name="T" type="integer" max="2.14748E9" units="dev"/>
        </inkml:traceFormat>
        <inkml:channelProperties>
          <inkml:channelProperty channel="X" name="resolution" value="96.48241" units="1/cm"/>
          <inkml:channelProperty channel="Y" name="resolution" value="32.55952" units="1/cm"/>
          <inkml:channelProperty channel="T" name="resolution" value="1" units="1/dev"/>
        </inkml:channelProperties>
      </inkml:inkSource>
      <inkml:timestamp xml:id="ts0" timeString="2025-08-23T01:07:46.757"/>
    </inkml:context>
    <inkml:brush xml:id="br0">
      <inkml:brushProperty name="width" value="0.05292" units="cm"/>
      <inkml:brushProperty name="height" value="0.05292" units="cm"/>
      <inkml:brushProperty name="color" value="#FF0000"/>
    </inkml:brush>
  </inkml:definitions>
  <inkml:trace contextRef="#ctx0" brushRef="#br0">16550 10334 0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3:55:41.756"/>
    </inkml:context>
    <inkml:brush xml:id="br0">
      <inkml:brushProperty name="width" value="0.05" units="cm"/>
      <inkml:brushProperty name="height" value="0.05" units="cm"/>
      <inkml:brushProperty name="color" value="#E71224"/>
    </inkml:brush>
  </inkml:definitions>
  <inkml:trace contextRef="#ctx0" brushRef="#br0">413 1442 24575,'4'-1'0,"1"0"0,-1 1 0,1-2 0,-1 1 0,0 0 0,0-1 0,1 0 0,-1 0 0,0 0 0,-1 0 0,1-1 0,6-5 0,43-43 0,-40 38 0,125-147 0,-19 21 0,-89 106 0,-2-1 0,-1-1 0,-2-1 0,38-76 0,-50 86 0,-2-1 0,-1 0 0,-1-1 0,-2 0 0,0-1 0,-2 1 0,-2-1 0,1-43 0,-4 47 0,1-3 0,-2-1 0,-5-28 0,4 48 0,0 0 0,0 0 0,-1 1 0,0-1 0,-1 1 0,0-1 0,0 1 0,0 0 0,-1 0 0,-9-10 0,-13-9 0,0 1 0,-2 2 0,-1 1 0,0 1 0,-2 2 0,0 1 0,-1 1 0,-1 2 0,-1 2 0,-70-20 0,68 26 0,0 2 0,-1 1 0,0 2 0,0 2 0,-1 2 0,1 1 0,-38 7 0,48-4 0,-47 15 0,63-16 0,0 0 0,0 1 0,0 1 0,1 0 0,0 0 0,-12 10 0,20-12-76,-1-1 1,1 1-1,0 0 0,1 0 0,-1 0 0,1 0 0,0 0 0,0 1 1,0-1-1,0 1 0,1 0 0,0-1 0,0 1 0,0 0 1,0-1-1,1 1 0,0 9 0,0 8-6750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3:55:41.757"/>
    </inkml:context>
    <inkml:brush xml:id="br0">
      <inkml:brushProperty name="width" value="0.05" units="cm"/>
      <inkml:brushProperty name="height" value="0.05" units="cm"/>
      <inkml:brushProperty name="color" value="#E71224"/>
    </inkml:brush>
  </inkml:definitions>
  <inkml:trace contextRef="#ctx0" brushRef="#br0">2 12 24575,'0'0'0,"-1"-1"0,1 1 0,0 0 0,0-1 0,0 1 0,0 0 0,0-1 0,0 1 0,0 0 0,0-1 0,0 1 0,0 0 0,0-1 0,0 1 0,0-1 0,0 1 0,0 0 0,1-1 0,-1 1 0,0 0 0,0-1 0,0 1 0,0 0 0,1 0 0,-1-1 0,0 1 0,0 0 0,0-1 0,1 1 0,-1 0 0,0 0 0,1 0 0,-1-1 0,0 1 0,1 0 0,-1 0 0,0 0 0,1 0 0,-1-1 0,0 1 0,1 0 0,-1 0 0,0 0 0,1 0 0,-1 0 0,0 0 0,1 0 0,-1 0 0,0 0 0,1 0 0,-1 0 0,1 0 0,-1 1 0,0-1 0,1 0 0,-1 0 0,0 0 0,0 0 0,1 1 0,-1-1 0,0 0 0,1 0 0,-1 0 0,0 1 0,0-1 0,1 0 0,-1 1 0,18 20 0,-13-10 0,-1 0 0,-1 0 0,0 1 0,0-1 0,1 23 0,-1 63 0,-4-59 0,1-1 0,2 0 0,10 62 0,-9-87 0,0-1 0,0 0 0,1 0 0,0-1 0,1 1 0,0-1 0,1 0 0,0 0 0,1-1 0,0 0 0,0 0 0,1 0 0,9 7 0,0-2 24,0-2 0,1 0 0,0-1 0,37 17 0,86 22-1509,-114-41-5341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4:00:19.673"/>
    </inkml:context>
    <inkml:brush xml:id="br0">
      <inkml:brushProperty name="width" value="0.05" units="cm"/>
      <inkml:brushProperty name="height" value="0.05" units="cm"/>
      <inkml:brushProperty name="color" value="#E71224"/>
    </inkml:brush>
  </inkml:definitions>
  <inkml:trace contextRef="#ctx0" brushRef="#br0">1127 1004 24575,'-2'-1'0,"-1"0"0,1 0 0,0 0 0,0-1 0,0 1 0,0-1 0,0 1 0,0-1 0,0 0 0,0 1 0,1-1 0,-1 0 0,1 0 0,-1 0 0,1 0 0,0-1 0,-2-1 0,0-2 0,-25-37 0,2 4 0,-36-44 0,9 21 0,-196-217 0,166 194 0,-106-84 0,145 135 0,-1 2 0,-2 2 0,-1 2 0,-61-26 0,93 48-455,1 1 0,-29-6 0,13 6-6371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4:00:19.674"/>
    </inkml:context>
    <inkml:brush xml:id="br0">
      <inkml:brushProperty name="width" value="0.05" units="cm"/>
      <inkml:brushProperty name="height" value="0.05" units="cm"/>
      <inkml:brushProperty name="color" value="#E71224"/>
    </inkml:brush>
  </inkml:definitions>
  <inkml:trace contextRef="#ctx0" brushRef="#br0">110 631 24575,'-4'-5'0,"1"0"0,0-1 0,0 1 0,0-1 0,0 0 0,1 1 0,0-1 0,0 0 0,1 0 0,-2-8 0,-1-2 0,-22-94 0,5 0 0,-7-116 0,27 221 0,1-1 0,-1 0 0,1 0 0,1 1 0,-1-1 0,1 0 0,0 1 0,0-1 0,1 0 0,2-6 0,-2 10 0,-1 0 0,1-1 0,0 1 0,-1 0 0,1 1 0,0-1 0,0 0 0,0 1 0,0-1 0,1 1 0,-1-1 0,0 1 0,0 0 0,1 0 0,-1 0 0,1 0 0,-1 1 0,1-1 0,0 0 0,-1 1 0,1 0 0,-1 0 0,1 0 0,4 0 0,1 1 0,0 0 0,0 0 0,0 1 0,0 0 0,0 0 0,-1 1 0,1 0 0,-1 0 0,8 5 0,64 44 0,-41-25 0,-28-20 0,51 34 0,2-2 0,127 57 0,-111-67-1365,-50-19-5461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4:00:23.435"/>
    </inkml:context>
    <inkml:brush xml:id="br0">
      <inkml:brushProperty name="width" value="0.05" units="cm"/>
      <inkml:brushProperty name="height" value="0.05" units="cm"/>
      <inkml:brushProperty name="color" value="#E71224"/>
    </inkml:brush>
  </inkml:definitions>
  <inkml:trace contextRef="#ctx0" brushRef="#br0">1 976 24575,'41'-42'0,"12"-12"0,3 2 0,68-51 0,237-124 0,15 22 0,-218 121 0,73-28 0,-178 91 0,1 2 0,83-17 0,-90 28-341,1 1 0,0 3-1,62 3 1,-88 2-6485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4:00:23.436"/>
    </inkml:context>
    <inkml:brush xml:id="br0">
      <inkml:brushProperty name="width" value="0.05" units="cm"/>
      <inkml:brushProperty name="height" value="0.05" units="cm"/>
      <inkml:brushProperty name="color" value="#E71224"/>
    </inkml:brush>
  </inkml:definitions>
  <inkml:trace contextRef="#ctx0" brushRef="#br0">0 1 24575,'35'0'0,"0"1"0,0 2 0,59 13 0,-76-11 0,-1 0 0,0 2 0,0-1 0,-1 2 0,1 1 0,-2 0 0,1 0 0,26 24 0,-38-29 0,0 1 0,0-1 0,-1 1 0,0 0 0,0 0 0,0 1 0,0-1 0,-1 0 0,0 1 0,0 0 0,-1-1 0,1 1 0,-1 0 0,0 0 0,-1 7 0,2 15 0,-6 54 0,2-56 0,-4 27-682,-22 97-1,18-112-6143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4:00:26.876"/>
    </inkml:context>
    <inkml:brush xml:id="br0">
      <inkml:brushProperty name="width" value="0.05" units="cm"/>
      <inkml:brushProperty name="height" value="0.05" units="cm"/>
      <inkml:brushProperty name="color" value="#E71224"/>
    </inkml:brush>
  </inkml:definitions>
  <inkml:trace contextRef="#ctx0" brushRef="#br0">145 0 24575,'7'1'0,"-1"0"0,1 0 0,-1 1 0,0 0 0,0 0 0,0 0 0,0 1 0,10 6 0,5 1 0,4 4 0,1 0 0,-2 2 0,0 1 0,-1 1 0,0 1 0,-2 1 0,0 1 0,-2 0 0,21 29 0,-28-31 0,-1-1 0,-1 2 0,0 0 0,-2 0 0,0 0 0,6 29 0,-6-15 0,-2 0 0,-1 1 0,1 45 0,-7-61 0,0-1 0,-2 1 0,0-1 0,-1 0 0,0 0 0,-2 0 0,0-1 0,-1 0 0,-1 0 0,0 0 0,-1-1 0,-1-1 0,-13 17 0,-10 8 0,-1-2 0,-2-1 0,-59 48 0,-28 4 107,-10 8-1579,104-69-5354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4:00:26.877"/>
    </inkml:context>
    <inkml:brush xml:id="br0">
      <inkml:brushProperty name="width" value="0.05" units="cm"/>
      <inkml:brushProperty name="height" value="0.05" units="cm"/>
      <inkml:brushProperty name="color" value="#E71224"/>
    </inkml:brush>
  </inkml:definitions>
  <inkml:trace contextRef="#ctx0" brushRef="#br0">28 1 24575,'-15'181'0,"9"-129"0,1 0 0,4 73 0,1-121 0,0-1 0,1 0 0,0 0 0,0 1 0,0-1 0,0 0 0,0 0 0,0 0 0,1 0 0,0 0 0,0 0 0,-1 0 0,2-1 0,-1 1 0,0-1 0,0 1 0,1-1 0,-1 0 0,1 0 0,0 0 0,0 0 0,0-1 0,0 1 0,0-1 0,0 1 0,0-1 0,6 1 0,8 2 0,-1-1 0,1-1 0,0 0 0,22-2 0,-29 0 0,22 0 0,0-2 0,0-1 0,0-2 0,0 0 0,-1-3 0,35-12 0,172-86 0,-208 93 0,0 1 0,59-14 0,-67 21 0,-4-1-1365,-3 2-5461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4:01:30.928"/>
    </inkml:context>
    <inkml:brush xml:id="br0">
      <inkml:brushProperty name="width" value="0.05" units="cm"/>
      <inkml:brushProperty name="height" value="0.05" units="cm"/>
      <inkml:brushProperty name="color" value="#E71224"/>
    </inkml:brush>
  </inkml:definitions>
  <inkml:trace contextRef="#ctx0" brushRef="#br0">738 1 24575,'-16'1'0,"0"1"0,0 1 0,0 1 0,0 0 0,1 1 0,-19 8 0,-10 3 0,-121 41 0,-163 50 0,321-106 0,1 1 0,0 0 0,-1 1 0,1 0 0,0 0 0,-9 6 0,13-8 0,1 0 0,0 0 0,-1 0 0,1 0 0,0 0 0,0 1 0,0-1 0,0 0 0,0 1 0,0-1 0,0 1 0,1-1 0,-1 1 0,0-1 0,1 1 0,-1 0 0,1-1 0,0 1 0,-1 0 0,1-1 0,0 1 0,0 0 0,0-1 0,0 1 0,0 0 0,1-1 0,-1 1 0,0-1 0,1 1 0,-1 0 0,2 2 0,2 1 0,0 1 0,1 0 0,-1-1 0,1 1 0,0-1 0,1-1 0,-1 1 0,1-1 0,0 0 0,0 0 0,11 5 0,-15-8 0,348 172 0,-132-71 0,-200-94-56,214 114 239,-176-89-929,103 79 0,-119-76-6080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4:01:30.929"/>
    </inkml:context>
    <inkml:brush xml:id="br0">
      <inkml:brushProperty name="width" value="0.05" units="cm"/>
      <inkml:brushProperty name="height" value="0.05" units="cm"/>
      <inkml:brushProperty name="color" value="#E71224"/>
    </inkml:brush>
  </inkml:definitions>
  <inkml:trace contextRef="#ctx0" brushRef="#br0">0 1 24575,'21'19'0,"0"-1"0,1-1 0,41 24 0,-33-24 0,2-1 0,0-1 0,1-2 0,46 12 0,142 24 0,-131-32 0,740 158-642,372 108 642,-1197-282 0,38 11 0,0 2 0,47 21 0,-86-34 0,-1 1 0,1 0 0,0 0 0,-1 0 0,1 0 0,-1 1 0,0 0 0,0-1 0,0 1 0,0 0 0,0 0 0,0 1 0,-1-1 0,4 7 0,-6-8 0,1 1 0,-1-1 0,0 0 0,1 1 0,-1-1 0,-1 1 0,1-1 0,0 0 0,0 1 0,-1-1 0,1 1 0,-1-1 0,0 0 0,0 0 0,0 1 0,0-1 0,0 0 0,0 0 0,-1 0 0,1 0 0,-1 0 0,1-1 0,-1 1 0,-3 3 0,-40 37 161,-1-1-1,-3-3 1,-68 43-1,6-16-160,-238 101 0,88-47 0,192-84 0,-107 75 0,152-93 60,-41 38 0,58-47-225,-1 0 0,1 0 0,1 1 0,0-1 0,0 1 0,0 1 0,1-1 0,-4 14 0,2-1-6661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4:01:36.036"/>
    </inkml:context>
    <inkml:brush xml:id="br0">
      <inkml:brushProperty name="width" value="0.05" units="cm"/>
      <inkml:brushProperty name="height" value="0.05" units="cm"/>
      <inkml:brushProperty name="color" value="#E71224"/>
    </inkml:brush>
  </inkml:definitions>
  <inkml:trace contextRef="#ctx0" brushRef="#br0">0 50 24575,'0'-2'0,"0"0"0,1 1 0,-1-1 0,1 1 0,-1-1 0,1 0 0,-1 1 0,1-1 0,0 1 0,0 0 0,0-1 0,0 1 0,0 0 0,0-1 0,0 1 0,0 0 0,1 0 0,-1 0 0,0 0 0,1 0 0,-1 0 0,0 0 0,1 1 0,-1-1 0,3 0 0,43-12 0,-45 13 0,9-2 0,0 1 0,1 1 0,-1 0 0,0 0 0,1 1 0,-1 1 0,0 0 0,0 0 0,0 1 0,0 1 0,0 0 0,0 0 0,16 11 0,9 6 0,-2 2 0,46 40 0,-60-47 0,170 152 0,-172-148 0,0-1 0,-2 2 0,0 0 0,-1 1 0,-1 1 0,-1 0 0,15 37 0,-26-52 0,0 0 0,0 0 0,-1 0 0,0 0 0,-1 0 0,0 0 0,0 0 0,0 1 0,-1-1 0,0 0 0,-1 0 0,0-1 0,0 1 0,-1 0 0,0-1 0,0 1 0,-1-1 0,0 0 0,0 0 0,-7 9 0,-9 10 0,-2-1 0,0-1 0,-42 35 0,17-19 0,-3-3 0,0-2 0,-77 40 0,108-66-170,0-1-1,-1 0 0,1-2 1,-1 0-1,-1-2 0,1 0 1,-34 2-1,21-5-6655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4:01:36.037"/>
    </inkml:context>
    <inkml:brush xml:id="br0">
      <inkml:brushProperty name="width" value="0.05" units="cm"/>
      <inkml:brushProperty name="height" value="0.05" units="cm"/>
      <inkml:brushProperty name="color" value="#E71224"/>
    </inkml:brush>
  </inkml:definitions>
  <inkml:trace contextRef="#ctx0" brushRef="#br0">246 0 24575,'-4'7'0,"-1"0"0,-1-1 0,1 0 0,-1 0 0,0 0 0,0-1 0,-1 0 0,0 0 0,-10 6 0,-15 11 0,13-6 0,0 0 0,-27 33 0,38-40 0,0 2 0,1-1 0,0 1 0,1 0 0,0 0 0,1 0 0,-5 16 0,9-23 0,0 0 0,0 0 0,1 0 0,-1 0 0,1 0 0,0 0 0,0 0 0,1 0 0,-1 0 0,1 0 0,0 0 0,0 0 0,0 0 0,0 0 0,1 0 0,0-1 0,-1 1 0,1 0 0,1-1 0,-1 0 0,0 1 0,1-1 0,0 0 0,0 0 0,0-1 0,0 1 0,4 2 0,9 7 0,2-1 0,-1-1 0,2-1 0,23 9 0,-34-15 0,97 38 60,138 34 0,116 4-1545,-283-66-5341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9T00:10:50.252"/>
    </inkml:context>
    <inkml:brush xml:id="br0">
      <inkml:brushProperty name="width" value="0.05" units="cm"/>
      <inkml:brushProperty name="height" value="0.05" units="cm"/>
      <inkml:brushProperty name="color" value="#E71224"/>
    </inkml:brush>
  </inkml:definitions>
  <inkml:trace contextRef="#ctx0" brushRef="#br0">678 1 24575,'-1'8'0,"0"1"0,0-1 0,-1 1 0,-3 8 0,-2 14 0,-3 21 0,-3-1 0,-36 95 0,-59 93 0,63-143 0,27-59 0,-41 93 0,-117 185 0,159-291 0,-2-1 0,-24 23 0,21-23 0,-27 35 0,44-51-273,1 1 0,0-1 0,0 1 0,-5 14 0,2 1-6553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9T00:10:54.450"/>
    </inkml:context>
    <inkml:brush xml:id="br0">
      <inkml:brushProperty name="width" value="0.05" units="cm"/>
      <inkml:brushProperty name="height" value="0.05" units="cm"/>
      <inkml:brushProperty name="color" value="#E71224"/>
    </inkml:brush>
  </inkml:definitions>
  <inkml:trace contextRef="#ctx0" brushRef="#br0">112 0 24575,'-5'9'0,"-5"11"0,-6 30 0,-5 27 0,-7 32 0,-3 24 0,642 223 0,218 50-8191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3T00:41:19.869"/>
    </inkml:context>
    <inkml:brush xml:id="br0">
      <inkml:brushProperty name="width" value="0.05" units="cm"/>
      <inkml:brushProperty name="height" value="0.05" units="cm"/>
      <inkml:brushProperty name="color" value="#E71224"/>
    </inkml:brush>
  </inkml:definitions>
  <inkml:trace contextRef="#ctx0" brushRef="#br0">36 0 24575,'4'0'0,"-1"1"0,0-1 0,0 0 0,0 1 0,0 0 0,0 0 0,0 0 0,0 0 0,0 0 0,0 1 0,-1-1 0,1 1 0,0 0 0,-1 0 0,1 0 0,-1 0 0,0 0 0,0 0 0,0 1 0,0-1 0,0 1 0,0 0 0,-1-1 0,1 1 0,-1 0 0,0 0 0,0 0 0,0 0 0,0 0 0,1 4 0,1 11 0,0-1 0,-1 1 0,0 0 0,-2 19 0,0-31 0,-8 221 0,4-195 0,-1 1 0,-1-1 0,-2 0 0,-22 60 0,-13 26-1365,31-82-5461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3T00:41:20.895"/>
    </inkml:context>
    <inkml:brush xml:id="br0">
      <inkml:brushProperty name="width" value="0.05" units="cm"/>
      <inkml:brushProperty name="height" value="0.05" units="cm"/>
      <inkml:brushProperty name="color" value="#E71224"/>
    </inkml:brush>
  </inkml:definitions>
  <inkml:trace contextRef="#ctx0" brushRef="#br0">71 0 24575,'-5'0'0,"-5"0"0,-5 14 0,-1 8 0,2 5 0,5 2 0,7-3 0,13-7 0,9-6 0,6-6 0,16-3 0,13 5 0,3 7 0,-4 0 0,-4-2 0,-9-5-8191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3T00:41:22.311"/>
    </inkml:context>
    <inkml:brush xml:id="br0">
      <inkml:brushProperty name="width" value="0.05" units="cm"/>
      <inkml:brushProperty name="height" value="0.05" units="cm"/>
      <inkml:brushProperty name="color" value="#E71224"/>
    </inkml:brush>
  </inkml:definitions>
  <inkml:trace contextRef="#ctx0" brushRef="#br0">28 973 24575,'-1'0'0,"0"0"0,0-1 0,0 1 0,1 0 0,-1-1 0,0 1 0,0-1 0,0 1 0,0-1 0,1 1 0,-1-1 0,0 0 0,0 0 0,1 1 0,-1-1 0,0 0 0,1 0 0,-1 0 0,1 1 0,-1-1 0,1 0 0,0 0 0,-1 0 0,1 0 0,0 0 0,0 0 0,-1-2 0,-4-32 0,5 29 0,-5-350 0,8 196 0,0 99-273,2 1 0,4 0 0,2 0 0,21-64 0,-25 94-6553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3T00:41:23.451"/>
    </inkml:context>
    <inkml:brush xml:id="br0">
      <inkml:brushProperty name="width" value="0.05" units="cm"/>
      <inkml:brushProperty name="height" value="0.05" units="cm"/>
      <inkml:brushProperty name="color" value="#E71224"/>
    </inkml:brush>
  </inkml:definitions>
  <inkml:trace contextRef="#ctx0" brushRef="#br0">1 95 24575,'7'-6'0,"1"1"0,0 1 0,0-1 0,1 1 0,-1 1 0,1-1 0,14-2 0,2-3 0,6 0 0,0 1 0,63-9 0,-26 7 0,-62 8 0,0 1 0,0 1 0,0-1 0,0 1 0,0 0 0,0 0 0,7 2 0,-11-2 0,0 1 0,0-1 0,0 1 0,-1 0 0,1 0 0,0 0 0,-1 0 0,1 0 0,0 0 0,-1 0 0,0 0 0,1 1 0,-1-1 0,0 1 0,1-1 0,-1 1 0,0-1 0,0 1 0,0 0 0,-1-1 0,1 1 0,0 0 0,-1 0 0,1 0 0,-1-1 0,1 5 0,2 16-1365,-3 0-5461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3T00:42:05.364"/>
    </inkml:context>
    <inkml:brush xml:id="br0">
      <inkml:brushProperty name="width" value="0.05" units="cm"/>
      <inkml:brushProperty name="height" value="0.05" units="cm"/>
      <inkml:brushProperty name="color" value="#E71224"/>
    </inkml:brush>
  </inkml:definitions>
  <inkml:trace contextRef="#ctx0" brushRef="#br0">0 0 24575,'7'1'0,"0"-1"0,-1 1 0,1 0 0,-1 1 0,1 0 0,-1 0 0,1 0 0,-1 1 0,0 0 0,0 0 0,6 5 0,9 7 0,31 28 0,-11-8 0,-14-16 0,40 22 0,-12-9 0,-25-15 0,1-1 0,0-2 0,2-1 0,58 16 0,139 18 0,-216-44 0,113 10 0,-88-10 0,1 1 0,54 13 0,208 46 0,-278-60 0,-1 2 0,1 0 0,-1 1 0,0 1 0,34 17 0,120 48-739,-160-66 113,30 12-6200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3T00:42:06.497"/>
    </inkml:context>
    <inkml:brush xml:id="br0">
      <inkml:brushProperty name="width" value="0.05" units="cm"/>
      <inkml:brushProperty name="height" value="0.05" units="cm"/>
      <inkml:brushProperty name="color" value="#E71224"/>
    </inkml:brush>
  </inkml:definitions>
  <inkml:trace contextRef="#ctx0" brushRef="#br0">0 593 24575,'0'-2'0,"1"-1"0,-1 0 0,1 1 0,-1-1 0,1 1 0,0-1 0,0 1 0,0-1 0,0 1 0,0 0 0,1 0 0,-1-1 0,1 1 0,0 0 0,-1 0 0,1 0 0,0 1 0,3-4 0,44-25 0,-41 26 0,51-24 0,104-34 0,33-14 0,-180 68 0,0 0 0,-1-1 0,-1-1 0,0 0 0,0-1 0,-1 0 0,0-1 0,-1-1 0,0 0 0,-1 0 0,14-24 0,-7 13 43,1 0 0,31-30 0,11-13-1537,-44 44-5332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3T00:42:49.841"/>
    </inkml:context>
    <inkml:brush xml:id="br0">
      <inkml:brushProperty name="width" value="0.05" units="cm"/>
      <inkml:brushProperty name="height" value="0.05" units="cm"/>
      <inkml:brushProperty name="color" value="#66CC00"/>
    </inkml:brush>
  </inkml:definitions>
  <inkml:trace contextRef="#ctx0" brushRef="#br0">0 0 24575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3T00:42:52.285"/>
    </inkml:context>
    <inkml:brush xml:id="br0">
      <inkml:brushProperty name="width" value="0.05" units="cm"/>
      <inkml:brushProperty name="height" value="0.05" units="cm"/>
      <inkml:brushProperty name="color" value="#66CC00"/>
    </inkml:brush>
  </inkml:definitions>
  <inkml:trace contextRef="#ctx0" brushRef="#br0">0 0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3T01:10:00.540"/>
    </inkml:context>
    <inkml:brush xml:id="br0">
      <inkml:brushProperty name="width" value="0.05" units="cm"/>
      <inkml:brushProperty name="height" value="0.05" units="cm"/>
      <inkml:brushProperty name="color" value="#66CC00"/>
    </inkml:brush>
  </inkml:definitions>
  <inkml:trace contextRef="#ctx0" brushRef="#br0">0 1 24575,'6'0'0,"0"0"0,-1 1 0,1 0 0,-1 0 0,1 0 0,-1 1 0,1 0 0,-1 0 0,0 0 0,0 1 0,0-1 0,0 1 0,0 1 0,7 6 0,2 3 0,-1 1 0,-1 0 0,12 19 0,-12-16 0,1-1 0,15 15 0,-11-14 0,1-1 0,1-1 0,1 0 0,0-1 0,0-2 0,1 0 0,1-1 0,0-1 0,0-1 0,1-1 0,1-1 0,-1-1 0,1-1 0,0-1 0,0-1 0,27 0 0,103-6 0,82 4 0,-195 4 0,49 14 0,-8-2 0,-31-9 0,0 3 0,-1 2 0,92 36 0,-132-44 0,-1 0 0,0 0 0,-1 1 0,1 0 0,-1 1 0,0-1 0,-1 1 0,0 1 0,0 0 0,0 0 0,-1 0 0,0 1 0,-1 0 0,0 0 0,0 0 0,6 19 0,15 32 0,-19-46 0,-1-1 0,0 2 0,-1-1 0,-1 0 0,5 25 0,-6 9-181,-3 62 0,-1-80-822,1-6-5823</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3T01:10:02.365"/>
    </inkml:context>
    <inkml:brush xml:id="br0">
      <inkml:brushProperty name="width" value="0.05" units="cm"/>
      <inkml:brushProperty name="height" value="0.05" units="cm"/>
      <inkml:brushProperty name="color" value="#66CC00"/>
    </inkml:brush>
  </inkml:definitions>
  <inkml:trace contextRef="#ctx0" brushRef="#br0">0 781 24575,'0'-17'0,"0"-15"0,5-44 0,-3 64 0,0 0 0,1 0 0,1 1 0,0-1 0,0 1 0,1 0 0,7-12 0,-3 9 0,0 0 0,0 0 0,2 0 0,-1 1 0,2 1 0,0 0 0,16-12 0,-19 18 0,0 0 0,0 0 0,1 1 0,0 1 0,0-1 0,0 2 0,0-1 0,1 1 0,-1 1 0,1 0 0,0 1 0,13-1 0,37 1 0,0 3 0,0 3 0,0 2 0,0 2 0,114 35 0,-98-21 0,0-3 0,81 8 0,-99-19 0,-4-1 0,75 1 0,-101-9 0,0-2 0,0 0 0,-1-3 0,0 0 0,0-1 0,0-2 0,0-1 0,-2-1 0,1-2 0,-1 0 0,33-22 0,-52 29 0,-1 0 0,0 0 0,0-1 0,0 0 0,-1 0 0,0 0 0,0 0 0,0-1 0,-1 0 0,0 0 0,0 0 0,-1 0 0,0-1 0,0 0 0,-1 1 0,0-1 0,2-13 0,-1-11 0,-1 0 0,-2 0 0,-4-40 0,0-2 0,3 38-1365,1 2-5461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3T01:10:07.359"/>
    </inkml:context>
    <inkml:brush xml:id="br0">
      <inkml:brushProperty name="width" value="0.05" units="cm"/>
      <inkml:brushProperty name="height" value="0.05" units="cm"/>
      <inkml:brushProperty name="color" value="#66CC00"/>
    </inkml:brush>
  </inkml:definitions>
  <inkml:trace contextRef="#ctx0" brushRef="#br0">1485 647 24575,'-1'0'0,"-1"1"0,1-1 0,-1 0 0,1 1 0,-1-1 0,1 1 0,-1-1 0,1 1 0,-1 0 0,1-1 0,-2 3 0,2-3 0,0 1 0,0 0 0,0-1 0,0 1 0,0-1 0,0 1 0,0-1 0,0 1 0,0-1 0,0 0 0,0 0 0,0 1 0,0-1 0,0 0 0,0 0 0,0 0 0,0 0 0,0 0 0,0 0 0,0 0 0,0-1 0,0 1 0,-1 0 0,1-1 0,0 1 0,0 0 0,-1-2 0,-2-1 0,0 1 0,1-1 0,-1 0 0,1-1 0,0 1 0,0 0 0,0-1 0,0 0 0,1 0 0,-1 0 0,1 0 0,0 0 0,-2-7 0,-3-9 0,-7-37 0,1 5 0,-7-1 0,9 24 0,-13-54 0,20 69 0,-1 1 0,0 0 0,-1 0 0,0 0 0,-1 1 0,0 0 0,-1 0 0,0 0 0,-1 1 0,-11-10 0,15 17 0,-1 0 0,0 0 0,1 0 0,-1 0 0,-1 1 0,1 0 0,0 1 0,-1-1 0,0 1 0,1 0 0,-1 1 0,0 0 0,-10-1 0,-10 1 0,-1 1 0,-29 4 0,35-3 0,-40 7 0,-68 17 0,14-2 0,98-19 0,1 1 0,0 1 0,0 1 0,1 0 0,0 1 0,0 1 0,1 1 0,-28 22 0,27-19 0,-1-1 0,-1-1 0,0 0 0,0-2 0,-1 0 0,-21 7 0,36-15 0,-23 8 0,0-2 0,0-1 0,-1-1 0,-53 3 0,75-8 0,0 0 0,-1-1 0,1 0 0,-1 0 0,1 0 0,0-1 0,-1 1 0,1-2 0,0 1 0,0-1 0,0 1 0,1-2 0,-1 1 0,1-1 0,0 0 0,0 0 0,0 0 0,0 0 0,1-1 0,-1 0 0,1 0 0,1 0 0,-1-1 0,1 1 0,0-1 0,0 0 0,-2-6 0,0-2 0,2 0 0,-1 0 0,2 0 0,0 0 0,0 0 0,2-19 0,7-86 0,-2 91-1365,1 5-5461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06T23:22:12.045"/>
    </inkml:context>
    <inkml:brush xml:id="br0">
      <inkml:brushProperty name="width" value="0.05" units="cm"/>
      <inkml:brushProperty name="height" value="0.05" units="cm"/>
      <inkml:brushProperty name="color" value="#66CC00"/>
    </inkml:brush>
  </inkml:definitions>
  <inkml:trace contextRef="#ctx0" brushRef="#br0">51 961 24575,'3'-3'0,"0"1"0,1-1 0,-1 1 0,1 0 0,0 0 0,0 0 0,0 0 0,0 1 0,0-1 0,0 1 0,0 0 0,7 0 0,55-3 0,-51 3 0,38 0 0,-6-2 0,93 9 0,-107 4 0,9 3 0,-41-12 0,1-1 0,-1 0 0,1 1 0,-1-1 0,1 0 0,-1 0 0,1 0 0,-1 0 0,1 0 0,-1 0 0,1-1 0,0 1 0,-1 0 0,1-1 0,-1 1 0,0-1 0,1 0 0,2-1 0,-2-2 0,1 0 0,-1-1 0,1 1 0,-1-1 0,0 1 0,-1-1 0,1 0 0,-1 1 0,0-1 0,0 0 0,-1 0 0,1 0 0,-1-5 0,2-50 0,-3 0 0,-10-69 0,-28-129 0,-41-69 0,65 287 0,15 40 0,0 0 0,0-1 0,0 1 0,-1-1 0,1 1 0,0 0 0,0-1 0,0 1 0,-1-1 0,1 1 0,0 0 0,0-1 0,-1 1 0,1 0 0,0-1 0,-1 1 0,1 0 0,0 0 0,-1-1 0,1 1 0,0 0 0,-1 0 0,1 0 0,-1-1 0,1 1 0,0 0 0,-1 0 0,-4 9 0,3 21 0,2-29 0,2 58 0,19 108 0,-7-74 0,35 243 0,-20-154 0,-25-156 0,-2-14 0,-1 0 0,0 0 0,0 18 0,-2-25 0,0 0 0,0 0 0,0-1 0,0 1 0,-1-1 0,1 1 0,-1-1 0,0 0 0,-1 0 0,1 1 0,-1-2 0,-4 7 0,-3 0 0,1-1 0,-1 0 0,-1 0 0,0-1 0,0-1 0,-22 12 0,-80 29 0,84-36 0,-5-1 0,-54 12 0,3-2 0,60-12-1365,2 1-5461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06T23:22:14.903"/>
    </inkml:context>
    <inkml:brush xml:id="br0">
      <inkml:brushProperty name="width" value="0.05" units="cm"/>
      <inkml:brushProperty name="height" value="0.05" units="cm"/>
      <inkml:brushProperty name="color" value="#66CC00"/>
    </inkml:brush>
  </inkml:definitions>
  <inkml:trace contextRef="#ctx0" brushRef="#br0">1 231 24575,'1'-2'0,"1"-1"0,-1 0 0,1 0 0,0 0 0,0 1 0,0-1 0,0 1 0,0-1 0,0 1 0,1 0 0,-1 0 0,1 0 0,0 0 0,-1 0 0,6-1 0,-4 0 0,8-3 0,-1 0 0,1 1 0,1 1 0,24-7 0,-21 7 0,0 0 0,25-12 0,-37 14 0,0 0 0,0-1 0,0 1 0,0-1 0,-1 0 0,1 0 0,-1 0 0,0 0 0,1-1 0,-2 1 0,1-1 0,0 0 0,4-8 0,-6 9 0,-1 1 0,1-1 0,0 0 0,-1 0 0,1 0 0,-1 0 0,0 1 0,0-1 0,0 0 0,0 0 0,0 0 0,-1 0 0,0 0 0,1 0 0,-1 1 0,0-1 0,-3-5 0,-3-16 0,8 22 0,4 7 0,3 9 0,-6-7-136,1 1-1,-1 0 1,-1 0-1,1-1 1,-1 1-1,-1 0 1,1 1-1,-1-1 0,-2 15 1,-3-4-6690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4T00:41:51.823"/>
    </inkml:context>
    <inkml:brush xml:id="br0">
      <inkml:brushProperty name="width" value="0.05" units="cm"/>
      <inkml:brushProperty name="height" value="0.05" units="cm"/>
      <inkml:brushProperty name="color" value="#66CC00"/>
    </inkml:brush>
  </inkml:definitions>
  <inkml:trace contextRef="#ctx0" brushRef="#br0">0 0 24575,'30'14'0,"0"-1"0,0-1 0,1-2 0,1-2 0,0 0 0,0-2 0,0-2 0,1 0 0,39-2 0,43-2 0,116-3 0,-204-1-1365,-4-2-5461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4T00:41:53.725"/>
    </inkml:context>
    <inkml:brush xml:id="br0">
      <inkml:brushProperty name="width" value="0.05" units="cm"/>
      <inkml:brushProperty name="height" value="0.05" units="cm"/>
      <inkml:brushProperty name="color" value="#66CC00"/>
    </inkml:brush>
  </inkml:definitions>
  <inkml:trace contextRef="#ctx0" brushRef="#br0">101 8 24575,'-4'-7'0,"15"12"0,17 13 0,222 178 0,-241-190 0,-1 0 0,0 1 0,0 0 0,-1 1 0,13 15 0,-19-22 0,0 1 0,0 0 0,1 0 0,-1 0 0,-1 0 0,1 0 0,0 0 0,0 0 0,-1 1 0,1-1 0,-1 0 0,0 0 0,0 0 0,0 1 0,0-1 0,0 0 0,0 0 0,0 0 0,-1 1 0,1-1 0,-1 0 0,0 0 0,1 0 0,-1 0 0,0 0 0,0 0 0,0 0 0,-1 0 0,1 0 0,0-1 0,-1 1 0,1 0 0,-4 2 0,-7 7 0,-65 56 0,67-60 0,0 0 0,0-1 0,-1 0 0,0-1 0,0 0 0,-18 5 0,-204 71-1365,210-71-5461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4T00:42:37.303"/>
    </inkml:context>
    <inkml:brush xml:id="br0">
      <inkml:brushProperty name="width" value="0.05" units="cm"/>
      <inkml:brushProperty name="height" value="0.05" units="cm"/>
      <inkml:brushProperty name="color" value="#66CC00"/>
    </inkml:brush>
  </inkml:definitions>
  <inkml:trace contextRef="#ctx0" brushRef="#br0">0 107 24575,'0'-2'0,"0"1"0,1-1 0,-1 1 0,1 0 0,-1-1 0,1 1 0,-1 0 0,1-1 0,0 1 0,0 0 0,-1 0 0,1-1 0,0 1 0,0 0 0,0 0 0,0 0 0,0 0 0,1 0 0,-1 0 0,0 1 0,0-1 0,1 0 0,1 0 0,36-13 0,-32 12 0,63-16 0,1 3 0,115-8 0,-87 17 0,140 8 0,-211 1 0,0 2 0,0 0 0,-1 1 0,1 2 0,-2 1 0,46 22 0,-45-19-273,1 0 0,0-2 0,0-2 0,55 10 0,-58-15-6553</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4T00:42:40.912"/>
    </inkml:context>
    <inkml:brush xml:id="br0">
      <inkml:brushProperty name="width" value="0.05" units="cm"/>
      <inkml:brushProperty name="height" value="0.05" units="cm"/>
      <inkml:brushProperty name="color" value="#66CC00"/>
    </inkml:brush>
  </inkml:definitions>
  <inkml:trace contextRef="#ctx0" brushRef="#br0">332 1 24575,'0'0'0,"-1"0"0,1 0 0,-1 0 0,1 0 0,0 0 0,-1 0 0,1 1 0,-1-1 0,1 0 0,-1 0 0,1 1 0,0-1 0,-1 0 0,1 0 0,0 1 0,-1-1 0,1 0 0,0 1 0,-1-1 0,1 0 0,0 1 0,0-1 0,-1 1 0,1-1 0,0 1 0,0-1 0,0 0 0,0 1 0,0-1 0,-1 1 0,1-1 0,0 1 0,0-1 0,0 1 0,0-1 0,0 1 0,0-1 0,0 0 0,1 1 0,-1-1 0,0 1 0,0-1 0,0 1 0,0-1 0,1 1 0,-1-1 0,0 0 0,0 1 0,1 0 0,14 28 0,-12-23 0,22 45 0,-14-26 0,2 0 0,0-1 0,2 0 0,26 32 0,-7-20 0,-24-27 0,0 2 0,0-1 0,-1 1 0,0 1 0,-1 0 0,11 19 0,-19-30 0,1 0 0,-1 1 0,1-1 0,-1 0 0,1 1 0,-1-1 0,0 0 0,0 1 0,1-1 0,-1 0 0,0 1 0,0-1 0,-1 0 0,1 1 0,0-1 0,0 1 0,-1-1 0,1 0 0,-1 0 0,1 1 0,-1-1 0,1 0 0,-2 2 0,0-1 0,1-1 0,-1 1 0,0-1 0,0 1 0,0-1 0,0 0 0,0 0 0,0 0 0,0 0 0,0 0 0,-1 0 0,-3 1 0,-7 0 0,0 0 0,-1-1 0,-23 0 0,30-1 0,2 0 0,-109 3 0,100-1 0,0 0 0,0 1 0,0 0 0,0 1 0,-25 11 0,22-7-151,-1-1-1,1-1 0,-1 0 0,-1-2 1,1 0-1,-1-1 0,0 0 1,-36-2-1,30-1-6674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4T00:44:39.990"/>
    </inkml:context>
    <inkml:brush xml:id="br0">
      <inkml:brushProperty name="width" value="0.05" units="cm"/>
      <inkml:brushProperty name="height" value="0.05" units="cm"/>
      <inkml:brushProperty name="color" value="#66CC00"/>
    </inkml:brush>
  </inkml:definitions>
  <inkml:trace contextRef="#ctx0" brushRef="#br0">863 21 24575,'-1'-1'0,"1"1"0,0-1 0,-1 0 0,1 1 0,-1-1 0,1 0 0,0 1 0,-1-1 0,0 1 0,1-1 0,-1 1 0,1-1 0,-1 1 0,0 0 0,1-1 0,-1 1 0,0 0 0,1-1 0,-1 1 0,0 0 0,1 0 0,-1 0 0,0-1 0,-1 1 0,-23-4 0,20 3 0,-25-2 0,0 2 0,0 0 0,0 2 0,-52 8 0,-121 35 0,42-8 0,-59 14 0,218-49 0,0-1 0,0 1 0,0-1 0,0 1 0,1-1 0,-1 1 0,0 0 0,0 0 0,1 0 0,-1 0 0,0 1 0,1-1 0,-1 0 0,1 1 0,-3 2 0,4-3 0,0 0 0,0 0 0,0 0 0,0 1 0,0-1 0,0 0 0,0 0 0,0 0 0,1 0 0,-1 1 0,0-1 0,1 0 0,-1 0 0,1 0 0,-1 0 0,1 0 0,0 0 0,-1 0 0,1 0 0,0 0 0,0 0 0,0 0 0,-1-1 0,1 1 0,0 0 0,0 0 0,0-1 0,2 2 0,20 13 0,0 0 0,0-2 0,1-1 0,40 15 0,-25-11 0,224 79 126,-89-37-1617,-116-36-5335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4T00:44:45.082"/>
    </inkml:context>
    <inkml:brush xml:id="br0">
      <inkml:brushProperty name="width" value="0.05" units="cm"/>
      <inkml:brushProperty name="height" value="0.05" units="cm"/>
      <inkml:brushProperty name="color" value="#66CC00"/>
    </inkml:brush>
  </inkml:definitions>
  <inkml:trace contextRef="#ctx0" brushRef="#br0">1 3 24575,'0'1'0,"0"-1"0,1 1 0,-1 0 0,1 0 0,-1 0 0,1-1 0,-1 1 0,1 0 0,-1-1 0,1 1 0,-1 0 0,1-1 0,0 1 0,0-1 0,-1 1 0,1-1 0,0 1 0,0-1 0,-1 0 0,1 1 0,0-1 0,0 0 0,0 0 0,1 1 0,26 4 0,-26-4 0,39 2 0,1-1 0,-1-3 0,1-1 0,45-8 0,86-3 0,-157 13 0,46-1 0,0 3 0,1 2 0,77 16 0,287 64 0,-394-78 0,1 0 0,109 25 0,-124-25 0,0 1 0,-1 0 0,0 2 0,-1 0 0,27 19 0,67 62 0,-79-61 0,0-2 0,2-1 0,63 36 0,-18-18 0,-45-24 0,46 20 0,251 96 0,-319-131 0,0 1 0,-1 0 0,0 1 0,0 0 0,0 1 0,15 15 0,-5-2 0,32 43 0,-48-57 0,0 1 0,-1-1 0,0 1 0,-1 0 0,0 0 0,0 0 0,-1 1 0,1-1 0,-2 1 0,2 15 0,-2 9 0,-4 51 0,0-23 0,4 89 0,-3 101 0,1-240 0,0-1 0,-1 1 0,0 0 0,0-1 0,-1 1 0,-1-1 0,0 0 0,0 0 0,-1 0 0,0-1 0,-1 1 0,0-1 0,-8 9 0,8-11 0,-1-1 0,0 0 0,0 0 0,-1 0 0,1-1 0,-1 0 0,0-1 0,-1 0 0,1 0 0,-1 0 0,0-1 0,0-1 0,0 0 0,0 0 0,-13 1 0,-8-1 0,14-1 0,0 0 0,1 1 0,-32 8 0,43-8 0,1-1 0,-1 0 0,1 1 0,-1-1 0,1 1 0,0 0 0,0 0 0,0 1 0,0-1 0,0 1 0,0-1 0,0 1 0,1 0 0,-1 0 0,1 0 0,0 0 0,0 1 0,0-1 0,1 0 0,-1 1 0,-1 6 0,-9 50-1365,6-33-5461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4T01:02:14.604"/>
    </inkml:context>
    <inkml:brush xml:id="br0">
      <inkml:brushProperty name="width" value="0.05" units="cm"/>
      <inkml:brushProperty name="height" value="0.05" units="cm"/>
      <inkml:brushProperty name="color" value="#66CC00"/>
    </inkml:brush>
  </inkml:definitions>
  <inkml:trace contextRef="#ctx0" brushRef="#br0">359 3113 24575,'13'-9'0,"0"0"0,0 1 0,0 0 0,1 1 0,0 1 0,23-8 0,-13 5 0,38-16 0,-2-3 0,65-40 0,-78 39 0,154-101 0,163-93 0,-124 82 0,-207 120 0,0-1 0,-2-2 0,0-2 0,-2 0 0,-1-2 0,-1-1 0,-1-1 0,-2-1 0,24-42 0,-15 19 0,-1 3 0,25-58 0,-48 90 0,-2 0 0,0 0 0,-1-1 0,-1-1 0,-1 1 0,3-41 0,-9-265 0,-2 120 0,2 146 0,-3 1 0,-2-1 0,-3 1 0,-2 0 0,-3 1 0,-2 1 0,-29-64 0,14 52 0,-2 2 0,-4 1 0,-2 2 0,-3 1 0,-62-69 0,89 114 0,-2 0 0,1 1 0,-31-21 0,37 30 0,0 1 0,-1 0 0,0 1 0,0 0 0,-1 1 0,1 1 0,-1 0 0,-15-3 0,-49-4 0,-105-3 0,-82 14 0,152 1 0,13-1 0,-414 18 0,362-8-1365,108-9-5461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4T01:02:15.905"/>
    </inkml:context>
    <inkml:brush xml:id="br0">
      <inkml:brushProperty name="width" value="0.05" units="cm"/>
      <inkml:brushProperty name="height" value="0.05" units="cm"/>
      <inkml:brushProperty name="color" value="#66CC00"/>
    </inkml:brush>
  </inkml:definitions>
  <inkml:trace contextRef="#ctx0" brushRef="#br0">1129 0 24575,'-19'1'0,"0"1"0,1 0 0,-1 1 0,-27 9 0,-73 31 0,62-21 0,-502 216 0,476-202 0,52-23 0,1 0 0,0 2 0,-47 32 0,76-46 0,-1 0 0,1 0 0,-1 0 0,1 0 0,-1 1 0,1-1 0,0 1 0,-1-1 0,1 1 0,0-1 0,0 1 0,0 0 0,0-1 0,1 1 0,-1 0 0,0 0 0,1 0 0,-1-1 0,1 1 0,0 0 0,0 0 0,-1 3 0,2-2 0,0 0 0,0-1 0,0 1 0,0 0 0,0-1 0,0 1 0,1-1 0,-1 0 0,1 1 0,-1-1 0,1 0 0,0 0 0,4 3 0,6 5 0,0-2 0,0 0 0,1 0 0,23 10 0,155 64 0,184 88 0,-354-160 27,0-2-1,1 0 1,0-1 0,30 4-1,-26-6-525,-1 2-1,38 14 1,-40-11-6327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F80FFF-E2AE-4FC2-9DFE-96384735966D}" type="datetimeFigureOut">
              <a:rPr lang="es-MX" smtClean="0"/>
              <a:t>20/09/2025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58893C-D2C1-4425-A82E-709F971B93DF}" type="slidenum">
              <a:rPr lang="es-MX" smtClean="0"/>
              <a:t>‹Nº›</a:t>
            </a:fld>
            <a:endParaRPr lang="es-MX"/>
          </a:p>
        </p:txBody>
      </p:sp>
    </p:spTree>
    <p:extLst>
      <p:ext uri="{BB962C8B-B14F-4D97-AF65-F5344CB8AC3E}">
        <p14:creationId xmlns:p14="http://schemas.microsoft.com/office/powerpoint/2010/main" val="3035844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B258893C-D2C1-4425-A82E-709F971B93DF}" type="slidenum">
              <a:rPr lang="es-MX" smtClean="0"/>
              <a:t>24</a:t>
            </a:fld>
            <a:endParaRPr lang="es-MX"/>
          </a:p>
        </p:txBody>
      </p:sp>
    </p:spTree>
    <p:extLst>
      <p:ext uri="{BB962C8B-B14F-4D97-AF65-F5344CB8AC3E}">
        <p14:creationId xmlns:p14="http://schemas.microsoft.com/office/powerpoint/2010/main" val="4233074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0027DD-72A2-179A-54B5-722FABFDE86C}"/>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4C416D57-E380-7846-E3D6-CA9E656D77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AD776E59-17FE-8369-E9E9-F316E57BCCAA}"/>
              </a:ext>
            </a:extLst>
          </p:cNvPr>
          <p:cNvSpPr>
            <a:spLocks noGrp="1"/>
          </p:cNvSpPr>
          <p:nvPr>
            <p:ph type="dt" sz="half" idx="10"/>
          </p:nvPr>
        </p:nvSpPr>
        <p:spPr/>
        <p:txBody>
          <a:bodyPr/>
          <a:lstStyle/>
          <a:p>
            <a:fld id="{CD498526-AFB2-427A-BDCB-0DFEEB5A549B}" type="datetime1">
              <a:rPr lang="es-MX" smtClean="0"/>
              <a:t>20/09/2025</a:t>
            </a:fld>
            <a:endParaRPr lang="es-MX"/>
          </a:p>
        </p:txBody>
      </p:sp>
      <p:sp>
        <p:nvSpPr>
          <p:cNvPr id="5" name="Marcador de pie de página 4">
            <a:extLst>
              <a:ext uri="{FF2B5EF4-FFF2-40B4-BE49-F238E27FC236}">
                <a16:creationId xmlns:a16="http://schemas.microsoft.com/office/drawing/2014/main" id="{20680399-024B-425A-26E9-44A64FD149F0}"/>
              </a:ext>
            </a:extLst>
          </p:cNvPr>
          <p:cNvSpPr>
            <a:spLocks noGrp="1"/>
          </p:cNvSpPr>
          <p:nvPr>
            <p:ph type="ftr" sz="quarter" idx="11"/>
          </p:nvPr>
        </p:nvSpPr>
        <p:spPr/>
        <p:txBody>
          <a:bodyPr/>
          <a:lstStyle/>
          <a:p>
            <a:r>
              <a:rPr lang="es-MX"/>
              <a:t>Arabots Robotics</a:t>
            </a:r>
          </a:p>
        </p:txBody>
      </p:sp>
      <p:sp>
        <p:nvSpPr>
          <p:cNvPr id="6" name="Marcador de número de diapositiva 5">
            <a:extLst>
              <a:ext uri="{FF2B5EF4-FFF2-40B4-BE49-F238E27FC236}">
                <a16:creationId xmlns:a16="http://schemas.microsoft.com/office/drawing/2014/main" id="{635AC9BA-9A6A-0CCF-F9DF-1B327D1533BB}"/>
              </a:ext>
            </a:extLst>
          </p:cNvPr>
          <p:cNvSpPr>
            <a:spLocks noGrp="1"/>
          </p:cNvSpPr>
          <p:nvPr>
            <p:ph type="sldNum" sz="quarter" idx="12"/>
          </p:nvPr>
        </p:nvSpPr>
        <p:spPr/>
        <p:txBody>
          <a:bodyPr/>
          <a:lstStyle/>
          <a:p>
            <a:fld id="{4EA4A3B0-B5DF-4E2B-B48F-E4B7B7872040}" type="slidenum">
              <a:rPr lang="es-MX" smtClean="0"/>
              <a:t>‹Nº›</a:t>
            </a:fld>
            <a:endParaRPr lang="es-MX"/>
          </a:p>
        </p:txBody>
      </p:sp>
    </p:spTree>
    <p:extLst>
      <p:ext uri="{BB962C8B-B14F-4D97-AF65-F5344CB8AC3E}">
        <p14:creationId xmlns:p14="http://schemas.microsoft.com/office/powerpoint/2010/main" val="383462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326EB6-2D82-3347-3525-312E2110F572}"/>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8AF51669-D04F-217B-C5A7-22357BA932FD}"/>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374A021C-CA46-973E-A29C-6C6025F3848F}"/>
              </a:ext>
            </a:extLst>
          </p:cNvPr>
          <p:cNvSpPr>
            <a:spLocks noGrp="1"/>
          </p:cNvSpPr>
          <p:nvPr>
            <p:ph type="dt" sz="half" idx="10"/>
          </p:nvPr>
        </p:nvSpPr>
        <p:spPr/>
        <p:txBody>
          <a:bodyPr/>
          <a:lstStyle/>
          <a:p>
            <a:fld id="{D58E716A-A020-455D-86A8-F83277CAFEFC}" type="datetime1">
              <a:rPr lang="es-MX" smtClean="0"/>
              <a:t>20/09/2025</a:t>
            </a:fld>
            <a:endParaRPr lang="es-MX"/>
          </a:p>
        </p:txBody>
      </p:sp>
      <p:sp>
        <p:nvSpPr>
          <p:cNvPr id="5" name="Marcador de pie de página 4">
            <a:extLst>
              <a:ext uri="{FF2B5EF4-FFF2-40B4-BE49-F238E27FC236}">
                <a16:creationId xmlns:a16="http://schemas.microsoft.com/office/drawing/2014/main" id="{B6D3D8CB-1486-FFD5-378B-284199E2BA5A}"/>
              </a:ext>
            </a:extLst>
          </p:cNvPr>
          <p:cNvSpPr>
            <a:spLocks noGrp="1"/>
          </p:cNvSpPr>
          <p:nvPr>
            <p:ph type="ftr" sz="quarter" idx="11"/>
          </p:nvPr>
        </p:nvSpPr>
        <p:spPr/>
        <p:txBody>
          <a:bodyPr/>
          <a:lstStyle/>
          <a:p>
            <a:r>
              <a:rPr lang="es-MX"/>
              <a:t>Arabots Robotics</a:t>
            </a:r>
          </a:p>
        </p:txBody>
      </p:sp>
      <p:sp>
        <p:nvSpPr>
          <p:cNvPr id="6" name="Marcador de número de diapositiva 5">
            <a:extLst>
              <a:ext uri="{FF2B5EF4-FFF2-40B4-BE49-F238E27FC236}">
                <a16:creationId xmlns:a16="http://schemas.microsoft.com/office/drawing/2014/main" id="{7B7B458B-4BCF-397A-751C-55179D6DBCF1}"/>
              </a:ext>
            </a:extLst>
          </p:cNvPr>
          <p:cNvSpPr>
            <a:spLocks noGrp="1"/>
          </p:cNvSpPr>
          <p:nvPr>
            <p:ph type="sldNum" sz="quarter" idx="12"/>
          </p:nvPr>
        </p:nvSpPr>
        <p:spPr/>
        <p:txBody>
          <a:bodyPr/>
          <a:lstStyle/>
          <a:p>
            <a:fld id="{4EA4A3B0-B5DF-4E2B-B48F-E4B7B7872040}" type="slidenum">
              <a:rPr lang="es-MX" smtClean="0"/>
              <a:t>‹Nº›</a:t>
            </a:fld>
            <a:endParaRPr lang="es-MX"/>
          </a:p>
        </p:txBody>
      </p:sp>
    </p:spTree>
    <p:extLst>
      <p:ext uri="{BB962C8B-B14F-4D97-AF65-F5344CB8AC3E}">
        <p14:creationId xmlns:p14="http://schemas.microsoft.com/office/powerpoint/2010/main" val="3265891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67F1E7-B6F1-AA6A-8102-46C9B8D45CCC}"/>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DC9B14CA-CACA-3988-8A1A-B31C2A81A3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E2E740F6-698A-9AE2-4DBF-15293B70704E}"/>
              </a:ext>
            </a:extLst>
          </p:cNvPr>
          <p:cNvSpPr>
            <a:spLocks noGrp="1"/>
          </p:cNvSpPr>
          <p:nvPr>
            <p:ph type="dt" sz="half" idx="10"/>
          </p:nvPr>
        </p:nvSpPr>
        <p:spPr/>
        <p:txBody>
          <a:bodyPr/>
          <a:lstStyle/>
          <a:p>
            <a:fld id="{FB66BAD8-707D-44AB-87C4-F3F9425570D1}" type="datetime1">
              <a:rPr lang="es-MX" smtClean="0"/>
              <a:t>20/09/2025</a:t>
            </a:fld>
            <a:endParaRPr lang="es-MX"/>
          </a:p>
        </p:txBody>
      </p:sp>
      <p:sp>
        <p:nvSpPr>
          <p:cNvPr id="5" name="Marcador de pie de página 4">
            <a:extLst>
              <a:ext uri="{FF2B5EF4-FFF2-40B4-BE49-F238E27FC236}">
                <a16:creationId xmlns:a16="http://schemas.microsoft.com/office/drawing/2014/main" id="{56C41B67-7A62-4BA9-0683-941FCAC5CBA4}"/>
              </a:ext>
            </a:extLst>
          </p:cNvPr>
          <p:cNvSpPr>
            <a:spLocks noGrp="1"/>
          </p:cNvSpPr>
          <p:nvPr>
            <p:ph type="ftr" sz="quarter" idx="11"/>
          </p:nvPr>
        </p:nvSpPr>
        <p:spPr/>
        <p:txBody>
          <a:bodyPr/>
          <a:lstStyle/>
          <a:p>
            <a:r>
              <a:rPr lang="es-MX"/>
              <a:t>Arabots Robotics</a:t>
            </a:r>
          </a:p>
        </p:txBody>
      </p:sp>
      <p:sp>
        <p:nvSpPr>
          <p:cNvPr id="6" name="Marcador de número de diapositiva 5">
            <a:extLst>
              <a:ext uri="{FF2B5EF4-FFF2-40B4-BE49-F238E27FC236}">
                <a16:creationId xmlns:a16="http://schemas.microsoft.com/office/drawing/2014/main" id="{3DA261BE-61FD-A06D-E539-D4752DF491D7}"/>
              </a:ext>
            </a:extLst>
          </p:cNvPr>
          <p:cNvSpPr>
            <a:spLocks noGrp="1"/>
          </p:cNvSpPr>
          <p:nvPr>
            <p:ph type="sldNum" sz="quarter" idx="12"/>
          </p:nvPr>
        </p:nvSpPr>
        <p:spPr/>
        <p:txBody>
          <a:bodyPr/>
          <a:lstStyle/>
          <a:p>
            <a:fld id="{4EA4A3B0-B5DF-4E2B-B48F-E4B7B7872040}" type="slidenum">
              <a:rPr lang="es-MX" smtClean="0"/>
              <a:t>‹Nº›</a:t>
            </a:fld>
            <a:endParaRPr lang="es-MX"/>
          </a:p>
        </p:txBody>
      </p:sp>
    </p:spTree>
    <p:extLst>
      <p:ext uri="{BB962C8B-B14F-4D97-AF65-F5344CB8AC3E}">
        <p14:creationId xmlns:p14="http://schemas.microsoft.com/office/powerpoint/2010/main" val="658756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247B77-561D-D263-8A27-950357BE64CD}"/>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12175B71-234B-3773-C063-1A10F4C0330E}"/>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AACE9560-3B27-4845-0138-1AFEF39B951C}"/>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6DA0F1B0-213A-F865-363F-4614B33FA1FC}"/>
              </a:ext>
            </a:extLst>
          </p:cNvPr>
          <p:cNvSpPr>
            <a:spLocks noGrp="1"/>
          </p:cNvSpPr>
          <p:nvPr>
            <p:ph type="dt" sz="half" idx="10"/>
          </p:nvPr>
        </p:nvSpPr>
        <p:spPr/>
        <p:txBody>
          <a:bodyPr/>
          <a:lstStyle/>
          <a:p>
            <a:fld id="{B7AE00C9-7954-4CBF-9BDF-DCD134EDE3F8}" type="datetime1">
              <a:rPr lang="es-MX" smtClean="0"/>
              <a:t>20/09/2025</a:t>
            </a:fld>
            <a:endParaRPr lang="es-MX"/>
          </a:p>
        </p:txBody>
      </p:sp>
      <p:sp>
        <p:nvSpPr>
          <p:cNvPr id="6" name="Marcador de pie de página 5">
            <a:extLst>
              <a:ext uri="{FF2B5EF4-FFF2-40B4-BE49-F238E27FC236}">
                <a16:creationId xmlns:a16="http://schemas.microsoft.com/office/drawing/2014/main" id="{690E398F-43E5-CFDF-D24C-25C0FCB4B933}"/>
              </a:ext>
            </a:extLst>
          </p:cNvPr>
          <p:cNvSpPr>
            <a:spLocks noGrp="1"/>
          </p:cNvSpPr>
          <p:nvPr>
            <p:ph type="ftr" sz="quarter" idx="11"/>
          </p:nvPr>
        </p:nvSpPr>
        <p:spPr/>
        <p:txBody>
          <a:bodyPr/>
          <a:lstStyle/>
          <a:p>
            <a:r>
              <a:rPr lang="es-MX"/>
              <a:t>Arabots Robotics</a:t>
            </a:r>
          </a:p>
        </p:txBody>
      </p:sp>
      <p:sp>
        <p:nvSpPr>
          <p:cNvPr id="7" name="Marcador de número de diapositiva 6">
            <a:extLst>
              <a:ext uri="{FF2B5EF4-FFF2-40B4-BE49-F238E27FC236}">
                <a16:creationId xmlns:a16="http://schemas.microsoft.com/office/drawing/2014/main" id="{4CFC4F97-652B-006F-D037-38940F343C96}"/>
              </a:ext>
            </a:extLst>
          </p:cNvPr>
          <p:cNvSpPr>
            <a:spLocks noGrp="1"/>
          </p:cNvSpPr>
          <p:nvPr>
            <p:ph type="sldNum" sz="quarter" idx="12"/>
          </p:nvPr>
        </p:nvSpPr>
        <p:spPr/>
        <p:txBody>
          <a:bodyPr/>
          <a:lstStyle/>
          <a:p>
            <a:fld id="{4EA4A3B0-B5DF-4E2B-B48F-E4B7B7872040}" type="slidenum">
              <a:rPr lang="es-MX" smtClean="0"/>
              <a:t>‹Nº›</a:t>
            </a:fld>
            <a:endParaRPr lang="es-MX"/>
          </a:p>
        </p:txBody>
      </p:sp>
    </p:spTree>
    <p:extLst>
      <p:ext uri="{BB962C8B-B14F-4D97-AF65-F5344CB8AC3E}">
        <p14:creationId xmlns:p14="http://schemas.microsoft.com/office/powerpoint/2010/main" val="3699946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2B186D-24BE-39F3-6C6C-982191B52B1D}"/>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A73A8267-064A-90B8-6646-EA3072921D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D2D913EA-D99D-ECA4-F69B-DDB3432E1E02}"/>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7174E7EB-49C5-BD84-175C-33790B08A7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B78F27CD-C12E-314C-7AB5-760A03A662BE}"/>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1E792BCE-D0F7-839B-B446-3FDA26DA3005}"/>
              </a:ext>
            </a:extLst>
          </p:cNvPr>
          <p:cNvSpPr>
            <a:spLocks noGrp="1"/>
          </p:cNvSpPr>
          <p:nvPr>
            <p:ph type="dt" sz="half" idx="10"/>
          </p:nvPr>
        </p:nvSpPr>
        <p:spPr/>
        <p:txBody>
          <a:bodyPr/>
          <a:lstStyle/>
          <a:p>
            <a:fld id="{C6A80FD4-C2DF-415E-B549-3F3B6E053CDC}" type="datetime1">
              <a:rPr lang="es-MX" smtClean="0"/>
              <a:t>20/09/2025</a:t>
            </a:fld>
            <a:endParaRPr lang="es-MX"/>
          </a:p>
        </p:txBody>
      </p:sp>
      <p:sp>
        <p:nvSpPr>
          <p:cNvPr id="8" name="Marcador de pie de página 7">
            <a:extLst>
              <a:ext uri="{FF2B5EF4-FFF2-40B4-BE49-F238E27FC236}">
                <a16:creationId xmlns:a16="http://schemas.microsoft.com/office/drawing/2014/main" id="{B1391179-352D-5369-D4C6-52C01362F91D}"/>
              </a:ext>
            </a:extLst>
          </p:cNvPr>
          <p:cNvSpPr>
            <a:spLocks noGrp="1"/>
          </p:cNvSpPr>
          <p:nvPr>
            <p:ph type="ftr" sz="quarter" idx="11"/>
          </p:nvPr>
        </p:nvSpPr>
        <p:spPr/>
        <p:txBody>
          <a:bodyPr/>
          <a:lstStyle/>
          <a:p>
            <a:r>
              <a:rPr lang="es-MX"/>
              <a:t>Arabots Robotics</a:t>
            </a:r>
          </a:p>
        </p:txBody>
      </p:sp>
      <p:sp>
        <p:nvSpPr>
          <p:cNvPr id="9" name="Marcador de número de diapositiva 8">
            <a:extLst>
              <a:ext uri="{FF2B5EF4-FFF2-40B4-BE49-F238E27FC236}">
                <a16:creationId xmlns:a16="http://schemas.microsoft.com/office/drawing/2014/main" id="{9EEC4BDD-4000-7363-2988-B569D2AB6547}"/>
              </a:ext>
            </a:extLst>
          </p:cNvPr>
          <p:cNvSpPr>
            <a:spLocks noGrp="1"/>
          </p:cNvSpPr>
          <p:nvPr>
            <p:ph type="sldNum" sz="quarter" idx="12"/>
          </p:nvPr>
        </p:nvSpPr>
        <p:spPr/>
        <p:txBody>
          <a:bodyPr/>
          <a:lstStyle/>
          <a:p>
            <a:fld id="{4EA4A3B0-B5DF-4E2B-B48F-E4B7B7872040}" type="slidenum">
              <a:rPr lang="es-MX" smtClean="0"/>
              <a:t>‹Nº›</a:t>
            </a:fld>
            <a:endParaRPr lang="es-MX"/>
          </a:p>
        </p:txBody>
      </p:sp>
    </p:spTree>
    <p:extLst>
      <p:ext uri="{BB962C8B-B14F-4D97-AF65-F5344CB8AC3E}">
        <p14:creationId xmlns:p14="http://schemas.microsoft.com/office/powerpoint/2010/main" val="763556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FAA61F-7523-78FA-C62F-4FD719781B42}"/>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90AF9461-6DC3-CA88-A321-E9F6375F9588}"/>
              </a:ext>
            </a:extLst>
          </p:cNvPr>
          <p:cNvSpPr>
            <a:spLocks noGrp="1"/>
          </p:cNvSpPr>
          <p:nvPr>
            <p:ph type="dt" sz="half" idx="10"/>
          </p:nvPr>
        </p:nvSpPr>
        <p:spPr/>
        <p:txBody>
          <a:bodyPr/>
          <a:lstStyle/>
          <a:p>
            <a:fld id="{BE93DE2A-0546-47D4-9B64-2CD9D06E3581}" type="datetime1">
              <a:rPr lang="es-MX" smtClean="0"/>
              <a:t>20/09/2025</a:t>
            </a:fld>
            <a:endParaRPr lang="es-MX"/>
          </a:p>
        </p:txBody>
      </p:sp>
      <p:sp>
        <p:nvSpPr>
          <p:cNvPr id="4" name="Marcador de pie de página 3">
            <a:extLst>
              <a:ext uri="{FF2B5EF4-FFF2-40B4-BE49-F238E27FC236}">
                <a16:creationId xmlns:a16="http://schemas.microsoft.com/office/drawing/2014/main" id="{C3157C6B-9B2A-F097-9CB7-42B3DC0545B7}"/>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E5AE71DA-AD3E-9F29-2B7C-FB1AB5B35E19}"/>
              </a:ext>
            </a:extLst>
          </p:cNvPr>
          <p:cNvSpPr>
            <a:spLocks noGrp="1"/>
          </p:cNvSpPr>
          <p:nvPr>
            <p:ph type="sldNum" sz="quarter" idx="12"/>
          </p:nvPr>
        </p:nvSpPr>
        <p:spPr/>
        <p:txBody>
          <a:bodyPr/>
          <a:lstStyle/>
          <a:p>
            <a:fld id="{4EA4A3B0-B5DF-4E2B-B48F-E4B7B7872040}" type="slidenum">
              <a:rPr lang="es-MX" smtClean="0"/>
              <a:t>‹Nº›</a:t>
            </a:fld>
            <a:endParaRPr lang="es-MX"/>
          </a:p>
        </p:txBody>
      </p:sp>
    </p:spTree>
    <p:extLst>
      <p:ext uri="{BB962C8B-B14F-4D97-AF65-F5344CB8AC3E}">
        <p14:creationId xmlns:p14="http://schemas.microsoft.com/office/powerpoint/2010/main" val="4247667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41BC56F-C2B9-1391-2472-23B4A86AA690}"/>
              </a:ext>
            </a:extLst>
          </p:cNvPr>
          <p:cNvSpPr>
            <a:spLocks noGrp="1"/>
          </p:cNvSpPr>
          <p:nvPr>
            <p:ph type="dt" sz="half" idx="10"/>
          </p:nvPr>
        </p:nvSpPr>
        <p:spPr/>
        <p:txBody>
          <a:bodyPr/>
          <a:lstStyle/>
          <a:p>
            <a:fld id="{C5A38876-AC5E-4CF2-A3C0-BA71FD21DD11}" type="datetime1">
              <a:rPr lang="es-MX" smtClean="0"/>
              <a:t>20/09/2025</a:t>
            </a:fld>
            <a:endParaRPr lang="es-MX"/>
          </a:p>
        </p:txBody>
      </p:sp>
      <p:sp>
        <p:nvSpPr>
          <p:cNvPr id="3" name="Marcador de pie de página 2">
            <a:extLst>
              <a:ext uri="{FF2B5EF4-FFF2-40B4-BE49-F238E27FC236}">
                <a16:creationId xmlns:a16="http://schemas.microsoft.com/office/drawing/2014/main" id="{7D0A9104-D807-1C10-F1C7-127A632815A4}"/>
              </a:ext>
            </a:extLst>
          </p:cNvPr>
          <p:cNvSpPr>
            <a:spLocks noGrp="1"/>
          </p:cNvSpPr>
          <p:nvPr>
            <p:ph type="ftr" sz="quarter" idx="11"/>
          </p:nvPr>
        </p:nvSpPr>
        <p:spPr/>
        <p:txBody>
          <a:bodyPr/>
          <a:lstStyle/>
          <a:p>
            <a:r>
              <a:rPr lang="es-MX"/>
              <a:t>Arabots Robotics</a:t>
            </a:r>
          </a:p>
        </p:txBody>
      </p:sp>
      <p:sp>
        <p:nvSpPr>
          <p:cNvPr id="4" name="Marcador de número de diapositiva 3">
            <a:extLst>
              <a:ext uri="{FF2B5EF4-FFF2-40B4-BE49-F238E27FC236}">
                <a16:creationId xmlns:a16="http://schemas.microsoft.com/office/drawing/2014/main" id="{758A23E2-B4B6-62A6-54E5-D2F16440D43F}"/>
              </a:ext>
            </a:extLst>
          </p:cNvPr>
          <p:cNvSpPr>
            <a:spLocks noGrp="1"/>
          </p:cNvSpPr>
          <p:nvPr>
            <p:ph type="sldNum" sz="quarter" idx="12"/>
          </p:nvPr>
        </p:nvSpPr>
        <p:spPr/>
        <p:txBody>
          <a:bodyPr/>
          <a:lstStyle/>
          <a:p>
            <a:fld id="{4EA4A3B0-B5DF-4E2B-B48F-E4B7B7872040}" type="slidenum">
              <a:rPr lang="es-MX" smtClean="0"/>
              <a:t>‹Nº›</a:t>
            </a:fld>
            <a:endParaRPr lang="es-MX"/>
          </a:p>
        </p:txBody>
      </p:sp>
    </p:spTree>
    <p:extLst>
      <p:ext uri="{BB962C8B-B14F-4D97-AF65-F5344CB8AC3E}">
        <p14:creationId xmlns:p14="http://schemas.microsoft.com/office/powerpoint/2010/main" val="616313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C0C0B7-11D4-E173-2C44-7BCACFB62F59}"/>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1125B48C-7224-A171-8BCF-1911380AAA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4579E1D3-9048-53CD-A302-F48DA9768F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F961C44C-9A56-023C-7ADE-961BB9635F76}"/>
              </a:ext>
            </a:extLst>
          </p:cNvPr>
          <p:cNvSpPr>
            <a:spLocks noGrp="1"/>
          </p:cNvSpPr>
          <p:nvPr>
            <p:ph type="dt" sz="half" idx="10"/>
          </p:nvPr>
        </p:nvSpPr>
        <p:spPr/>
        <p:txBody>
          <a:bodyPr/>
          <a:lstStyle/>
          <a:p>
            <a:fld id="{F8B79BB8-C95D-4D3A-823E-07EF3ED4AFBA}" type="datetime1">
              <a:rPr lang="es-MX" smtClean="0"/>
              <a:t>20/09/2025</a:t>
            </a:fld>
            <a:endParaRPr lang="es-MX"/>
          </a:p>
        </p:txBody>
      </p:sp>
      <p:sp>
        <p:nvSpPr>
          <p:cNvPr id="6" name="Marcador de pie de página 5">
            <a:extLst>
              <a:ext uri="{FF2B5EF4-FFF2-40B4-BE49-F238E27FC236}">
                <a16:creationId xmlns:a16="http://schemas.microsoft.com/office/drawing/2014/main" id="{0D3EA524-C361-5199-BD75-BA019E5BEE58}"/>
              </a:ext>
            </a:extLst>
          </p:cNvPr>
          <p:cNvSpPr>
            <a:spLocks noGrp="1"/>
          </p:cNvSpPr>
          <p:nvPr>
            <p:ph type="ftr" sz="quarter" idx="11"/>
          </p:nvPr>
        </p:nvSpPr>
        <p:spPr/>
        <p:txBody>
          <a:bodyPr/>
          <a:lstStyle/>
          <a:p>
            <a:r>
              <a:rPr lang="es-MX"/>
              <a:t>Arabots Robotics</a:t>
            </a:r>
          </a:p>
        </p:txBody>
      </p:sp>
      <p:sp>
        <p:nvSpPr>
          <p:cNvPr id="7" name="Marcador de número de diapositiva 6">
            <a:extLst>
              <a:ext uri="{FF2B5EF4-FFF2-40B4-BE49-F238E27FC236}">
                <a16:creationId xmlns:a16="http://schemas.microsoft.com/office/drawing/2014/main" id="{4316F7AA-B72A-DBD2-182B-78BF296B2A09}"/>
              </a:ext>
            </a:extLst>
          </p:cNvPr>
          <p:cNvSpPr>
            <a:spLocks noGrp="1"/>
          </p:cNvSpPr>
          <p:nvPr>
            <p:ph type="sldNum" sz="quarter" idx="12"/>
          </p:nvPr>
        </p:nvSpPr>
        <p:spPr/>
        <p:txBody>
          <a:bodyPr/>
          <a:lstStyle/>
          <a:p>
            <a:fld id="{4EA4A3B0-B5DF-4E2B-B48F-E4B7B7872040}" type="slidenum">
              <a:rPr lang="es-MX" smtClean="0"/>
              <a:t>‹Nº›</a:t>
            </a:fld>
            <a:endParaRPr lang="es-MX"/>
          </a:p>
        </p:txBody>
      </p:sp>
    </p:spTree>
    <p:extLst>
      <p:ext uri="{BB962C8B-B14F-4D97-AF65-F5344CB8AC3E}">
        <p14:creationId xmlns:p14="http://schemas.microsoft.com/office/powerpoint/2010/main" val="976547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F6A1C0-0248-671A-F461-9F9214C540A4}"/>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9EF4AB42-4AF3-A1D8-52C0-C8E531B2FC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p>
        </p:txBody>
      </p:sp>
      <p:sp>
        <p:nvSpPr>
          <p:cNvPr id="4" name="Marcador de texto 3">
            <a:extLst>
              <a:ext uri="{FF2B5EF4-FFF2-40B4-BE49-F238E27FC236}">
                <a16:creationId xmlns:a16="http://schemas.microsoft.com/office/drawing/2014/main" id="{DD9EB339-47F7-B6A6-9150-DBBADD9446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10E39A5B-7D74-B1F3-AFDD-A8666BA6E4E5}"/>
              </a:ext>
            </a:extLst>
          </p:cNvPr>
          <p:cNvSpPr>
            <a:spLocks noGrp="1"/>
          </p:cNvSpPr>
          <p:nvPr>
            <p:ph type="dt" sz="half" idx="10"/>
          </p:nvPr>
        </p:nvSpPr>
        <p:spPr/>
        <p:txBody>
          <a:bodyPr/>
          <a:lstStyle/>
          <a:p>
            <a:fld id="{C08A1690-4EC5-4424-85F8-C48B9CFAAC61}" type="datetime1">
              <a:rPr lang="es-MX" smtClean="0"/>
              <a:t>20/09/2025</a:t>
            </a:fld>
            <a:endParaRPr lang="es-MX"/>
          </a:p>
        </p:txBody>
      </p:sp>
      <p:sp>
        <p:nvSpPr>
          <p:cNvPr id="6" name="Marcador de pie de página 5">
            <a:extLst>
              <a:ext uri="{FF2B5EF4-FFF2-40B4-BE49-F238E27FC236}">
                <a16:creationId xmlns:a16="http://schemas.microsoft.com/office/drawing/2014/main" id="{B792A77F-9CA5-381A-A7FD-F7064F64E586}"/>
              </a:ext>
            </a:extLst>
          </p:cNvPr>
          <p:cNvSpPr>
            <a:spLocks noGrp="1"/>
          </p:cNvSpPr>
          <p:nvPr>
            <p:ph type="ftr" sz="quarter" idx="11"/>
          </p:nvPr>
        </p:nvSpPr>
        <p:spPr/>
        <p:txBody>
          <a:bodyPr/>
          <a:lstStyle/>
          <a:p>
            <a:r>
              <a:rPr lang="es-MX"/>
              <a:t>Arabots Robotics</a:t>
            </a:r>
          </a:p>
        </p:txBody>
      </p:sp>
      <p:sp>
        <p:nvSpPr>
          <p:cNvPr id="7" name="Marcador de número de diapositiva 6">
            <a:extLst>
              <a:ext uri="{FF2B5EF4-FFF2-40B4-BE49-F238E27FC236}">
                <a16:creationId xmlns:a16="http://schemas.microsoft.com/office/drawing/2014/main" id="{D7F87F40-66BF-E24F-A3F1-953A0AB6466B}"/>
              </a:ext>
            </a:extLst>
          </p:cNvPr>
          <p:cNvSpPr>
            <a:spLocks noGrp="1"/>
          </p:cNvSpPr>
          <p:nvPr>
            <p:ph type="sldNum" sz="quarter" idx="12"/>
          </p:nvPr>
        </p:nvSpPr>
        <p:spPr/>
        <p:txBody>
          <a:bodyPr/>
          <a:lstStyle/>
          <a:p>
            <a:fld id="{4EA4A3B0-B5DF-4E2B-B48F-E4B7B7872040}" type="slidenum">
              <a:rPr lang="es-MX" smtClean="0"/>
              <a:t>‹Nº›</a:t>
            </a:fld>
            <a:endParaRPr lang="es-MX"/>
          </a:p>
        </p:txBody>
      </p:sp>
    </p:spTree>
    <p:extLst>
      <p:ext uri="{BB962C8B-B14F-4D97-AF65-F5344CB8AC3E}">
        <p14:creationId xmlns:p14="http://schemas.microsoft.com/office/powerpoint/2010/main" val="1416032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C23A90-83B9-CC75-9C12-9687AA462A93}"/>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39A41E67-F869-6051-224E-4CC2790FC933}"/>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36E56CCF-008A-A963-EA88-9B57D9D27713}"/>
              </a:ext>
            </a:extLst>
          </p:cNvPr>
          <p:cNvSpPr>
            <a:spLocks noGrp="1"/>
          </p:cNvSpPr>
          <p:nvPr>
            <p:ph type="dt" sz="half" idx="10"/>
          </p:nvPr>
        </p:nvSpPr>
        <p:spPr/>
        <p:txBody>
          <a:bodyPr/>
          <a:lstStyle/>
          <a:p>
            <a:fld id="{6AC6D3AA-C8AC-41C5-8E5B-1251F9AD8ABD}" type="datetime1">
              <a:rPr lang="es-MX" smtClean="0"/>
              <a:t>20/09/2025</a:t>
            </a:fld>
            <a:endParaRPr lang="es-MX"/>
          </a:p>
        </p:txBody>
      </p:sp>
      <p:sp>
        <p:nvSpPr>
          <p:cNvPr id="5" name="Marcador de pie de página 4">
            <a:extLst>
              <a:ext uri="{FF2B5EF4-FFF2-40B4-BE49-F238E27FC236}">
                <a16:creationId xmlns:a16="http://schemas.microsoft.com/office/drawing/2014/main" id="{7303D606-6677-B760-FE95-A81D80B1E579}"/>
              </a:ext>
            </a:extLst>
          </p:cNvPr>
          <p:cNvSpPr>
            <a:spLocks noGrp="1"/>
          </p:cNvSpPr>
          <p:nvPr>
            <p:ph type="ftr" sz="quarter" idx="11"/>
          </p:nvPr>
        </p:nvSpPr>
        <p:spPr/>
        <p:txBody>
          <a:bodyPr/>
          <a:lstStyle/>
          <a:p>
            <a:r>
              <a:rPr lang="es-MX"/>
              <a:t>Arabots Robotics</a:t>
            </a:r>
          </a:p>
        </p:txBody>
      </p:sp>
      <p:sp>
        <p:nvSpPr>
          <p:cNvPr id="6" name="Marcador de número de diapositiva 5">
            <a:extLst>
              <a:ext uri="{FF2B5EF4-FFF2-40B4-BE49-F238E27FC236}">
                <a16:creationId xmlns:a16="http://schemas.microsoft.com/office/drawing/2014/main" id="{F9A9D7BC-3AB2-B5CF-1922-58C32C59B5EA}"/>
              </a:ext>
            </a:extLst>
          </p:cNvPr>
          <p:cNvSpPr>
            <a:spLocks noGrp="1"/>
          </p:cNvSpPr>
          <p:nvPr>
            <p:ph type="sldNum" sz="quarter" idx="12"/>
          </p:nvPr>
        </p:nvSpPr>
        <p:spPr/>
        <p:txBody>
          <a:bodyPr/>
          <a:lstStyle/>
          <a:p>
            <a:fld id="{4EA4A3B0-B5DF-4E2B-B48F-E4B7B7872040}" type="slidenum">
              <a:rPr lang="es-MX" smtClean="0"/>
              <a:t>‹Nº›</a:t>
            </a:fld>
            <a:endParaRPr lang="es-MX"/>
          </a:p>
        </p:txBody>
      </p:sp>
    </p:spTree>
    <p:extLst>
      <p:ext uri="{BB962C8B-B14F-4D97-AF65-F5344CB8AC3E}">
        <p14:creationId xmlns:p14="http://schemas.microsoft.com/office/powerpoint/2010/main" val="558475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D48BC92-0FDF-45B2-8F9E-5F78507A93CD}"/>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3BC44C3D-81CD-6060-6618-8656A9F4F37D}"/>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8970D0B7-2D43-46A2-280A-5A1D9883FBE3}"/>
              </a:ext>
            </a:extLst>
          </p:cNvPr>
          <p:cNvSpPr>
            <a:spLocks noGrp="1"/>
          </p:cNvSpPr>
          <p:nvPr>
            <p:ph type="dt" sz="half" idx="10"/>
          </p:nvPr>
        </p:nvSpPr>
        <p:spPr/>
        <p:txBody>
          <a:bodyPr/>
          <a:lstStyle/>
          <a:p>
            <a:fld id="{EF73455F-4034-4ADD-938D-8FE47630A82A}" type="datetime1">
              <a:rPr lang="es-MX" smtClean="0"/>
              <a:t>20/09/2025</a:t>
            </a:fld>
            <a:endParaRPr lang="es-MX"/>
          </a:p>
        </p:txBody>
      </p:sp>
      <p:sp>
        <p:nvSpPr>
          <p:cNvPr id="5" name="Marcador de pie de página 4">
            <a:extLst>
              <a:ext uri="{FF2B5EF4-FFF2-40B4-BE49-F238E27FC236}">
                <a16:creationId xmlns:a16="http://schemas.microsoft.com/office/drawing/2014/main" id="{215E1E14-7B17-027B-C4AF-24E58A05AE33}"/>
              </a:ext>
            </a:extLst>
          </p:cNvPr>
          <p:cNvSpPr>
            <a:spLocks noGrp="1"/>
          </p:cNvSpPr>
          <p:nvPr>
            <p:ph type="ftr" sz="quarter" idx="11"/>
          </p:nvPr>
        </p:nvSpPr>
        <p:spPr/>
        <p:txBody>
          <a:bodyPr/>
          <a:lstStyle/>
          <a:p>
            <a:r>
              <a:rPr lang="es-MX"/>
              <a:t>Arabots Robotics</a:t>
            </a:r>
          </a:p>
        </p:txBody>
      </p:sp>
      <p:sp>
        <p:nvSpPr>
          <p:cNvPr id="6" name="Marcador de número de diapositiva 5">
            <a:extLst>
              <a:ext uri="{FF2B5EF4-FFF2-40B4-BE49-F238E27FC236}">
                <a16:creationId xmlns:a16="http://schemas.microsoft.com/office/drawing/2014/main" id="{BAC7E77A-D7E9-643F-8137-682E2AA6ABE9}"/>
              </a:ext>
            </a:extLst>
          </p:cNvPr>
          <p:cNvSpPr>
            <a:spLocks noGrp="1"/>
          </p:cNvSpPr>
          <p:nvPr>
            <p:ph type="sldNum" sz="quarter" idx="12"/>
          </p:nvPr>
        </p:nvSpPr>
        <p:spPr/>
        <p:txBody>
          <a:bodyPr/>
          <a:lstStyle/>
          <a:p>
            <a:fld id="{4EA4A3B0-B5DF-4E2B-B48F-E4B7B7872040}" type="slidenum">
              <a:rPr lang="es-MX" smtClean="0"/>
              <a:t>‹Nº›</a:t>
            </a:fld>
            <a:endParaRPr lang="es-MX"/>
          </a:p>
        </p:txBody>
      </p:sp>
    </p:spTree>
    <p:extLst>
      <p:ext uri="{BB962C8B-B14F-4D97-AF65-F5344CB8AC3E}">
        <p14:creationId xmlns:p14="http://schemas.microsoft.com/office/powerpoint/2010/main" val="2054099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7375084-94E5-1C98-9C0B-573342874B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FE232022-81F5-1559-9382-85EB718AA1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52C08DA0-1E44-0F8B-DBC1-5B1C72BCA5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78881F-A6B1-4330-ABE8-43F9CEC859D7}" type="datetime1">
              <a:rPr lang="es-MX" smtClean="0"/>
              <a:t>20/09/2025</a:t>
            </a:fld>
            <a:endParaRPr lang="es-MX"/>
          </a:p>
        </p:txBody>
      </p:sp>
      <p:sp>
        <p:nvSpPr>
          <p:cNvPr id="5" name="Marcador de pie de página 4">
            <a:extLst>
              <a:ext uri="{FF2B5EF4-FFF2-40B4-BE49-F238E27FC236}">
                <a16:creationId xmlns:a16="http://schemas.microsoft.com/office/drawing/2014/main" id="{D7CA2411-C86F-4316-4216-AEED8CB8D1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MX"/>
              <a:t>Arabots Robotics</a:t>
            </a:r>
          </a:p>
        </p:txBody>
      </p:sp>
      <p:sp>
        <p:nvSpPr>
          <p:cNvPr id="6" name="Marcador de número de diapositiva 5">
            <a:extLst>
              <a:ext uri="{FF2B5EF4-FFF2-40B4-BE49-F238E27FC236}">
                <a16:creationId xmlns:a16="http://schemas.microsoft.com/office/drawing/2014/main" id="{0F6A5D57-88A9-0619-6FCE-1898BE7585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A4A3B0-B5DF-4E2B-B48F-E4B7B7872040}" type="slidenum">
              <a:rPr lang="es-MX" smtClean="0"/>
              <a:t>‹Nº›</a:t>
            </a:fld>
            <a:endParaRPr lang="es-MX"/>
          </a:p>
        </p:txBody>
      </p:sp>
    </p:spTree>
    <p:extLst>
      <p:ext uri="{BB962C8B-B14F-4D97-AF65-F5344CB8AC3E}">
        <p14:creationId xmlns:p14="http://schemas.microsoft.com/office/powerpoint/2010/main" val="10734287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4.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customXml" Target="../ink/ink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8" Type="http://schemas.openxmlformats.org/officeDocument/2006/relationships/customXml" Target="../ink/ink7.xml"/><Relationship Id="rId13"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4.png"/><Relationship Id="rId12" Type="http://schemas.openxmlformats.org/officeDocument/2006/relationships/customXml" Target="../ink/ink9.xml"/><Relationship Id="rId2" Type="http://schemas.openxmlformats.org/officeDocument/2006/relationships/customXml" Target="../ink/ink4.xml"/><Relationship Id="rId1" Type="http://schemas.openxmlformats.org/officeDocument/2006/relationships/slideLayout" Target="../slideLayouts/slideLayout2.xml"/><Relationship Id="rId6" Type="http://schemas.openxmlformats.org/officeDocument/2006/relationships/customXml" Target="../ink/ink6.xml"/><Relationship Id="rId11" Type="http://schemas.openxmlformats.org/officeDocument/2006/relationships/image" Target="../media/image16.png"/><Relationship Id="rId5" Type="http://schemas.openxmlformats.org/officeDocument/2006/relationships/image" Target="../media/image13.png"/><Relationship Id="rId10" Type="http://schemas.openxmlformats.org/officeDocument/2006/relationships/customXml" Target="../ink/ink8.xml"/><Relationship Id="rId4" Type="http://schemas.openxmlformats.org/officeDocument/2006/relationships/customXml" Target="../ink/ink5.xml"/><Relationship Id="rId9" Type="http://schemas.openxmlformats.org/officeDocument/2006/relationships/image" Target="../media/image1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8" Type="http://schemas.openxmlformats.org/officeDocument/2006/relationships/customXml" Target="../ink/ink13.xml"/><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customXml" Target="../ink/ink12.xml"/><Relationship Id="rId5" Type="http://schemas.openxmlformats.org/officeDocument/2006/relationships/image" Target="../media/image19.png"/><Relationship Id="rId4" Type="http://schemas.openxmlformats.org/officeDocument/2006/relationships/customXml" Target="../ink/ink11.xml"/><Relationship Id="rId9" Type="http://schemas.openxmlformats.org/officeDocument/2006/relationships/image" Target="../media/image2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diagramLayout" Target="../diagrams/layout8.xml"/><Relationship Id="rId7" Type="http://schemas.openxmlformats.org/officeDocument/2006/relationships/customXml" Target="../ink/ink14.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10" Type="http://schemas.openxmlformats.org/officeDocument/2006/relationships/image" Target="../media/image260.png"/><Relationship Id="rId4" Type="http://schemas.openxmlformats.org/officeDocument/2006/relationships/diagramQuickStyle" Target="../diagrams/quickStyle8.xml"/><Relationship Id="rId9" Type="http://schemas.openxmlformats.org/officeDocument/2006/relationships/customXml" Target="../ink/ink15.xml"/></Relationships>
</file>

<file path=ppt/slides/_rels/slide12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8" Type="http://schemas.openxmlformats.org/officeDocument/2006/relationships/customXml" Target="../ink/ink19.xml"/><Relationship Id="rId13" Type="http://schemas.openxmlformats.org/officeDocument/2006/relationships/image" Target="../media/image380.png"/><Relationship Id="rId3" Type="http://schemas.openxmlformats.org/officeDocument/2006/relationships/image" Target="../media/image33.png"/><Relationship Id="rId7" Type="http://schemas.openxmlformats.org/officeDocument/2006/relationships/image" Target="../media/image350.png"/><Relationship Id="rId12" Type="http://schemas.openxmlformats.org/officeDocument/2006/relationships/customXml" Target="../ink/ink21.xml"/><Relationship Id="rId2" Type="http://schemas.openxmlformats.org/officeDocument/2006/relationships/customXml" Target="../ink/ink16.xml"/><Relationship Id="rId16" Type="http://schemas.openxmlformats.org/officeDocument/2006/relationships/customXml" Target="../ink/ink23.xml"/><Relationship Id="rId1" Type="http://schemas.openxmlformats.org/officeDocument/2006/relationships/slideLayout" Target="../slideLayouts/slideLayout2.xml"/><Relationship Id="rId6" Type="http://schemas.openxmlformats.org/officeDocument/2006/relationships/customXml" Target="../ink/ink18.xml"/><Relationship Id="rId11" Type="http://schemas.openxmlformats.org/officeDocument/2006/relationships/image" Target="../media/image370.png"/><Relationship Id="rId5" Type="http://schemas.openxmlformats.org/officeDocument/2006/relationships/image" Target="../media/image340.png"/><Relationship Id="rId15" Type="http://schemas.openxmlformats.org/officeDocument/2006/relationships/image" Target="../media/image390.png"/><Relationship Id="rId10" Type="http://schemas.openxmlformats.org/officeDocument/2006/relationships/customXml" Target="../ink/ink20.xml"/><Relationship Id="rId4" Type="http://schemas.openxmlformats.org/officeDocument/2006/relationships/customXml" Target="../ink/ink17.xml"/><Relationship Id="rId9" Type="http://schemas.openxmlformats.org/officeDocument/2006/relationships/image" Target="../media/image360.png"/><Relationship Id="rId14" Type="http://schemas.openxmlformats.org/officeDocument/2006/relationships/customXml" Target="../ink/ink2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400.png"/><Relationship Id="rId7" Type="http://schemas.openxmlformats.org/officeDocument/2006/relationships/image" Target="../media/image420.png"/><Relationship Id="rId2" Type="http://schemas.openxmlformats.org/officeDocument/2006/relationships/customXml" Target="../ink/ink24.xml"/><Relationship Id="rId1" Type="http://schemas.openxmlformats.org/officeDocument/2006/relationships/slideLayout" Target="../slideLayouts/slideLayout2.xml"/><Relationship Id="rId6" Type="http://schemas.openxmlformats.org/officeDocument/2006/relationships/customXml" Target="../ink/ink26.xml"/><Relationship Id="rId5" Type="http://schemas.openxmlformats.org/officeDocument/2006/relationships/image" Target="../media/image410.png"/><Relationship Id="rId4" Type="http://schemas.openxmlformats.org/officeDocument/2006/relationships/customXml" Target="../ink/ink2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customXml" Target="../ink/ink27.xml"/><Relationship Id="rId1" Type="http://schemas.openxmlformats.org/officeDocument/2006/relationships/slideLayout" Target="../slideLayouts/slideLayout2.xml"/><Relationship Id="rId5" Type="http://schemas.openxmlformats.org/officeDocument/2006/relationships/image" Target="../media/image440.png"/><Relationship Id="rId4" Type="http://schemas.openxmlformats.org/officeDocument/2006/relationships/customXml" Target="../ink/ink2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6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6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hyperlink" Target="https://www.google.com/search?q=hobby&amp;hl=es-419&amp;sxsrf=AOaemvIxRmxg06Cnykqn-zfAw7mDqA3TkQ%3A1633879248359&amp;source=hp&amp;ei=0ARjYcjoE4DU1sQP2-mFCA&amp;iflsig=ALs-wAMAAAAAYWMS4Mbl0Jug9pieBJGLqQn3iQC-7Tq-&amp;ved=0ahUKEwjIkM_BksDzAhUAqpUCHdt0AQEQ4dUDCAc&amp;uact=5&amp;oq=hobby&amp;gs_lcp=Cgdnd3Mtd2l6EAMyBwgAELEDEEMyCgguEMcBEKMCEEMyBggAEAoQQzIECAAQQzIECAAQQzIKCC4QxwEQ0QMQQzIECAAQQzIECAAQQzIECAAQQzIECAAQQzoHCCMQ6gIQJzoECCMQJzoLCAAQgAQQsQMQgwE6DgguEIAEELEDEMcBEKMCOgUIABCABDoICAAQgAQQsQM6EAguEIAEEIcCEMcBEK8BEBQ6CwguEIAEEMcBEK8BUO0KWI0TYPgVaAJwAHgAgAGSAYgBiwWSAQMzLjOYAQCgAQGwAQo&amp;sclient=gws-wiz" TargetMode="Externa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hyperlink" Target="https://docs.aws.amazon.com/es_es/redshift/latest/dg/r_LEN.html" TargetMode="Externa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hyperlink" Target="https://escueladirecta-blog.blogspot.com/2021/10/acoplamiento-pilares-de-la-programacion.html" TargetMode="External"/><Relationship Id="rId2" Type="http://schemas.openxmlformats.org/officeDocument/2006/relationships/hyperlink" Target="https://escueladirecta-blog.blogspot.com/2021/09/cohesion-pilares-de-la-programacion.html" TargetMode="External"/><Relationship Id="rId1" Type="http://schemas.openxmlformats.org/officeDocument/2006/relationships/slideLayout" Target="../slideLayouts/slideLayout2.xml"/><Relationship Id="rId5" Type="http://schemas.openxmlformats.org/officeDocument/2006/relationships/hyperlink" Target="https://escueladirecta-blog.blogspot.com/2021/10/encapsulamiento-pilares-de-la.html" TargetMode="External"/><Relationship Id="rId4" Type="http://schemas.openxmlformats.org/officeDocument/2006/relationships/hyperlink" Target="https://escueladirecta-blog.blogspot.com/2021/10/abstraccion-pilares-de-la-programacion.html" TargetMode="External"/></Relationships>
</file>

<file path=ppt/slides/_rels/slide17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8" Type="http://schemas.openxmlformats.org/officeDocument/2006/relationships/customXml" Target="../ink/ink32.xml"/><Relationship Id="rId13"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5.png"/><Relationship Id="rId12" Type="http://schemas.openxmlformats.org/officeDocument/2006/relationships/customXml" Target="../ink/ink34.xml"/><Relationship Id="rId2" Type="http://schemas.openxmlformats.org/officeDocument/2006/relationships/customXml" Target="../ink/ink29.xml"/><Relationship Id="rId1" Type="http://schemas.openxmlformats.org/officeDocument/2006/relationships/slideLayout" Target="../slideLayouts/slideLayout2.xml"/><Relationship Id="rId6" Type="http://schemas.openxmlformats.org/officeDocument/2006/relationships/customXml" Target="../ink/ink31.xml"/><Relationship Id="rId11" Type="http://schemas.openxmlformats.org/officeDocument/2006/relationships/image" Target="../media/image67.png"/><Relationship Id="rId5" Type="http://schemas.openxmlformats.org/officeDocument/2006/relationships/image" Target="../media/image64.png"/><Relationship Id="rId10" Type="http://schemas.openxmlformats.org/officeDocument/2006/relationships/customXml" Target="../ink/ink33.xml"/><Relationship Id="rId4" Type="http://schemas.openxmlformats.org/officeDocument/2006/relationships/customXml" Target="../ink/ink30.xml"/><Relationship Id="rId9" Type="http://schemas.openxmlformats.org/officeDocument/2006/relationships/image" Target="../media/image66.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customXml" Target="../ink/ink35.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customXml" Target="../ink/ink36.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hyperlink" Target="https://es.wikipedia.org/wiki/Logaritmo_decimal" TargetMode="Externa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
          <p:cNvSpPr txBox="1">
            <a:spLocks noGrp="1"/>
          </p:cNvSpPr>
          <p:nvPr>
            <p:ph type="subTitle" idx="1"/>
          </p:nvPr>
        </p:nvSpPr>
        <p:spPr>
          <a:xfrm>
            <a:off x="3002783" y="4606587"/>
            <a:ext cx="10375600" cy="1056800"/>
          </a:xfrm>
          <a:prstGeom prst="rect">
            <a:avLst/>
          </a:prstGeom>
          <a:noFill/>
          <a:ln>
            <a:noFill/>
          </a:ln>
        </p:spPr>
        <p:txBody>
          <a:bodyPr spcFirstLastPara="1" vert="horz" wrap="square" lIns="121900" tIns="121900" rIns="121900" bIns="121900" rtlCol="0" anchor="t" anchorCtr="0">
            <a:noAutofit/>
          </a:bodyPr>
          <a:lstStyle/>
          <a:p>
            <a:pPr algn="l">
              <a:lnSpc>
                <a:spcPct val="100000"/>
              </a:lnSpc>
              <a:spcBef>
                <a:spcPts val="0"/>
              </a:spcBef>
              <a:buSzPts val="2800"/>
            </a:pPr>
            <a:r>
              <a:rPr lang="es-419" sz="3733">
                <a:solidFill>
                  <a:srgbClr val="FFFFFF"/>
                </a:solidFill>
              </a:rPr>
              <a:t>Apuntando siempre al éxito</a:t>
            </a:r>
            <a:endParaRPr sz="3733">
              <a:solidFill>
                <a:srgbClr val="FFFFFF"/>
              </a:solidFill>
            </a:endParaRPr>
          </a:p>
        </p:txBody>
      </p:sp>
      <p:cxnSp>
        <p:nvCxnSpPr>
          <p:cNvPr id="126" name="Google Shape;126;p1"/>
          <p:cNvCxnSpPr/>
          <p:nvPr/>
        </p:nvCxnSpPr>
        <p:spPr>
          <a:xfrm>
            <a:off x="1373369" y="806652"/>
            <a:ext cx="8294400" cy="0"/>
          </a:xfrm>
          <a:prstGeom prst="straightConnector1">
            <a:avLst/>
          </a:prstGeom>
          <a:noFill/>
          <a:ln w="28575" cap="flat" cmpd="sng">
            <a:solidFill>
              <a:schemeClr val="lt1"/>
            </a:solidFill>
            <a:prstDash val="solid"/>
            <a:round/>
            <a:headEnd type="none" w="sm" len="sm"/>
            <a:tailEnd type="none" w="sm" len="sm"/>
          </a:ln>
        </p:spPr>
      </p:cxnSp>
      <p:cxnSp>
        <p:nvCxnSpPr>
          <p:cNvPr id="127" name="Google Shape;127;p1"/>
          <p:cNvCxnSpPr/>
          <p:nvPr/>
        </p:nvCxnSpPr>
        <p:spPr>
          <a:xfrm>
            <a:off x="1567333" y="5497133"/>
            <a:ext cx="8294400" cy="0"/>
          </a:xfrm>
          <a:prstGeom prst="straightConnector1">
            <a:avLst/>
          </a:prstGeom>
          <a:noFill/>
          <a:ln w="28575" cap="flat" cmpd="sng">
            <a:solidFill>
              <a:schemeClr val="lt1"/>
            </a:solidFill>
            <a:prstDash val="solid"/>
            <a:round/>
            <a:headEnd type="none" w="sm" len="sm"/>
            <a:tailEnd type="none" w="sm" len="sm"/>
          </a:ln>
        </p:spPr>
      </p:cxnSp>
      <p:pic>
        <p:nvPicPr>
          <p:cNvPr id="128" name="Google Shape;128;p1"/>
          <p:cNvPicPr preferRelativeResize="0"/>
          <p:nvPr/>
        </p:nvPicPr>
        <p:blipFill rotWithShape="1">
          <a:blip r:embed="rId3">
            <a:alphaModFix/>
          </a:blip>
          <a:srcRect/>
          <a:stretch/>
        </p:blipFill>
        <p:spPr>
          <a:xfrm>
            <a:off x="3988017" y="1153555"/>
            <a:ext cx="3453032" cy="3453032"/>
          </a:xfrm>
          <a:prstGeom prst="ellipse">
            <a:avLst/>
          </a:prstGeom>
          <a:noFill/>
          <a:ln>
            <a:noFill/>
          </a:ln>
        </p:spPr>
      </p:pic>
      <p:sp>
        <p:nvSpPr>
          <p:cNvPr id="2" name="Marcador de pie de página 1">
            <a:extLst>
              <a:ext uri="{FF2B5EF4-FFF2-40B4-BE49-F238E27FC236}">
                <a16:creationId xmlns:a16="http://schemas.microsoft.com/office/drawing/2014/main" id="{2447DCD4-E7B3-59A3-38A0-1C1FADEF99CE}"/>
              </a:ext>
            </a:extLst>
          </p:cNvPr>
          <p:cNvSpPr>
            <a:spLocks noGrp="1"/>
          </p:cNvSpPr>
          <p:nvPr>
            <p:ph type="ftr" sz="quarter" idx="11"/>
          </p:nvPr>
        </p:nvSpPr>
        <p:spPr/>
        <p:txBody>
          <a:bodyPr/>
          <a:lstStyle/>
          <a:p>
            <a:r>
              <a:rPr lang="es-MX"/>
              <a:t>Arabots Robotics</a:t>
            </a:r>
          </a:p>
        </p:txBody>
      </p:sp>
      <p:sp>
        <p:nvSpPr>
          <p:cNvPr id="3" name="Marcador de número de diapositiva 2">
            <a:extLst>
              <a:ext uri="{FF2B5EF4-FFF2-40B4-BE49-F238E27FC236}">
                <a16:creationId xmlns:a16="http://schemas.microsoft.com/office/drawing/2014/main" id="{6EF52822-B451-A4C2-39DF-0EE4FC8ECB70}"/>
              </a:ext>
            </a:extLst>
          </p:cNvPr>
          <p:cNvSpPr>
            <a:spLocks noGrp="1"/>
          </p:cNvSpPr>
          <p:nvPr>
            <p:ph type="sldNum" sz="quarter" idx="12"/>
          </p:nvPr>
        </p:nvSpPr>
        <p:spPr/>
        <p:txBody>
          <a:bodyPr/>
          <a:lstStyle/>
          <a:p>
            <a:fld id="{4EA4A3B0-B5DF-4E2B-B48F-E4B7B7872040}" type="slidenum">
              <a:rPr lang="es-MX" smtClean="0"/>
              <a:t>1</a:t>
            </a:fld>
            <a:endParaRPr lang="es-MX"/>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ítulo 12">
            <a:extLst>
              <a:ext uri="{FF2B5EF4-FFF2-40B4-BE49-F238E27FC236}">
                <a16:creationId xmlns:a16="http://schemas.microsoft.com/office/drawing/2014/main" id="{C7C916BC-4B33-70A9-80C7-5063E64269DE}"/>
              </a:ext>
            </a:extLst>
          </p:cNvPr>
          <p:cNvSpPr>
            <a:spLocks noGrp="1"/>
          </p:cNvSpPr>
          <p:nvPr>
            <p:ph type="title"/>
          </p:nvPr>
        </p:nvSpPr>
        <p:spPr>
          <a:xfrm>
            <a:off x="826396" y="586855"/>
            <a:ext cx="4230100" cy="3387497"/>
          </a:xfrm>
        </p:spPr>
        <p:txBody>
          <a:bodyPr vert="horz" lIns="91440" tIns="45720" rIns="91440" bIns="45720" rtlCol="0" anchor="b">
            <a:normAutofit/>
          </a:bodyPr>
          <a:lstStyle/>
          <a:p>
            <a:pPr algn="r"/>
            <a:r>
              <a:rPr lang="en-US" sz="2800" dirty="0">
                <a:solidFill>
                  <a:srgbClr val="FFFFFF"/>
                </a:solidFill>
              </a:rPr>
              <a:t>Print()</a:t>
            </a:r>
            <a:br>
              <a:rPr lang="en-US" sz="2800" dirty="0">
                <a:solidFill>
                  <a:srgbClr val="FFFFFF"/>
                </a:solidFill>
              </a:rPr>
            </a:br>
            <a:r>
              <a:rPr lang="en-US" sz="2800" dirty="0">
                <a:solidFill>
                  <a:srgbClr val="FFFFFF"/>
                </a:solidFill>
              </a:rPr>
              <a:t>A statement that, when executed, displays (or prints) the argument that is entered in parentheses on the screen.</a:t>
            </a:r>
            <a:endParaRPr lang="en-US" sz="2800" kern="1200" dirty="0">
              <a:solidFill>
                <a:srgbClr val="FFFFFF"/>
              </a:solidFill>
              <a:latin typeface="+mj-lt"/>
              <a:ea typeface="+mj-ea"/>
              <a:cs typeface="+mj-cs"/>
            </a:endParaRPr>
          </a:p>
        </p:txBody>
      </p:sp>
      <p:sp>
        <p:nvSpPr>
          <p:cNvPr id="9" name="Marcador de pie de página 8">
            <a:extLst>
              <a:ext uri="{FF2B5EF4-FFF2-40B4-BE49-F238E27FC236}">
                <a16:creationId xmlns:a16="http://schemas.microsoft.com/office/drawing/2014/main" id="{81894F45-F901-604F-6D16-95922030EAC8}"/>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12" name="Marcador de contenido 11">
            <a:extLst>
              <a:ext uri="{FF2B5EF4-FFF2-40B4-BE49-F238E27FC236}">
                <a16:creationId xmlns:a16="http://schemas.microsoft.com/office/drawing/2014/main" id="{5E38371F-6FA3-8D50-73EF-85FBD0F3FA32}"/>
              </a:ext>
            </a:extLst>
          </p:cNvPr>
          <p:cNvSpPr>
            <a:spLocks noGrp="1"/>
          </p:cNvSpPr>
          <p:nvPr>
            <p:ph idx="4294967295"/>
          </p:nvPr>
        </p:nvSpPr>
        <p:spPr>
          <a:xfrm>
            <a:off x="6503158" y="649480"/>
            <a:ext cx="4862447" cy="5546047"/>
          </a:xfrm>
        </p:spPr>
        <p:txBody>
          <a:bodyPr vert="horz" lIns="91440" tIns="45720" rIns="91440" bIns="45720" rtlCol="0" anchor="ctr">
            <a:normAutofit/>
          </a:bodyPr>
          <a:lstStyle/>
          <a:p>
            <a:pPr marL="0"/>
            <a:r>
              <a:rPr lang="en-US" sz="2000" i="1" dirty="0"/>
              <a:t>Show Text
Enter the text characters that must be displayed on the screen in single or double quotation marks. 
print("Hello world") 
&gt;&gt; Hello world
Show Numbers 
We can give print() the number to display, or a mathematical operation to solve. We do not use quotation marks in these cases. 
print(150 + 50) 
&gt;&gt; 200</a:t>
            </a:r>
            <a:endParaRPr lang="en-US" sz="2000" dirty="0"/>
          </a:p>
        </p:txBody>
      </p:sp>
      <p:sp>
        <p:nvSpPr>
          <p:cNvPr id="10" name="Marcador de número de diapositiva 9">
            <a:extLst>
              <a:ext uri="{FF2B5EF4-FFF2-40B4-BE49-F238E27FC236}">
                <a16:creationId xmlns:a16="http://schemas.microsoft.com/office/drawing/2014/main" id="{28D8A90F-73EB-E432-C47F-82ED3D5D7FB1}"/>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2</a:t>
            </a:fld>
            <a:endParaRPr lang="en-US" sz="1100">
              <a:solidFill>
                <a:schemeClr val="tx1">
                  <a:lumMod val="50000"/>
                  <a:lumOff val="50000"/>
                </a:schemeClr>
              </a:solidFill>
            </a:endParaRPr>
          </a:p>
        </p:txBody>
      </p:sp>
      <p:pic>
        <p:nvPicPr>
          <p:cNvPr id="4" name="Google Shape;128;p1">
            <a:extLst>
              <a:ext uri="{FF2B5EF4-FFF2-40B4-BE49-F238E27FC236}">
                <a16:creationId xmlns:a16="http://schemas.microsoft.com/office/drawing/2014/main" id="{B5C934CF-6D4E-5ACC-C6C5-95E89C82B431}"/>
              </a:ext>
            </a:extLst>
          </p:cNvPr>
          <p:cNvPicPr preferRelativeResize="0"/>
          <p:nvPr/>
        </p:nvPicPr>
        <p:blipFill rotWithShape="1">
          <a:blip r:embed="rId2">
            <a:alphaModFix/>
          </a:blip>
          <a:srcRect/>
          <a:stretch/>
        </p:blipFill>
        <p:spPr>
          <a:xfrm>
            <a:off x="11163888" y="47135"/>
            <a:ext cx="971550" cy="971550"/>
          </a:xfrm>
          <a:prstGeom prst="ellipse">
            <a:avLst/>
          </a:prstGeom>
          <a:noFill/>
          <a:ln>
            <a:noFill/>
          </a:ln>
        </p:spPr>
      </p:pic>
    </p:spTree>
    <p:extLst>
      <p:ext uri="{BB962C8B-B14F-4D97-AF65-F5344CB8AC3E}">
        <p14:creationId xmlns:p14="http://schemas.microsoft.com/office/powerpoint/2010/main" val="3997622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EF09551E-ED72-F429-2316-9E0EC255D584}"/>
              </a:ext>
            </a:extLst>
          </p:cNvPr>
          <p:cNvSpPr>
            <a:spLocks noGrp="1" noChangeArrowheads="1"/>
          </p:cNvSpPr>
          <p:nvPr>
            <p:ph type="title"/>
          </p:nvPr>
        </p:nvSpPr>
        <p:spPr bwMode="auto">
          <a:xfrm>
            <a:off x="586478" y="1683756"/>
            <a:ext cx="3115265" cy="2396359"/>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r" eaLnBrk="1" hangingPunct="1"/>
            <a:r>
              <a:rPr lang="en-US" altLang="es-MX" sz="3600" b="1" dirty="0">
                <a:solidFill>
                  <a:srgbClr val="FFFFFF"/>
                </a:solidFill>
                <a:latin typeface="+mj-lt"/>
              </a:rPr>
              <a:t>Practice Print 1</a:t>
            </a:r>
            <a:r>
              <a:rPr kumimoji="0" lang="en-US" altLang="es-MX" sz="4000" b="1" i="0" u="none" strike="noStrike" kern="1200" cap="none" normalizeH="0" baseline="0" dirty="0">
                <a:ln>
                  <a:noFill/>
                </a:ln>
                <a:solidFill>
                  <a:srgbClr val="FFFFFF"/>
                </a:solidFill>
                <a:effectLst/>
                <a:latin typeface="+mj-lt"/>
                <a:ea typeface="+mj-ea"/>
                <a:cs typeface="+mj-cs"/>
              </a:rPr>
              <a:t>.</a:t>
            </a:r>
            <a:endParaRPr kumimoji="0" lang="en-US" altLang="es-MX" sz="4000" b="0" i="0" u="none" strike="noStrike" kern="1200" cap="none" normalizeH="0" baseline="0" dirty="0">
              <a:ln>
                <a:noFill/>
              </a:ln>
              <a:solidFill>
                <a:srgbClr val="FFFFFF"/>
              </a:solidFill>
              <a:effectLst/>
              <a:latin typeface="+mj-lt"/>
              <a:ea typeface="+mj-ea"/>
              <a:cs typeface="+mj-cs"/>
            </a:endParaRPr>
          </a:p>
        </p:txBody>
      </p:sp>
      <p:sp>
        <p:nvSpPr>
          <p:cNvPr id="3" name="Marcador de pie de página 2">
            <a:extLst>
              <a:ext uri="{FF2B5EF4-FFF2-40B4-BE49-F238E27FC236}">
                <a16:creationId xmlns:a16="http://schemas.microsoft.com/office/drawing/2014/main" id="{2FA9E9B5-1DF6-9BF1-DA96-6B6643019419}"/>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4" name="Marcador de número de diapositiva 3">
            <a:extLst>
              <a:ext uri="{FF2B5EF4-FFF2-40B4-BE49-F238E27FC236}">
                <a16:creationId xmlns:a16="http://schemas.microsoft.com/office/drawing/2014/main" id="{B8BEAD07-71F0-9659-8387-2FD151B4AF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3</a:t>
            </a:fld>
            <a:endParaRPr lang="en-US" sz="1100">
              <a:solidFill>
                <a:schemeClr val="tx1">
                  <a:lumMod val="50000"/>
                  <a:lumOff val="50000"/>
                </a:schemeClr>
              </a:solidFill>
            </a:endParaRPr>
          </a:p>
        </p:txBody>
      </p:sp>
      <p:graphicFrame>
        <p:nvGraphicFramePr>
          <p:cNvPr id="8" name="CuadroTexto 5">
            <a:extLst>
              <a:ext uri="{FF2B5EF4-FFF2-40B4-BE49-F238E27FC236}">
                <a16:creationId xmlns:a16="http://schemas.microsoft.com/office/drawing/2014/main" id="{54909461-CCBF-A46C-2AFE-BEA8214C5F21}"/>
              </a:ext>
            </a:extLst>
          </p:cNvPr>
          <p:cNvGraphicFramePr/>
          <p:nvPr>
            <p:extLst>
              <p:ext uri="{D42A27DB-BD31-4B8C-83A1-F6EECF244321}">
                <p14:modId xmlns:p14="http://schemas.microsoft.com/office/powerpoint/2010/main" val="214206267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7444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Shape 3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Rectangle 3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pie de página 2">
            <a:extLst>
              <a:ext uri="{FF2B5EF4-FFF2-40B4-BE49-F238E27FC236}">
                <a16:creationId xmlns:a16="http://schemas.microsoft.com/office/drawing/2014/main" id="{9D248A85-CC49-7878-1B9D-940E6AB802BA}"/>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4" name="Marcador de número de diapositiva 3">
            <a:extLst>
              <a:ext uri="{FF2B5EF4-FFF2-40B4-BE49-F238E27FC236}">
                <a16:creationId xmlns:a16="http://schemas.microsoft.com/office/drawing/2014/main" id="{C2C54E45-9EA5-E48F-6645-D2116522733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4</a:t>
            </a:fld>
            <a:endParaRPr lang="en-US" sz="1100">
              <a:solidFill>
                <a:schemeClr val="tx1">
                  <a:lumMod val="50000"/>
                  <a:lumOff val="50000"/>
                </a:schemeClr>
              </a:solidFill>
            </a:endParaRPr>
          </a:p>
        </p:txBody>
      </p:sp>
      <p:sp>
        <p:nvSpPr>
          <p:cNvPr id="5" name="CuadroTexto 4">
            <a:extLst>
              <a:ext uri="{FF2B5EF4-FFF2-40B4-BE49-F238E27FC236}">
                <a16:creationId xmlns:a16="http://schemas.microsoft.com/office/drawing/2014/main" id="{1DDD33FC-5CBE-9D79-AF27-C3BBC9A92E70}"/>
              </a:ext>
            </a:extLst>
          </p:cNvPr>
          <p:cNvSpPr txBox="1"/>
          <p:nvPr/>
        </p:nvSpPr>
        <p:spPr>
          <a:xfrm>
            <a:off x="274003" y="109410"/>
            <a:ext cx="3489810" cy="5453801"/>
          </a:xfrm>
          <a:prstGeom prst="rect">
            <a:avLst/>
          </a:prstGeom>
          <a:noFill/>
        </p:spPr>
        <p:txBody>
          <a:bodyPr wrap="square">
            <a:spAutoFit/>
          </a:bodyPr>
          <a:lstStyle/>
          <a:p>
            <a:pPr>
              <a:lnSpc>
                <a:spcPct val="90000"/>
              </a:lnSpc>
              <a:spcAft>
                <a:spcPts val="600"/>
              </a:spcAft>
            </a:pPr>
            <a:r>
              <a:rPr lang="en-US" sz="4400" i="1" dirty="0">
                <a:solidFill>
                  <a:schemeClr val="bg1"/>
                </a:solidFill>
              </a:rPr>
              <a:t>Strings</a:t>
            </a:r>
          </a:p>
          <a:p>
            <a:pPr>
              <a:lnSpc>
                <a:spcPct val="90000"/>
              </a:lnSpc>
              <a:spcAft>
                <a:spcPts val="600"/>
              </a:spcAft>
            </a:pPr>
            <a:r>
              <a:rPr lang="en-US" sz="3600" dirty="0">
                <a:solidFill>
                  <a:schemeClr val="bg1"/>
                </a:solidFill>
              </a:rPr>
              <a:t>Strings in Python are a type of data made up of strings (or sequences) of characters of any type, forming a text.</a:t>
            </a:r>
            <a:endParaRPr lang="en-US" sz="4400" i="1" dirty="0">
              <a:solidFill>
                <a:schemeClr val="bg1"/>
              </a:solidFill>
            </a:endParaRPr>
          </a:p>
          <a:p>
            <a:pPr>
              <a:lnSpc>
                <a:spcPct val="90000"/>
              </a:lnSpc>
              <a:spcAft>
                <a:spcPts val="600"/>
              </a:spcAft>
            </a:pPr>
            <a:endParaRPr lang="en-US" sz="4400" i="1" dirty="0">
              <a:solidFill>
                <a:schemeClr val="bg1"/>
              </a:solidFill>
            </a:endParaRPr>
          </a:p>
        </p:txBody>
      </p:sp>
      <p:graphicFrame>
        <p:nvGraphicFramePr>
          <p:cNvPr id="25" name="CuadroTexto 5">
            <a:extLst>
              <a:ext uri="{FF2B5EF4-FFF2-40B4-BE49-F238E27FC236}">
                <a16:creationId xmlns:a16="http://schemas.microsoft.com/office/drawing/2014/main" id="{CB3D8F93-BB0A-1F6B-D8CE-17E05DEA06B7}"/>
              </a:ext>
            </a:extLst>
          </p:cNvPr>
          <p:cNvGraphicFramePr/>
          <p:nvPr>
            <p:extLst>
              <p:ext uri="{D42A27DB-BD31-4B8C-83A1-F6EECF244321}">
                <p14:modId xmlns:p14="http://schemas.microsoft.com/office/powerpoint/2010/main" val="211170246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678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1">
            <a:extLst>
              <a:ext uri="{FF2B5EF4-FFF2-40B4-BE49-F238E27FC236}">
                <a16:creationId xmlns:a16="http://schemas.microsoft.com/office/drawing/2014/main" id="{9DA632CD-ED68-F736-E1CF-DEB774476162}"/>
              </a:ext>
            </a:extLst>
          </p:cNvPr>
          <p:cNvSpPr txBox="1">
            <a:spLocks noChangeArrowheads="1"/>
          </p:cNvSpPr>
          <p:nvPr/>
        </p:nvSpPr>
        <p:spPr bwMode="auto">
          <a:xfrm>
            <a:off x="4776788" y="642938"/>
            <a:ext cx="6780213" cy="2205038"/>
          </a:xfrm>
          <a:prstGeom prst="rect">
            <a:avLst/>
          </a:prstGeom>
          <a:ln/>
        </p:spPr>
        <p:style>
          <a:lnRef idx="2">
            <a:schemeClr val="dk1"/>
          </a:lnRef>
          <a:fillRef idx="1">
            <a:schemeClr val="lt1"/>
          </a:fillRef>
          <a:effectRef idx="0">
            <a:schemeClr val="dk1"/>
          </a:effectRef>
          <a:fontRef idx="minor">
            <a:schemeClr val="dk1"/>
          </a:fontRef>
        </p:style>
        <p:txBody>
          <a:bodyPr vert="horz" wrap="square" lIns="0" tIns="0" rIns="0" bIns="0" numCol="1" rtlCol="0" anchor="t" anchorCtr="0" compatLnSpc="1">
            <a:prstTxWarp prst="textNoShape">
              <a:avLst/>
            </a:prstTxWarp>
            <a:normAutofit/>
          </a:bodyPr>
          <a:lstStyle>
            <a:lvl1pPr algn="l" defTabSz="914400" rtl="0" eaLnBrk="0" fontAlgn="base" latinLnBrk="0" hangingPunct="0">
              <a:lnSpc>
                <a:spcPct val="90000"/>
              </a:lnSpc>
              <a:spcBef>
                <a:spcPct val="0"/>
              </a:spcBef>
              <a:spcAft>
                <a:spcPct val="0"/>
              </a:spcAft>
              <a:buNone/>
              <a:defRPr sz="4400" kern="1200">
                <a:solidFill>
                  <a:schemeClr val="tx1"/>
                </a:solidFill>
                <a:latin typeface="Arial" panose="020B0604020202020204" pitchFamily="34" charset="0"/>
                <a:ea typeface="+mj-ea"/>
                <a:cs typeface="+mj-cs"/>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spcAft>
                <a:spcPts val="600"/>
              </a:spcAft>
            </a:pPr>
            <a:r>
              <a:rPr lang="en-US" altLang="es-MX" sz="2000" dirty="0">
                <a:solidFill>
                  <a:srgbClr val="1C1D1F"/>
                </a:solidFill>
                <a:latin typeface="udemy sans"/>
              </a:rPr>
              <a:t>Create a code that prints the following expression on the screen (but using print only once):
Line 1
Line 2
Line 3</a:t>
            </a:r>
            <a:endParaRPr lang="es-MX" altLang="es-MX" sz="2400" dirty="0"/>
          </a:p>
        </p:txBody>
      </p:sp>
      <p:sp>
        <p:nvSpPr>
          <p:cNvPr id="7" name="Rectangle 2">
            <a:extLst>
              <a:ext uri="{FF2B5EF4-FFF2-40B4-BE49-F238E27FC236}">
                <a16:creationId xmlns:a16="http://schemas.microsoft.com/office/drawing/2014/main" id="{67861529-A195-3813-70CD-CCA572B5D945}"/>
              </a:ext>
            </a:extLst>
          </p:cNvPr>
          <p:cNvSpPr>
            <a:spLocks noChangeArrowheads="1"/>
          </p:cNvSpPr>
          <p:nvPr/>
        </p:nvSpPr>
        <p:spPr bwMode="auto">
          <a:xfrm>
            <a:off x="4776788" y="2916238"/>
            <a:ext cx="6780213" cy="1435100"/>
          </a:xfrm>
          <a:prstGeom prst="rect">
            <a:avLst/>
          </a:prstGeom>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nSpc>
                <a:spcPct val="90000"/>
              </a:lnSpc>
              <a:spcAft>
                <a:spcPts val="600"/>
              </a:spcAft>
            </a:pPr>
            <a:r>
              <a:rPr lang="en-US" altLang="es-MX" sz="2000" dirty="0">
                <a:solidFill>
                  <a:srgbClr val="1C1D1F"/>
                </a:solidFill>
                <a:latin typeface="udemy sans"/>
              </a:rPr>
              <a:t>Create a code that prints the following expression on the screen.
A B C
D E F
G H I</a:t>
            </a:r>
            <a:endParaRPr kumimoji="0" lang="es-MX" altLang="es-MX" sz="20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5F332A38-B437-2DA7-2272-AEF2A632C605}"/>
              </a:ext>
            </a:extLst>
          </p:cNvPr>
          <p:cNvSpPr>
            <a:spLocks noChangeArrowheads="1"/>
          </p:cNvSpPr>
          <p:nvPr/>
        </p:nvSpPr>
        <p:spPr bwMode="auto">
          <a:xfrm>
            <a:off x="4776788" y="4418013"/>
            <a:ext cx="6780213" cy="1792288"/>
          </a:xfrm>
          <a:prstGeom prst="rect">
            <a:avLst/>
          </a:prstGeom>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nSpc>
                <a:spcPct val="90000"/>
              </a:lnSpc>
              <a:spcAft>
                <a:spcPts val="600"/>
              </a:spcAft>
            </a:pPr>
            <a:r>
              <a:rPr lang="en-US" altLang="es-MX" sz="2000" dirty="0">
                <a:solidFill>
                  <a:srgbClr val="1C1D1F"/>
                </a:solidFill>
                <a:latin typeface="udemy sans"/>
              </a:rPr>
              <a:t>Create a code that prints the following expression on the screen:
Normal Bar: /
Backslash:\</a:t>
            </a:r>
            <a:endParaRPr kumimoji="0" lang="es-MX" altLang="es-MX" sz="2800" b="0" i="0" u="none" strike="noStrike" cap="none" normalizeH="0" baseline="0" dirty="0">
              <a:ln>
                <a:noFill/>
              </a:ln>
              <a:solidFill>
                <a:schemeClr val="tx1"/>
              </a:solidFill>
              <a:effectLst/>
              <a:latin typeface="Arial" panose="020B0604020202020204" pitchFamily="34" charset="0"/>
            </a:endParaRPr>
          </a:p>
        </p:txBody>
      </p:sp>
      <p:sp>
        <p:nvSpPr>
          <p:cNvPr id="3" name="Marcador de pie de página 2">
            <a:extLst>
              <a:ext uri="{FF2B5EF4-FFF2-40B4-BE49-F238E27FC236}">
                <a16:creationId xmlns:a16="http://schemas.microsoft.com/office/drawing/2014/main" id="{6C63A45E-812E-B6DD-2B24-FE766BA7D169}"/>
              </a:ext>
            </a:extLst>
          </p:cNvPr>
          <p:cNvSpPr>
            <a:spLocks noGrp="1"/>
          </p:cNvSpPr>
          <p:nvPr>
            <p:ph type="ftr" sz="quarter" idx="11"/>
          </p:nvPr>
        </p:nvSpPr>
        <p:spPr>
          <a:xfrm>
            <a:off x="1028700" y="6356350"/>
            <a:ext cx="6210300" cy="365125"/>
          </a:xfrm>
        </p:spPr>
        <p:txBody>
          <a:bodyPr vert="horz" lIns="91440" tIns="45720" rIns="91440" bIns="45720" rtlCol="0" anchor="ctr">
            <a:normAutofit/>
          </a:bodyPr>
          <a:lstStyle/>
          <a:p>
            <a:pPr algn="l">
              <a:spcAft>
                <a:spcPts val="600"/>
              </a:spcAft>
            </a:pPr>
            <a:r>
              <a:rPr lang="en-US" kern="1200">
                <a:solidFill>
                  <a:schemeClr val="tx1">
                    <a:alpha val="80000"/>
                  </a:schemeClr>
                </a:solidFill>
                <a:latin typeface="+mn-lt"/>
                <a:ea typeface="+mn-ea"/>
                <a:cs typeface="+mn-cs"/>
              </a:rPr>
              <a:t>Arabots Robotics</a:t>
            </a:r>
          </a:p>
        </p:txBody>
      </p:sp>
      <p:sp>
        <p:nvSpPr>
          <p:cNvPr id="4" name="Marcador de número de diapositiva 3">
            <a:extLst>
              <a:ext uri="{FF2B5EF4-FFF2-40B4-BE49-F238E27FC236}">
                <a16:creationId xmlns:a16="http://schemas.microsoft.com/office/drawing/2014/main" id="{D74E3371-7778-E730-8DBC-821E70A4D0CC}"/>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4EA4A3B0-B5DF-4E2B-B48F-E4B7B7872040}" type="slidenum">
              <a:rPr lang="en-US">
                <a:solidFill>
                  <a:schemeClr val="tx1">
                    <a:alpha val="80000"/>
                  </a:schemeClr>
                </a:solidFill>
              </a:rPr>
              <a:pPr>
                <a:spcAft>
                  <a:spcPts val="600"/>
                </a:spcAft>
              </a:pPr>
              <a:t>5</a:t>
            </a:fld>
            <a:endParaRPr lang="en-US">
              <a:solidFill>
                <a:schemeClr val="tx1">
                  <a:alpha val="80000"/>
                </a:schemeClr>
              </a:solidFill>
            </a:endParaRPr>
          </a:p>
        </p:txBody>
      </p:sp>
      <p:sp>
        <p:nvSpPr>
          <p:cNvPr id="9" name="Título 8">
            <a:extLst>
              <a:ext uri="{FF2B5EF4-FFF2-40B4-BE49-F238E27FC236}">
                <a16:creationId xmlns:a16="http://schemas.microsoft.com/office/drawing/2014/main" id="{951BA499-A7B4-11EF-C44F-490351CA98EE}"/>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dirty="0">
                <a:solidFill>
                  <a:srgbClr val="FFFFFF"/>
                </a:solidFill>
              </a:rPr>
              <a:t>Exercises</a:t>
            </a:r>
            <a:r>
              <a:rPr lang="en-US" sz="3600" kern="1200" dirty="0">
                <a:solidFill>
                  <a:srgbClr val="FFFFFF"/>
                </a:solidFill>
                <a:latin typeface="+mj-lt"/>
                <a:ea typeface="+mj-ea"/>
                <a:cs typeface="+mj-cs"/>
              </a:rPr>
              <a:t> Print</a:t>
            </a:r>
          </a:p>
        </p:txBody>
      </p:sp>
    </p:spTree>
    <p:extLst>
      <p:ext uri="{BB962C8B-B14F-4D97-AF65-F5344CB8AC3E}">
        <p14:creationId xmlns:p14="http://schemas.microsoft.com/office/powerpoint/2010/main" val="194385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Rectangle 22">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Marcador de pie de página 1">
            <a:extLst>
              <a:ext uri="{FF2B5EF4-FFF2-40B4-BE49-F238E27FC236}">
                <a16:creationId xmlns:a16="http://schemas.microsoft.com/office/drawing/2014/main" id="{87577757-EC53-DF18-1B2F-0A2E814CC40A}"/>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3" name="Marcador de número de diapositiva 2">
            <a:extLst>
              <a:ext uri="{FF2B5EF4-FFF2-40B4-BE49-F238E27FC236}">
                <a16:creationId xmlns:a16="http://schemas.microsoft.com/office/drawing/2014/main" id="{6678AD23-E956-7681-AC0A-98F5749850A1}"/>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6</a:t>
            </a:fld>
            <a:endParaRPr lang="en-US" sz="1100">
              <a:solidFill>
                <a:schemeClr val="tx1">
                  <a:lumMod val="50000"/>
                  <a:lumOff val="50000"/>
                </a:schemeClr>
              </a:solidFill>
            </a:endParaRPr>
          </a:p>
        </p:txBody>
      </p:sp>
      <p:sp>
        <p:nvSpPr>
          <p:cNvPr id="5" name="CuadroTexto 4">
            <a:extLst>
              <a:ext uri="{FF2B5EF4-FFF2-40B4-BE49-F238E27FC236}">
                <a16:creationId xmlns:a16="http://schemas.microsoft.com/office/drawing/2014/main" id="{EDEA3F54-91CC-B3F8-C9A6-5D49421B62E2}"/>
              </a:ext>
            </a:extLst>
          </p:cNvPr>
          <p:cNvSpPr txBox="1"/>
          <p:nvPr/>
        </p:nvSpPr>
        <p:spPr>
          <a:xfrm>
            <a:off x="4287519" y="718456"/>
            <a:ext cx="7170083" cy="2985433"/>
          </a:xfrm>
          <a:prstGeom prst="rect">
            <a:avLst/>
          </a:prstGeom>
          <a:noFill/>
        </p:spPr>
        <p:txBody>
          <a:bodyPr wrap="square">
            <a:spAutoFit/>
          </a:bodyPr>
          <a:lstStyle/>
          <a:p>
            <a:pPr>
              <a:spcAft>
                <a:spcPts val="600"/>
              </a:spcAft>
            </a:pPr>
            <a:r>
              <a:rPr lang="en-US" sz="2800" dirty="0"/>
              <a:t>Input("Tell me your name:") 
&gt;&gt; Tell me your name: |
print("Your name is " + input("Tell me your name:")) 
&gt;&gt; Tell me your name: Federico 
&gt;&gt; Your name is Frederick</a:t>
            </a:r>
            <a:endParaRPr lang="es-MX" sz="2800" dirty="0"/>
          </a:p>
        </p:txBody>
      </p:sp>
      <p:graphicFrame>
        <p:nvGraphicFramePr>
          <p:cNvPr id="9" name="Marcador de texto 6">
            <a:extLst>
              <a:ext uri="{FF2B5EF4-FFF2-40B4-BE49-F238E27FC236}">
                <a16:creationId xmlns:a16="http://schemas.microsoft.com/office/drawing/2014/main" id="{3F4FBAC7-28FD-5877-D401-F3985C90A3E8}"/>
              </a:ext>
            </a:extLst>
          </p:cNvPr>
          <p:cNvGraphicFramePr/>
          <p:nvPr>
            <p:extLst>
              <p:ext uri="{D42A27DB-BD31-4B8C-83A1-F6EECF244321}">
                <p14:modId xmlns:p14="http://schemas.microsoft.com/office/powerpoint/2010/main" val="895601219"/>
              </p:ext>
            </p:extLst>
          </p:nvPr>
        </p:nvGraphicFramePr>
        <p:xfrm>
          <a:off x="4539143" y="4562668"/>
          <a:ext cx="6666833" cy="18929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uadroTexto 5">
            <a:extLst>
              <a:ext uri="{FF2B5EF4-FFF2-40B4-BE49-F238E27FC236}">
                <a16:creationId xmlns:a16="http://schemas.microsoft.com/office/drawing/2014/main" id="{9F2F1EBB-A0C4-C74A-E549-29BC8EC98125}"/>
              </a:ext>
            </a:extLst>
          </p:cNvPr>
          <p:cNvSpPr txBox="1"/>
          <p:nvPr/>
        </p:nvSpPr>
        <p:spPr>
          <a:xfrm>
            <a:off x="411163" y="174562"/>
            <a:ext cx="3489810" cy="5201424"/>
          </a:xfrm>
          <a:prstGeom prst="rect">
            <a:avLst/>
          </a:prstGeom>
          <a:noFill/>
        </p:spPr>
        <p:txBody>
          <a:bodyPr wrap="square">
            <a:spAutoFit/>
          </a:bodyPr>
          <a:lstStyle/>
          <a:p>
            <a:pPr>
              <a:spcAft>
                <a:spcPts val="600"/>
              </a:spcAft>
            </a:pPr>
            <a:r>
              <a:rPr lang="es-MX" sz="2400" i="1" dirty="0">
                <a:solidFill>
                  <a:schemeClr val="bg1"/>
                </a:solidFill>
              </a:rPr>
              <a:t>Input</a:t>
            </a:r>
          </a:p>
          <a:p>
            <a:pPr>
              <a:spcAft>
                <a:spcPts val="600"/>
              </a:spcAft>
            </a:pPr>
            <a:endParaRPr lang="es-MX" sz="2400" i="1" dirty="0">
              <a:solidFill>
                <a:schemeClr val="bg1"/>
              </a:solidFill>
            </a:endParaRPr>
          </a:p>
          <a:p>
            <a:pPr>
              <a:spcAft>
                <a:spcPts val="600"/>
              </a:spcAft>
            </a:pPr>
            <a:r>
              <a:rPr lang="en-US" sz="2400" dirty="0">
                <a:solidFill>
                  <a:schemeClr val="bg1"/>
                </a:solidFill>
              </a:rPr>
              <a:t>A function that allows the user to enter information through the keyboard when it is executed, giving him an instruction about the requested entry. The code will continue to run after the user performs the action.</a:t>
            </a:r>
            <a:endParaRPr lang="es-MX" sz="2400" i="1" dirty="0">
              <a:solidFill>
                <a:schemeClr val="bg1"/>
              </a:solidFill>
            </a:endParaRPr>
          </a:p>
          <a:p>
            <a:pPr>
              <a:spcAft>
                <a:spcPts val="600"/>
              </a:spcAft>
            </a:pPr>
            <a:endParaRPr lang="es-MX" sz="2400" i="1" dirty="0">
              <a:solidFill>
                <a:schemeClr val="bg1"/>
              </a:solidFill>
            </a:endParaRPr>
          </a:p>
          <a:p>
            <a:pPr>
              <a:spcAft>
                <a:spcPts val="600"/>
              </a:spcAft>
            </a:pPr>
            <a:endParaRPr lang="es-MX" sz="2400" i="1" dirty="0">
              <a:solidFill>
                <a:schemeClr val="bg1"/>
              </a:solidFill>
            </a:endParaRPr>
          </a:p>
        </p:txBody>
      </p:sp>
    </p:spTree>
    <p:extLst>
      <p:ext uri="{BB962C8B-B14F-4D97-AF65-F5344CB8AC3E}">
        <p14:creationId xmlns:p14="http://schemas.microsoft.com/office/powerpoint/2010/main" val="4069247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4">
            <a:extLst>
              <a:ext uri="{FF2B5EF4-FFF2-40B4-BE49-F238E27FC236}">
                <a16:creationId xmlns:a16="http://schemas.microsoft.com/office/drawing/2014/main" id="{6EE87B0C-FCE1-0F46-6248-D496B70DC61C}"/>
              </a:ext>
            </a:extLst>
          </p:cNvPr>
          <p:cNvSpPr>
            <a:spLocks noChangeArrowheads="1"/>
          </p:cNvSpPr>
          <p:nvPr/>
        </p:nvSpPr>
        <p:spPr bwMode="auto">
          <a:xfrm>
            <a:off x="4776788" y="647699"/>
            <a:ext cx="6780213" cy="1511300"/>
          </a:xfrm>
          <a:prstGeom prst="rect">
            <a:avLst/>
          </a:prstGeom>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2600" b="0" i="0" u="none" strike="noStrike" cap="none" normalizeH="0" baseline="0" dirty="0">
                <a:ln>
                  <a:noFill/>
                </a:ln>
                <a:solidFill>
                  <a:srgbClr val="1C1D1F"/>
                </a:solidFill>
                <a:effectLst/>
                <a:latin typeface="udemy sans"/>
              </a:rPr>
              <a:t>Crea un código que le permita ingresar una respuesta al usuario, haciéndole la siguiente pregunta:</a:t>
            </a:r>
            <a:endParaRPr kumimoji="0" lang="es-MX" altLang="es-MX" sz="2600" b="0" i="0" u="none" strike="noStrike" cap="none" normalizeH="0" baseline="0" dirty="0">
              <a:ln>
                <a:noFill/>
              </a:ln>
              <a:solidFill>
                <a:schemeClr val="tx1"/>
              </a:solidFill>
              <a:effectLst/>
            </a:endParaRPr>
          </a:p>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2600" b="1" i="0" u="none" strike="noStrike" cap="none" normalizeH="0" baseline="0" dirty="0">
                <a:ln>
                  <a:noFill/>
                </a:ln>
                <a:solidFill>
                  <a:srgbClr val="B4690E"/>
                </a:solidFill>
                <a:effectLst/>
                <a:latin typeface="sfmono-regular"/>
              </a:rPr>
              <a:t>¿Qué estás estudiando?</a:t>
            </a:r>
            <a:endParaRPr kumimoji="0" lang="es-MX" altLang="es-MX" sz="26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23843A44-EECA-17DB-8EB6-CEC16A2A033F}"/>
              </a:ext>
            </a:extLst>
          </p:cNvPr>
          <p:cNvSpPr>
            <a:spLocks noChangeArrowheads="1"/>
          </p:cNvSpPr>
          <p:nvPr/>
        </p:nvSpPr>
        <p:spPr bwMode="auto">
          <a:xfrm>
            <a:off x="4776788" y="2227261"/>
            <a:ext cx="6780213" cy="1511300"/>
          </a:xfrm>
          <a:prstGeom prst="rect">
            <a:avLst/>
          </a:prstGeom>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2600" b="0" i="0" u="none" strike="noStrike" cap="none" normalizeH="0" baseline="0">
                <a:ln>
                  <a:noFill/>
                </a:ln>
                <a:solidFill>
                  <a:srgbClr val="1C1D1F"/>
                </a:solidFill>
                <a:effectLst/>
                <a:latin typeface="udemy sans"/>
              </a:rPr>
              <a:t>Crea un código que le permita ingresar una respuesta al usuario, haciéndole la siguiente pregunta:</a:t>
            </a:r>
            <a:endParaRPr kumimoji="0" lang="es-MX" altLang="es-MX" sz="2600" b="0" i="0" u="none" strike="noStrike" cap="none" normalizeH="0" baseline="0">
              <a:ln>
                <a:noFill/>
              </a:ln>
              <a:solidFill>
                <a:schemeClr val="tx1"/>
              </a:solidFill>
              <a:effectLst/>
            </a:endParaRPr>
          </a:p>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2600" b="1" i="0" u="none" strike="noStrike" cap="none" normalizeH="0" baseline="0">
                <a:ln>
                  <a:noFill/>
                </a:ln>
                <a:solidFill>
                  <a:srgbClr val="B4690E"/>
                </a:solidFill>
                <a:effectLst/>
                <a:latin typeface="sfmono-regular"/>
              </a:rPr>
              <a:t>¿En qué país vives?</a:t>
            </a:r>
            <a:endParaRPr kumimoji="0" lang="es-MX" altLang="es-MX" sz="2600" b="0" i="0" u="none" strike="noStrike" cap="none" normalizeH="0" baseline="0">
              <a:ln>
                <a:noFill/>
              </a:ln>
              <a:solidFill>
                <a:schemeClr val="tx1"/>
              </a:solidFill>
              <a:effectLst/>
              <a:latin typeface="Arial" panose="020B0604020202020204" pitchFamily="34" charset="0"/>
            </a:endParaRPr>
          </a:p>
        </p:txBody>
      </p:sp>
      <p:sp>
        <p:nvSpPr>
          <p:cNvPr id="10" name="Rectangle 3">
            <a:extLst>
              <a:ext uri="{FF2B5EF4-FFF2-40B4-BE49-F238E27FC236}">
                <a16:creationId xmlns:a16="http://schemas.microsoft.com/office/drawing/2014/main" id="{7F7354E0-B00A-2C9E-C32B-1A95F35024D0}"/>
              </a:ext>
            </a:extLst>
          </p:cNvPr>
          <p:cNvSpPr>
            <a:spLocks noChangeArrowheads="1"/>
          </p:cNvSpPr>
          <p:nvPr/>
        </p:nvSpPr>
        <p:spPr bwMode="auto">
          <a:xfrm>
            <a:off x="4776788" y="3798888"/>
            <a:ext cx="6780213" cy="2411413"/>
          </a:xfrm>
          <a:prstGeom prst="rect">
            <a:avLst/>
          </a:prstGeom>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ts val="600"/>
              </a:spcAft>
              <a:buClrTx/>
              <a:buSzTx/>
              <a:buFontTx/>
              <a:buNone/>
              <a:tabLst/>
            </a:pPr>
            <a:r>
              <a:rPr kumimoji="0" lang="es-MX" altLang="es-MX" sz="2600" b="0" i="0" u="none" strike="noStrike" cap="none" normalizeH="0" baseline="0">
                <a:ln>
                  <a:noFill/>
                </a:ln>
                <a:solidFill>
                  <a:srgbClr val="1C1D1F"/>
                </a:solidFill>
                <a:effectLst/>
                <a:latin typeface="udemy sans"/>
              </a:rPr>
              <a:t>Crea un código que muestre en pantalla el nombre completo del usuario, permitiéndole ingresar su nombre y apellido con las siguientes instrucciones:</a:t>
            </a:r>
            <a:endParaRPr kumimoji="0" lang="es-MX" altLang="es-MX" sz="2600" b="0" i="0" u="none" strike="noStrike" cap="none" normalizeH="0" baseline="0">
              <a:ln>
                <a:noFill/>
              </a:ln>
              <a:solidFill>
                <a:schemeClr val="tx1"/>
              </a:solidFill>
              <a:effectLst/>
            </a:endParaRPr>
          </a:p>
          <a:p>
            <a:pPr marL="0" marR="0" lvl="0" indent="0" algn="l" defTabSz="914400" rtl="0" eaLnBrk="0" fontAlgn="base" latinLnBrk="0" hangingPunct="0">
              <a:spcBef>
                <a:spcPct val="0"/>
              </a:spcBef>
              <a:spcAft>
                <a:spcPts val="600"/>
              </a:spcAft>
              <a:buClrTx/>
              <a:buSzTx/>
              <a:buFontTx/>
              <a:buAutoNum type="arabicPeriod"/>
              <a:tabLst/>
            </a:pPr>
            <a:r>
              <a:rPr kumimoji="0" lang="es-MX" altLang="es-MX" sz="2600" b="0" i="0" u="none" strike="noStrike" cap="none" normalizeH="0" baseline="0">
                <a:ln>
                  <a:noFill/>
                </a:ln>
                <a:solidFill>
                  <a:srgbClr val="1C1D1F"/>
                </a:solidFill>
                <a:effectLst/>
                <a:latin typeface="sfmono-regular"/>
              </a:rPr>
              <a:t>Escribe tu nombre:</a:t>
            </a:r>
          </a:p>
          <a:p>
            <a:pPr marL="0" marR="0" lvl="0" indent="0" algn="l" defTabSz="914400" rtl="0" eaLnBrk="0" fontAlgn="base" latinLnBrk="0" hangingPunct="0">
              <a:spcBef>
                <a:spcPct val="0"/>
              </a:spcBef>
              <a:spcAft>
                <a:spcPts val="600"/>
              </a:spcAft>
              <a:buClrTx/>
              <a:buSzTx/>
              <a:buFontTx/>
              <a:buAutoNum type="arabicPeriod" startAt="2"/>
              <a:tabLst/>
            </a:pPr>
            <a:r>
              <a:rPr kumimoji="0" lang="es-MX" altLang="es-MX" sz="2600" b="0" i="0" u="none" strike="noStrike" cap="none" normalizeH="0" baseline="0">
                <a:ln>
                  <a:noFill/>
                </a:ln>
                <a:solidFill>
                  <a:srgbClr val="1C1D1F"/>
                </a:solidFill>
                <a:effectLst/>
                <a:latin typeface="sfmono-regular"/>
              </a:rPr>
              <a:t>Escribe tu apellido:</a:t>
            </a:r>
          </a:p>
          <a:p>
            <a:pPr marL="0" marR="0" lvl="0" indent="0" algn="l" defTabSz="914400" rtl="0" eaLnBrk="0" fontAlgn="base" latinLnBrk="0" hangingPunct="0">
              <a:spcBef>
                <a:spcPct val="0"/>
              </a:spcBef>
              <a:spcAft>
                <a:spcPts val="600"/>
              </a:spcAft>
              <a:buClrTx/>
              <a:buSzTx/>
              <a:buFontTx/>
              <a:buNone/>
              <a:tabLst/>
            </a:pPr>
            <a:endParaRPr kumimoji="0" lang="es-MX" altLang="es-MX" sz="2600" b="0" i="0" u="none" strike="noStrike" cap="none" normalizeH="0" baseline="0">
              <a:ln>
                <a:noFill/>
              </a:ln>
              <a:solidFill>
                <a:schemeClr val="tx1"/>
              </a:solidFill>
              <a:effectLst/>
              <a:latin typeface="Arial" panose="020B0604020202020204" pitchFamily="34" charset="0"/>
            </a:endParaRPr>
          </a:p>
        </p:txBody>
      </p:sp>
      <p:sp>
        <p:nvSpPr>
          <p:cNvPr id="3" name="Marcador de pie de página 2">
            <a:extLst>
              <a:ext uri="{FF2B5EF4-FFF2-40B4-BE49-F238E27FC236}">
                <a16:creationId xmlns:a16="http://schemas.microsoft.com/office/drawing/2014/main" id="{6C63A45E-812E-B6DD-2B24-FE766BA7D169}"/>
              </a:ext>
            </a:extLst>
          </p:cNvPr>
          <p:cNvSpPr>
            <a:spLocks noGrp="1"/>
          </p:cNvSpPr>
          <p:nvPr>
            <p:ph type="ftr" sz="quarter" idx="11"/>
          </p:nvPr>
        </p:nvSpPr>
        <p:spPr>
          <a:xfrm>
            <a:off x="1028700" y="6356350"/>
            <a:ext cx="6210300" cy="365125"/>
          </a:xfrm>
        </p:spPr>
        <p:txBody>
          <a:bodyPr vert="horz" lIns="91440" tIns="45720" rIns="91440" bIns="45720" rtlCol="0" anchor="ctr">
            <a:normAutofit/>
          </a:bodyPr>
          <a:lstStyle/>
          <a:p>
            <a:pPr algn="l">
              <a:spcAft>
                <a:spcPts val="600"/>
              </a:spcAft>
            </a:pPr>
            <a:r>
              <a:rPr lang="en-US" kern="1200">
                <a:solidFill>
                  <a:schemeClr val="tx1">
                    <a:alpha val="80000"/>
                  </a:schemeClr>
                </a:solidFill>
                <a:latin typeface="+mn-lt"/>
                <a:ea typeface="+mn-ea"/>
                <a:cs typeface="+mn-cs"/>
              </a:rPr>
              <a:t>Arabots Robotics</a:t>
            </a:r>
          </a:p>
        </p:txBody>
      </p:sp>
      <p:sp>
        <p:nvSpPr>
          <p:cNvPr id="4" name="Marcador de número de diapositiva 3">
            <a:extLst>
              <a:ext uri="{FF2B5EF4-FFF2-40B4-BE49-F238E27FC236}">
                <a16:creationId xmlns:a16="http://schemas.microsoft.com/office/drawing/2014/main" id="{D74E3371-7778-E730-8DBC-821E70A4D0CC}"/>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4EA4A3B0-B5DF-4E2B-B48F-E4B7B7872040}" type="slidenum">
              <a:rPr lang="en-US">
                <a:solidFill>
                  <a:schemeClr val="tx1">
                    <a:alpha val="80000"/>
                  </a:schemeClr>
                </a:solidFill>
              </a:rPr>
              <a:pPr>
                <a:spcAft>
                  <a:spcPts val="600"/>
                </a:spcAft>
              </a:pPr>
              <a:t>7</a:t>
            </a:fld>
            <a:endParaRPr lang="en-US">
              <a:solidFill>
                <a:schemeClr val="tx1">
                  <a:alpha val="80000"/>
                </a:schemeClr>
              </a:solidFill>
            </a:endParaRPr>
          </a:p>
        </p:txBody>
      </p:sp>
      <p:sp>
        <p:nvSpPr>
          <p:cNvPr id="12" name="Título 11">
            <a:extLst>
              <a:ext uri="{FF2B5EF4-FFF2-40B4-BE49-F238E27FC236}">
                <a16:creationId xmlns:a16="http://schemas.microsoft.com/office/drawing/2014/main" id="{D294B1CF-2354-C6CD-9DDC-34C972E53670}"/>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Ejercicios String</a:t>
            </a:r>
            <a:br>
              <a:rPr lang="en-US" sz="3600" kern="1200">
                <a:solidFill>
                  <a:srgbClr val="FFFFFF"/>
                </a:solidFill>
                <a:latin typeface="+mj-lt"/>
                <a:ea typeface="+mj-ea"/>
                <a:cs typeface="+mj-cs"/>
              </a:rPr>
            </a:br>
            <a:endParaRPr lang="en-US" sz="3600" kern="1200">
              <a:solidFill>
                <a:srgbClr val="FFFFFF"/>
              </a:solidFill>
              <a:latin typeface="+mj-lt"/>
              <a:ea typeface="+mj-ea"/>
              <a:cs typeface="+mj-cs"/>
            </a:endParaRPr>
          </a:p>
        </p:txBody>
      </p:sp>
    </p:spTree>
    <p:extLst>
      <p:ext uri="{BB962C8B-B14F-4D97-AF65-F5344CB8AC3E}">
        <p14:creationId xmlns:p14="http://schemas.microsoft.com/office/powerpoint/2010/main" val="3038787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933A71-36C5-84B2-9FFB-A05E36319CD4}"/>
              </a:ext>
            </a:extLst>
          </p:cNvPr>
          <p:cNvSpPr>
            <a:spLocks noGrp="1"/>
          </p:cNvSpPr>
          <p:nvPr>
            <p:ph type="title"/>
          </p:nvPr>
        </p:nvSpPr>
        <p:spPr/>
        <p:txBody>
          <a:bodyPr>
            <a:normAutofit fontScale="90000"/>
          </a:bodyPr>
          <a:lstStyle/>
          <a:p>
            <a:r>
              <a:rPr lang="es-MX" sz="9600" dirty="0">
                <a:solidFill>
                  <a:schemeClr val="bg1"/>
                </a:solidFill>
              </a:rPr>
              <a:t>Quiz</a:t>
            </a:r>
          </a:p>
        </p:txBody>
      </p:sp>
      <p:graphicFrame>
        <p:nvGraphicFramePr>
          <p:cNvPr id="14" name="Marcador de contenido 3">
            <a:extLst>
              <a:ext uri="{FF2B5EF4-FFF2-40B4-BE49-F238E27FC236}">
                <a16:creationId xmlns:a16="http://schemas.microsoft.com/office/drawing/2014/main" id="{9D115A98-02D2-2A8A-23CB-9B390A0CD3DF}"/>
              </a:ext>
            </a:extLst>
          </p:cNvPr>
          <p:cNvGraphicFramePr>
            <a:graphicFrameLocks noGrp="1"/>
          </p:cNvGraphicFramePr>
          <p:nvPr>
            <p:ph sz="half" idx="2"/>
            <p:extLst>
              <p:ext uri="{D42A27DB-BD31-4B8C-83A1-F6EECF244321}">
                <p14:modId xmlns:p14="http://schemas.microsoft.com/office/powerpoint/2010/main" val="2225353572"/>
              </p:ext>
            </p:extLst>
          </p:nvPr>
        </p:nvGraphicFramePr>
        <p:xfrm>
          <a:off x="6172199" y="1825625"/>
          <a:ext cx="5976455" cy="4667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Marcador de pie de página 4">
            <a:extLst>
              <a:ext uri="{FF2B5EF4-FFF2-40B4-BE49-F238E27FC236}">
                <a16:creationId xmlns:a16="http://schemas.microsoft.com/office/drawing/2014/main" id="{261F498E-DD7B-34F0-9ECC-33285CED45C0}"/>
              </a:ext>
            </a:extLst>
          </p:cNvPr>
          <p:cNvSpPr>
            <a:spLocks noGrp="1"/>
          </p:cNvSpPr>
          <p:nvPr>
            <p:ph type="ftr" sz="quarter" idx="11"/>
          </p:nvPr>
        </p:nvSpPr>
        <p:spPr/>
        <p:txBody>
          <a:bodyPr/>
          <a:lstStyle/>
          <a:p>
            <a:r>
              <a:rPr lang="es-MX" dirty="0"/>
              <a:t>Arabots </a:t>
            </a:r>
            <a:r>
              <a:rPr lang="es-MX" dirty="0" err="1"/>
              <a:t>Robotics</a:t>
            </a:r>
            <a:endParaRPr lang="es-MX" dirty="0"/>
          </a:p>
        </p:txBody>
      </p:sp>
      <p:sp>
        <p:nvSpPr>
          <p:cNvPr id="6" name="Marcador de número de diapositiva 5">
            <a:extLst>
              <a:ext uri="{FF2B5EF4-FFF2-40B4-BE49-F238E27FC236}">
                <a16:creationId xmlns:a16="http://schemas.microsoft.com/office/drawing/2014/main" id="{86A3C12D-B4F0-9424-C23F-B3A21A6E772E}"/>
              </a:ext>
            </a:extLst>
          </p:cNvPr>
          <p:cNvSpPr>
            <a:spLocks noGrp="1"/>
          </p:cNvSpPr>
          <p:nvPr>
            <p:ph type="sldNum" sz="quarter" idx="12"/>
          </p:nvPr>
        </p:nvSpPr>
        <p:spPr/>
        <p:txBody>
          <a:bodyPr/>
          <a:lstStyle/>
          <a:p>
            <a:fld id="{4EA4A3B0-B5DF-4E2B-B48F-E4B7B7872040}" type="slidenum">
              <a:rPr lang="es-MX" smtClean="0"/>
              <a:t>8</a:t>
            </a:fld>
            <a:endParaRPr lang="es-MX"/>
          </a:p>
        </p:txBody>
      </p:sp>
      <p:sp>
        <p:nvSpPr>
          <p:cNvPr id="8" name="CuadroTexto 7">
            <a:extLst>
              <a:ext uri="{FF2B5EF4-FFF2-40B4-BE49-F238E27FC236}">
                <a16:creationId xmlns:a16="http://schemas.microsoft.com/office/drawing/2014/main" id="{20507936-DE54-0BFC-87B4-594BBD5EB8B6}"/>
              </a:ext>
            </a:extLst>
          </p:cNvPr>
          <p:cNvSpPr txBox="1"/>
          <p:nvPr/>
        </p:nvSpPr>
        <p:spPr>
          <a:xfrm>
            <a:off x="404769" y="2004968"/>
            <a:ext cx="5257800" cy="4401205"/>
          </a:xfrm>
          <a:prstGeom prst="rect">
            <a:avLst/>
          </a:prstGeom>
          <a:noFill/>
        </p:spPr>
        <p:txBody>
          <a:bodyPr wrap="square">
            <a:spAutoFit/>
          </a:bodyPr>
          <a:lstStyle/>
          <a:p>
            <a:pPr marL="342900" indent="-342900">
              <a:buFont typeface="+mj-lt"/>
              <a:buAutoNum type="arabicPeriod"/>
            </a:pPr>
            <a:r>
              <a:rPr lang="es-MX" b="0" i="0" dirty="0">
                <a:solidFill>
                  <a:schemeClr val="bg1"/>
                </a:solidFill>
                <a:effectLst/>
                <a:latin typeface="udemy sans"/>
              </a:rPr>
              <a:t>¿</a:t>
            </a:r>
            <a:r>
              <a:rPr lang="en-US" dirty="0">
                <a:solidFill>
                  <a:schemeClr val="bg1"/>
                </a:solidFill>
                <a:latin typeface="udemy sans"/>
              </a:rPr>
              <a:t>Which of the following functions allows you to display your argument on the screen?
Which of the following features allows the user to obtain information from the keyboard?
What will be displayed on the screen when I run the next line?
print(220+35)
What will be displayed on the screen when I run the next line? 
print("220" + "35")
The input() function allows you to obtain information entered by the user, and stores it for later use. True or False?</a:t>
            </a:r>
            <a:endParaRPr lang="es-MX" sz="40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2800" b="0" i="0" u="none" strike="noStrike" cap="none" normalizeH="0" baseline="0" dirty="0">
              <a:ln>
                <a:noFill/>
              </a:ln>
              <a:solidFill>
                <a:schemeClr val="tx1"/>
              </a:solidFill>
              <a:effectLst/>
              <a:latin typeface="Arial" panose="020B0604020202020204" pitchFamily="34" charset="0"/>
            </a:endParaRPr>
          </a:p>
          <a:p>
            <a:endParaRPr lang="es-MX" b="0" i="0" dirty="0">
              <a:solidFill>
                <a:srgbClr val="1C1D1F"/>
              </a:solidFill>
              <a:effectLst/>
              <a:latin typeface="udemy sans"/>
            </a:endParaRPr>
          </a:p>
        </p:txBody>
      </p:sp>
    </p:spTree>
    <p:extLst>
      <p:ext uri="{BB962C8B-B14F-4D97-AF65-F5344CB8AC3E}">
        <p14:creationId xmlns:p14="http://schemas.microsoft.com/office/powerpoint/2010/main" val="3924449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Script de ordenador en una pantalla">
            <a:extLst>
              <a:ext uri="{FF2B5EF4-FFF2-40B4-BE49-F238E27FC236}">
                <a16:creationId xmlns:a16="http://schemas.microsoft.com/office/drawing/2014/main" id="{B00B9A35-4BC6-018A-5517-14E771999C3D}"/>
              </a:ext>
            </a:extLst>
          </p:cNvPr>
          <p:cNvPicPr>
            <a:picLocks noChangeAspect="1"/>
          </p:cNvPicPr>
          <p:nvPr/>
        </p:nvPicPr>
        <p:blipFill rotWithShape="1">
          <a:blip r:embed="rId2"/>
          <a:srcRect t="6849" r="23298" b="2242"/>
          <a:stretch/>
        </p:blipFill>
        <p:spPr>
          <a:xfrm>
            <a:off x="3523488" y="10"/>
            <a:ext cx="8668512" cy="6857990"/>
          </a:xfrm>
          <a:prstGeom prst="rect">
            <a:avLst/>
          </a:prstGeom>
        </p:spPr>
      </p:pic>
      <p:sp>
        <p:nvSpPr>
          <p:cNvPr id="32" name="Rectangle 31">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75AD21B4-AE8E-796E-25FF-E40BD3D4349A}"/>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2300" i="1" dirty="0"/>
              <a:t>Project 1</a:t>
            </a:r>
            <a:br>
              <a:rPr lang="en-US" sz="2300" i="1" dirty="0"/>
            </a:br>
            <a:r>
              <a:rPr lang="en-US" sz="2300" i="1" dirty="0"/>
              <a:t>You're going to create a Python code that asks your friend to answer two questions that require a single word each and then shows them those words combined on the screen, to form a creative brand.</a:t>
            </a:r>
          </a:p>
        </p:txBody>
      </p:sp>
      <p:sp>
        <p:nvSpPr>
          <p:cNvPr id="34" name="Rectangle 3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6" name="Rectangle 3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pie de página 3">
            <a:extLst>
              <a:ext uri="{FF2B5EF4-FFF2-40B4-BE49-F238E27FC236}">
                <a16:creationId xmlns:a16="http://schemas.microsoft.com/office/drawing/2014/main" id="{2E0FDD83-CE8C-0AB9-66F0-588CFCA38A1A}"/>
              </a:ext>
            </a:extLst>
          </p:cNvPr>
          <p:cNvSpPr>
            <a:spLocks noGrp="1"/>
          </p:cNvSpPr>
          <p:nvPr>
            <p:ph type="ftr" sz="quarter" idx="11"/>
          </p:nvPr>
        </p:nvSpPr>
        <p:spPr>
          <a:xfrm>
            <a:off x="1692321" y="6356350"/>
            <a:ext cx="2809017" cy="365125"/>
          </a:xfrm>
        </p:spPr>
        <p:txBody>
          <a:bodyPr vert="horz" lIns="91440" tIns="45720" rIns="91440" bIns="45720" rtlCol="0" anchor="ctr">
            <a:normAutofit/>
          </a:bodyPr>
          <a:lstStyle/>
          <a:p>
            <a:pPr algn="r">
              <a:spcAft>
                <a:spcPts val="600"/>
              </a:spcAft>
              <a:defRPr/>
            </a:pPr>
            <a:r>
              <a:rPr lang="en-US" kern="1200">
                <a:solidFill>
                  <a:schemeClr val="tx1">
                    <a:lumMod val="50000"/>
                    <a:lumOff val="50000"/>
                  </a:schemeClr>
                </a:solidFill>
                <a:latin typeface="Calibri" panose="020F0502020204030204"/>
                <a:ea typeface="+mn-ea"/>
                <a:cs typeface="+mn-cs"/>
              </a:rPr>
              <a:t>Arabots Robotics</a:t>
            </a:r>
          </a:p>
        </p:txBody>
      </p:sp>
      <p:sp>
        <p:nvSpPr>
          <p:cNvPr id="5" name="Marcador de número de diapositiva 4">
            <a:extLst>
              <a:ext uri="{FF2B5EF4-FFF2-40B4-BE49-F238E27FC236}">
                <a16:creationId xmlns:a16="http://schemas.microsoft.com/office/drawing/2014/main" id="{754C1919-2780-B20F-2571-9BBBF5FD53A6}"/>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4EA4A3B0-B5DF-4E2B-B48F-E4B7B7872040}" type="slidenum">
              <a:rPr lang="en-US">
                <a:solidFill>
                  <a:schemeClr val="bg1"/>
                </a:solidFill>
                <a:latin typeface="Calibri" panose="020F0502020204030204"/>
              </a:rPr>
              <a:pPr>
                <a:spcAft>
                  <a:spcPts val="600"/>
                </a:spcAft>
                <a:defRPr/>
              </a:pPr>
              <a:t>9</a:t>
            </a:fld>
            <a:endParaRPr lang="en-US">
              <a:solidFill>
                <a:schemeClr val="bg1"/>
              </a:solidFill>
              <a:latin typeface="Calibri" panose="020F0502020204030204"/>
            </a:endParaRPr>
          </a:p>
        </p:txBody>
      </p:sp>
    </p:spTree>
    <p:extLst>
      <p:ext uri="{BB962C8B-B14F-4D97-AF65-F5344CB8AC3E}">
        <p14:creationId xmlns:p14="http://schemas.microsoft.com/office/powerpoint/2010/main" val="1232964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30C6A5B4-C1B9-67D6-AB86-F4E6EAF7DEDB}"/>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en-US" sz="16600" kern="1200" dirty="0" err="1">
                <a:solidFill>
                  <a:srgbClr val="FFFFFF"/>
                </a:solidFill>
                <a:latin typeface="+mj-lt"/>
                <a:ea typeface="+mj-ea"/>
                <a:cs typeface="+mj-cs"/>
              </a:rPr>
              <a:t>Clase</a:t>
            </a:r>
            <a:r>
              <a:rPr lang="en-US" sz="16600" kern="1200" dirty="0">
                <a:solidFill>
                  <a:srgbClr val="FFFFFF"/>
                </a:solidFill>
                <a:latin typeface="+mj-lt"/>
                <a:ea typeface="+mj-ea"/>
                <a:cs typeface="+mj-cs"/>
              </a:rPr>
              <a:t> 2</a:t>
            </a:r>
          </a:p>
        </p:txBody>
      </p:sp>
      <p:sp>
        <p:nvSpPr>
          <p:cNvPr id="20" name="Rectangle 19">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texto 2">
            <a:extLst>
              <a:ext uri="{FF2B5EF4-FFF2-40B4-BE49-F238E27FC236}">
                <a16:creationId xmlns:a16="http://schemas.microsoft.com/office/drawing/2014/main" id="{E9CB89E3-DD6C-AA0E-B3E4-A9E1DDA18229}"/>
              </a:ext>
            </a:extLst>
          </p:cNvPr>
          <p:cNvSpPr>
            <a:spLocks noGrp="1"/>
          </p:cNvSpPr>
          <p:nvPr>
            <p:ph type="body" idx="1"/>
          </p:nvPr>
        </p:nvSpPr>
        <p:spPr>
          <a:xfrm>
            <a:off x="1931874" y="4797188"/>
            <a:ext cx="6051236" cy="1241828"/>
          </a:xfrm>
        </p:spPr>
        <p:txBody>
          <a:bodyPr vert="horz" lIns="91440" tIns="45720" rIns="91440" bIns="45720" rtlCol="0">
            <a:normAutofit/>
          </a:bodyPr>
          <a:lstStyle/>
          <a:p>
            <a:pPr algn="r"/>
            <a:r>
              <a:rPr lang="en-US" sz="4400" dirty="0">
                <a:solidFill>
                  <a:srgbClr val="FFFFFF"/>
                </a:solidFill>
              </a:rPr>
              <a:t>Types of Data</a:t>
            </a:r>
            <a:endParaRPr lang="en-US" sz="4400" kern="1200" dirty="0">
              <a:solidFill>
                <a:srgbClr val="FFFFFF"/>
              </a:solidFill>
              <a:latin typeface="+mn-lt"/>
              <a:ea typeface="+mn-ea"/>
              <a:cs typeface="+mn-cs"/>
            </a:endParaRPr>
          </a:p>
        </p:txBody>
      </p:sp>
      <p:sp>
        <p:nvSpPr>
          <p:cNvPr id="4" name="Marcador de pie de página 3">
            <a:extLst>
              <a:ext uri="{FF2B5EF4-FFF2-40B4-BE49-F238E27FC236}">
                <a16:creationId xmlns:a16="http://schemas.microsoft.com/office/drawing/2014/main" id="{5C042FA5-335F-74B7-1689-64C93C05C6E4}"/>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22" name="Rectangle 21">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arcador de número de diapositiva 4">
            <a:extLst>
              <a:ext uri="{FF2B5EF4-FFF2-40B4-BE49-F238E27FC236}">
                <a16:creationId xmlns:a16="http://schemas.microsoft.com/office/drawing/2014/main" id="{6609466A-09A9-84CD-F81B-D2164D5B1D0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rgbClr val="FFFFFF"/>
                </a:solidFill>
              </a:rPr>
              <a:pPr>
                <a:spcAft>
                  <a:spcPts val="600"/>
                </a:spcAft>
              </a:pPr>
              <a:t>10</a:t>
            </a:fld>
            <a:endParaRPr lang="en-US" sz="1100">
              <a:solidFill>
                <a:srgbClr val="FFFFFF"/>
              </a:solidFill>
            </a:endParaRPr>
          </a:p>
        </p:txBody>
      </p:sp>
    </p:spTree>
    <p:extLst>
      <p:ext uri="{BB962C8B-B14F-4D97-AF65-F5344CB8AC3E}">
        <p14:creationId xmlns:p14="http://schemas.microsoft.com/office/powerpoint/2010/main" val="189577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9B9F2A-8327-E035-7C6F-0C150EF25B70}"/>
              </a:ext>
            </a:extLst>
          </p:cNvPr>
          <p:cNvSpPr>
            <a:spLocks noGrp="1"/>
          </p:cNvSpPr>
          <p:nvPr>
            <p:ph type="title"/>
          </p:nvPr>
        </p:nvSpPr>
        <p:spPr/>
        <p:txBody>
          <a:bodyPr/>
          <a:lstStyle/>
          <a:p>
            <a:r>
              <a:rPr lang="es-MX" dirty="0" err="1">
                <a:solidFill>
                  <a:schemeClr val="bg1"/>
                </a:solidFill>
              </a:rPr>
              <a:t>Types</a:t>
            </a:r>
            <a:r>
              <a:rPr lang="es-MX" dirty="0">
                <a:solidFill>
                  <a:schemeClr val="bg1"/>
                </a:solidFill>
              </a:rPr>
              <a:t> </a:t>
            </a:r>
            <a:r>
              <a:rPr lang="es-MX" dirty="0" err="1">
                <a:solidFill>
                  <a:schemeClr val="bg1"/>
                </a:solidFill>
              </a:rPr>
              <a:t>of</a:t>
            </a:r>
            <a:r>
              <a:rPr lang="es-MX" dirty="0">
                <a:solidFill>
                  <a:schemeClr val="bg1"/>
                </a:solidFill>
              </a:rPr>
              <a:t> data</a:t>
            </a:r>
          </a:p>
        </p:txBody>
      </p:sp>
      <p:graphicFrame>
        <p:nvGraphicFramePr>
          <p:cNvPr id="11" name="Marcador de contenido 2">
            <a:extLst>
              <a:ext uri="{FF2B5EF4-FFF2-40B4-BE49-F238E27FC236}">
                <a16:creationId xmlns:a16="http://schemas.microsoft.com/office/drawing/2014/main" id="{CCA2583D-C0C1-00FB-920F-E624E4B87A3A}"/>
              </a:ext>
            </a:extLst>
          </p:cNvPr>
          <p:cNvGraphicFramePr>
            <a:graphicFrameLocks noGrp="1"/>
          </p:cNvGraphicFramePr>
          <p:nvPr>
            <p:ph idx="1"/>
            <p:extLst>
              <p:ext uri="{D42A27DB-BD31-4B8C-83A1-F6EECF244321}">
                <p14:modId xmlns:p14="http://schemas.microsoft.com/office/powerpoint/2010/main" val="2773088447"/>
              </p:ext>
            </p:extLst>
          </p:nvPr>
        </p:nvGraphicFramePr>
        <p:xfrm>
          <a:off x="838200" y="1426968"/>
          <a:ext cx="10515600" cy="29857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Marcador de pie de página 3">
            <a:extLst>
              <a:ext uri="{FF2B5EF4-FFF2-40B4-BE49-F238E27FC236}">
                <a16:creationId xmlns:a16="http://schemas.microsoft.com/office/drawing/2014/main" id="{4EA94B98-5824-BC49-CB27-D7DAEF9022F4}"/>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3A48C3CE-FA3F-392A-9D6A-5DA2DEEA6AAD}"/>
              </a:ext>
            </a:extLst>
          </p:cNvPr>
          <p:cNvSpPr>
            <a:spLocks noGrp="1"/>
          </p:cNvSpPr>
          <p:nvPr>
            <p:ph type="sldNum" sz="quarter" idx="12"/>
          </p:nvPr>
        </p:nvSpPr>
        <p:spPr/>
        <p:txBody>
          <a:bodyPr/>
          <a:lstStyle/>
          <a:p>
            <a:fld id="{4EA4A3B0-B5DF-4E2B-B48F-E4B7B7872040}" type="slidenum">
              <a:rPr lang="es-MX" smtClean="0"/>
              <a:t>11</a:t>
            </a:fld>
            <a:endParaRPr lang="es-MX"/>
          </a:p>
        </p:txBody>
      </p:sp>
      <p:sp>
        <p:nvSpPr>
          <p:cNvPr id="7" name="CuadroTexto 6">
            <a:extLst>
              <a:ext uri="{FF2B5EF4-FFF2-40B4-BE49-F238E27FC236}">
                <a16:creationId xmlns:a16="http://schemas.microsoft.com/office/drawing/2014/main" id="{181E06BD-1C7A-726F-C3C0-7A18EC46BD8E}"/>
              </a:ext>
            </a:extLst>
          </p:cNvPr>
          <p:cNvSpPr txBox="1"/>
          <p:nvPr/>
        </p:nvSpPr>
        <p:spPr>
          <a:xfrm>
            <a:off x="4187112" y="566241"/>
            <a:ext cx="6097554" cy="923330"/>
          </a:xfrm>
          <a:prstGeom prst="rect">
            <a:avLst/>
          </a:prstGeom>
          <a:noFill/>
        </p:spPr>
        <p:txBody>
          <a:bodyPr wrap="square">
            <a:spAutoFit/>
          </a:bodyPr>
          <a:lstStyle/>
          <a:p>
            <a:r>
              <a:rPr lang="en-US" dirty="0">
                <a:solidFill>
                  <a:schemeClr val="bg1"/>
                </a:solidFill>
              </a:rPr>
              <a:t>In Python we have several types or structures of data, which are fundamental in programming since they store information, and allow us to manipulate it.</a:t>
            </a:r>
            <a:endParaRPr lang="es-MX" dirty="0"/>
          </a:p>
        </p:txBody>
      </p:sp>
      <p:pic>
        <p:nvPicPr>
          <p:cNvPr id="9" name="Imagen 8">
            <a:extLst>
              <a:ext uri="{FF2B5EF4-FFF2-40B4-BE49-F238E27FC236}">
                <a16:creationId xmlns:a16="http://schemas.microsoft.com/office/drawing/2014/main" id="{3EA27A5F-5FBE-6DFD-6C8B-AAE83D5B7015}"/>
              </a:ext>
            </a:extLst>
          </p:cNvPr>
          <p:cNvPicPr>
            <a:picLocks noChangeAspect="1"/>
          </p:cNvPicPr>
          <p:nvPr/>
        </p:nvPicPr>
        <p:blipFill>
          <a:blip r:embed="rId7"/>
          <a:stretch>
            <a:fillRect/>
          </a:stretch>
        </p:blipFill>
        <p:spPr>
          <a:xfrm>
            <a:off x="2913982" y="4262394"/>
            <a:ext cx="6024746" cy="2459081"/>
          </a:xfrm>
          <a:prstGeom prst="rect">
            <a:avLst/>
          </a:prstGeom>
        </p:spPr>
      </p:pic>
    </p:spTree>
    <p:extLst>
      <p:ext uri="{BB962C8B-B14F-4D97-AF65-F5344CB8AC3E}">
        <p14:creationId xmlns:p14="http://schemas.microsoft.com/office/powerpoint/2010/main" val="1774694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ítulo 4">
            <a:extLst>
              <a:ext uri="{FF2B5EF4-FFF2-40B4-BE49-F238E27FC236}">
                <a16:creationId xmlns:a16="http://schemas.microsoft.com/office/drawing/2014/main" id="{612C5B85-9C75-7123-6A54-9938A268F815}"/>
              </a:ext>
            </a:extLst>
          </p:cNvPr>
          <p:cNvSpPr>
            <a:spLocks noGrp="1"/>
          </p:cNvSpPr>
          <p:nvPr>
            <p:ph type="subTitle" idx="1"/>
          </p:nvPr>
        </p:nvSpPr>
        <p:spPr>
          <a:xfrm>
            <a:off x="481157" y="190500"/>
            <a:ext cx="11338089" cy="6192612"/>
          </a:xfrm>
        </p:spPr>
        <p:txBody>
          <a:bodyPr anchor="b">
            <a:normAutofit/>
          </a:bodyPr>
          <a:lstStyle/>
          <a:p>
            <a:pPr marL="457200" indent="-457200" algn="l">
              <a:buFont typeface="+mj-lt"/>
              <a:buAutoNum type="arabicPeriod"/>
            </a:pPr>
            <a:r>
              <a:rPr lang="en-US" sz="2000" dirty="0">
                <a:solidFill>
                  <a:srgbClr val="FFFFFF"/>
                </a:solidFill>
              </a:rPr>
              <a:t>Types of data
The word "Hello" is text-like data
"150" is a numerical datum
String (str): Any data that is enclosed in quotation marks in a String
Integer (int): Any numeric data, whether positive or negative, that is not enclosed in quotation marks is an Integer 
Float: These are positive and negative decimal numbers, you can make operations with them only if they are not enclosed in quotation marks 
Lists: An ordered collection of objects enclosed in square brackets, they can contain string, integer, floating, and each element has a numbered order
Dictionary (</a:t>
            </a:r>
            <a:r>
              <a:rPr lang="en-US" sz="2000" dirty="0" err="1">
                <a:solidFill>
                  <a:srgbClr val="FFFFFF"/>
                </a:solidFill>
              </a:rPr>
              <a:t>dic</a:t>
            </a:r>
            <a:r>
              <a:rPr lang="en-US" sz="2000" dirty="0">
                <a:solidFill>
                  <a:srgbClr val="FFFFFF"/>
                </a:solidFill>
              </a:rPr>
              <a:t>): Its contents are enclosed in curly brackets and written in grouped pairs of words, each pair is made up of a key and a value
Tuples: Its content is enclosed in parentheses, it is also a set of elements and its order cannot be modified
Sets: these are also enclosed in curly brackets and are an ordered set of unique elements, meaning that no data can be repeated
</a:t>
            </a:r>
            <a:r>
              <a:rPr lang="en-US" sz="2000" dirty="0" err="1">
                <a:solidFill>
                  <a:srgbClr val="FFFFFF"/>
                </a:solidFill>
              </a:rPr>
              <a:t>Boolenaos</a:t>
            </a:r>
            <a:r>
              <a:rPr lang="en-US" sz="2000" dirty="0">
                <a:solidFill>
                  <a:srgbClr val="FFFFFF"/>
                </a:solidFill>
              </a:rPr>
              <a:t> (bool): It is a piece of data that can only have two values, true or false</a:t>
            </a:r>
            <a:endParaRPr lang="es-MX" sz="2000" i="1" dirty="0">
              <a:solidFill>
                <a:srgbClr val="FFFFFF"/>
              </a:solidFill>
            </a:endParaRPr>
          </a:p>
        </p:txBody>
      </p:sp>
      <p:sp>
        <p:nvSpPr>
          <p:cNvPr id="2" name="Marcador de pie de página 1">
            <a:extLst>
              <a:ext uri="{FF2B5EF4-FFF2-40B4-BE49-F238E27FC236}">
                <a16:creationId xmlns:a16="http://schemas.microsoft.com/office/drawing/2014/main" id="{AFF815E8-323C-DC2E-D2DE-01D08F35A58D}"/>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número de diapositiva 2">
            <a:extLst>
              <a:ext uri="{FF2B5EF4-FFF2-40B4-BE49-F238E27FC236}">
                <a16:creationId xmlns:a16="http://schemas.microsoft.com/office/drawing/2014/main" id="{4EC238F8-56AF-DE2D-B167-8639AF3A7271}"/>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rgbClr val="FFFFFF"/>
                </a:solidFill>
              </a:rPr>
              <a:pPr>
                <a:spcAft>
                  <a:spcPts val="600"/>
                </a:spcAft>
              </a:pPr>
              <a:t>12</a:t>
            </a:fld>
            <a:endParaRPr lang="es-MX" sz="1100">
              <a:solidFill>
                <a:srgbClr val="FFFFFF"/>
              </a:solidFill>
            </a:endParaRPr>
          </a:p>
        </p:txBody>
      </p:sp>
    </p:spTree>
    <p:extLst>
      <p:ext uri="{BB962C8B-B14F-4D97-AF65-F5344CB8AC3E}">
        <p14:creationId xmlns:p14="http://schemas.microsoft.com/office/powerpoint/2010/main" val="1268640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Marcador de pie de página 1">
            <a:extLst>
              <a:ext uri="{FF2B5EF4-FFF2-40B4-BE49-F238E27FC236}">
                <a16:creationId xmlns:a16="http://schemas.microsoft.com/office/drawing/2014/main" id="{6636DB34-36EB-26C2-3365-70864EB592FA}"/>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5" name="CuadroTexto 4">
            <a:extLst>
              <a:ext uri="{FF2B5EF4-FFF2-40B4-BE49-F238E27FC236}">
                <a16:creationId xmlns:a16="http://schemas.microsoft.com/office/drawing/2014/main" id="{37ABA374-A022-5C49-117C-86317E3E5E5F}"/>
              </a:ext>
            </a:extLst>
          </p:cNvPr>
          <p:cNvSpPr txBox="1"/>
          <p:nvPr/>
        </p:nvSpPr>
        <p:spPr>
          <a:xfrm>
            <a:off x="161925" y="1597432"/>
            <a:ext cx="11982963" cy="5223124"/>
          </a:xfrm>
          <a:prstGeom prst="rect">
            <a:avLst/>
          </a:prstGeom>
        </p:spPr>
        <p:txBody>
          <a:bodyPr vert="horz" lIns="91440" tIns="45720" rIns="91440" bIns="45720" rtlCol="0" anchor="ctr">
            <a:normAutofit/>
          </a:bodyPr>
          <a:lstStyle/>
          <a:p>
            <a:pPr>
              <a:lnSpc>
                <a:spcPct val="90000"/>
              </a:lnSpc>
              <a:spcAft>
                <a:spcPts val="600"/>
              </a:spcAft>
            </a:pPr>
            <a:endParaRPr lang="en-US" sz="2400" dirty="0"/>
          </a:p>
          <a:p>
            <a:pPr indent="-228600">
              <a:lnSpc>
                <a:spcPct val="90000"/>
              </a:lnSpc>
              <a:spcAft>
                <a:spcPts val="600"/>
              </a:spcAft>
              <a:buFont typeface="Arial" panose="020B0604020202020204" pitchFamily="34" charset="0"/>
              <a:buChar char="•"/>
            </a:pPr>
            <a:r>
              <a:rPr lang="en-US" sz="4000" i="1" dirty="0"/>
              <a:t>Some examples of use
 country = "Mexico"
 name = input("Enter your name:")
 print("Your name is " + name)
 num1 = 55 num2 = 45 
print(num1 + num2) 
&gt;&gt; 100</a:t>
            </a:r>
          </a:p>
        </p:txBody>
      </p:sp>
      <p:sp>
        <p:nvSpPr>
          <p:cNvPr id="3" name="Marcador de número de diapositiva 2">
            <a:extLst>
              <a:ext uri="{FF2B5EF4-FFF2-40B4-BE49-F238E27FC236}">
                <a16:creationId xmlns:a16="http://schemas.microsoft.com/office/drawing/2014/main" id="{8A29AF5A-8C79-67DE-25FE-C470BE48BDB0}"/>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13</a:t>
            </a:fld>
            <a:endParaRPr lang="en-US" sz="1100">
              <a:solidFill>
                <a:schemeClr val="tx1">
                  <a:lumMod val="50000"/>
                  <a:lumOff val="50000"/>
                </a:schemeClr>
              </a:solidFill>
            </a:endParaRPr>
          </a:p>
        </p:txBody>
      </p:sp>
      <p:sp>
        <p:nvSpPr>
          <p:cNvPr id="6" name="CuadroTexto 5">
            <a:extLst>
              <a:ext uri="{FF2B5EF4-FFF2-40B4-BE49-F238E27FC236}">
                <a16:creationId xmlns:a16="http://schemas.microsoft.com/office/drawing/2014/main" id="{B2E739AE-8149-4ABE-634E-90906E10B5F4}"/>
              </a:ext>
            </a:extLst>
          </p:cNvPr>
          <p:cNvSpPr txBox="1"/>
          <p:nvPr/>
        </p:nvSpPr>
        <p:spPr>
          <a:xfrm>
            <a:off x="459346" y="527604"/>
            <a:ext cx="2064265" cy="535531"/>
          </a:xfrm>
          <a:prstGeom prst="rect">
            <a:avLst/>
          </a:prstGeom>
          <a:noFill/>
        </p:spPr>
        <p:txBody>
          <a:bodyPr wrap="square">
            <a:spAutoFit/>
          </a:bodyPr>
          <a:lstStyle/>
          <a:p>
            <a:pPr>
              <a:lnSpc>
                <a:spcPct val="90000"/>
              </a:lnSpc>
              <a:spcAft>
                <a:spcPts val="600"/>
              </a:spcAft>
            </a:pPr>
            <a:r>
              <a:rPr lang="en-US" sz="3200" i="1" dirty="0">
                <a:solidFill>
                  <a:schemeClr val="bg1"/>
                </a:solidFill>
              </a:rPr>
              <a:t>Variables</a:t>
            </a:r>
          </a:p>
        </p:txBody>
      </p:sp>
      <p:sp>
        <p:nvSpPr>
          <p:cNvPr id="8" name="CuadroTexto 7">
            <a:extLst>
              <a:ext uri="{FF2B5EF4-FFF2-40B4-BE49-F238E27FC236}">
                <a16:creationId xmlns:a16="http://schemas.microsoft.com/office/drawing/2014/main" id="{832EAE0A-8D96-2032-D673-C3D4DDCB26DE}"/>
              </a:ext>
            </a:extLst>
          </p:cNvPr>
          <p:cNvSpPr txBox="1"/>
          <p:nvPr/>
        </p:nvSpPr>
        <p:spPr>
          <a:xfrm>
            <a:off x="2277090" y="375254"/>
            <a:ext cx="9650186" cy="840230"/>
          </a:xfrm>
          <a:prstGeom prst="rect">
            <a:avLst/>
          </a:prstGeom>
          <a:noFill/>
        </p:spPr>
        <p:txBody>
          <a:bodyPr wrap="square">
            <a:spAutoFit/>
          </a:bodyPr>
          <a:lstStyle/>
          <a:p>
            <a:pPr>
              <a:lnSpc>
                <a:spcPct val="90000"/>
              </a:lnSpc>
              <a:spcAft>
                <a:spcPts val="600"/>
              </a:spcAft>
            </a:pPr>
            <a:r>
              <a:rPr lang="en-US" dirty="0">
                <a:solidFill>
                  <a:schemeClr val="bg1"/>
                </a:solidFill>
              </a:rPr>
              <a:t>Variables are memory spaces that store values or data of different types, and (as the name suggests) they can vary. They are created as soon as a value is assigned to them, so in Python we do not need to declare them beforehand.</a:t>
            </a:r>
            <a:endParaRPr lang="es-MX" sz="1800" dirty="0">
              <a:solidFill>
                <a:schemeClr val="bg1"/>
              </a:solidFill>
            </a:endParaRPr>
          </a:p>
        </p:txBody>
      </p:sp>
    </p:spTree>
    <p:extLst>
      <p:ext uri="{BB962C8B-B14F-4D97-AF65-F5344CB8AC3E}">
        <p14:creationId xmlns:p14="http://schemas.microsoft.com/office/powerpoint/2010/main" val="1704477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A694C14A-F67D-63DF-D0B7-727A84A847EC}"/>
              </a:ext>
            </a:extLst>
          </p:cNvPr>
          <p:cNvSpPr txBox="1"/>
          <p:nvPr/>
        </p:nvSpPr>
        <p:spPr>
          <a:xfrm>
            <a:off x="4776788" y="642938"/>
            <a:ext cx="6780213" cy="1384300"/>
          </a:xfrm>
          <a:prstGeom prst="rect">
            <a:avLst/>
          </a:prstGeom>
        </p:spPr>
        <p:style>
          <a:lnRef idx="2">
            <a:schemeClr val="dk1"/>
          </a:lnRef>
          <a:fillRef idx="1">
            <a:schemeClr val="lt1"/>
          </a:fillRef>
          <a:effectRef idx="0">
            <a:schemeClr val="dk1"/>
          </a:effectRef>
          <a:fontRef idx="minor">
            <a:schemeClr val="dk1"/>
          </a:fontRef>
        </p:style>
        <p:txBody>
          <a:bodyPr wrap="square" anchor="t">
            <a:normAutofit/>
          </a:bodyPr>
          <a:lstStyle/>
          <a:p>
            <a:pPr>
              <a:spcAft>
                <a:spcPts val="600"/>
              </a:spcAft>
            </a:pPr>
            <a:r>
              <a:rPr lang="en-US" sz="2400" dirty="0">
                <a:solidFill>
                  <a:srgbClr val="1C1D1F"/>
                </a:solidFill>
                <a:latin typeface="udemy sans"/>
              </a:rPr>
              <a:t>It declares two variables, called name and age.
Assign the name variable the value "Tony Soprano" and the age value 51.</a:t>
            </a:r>
            <a:endParaRPr lang="es-MX" sz="2400" b="0" i="0" dirty="0">
              <a:solidFill>
                <a:srgbClr val="1C1D1F"/>
              </a:solidFill>
              <a:effectLst/>
              <a:latin typeface="udemy sans"/>
            </a:endParaRPr>
          </a:p>
        </p:txBody>
      </p:sp>
      <p:sp>
        <p:nvSpPr>
          <p:cNvPr id="9" name="CuadroTexto 8">
            <a:extLst>
              <a:ext uri="{FF2B5EF4-FFF2-40B4-BE49-F238E27FC236}">
                <a16:creationId xmlns:a16="http://schemas.microsoft.com/office/drawing/2014/main" id="{FFC140D2-A74B-8E87-4E58-EA35D556D4D7}"/>
              </a:ext>
            </a:extLst>
          </p:cNvPr>
          <p:cNvSpPr txBox="1"/>
          <p:nvPr/>
        </p:nvSpPr>
        <p:spPr>
          <a:xfrm>
            <a:off x="4776788" y="2095500"/>
            <a:ext cx="6780213" cy="2749550"/>
          </a:xfrm>
          <a:prstGeom prst="rect">
            <a:avLst/>
          </a:prstGeom>
        </p:spPr>
        <p:style>
          <a:lnRef idx="2">
            <a:schemeClr val="dk1"/>
          </a:lnRef>
          <a:fillRef idx="1">
            <a:schemeClr val="lt1"/>
          </a:fillRef>
          <a:effectRef idx="0">
            <a:schemeClr val="dk1"/>
          </a:effectRef>
          <a:fontRef idx="minor">
            <a:schemeClr val="dk1"/>
          </a:fontRef>
        </p:style>
        <p:txBody>
          <a:bodyPr wrap="square" anchor="t">
            <a:normAutofit/>
          </a:bodyPr>
          <a:lstStyle/>
          <a:p>
            <a:pPr>
              <a:lnSpc>
                <a:spcPct val="90000"/>
              </a:lnSpc>
              <a:spcAft>
                <a:spcPts val="600"/>
              </a:spcAft>
            </a:pPr>
            <a:r>
              <a:rPr lang="en-US" sz="2000" dirty="0">
                <a:solidFill>
                  <a:srgbClr val="1C1D1F"/>
                </a:solidFill>
                <a:latin typeface="udemy sans"/>
              </a:rPr>
              <a:t>Create three variables:
Name	
surname
Full name
To name, assign the value "Julia", and for last name, assign the value "Roberts". Finally, construct the full name variable by concatenating the variables</a:t>
            </a:r>
            <a:endParaRPr lang="es-MX" sz="2000" b="0" i="0" dirty="0">
              <a:solidFill>
                <a:srgbClr val="1C1D1F"/>
              </a:solidFill>
              <a:effectLst/>
              <a:latin typeface="udemy sans"/>
            </a:endParaRPr>
          </a:p>
        </p:txBody>
      </p:sp>
      <p:sp>
        <p:nvSpPr>
          <p:cNvPr id="10" name="Rectangle 1">
            <a:extLst>
              <a:ext uri="{FF2B5EF4-FFF2-40B4-BE49-F238E27FC236}">
                <a16:creationId xmlns:a16="http://schemas.microsoft.com/office/drawing/2014/main" id="{ED64FD48-6EF9-8CF1-B60A-81FC57EA7F37}"/>
              </a:ext>
            </a:extLst>
          </p:cNvPr>
          <p:cNvSpPr>
            <a:spLocks noChangeArrowheads="1"/>
          </p:cNvSpPr>
          <p:nvPr/>
        </p:nvSpPr>
        <p:spPr bwMode="auto">
          <a:xfrm>
            <a:off x="4776788" y="4913313"/>
            <a:ext cx="6780213" cy="1298575"/>
          </a:xfrm>
          <a:prstGeom prst="rect">
            <a:avLst/>
          </a:prstGeom>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nSpc>
                <a:spcPct val="90000"/>
              </a:lnSpc>
              <a:spcAft>
                <a:spcPts val="600"/>
              </a:spcAft>
            </a:pPr>
            <a:r>
              <a:rPr lang="en-US" altLang="es-MX" sz="2000" dirty="0">
                <a:solidFill>
                  <a:srgbClr val="1C1D1F"/>
                </a:solidFill>
                <a:latin typeface="udemy sans"/>
              </a:rPr>
              <a:t>Declare the course variable, set it to "Python", and display the phrase:
You're taking a course </a:t>
            </a:r>
            <a:r>
              <a:rPr lang="en-US" altLang="es-MX" sz="2000" dirty="0" err="1">
                <a:solidFill>
                  <a:srgbClr val="1C1D1F"/>
                </a:solidFill>
                <a:latin typeface="udemy sans"/>
              </a:rPr>
              <a:t>course</a:t>
            </a:r>
            <a:endParaRPr kumimoji="0" lang="es-MX" altLang="es-MX" sz="2000" b="0" i="0" u="none" strike="noStrike" cap="none" normalizeH="0" baseline="0" dirty="0">
              <a:ln>
                <a:noFill/>
              </a:ln>
              <a:solidFill>
                <a:schemeClr val="tx1"/>
              </a:solidFill>
              <a:effectLst/>
              <a:latin typeface="Arial" panose="020B0604020202020204" pitchFamily="34" charset="0"/>
            </a:endParaRPr>
          </a:p>
        </p:txBody>
      </p:sp>
      <p:sp>
        <p:nvSpPr>
          <p:cNvPr id="4" name="Título 3">
            <a:extLst>
              <a:ext uri="{FF2B5EF4-FFF2-40B4-BE49-F238E27FC236}">
                <a16:creationId xmlns:a16="http://schemas.microsoft.com/office/drawing/2014/main" id="{AB2D4F45-96AC-6C63-ED9E-ECB0701704DB}"/>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dirty="0">
                <a:solidFill>
                  <a:srgbClr val="FFFFFF"/>
                </a:solidFill>
              </a:rPr>
              <a:t>Variable Exercises</a:t>
            </a:r>
            <a:endParaRPr lang="en-US" sz="3600" kern="1200" dirty="0">
              <a:solidFill>
                <a:srgbClr val="FFFFFF"/>
              </a:solidFill>
              <a:latin typeface="+mj-lt"/>
              <a:ea typeface="+mj-ea"/>
              <a:cs typeface="+mj-cs"/>
            </a:endParaRPr>
          </a:p>
        </p:txBody>
      </p:sp>
      <p:sp>
        <p:nvSpPr>
          <p:cNvPr id="2" name="Marcador de pie de página 1">
            <a:extLst>
              <a:ext uri="{FF2B5EF4-FFF2-40B4-BE49-F238E27FC236}">
                <a16:creationId xmlns:a16="http://schemas.microsoft.com/office/drawing/2014/main" id="{445D1E6E-CBA8-166B-0511-CBAA18A5F543}"/>
              </a:ext>
            </a:extLst>
          </p:cNvPr>
          <p:cNvSpPr>
            <a:spLocks noGrp="1"/>
          </p:cNvSpPr>
          <p:nvPr>
            <p:ph type="ftr" sz="quarter" idx="11"/>
          </p:nvPr>
        </p:nvSpPr>
        <p:spPr>
          <a:xfrm>
            <a:off x="1028700" y="6356350"/>
            <a:ext cx="6210300" cy="365125"/>
          </a:xfrm>
        </p:spPr>
        <p:txBody>
          <a:bodyPr vert="horz" lIns="91440" tIns="45720" rIns="91440" bIns="45720" rtlCol="0" anchor="ctr">
            <a:normAutofit/>
          </a:bodyPr>
          <a:lstStyle/>
          <a:p>
            <a:pPr algn="l">
              <a:spcAft>
                <a:spcPts val="600"/>
              </a:spcAft>
            </a:pPr>
            <a:r>
              <a:rPr lang="en-US" kern="1200">
                <a:solidFill>
                  <a:schemeClr val="tx1">
                    <a:alpha val="80000"/>
                  </a:schemeClr>
                </a:solidFill>
                <a:latin typeface="+mn-lt"/>
                <a:ea typeface="+mn-ea"/>
                <a:cs typeface="+mn-cs"/>
              </a:rPr>
              <a:t>Arabots Robotics</a:t>
            </a:r>
          </a:p>
        </p:txBody>
      </p:sp>
      <p:sp>
        <p:nvSpPr>
          <p:cNvPr id="3" name="Marcador de número de diapositiva 2">
            <a:extLst>
              <a:ext uri="{FF2B5EF4-FFF2-40B4-BE49-F238E27FC236}">
                <a16:creationId xmlns:a16="http://schemas.microsoft.com/office/drawing/2014/main" id="{8FA6E8C0-5B55-2BF4-3DC0-020119C581C5}"/>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4EA4A3B0-B5DF-4E2B-B48F-E4B7B7872040}" type="slidenum">
              <a:rPr lang="en-US">
                <a:solidFill>
                  <a:schemeClr val="tx1">
                    <a:alpha val="80000"/>
                  </a:schemeClr>
                </a:solidFill>
              </a:rPr>
              <a:pPr>
                <a:spcAft>
                  <a:spcPts val="600"/>
                </a:spcAft>
              </a:pPr>
              <a:t>14</a:t>
            </a:fld>
            <a:endParaRPr lang="en-US">
              <a:solidFill>
                <a:schemeClr val="tx1">
                  <a:alpha val="80000"/>
                </a:schemeClr>
              </a:solidFill>
            </a:endParaRPr>
          </a:p>
        </p:txBody>
      </p:sp>
    </p:spTree>
    <p:extLst>
      <p:ext uri="{BB962C8B-B14F-4D97-AF65-F5344CB8AC3E}">
        <p14:creationId xmlns:p14="http://schemas.microsoft.com/office/powerpoint/2010/main" val="3865279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Marcador de pie de página 1">
            <a:extLst>
              <a:ext uri="{FF2B5EF4-FFF2-40B4-BE49-F238E27FC236}">
                <a16:creationId xmlns:a16="http://schemas.microsoft.com/office/drawing/2014/main" id="{81C47341-0854-AFCA-2226-60CBF8CB57AF}"/>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7" name="CuadroTexto 6">
            <a:extLst>
              <a:ext uri="{FF2B5EF4-FFF2-40B4-BE49-F238E27FC236}">
                <a16:creationId xmlns:a16="http://schemas.microsoft.com/office/drawing/2014/main" id="{F8069F31-E6BF-0B91-73C6-1D59BA799A01}"/>
              </a:ext>
            </a:extLst>
          </p:cNvPr>
          <p:cNvSpPr txBox="1"/>
          <p:nvPr/>
        </p:nvSpPr>
        <p:spPr>
          <a:xfrm>
            <a:off x="4810259" y="649480"/>
            <a:ext cx="6555347" cy="5546047"/>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sz="1700" dirty="0"/>
          </a:p>
          <a:p>
            <a:pPr indent="-228600">
              <a:lnSpc>
                <a:spcPct val="90000"/>
              </a:lnSpc>
              <a:spcAft>
                <a:spcPts val="600"/>
              </a:spcAft>
              <a:buFont typeface="Arial" panose="020B0604020202020204" pitchFamily="34" charset="0"/>
              <a:buChar char="•"/>
            </a:pPr>
            <a:r>
              <a:rPr lang="en-US" sz="1700" i="1" dirty="0"/>
              <a:t>Int
Int, or integer, is an integer, positive or negative, without decimals, of an indeterminate length.
num1 = 7 
print(type(num1)) 
&gt;&gt; &lt; class 'int' &gt;
 float 
Float, or "floating-point number" 
It is a number that can be positive or negative, which in turn contains one or more decimal places. 
num2 = 7.525587 
print(type(num2)) 
&gt;&gt; &lt;class 'float' &gt;</a:t>
            </a:r>
            <a:endParaRPr lang="en-US" sz="1700" dirty="0"/>
          </a:p>
        </p:txBody>
      </p:sp>
      <p:sp>
        <p:nvSpPr>
          <p:cNvPr id="3" name="Marcador de número de diapositiva 2">
            <a:extLst>
              <a:ext uri="{FF2B5EF4-FFF2-40B4-BE49-F238E27FC236}">
                <a16:creationId xmlns:a16="http://schemas.microsoft.com/office/drawing/2014/main" id="{48F565D9-9CC6-5DA9-E38E-DB590B56663A}"/>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15</a:t>
            </a:fld>
            <a:endParaRPr lang="en-US" sz="1100">
              <a:solidFill>
                <a:schemeClr val="tx1">
                  <a:lumMod val="50000"/>
                  <a:lumOff val="50000"/>
                </a:schemeClr>
              </a:solidFill>
            </a:endParaRPr>
          </a:p>
        </p:txBody>
      </p:sp>
      <p:sp>
        <p:nvSpPr>
          <p:cNvPr id="9" name="CuadroTexto 8">
            <a:extLst>
              <a:ext uri="{FF2B5EF4-FFF2-40B4-BE49-F238E27FC236}">
                <a16:creationId xmlns:a16="http://schemas.microsoft.com/office/drawing/2014/main" id="{4E82DACB-4666-1CB9-67D6-A96893165FDF}"/>
              </a:ext>
            </a:extLst>
          </p:cNvPr>
          <p:cNvSpPr txBox="1"/>
          <p:nvPr/>
        </p:nvSpPr>
        <p:spPr>
          <a:xfrm>
            <a:off x="411163" y="992504"/>
            <a:ext cx="3327717" cy="4822859"/>
          </a:xfrm>
          <a:prstGeom prst="rect">
            <a:avLst/>
          </a:prstGeom>
          <a:noFill/>
        </p:spPr>
        <p:txBody>
          <a:bodyPr wrap="square">
            <a:spAutoFit/>
          </a:bodyPr>
          <a:lstStyle/>
          <a:p>
            <a:pPr>
              <a:lnSpc>
                <a:spcPct val="90000"/>
              </a:lnSpc>
              <a:spcAft>
                <a:spcPts val="600"/>
              </a:spcAft>
            </a:pPr>
            <a:r>
              <a:rPr lang="en-US" sz="2800" i="1" dirty="0">
                <a:solidFill>
                  <a:schemeClr val="bg1"/>
                </a:solidFill>
              </a:rPr>
              <a:t>Integers &amp; floats
There are two basic numeric data types in Python: int and float. Like any variable in Python, its type is defined by assigning a value to a variable. The type() function allows us to get the type of value stored in a variable.</a:t>
            </a:r>
            <a:r>
              <a:rPr lang="en-US" sz="2400" i="1" dirty="0">
                <a:solidFill>
                  <a:schemeClr val="bg1"/>
                </a:solidFill>
              </a:rPr>
              <a:t> </a:t>
            </a:r>
          </a:p>
        </p:txBody>
      </p:sp>
    </p:spTree>
    <p:extLst>
      <p:ext uri="{BB962C8B-B14F-4D97-AF65-F5344CB8AC3E}">
        <p14:creationId xmlns:p14="http://schemas.microsoft.com/office/powerpoint/2010/main" val="3873228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Marcador de pie de página 1">
            <a:extLst>
              <a:ext uri="{FF2B5EF4-FFF2-40B4-BE49-F238E27FC236}">
                <a16:creationId xmlns:a16="http://schemas.microsoft.com/office/drawing/2014/main" id="{AFB351EA-8BB8-16F9-CF8D-21F6828942EF}"/>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5" name="CuadroTexto 4">
            <a:extLst>
              <a:ext uri="{FF2B5EF4-FFF2-40B4-BE49-F238E27FC236}">
                <a16:creationId xmlns:a16="http://schemas.microsoft.com/office/drawing/2014/main" id="{66CAFBE3-6092-AFF8-1A01-8EF1D8A73908}"/>
              </a:ext>
            </a:extLst>
          </p:cNvPr>
          <p:cNvSpPr txBox="1"/>
          <p:nvPr/>
        </p:nvSpPr>
        <p:spPr>
          <a:xfrm>
            <a:off x="4810259" y="649480"/>
            <a:ext cx="6555347" cy="5546047"/>
          </a:xfrm>
          <a:prstGeom prst="rect">
            <a:avLst/>
          </a:prstGeom>
        </p:spPr>
        <p:txBody>
          <a:bodyPr vert="horz" lIns="91440" tIns="45720" rIns="91440" bIns="45720" rtlCol="0" anchor="ctr">
            <a:normAutofit/>
          </a:bodyPr>
          <a:lstStyle/>
          <a:p>
            <a:pPr>
              <a:lnSpc>
                <a:spcPct val="90000"/>
              </a:lnSpc>
              <a:spcAft>
                <a:spcPts val="600"/>
              </a:spcAft>
            </a:pPr>
            <a:r>
              <a:rPr lang="en-US" sz="1900"/>
              <a:t>Rules 
Readable: The name of the variable is relevant according to its content 
Unity: there are no spaces (you can incorporate underscores) 
Hispanisms: omitting signs specific to the Spanish language, such as accents or the letter ñ 
Numbers: Variable names should not start with numbers (although they can contain numbers at the end)
 Signs/symbols: not to be included: " ' , &lt; &gt; / ? | \ ( ) ! @ # $ % ^ &amp; * ~ - + 
Keywords: We don't use Python reserved words</a:t>
            </a:r>
            <a:endParaRPr lang="en-US" sz="1900" dirty="0"/>
          </a:p>
        </p:txBody>
      </p:sp>
      <p:sp>
        <p:nvSpPr>
          <p:cNvPr id="3" name="Marcador de número de diapositiva 2">
            <a:extLst>
              <a:ext uri="{FF2B5EF4-FFF2-40B4-BE49-F238E27FC236}">
                <a16:creationId xmlns:a16="http://schemas.microsoft.com/office/drawing/2014/main" id="{8F4B83AF-0E95-AD83-6930-F6E1A571BAE8}"/>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16</a:t>
            </a:fld>
            <a:endParaRPr lang="en-US" sz="1100">
              <a:solidFill>
                <a:schemeClr val="tx1">
                  <a:lumMod val="50000"/>
                  <a:lumOff val="50000"/>
                </a:schemeClr>
              </a:solidFill>
            </a:endParaRPr>
          </a:p>
        </p:txBody>
      </p:sp>
      <p:sp>
        <p:nvSpPr>
          <p:cNvPr id="7" name="CuadroTexto 6">
            <a:extLst>
              <a:ext uri="{FF2B5EF4-FFF2-40B4-BE49-F238E27FC236}">
                <a16:creationId xmlns:a16="http://schemas.microsoft.com/office/drawing/2014/main" id="{51FD1FA7-8612-7735-3F5A-C2ACC791CDEC}"/>
              </a:ext>
            </a:extLst>
          </p:cNvPr>
          <p:cNvSpPr txBox="1"/>
          <p:nvPr/>
        </p:nvSpPr>
        <p:spPr>
          <a:xfrm>
            <a:off x="42990" y="1825178"/>
            <a:ext cx="3943924" cy="2828467"/>
          </a:xfrm>
          <a:prstGeom prst="rect">
            <a:avLst/>
          </a:prstGeom>
          <a:noFill/>
        </p:spPr>
        <p:txBody>
          <a:bodyPr wrap="square">
            <a:spAutoFit/>
          </a:bodyPr>
          <a:lstStyle/>
          <a:p>
            <a:pPr>
              <a:lnSpc>
                <a:spcPct val="90000"/>
              </a:lnSpc>
              <a:spcAft>
                <a:spcPts val="600"/>
              </a:spcAft>
            </a:pPr>
            <a:r>
              <a:rPr lang="en-US" sz="2400" i="1" dirty="0">
                <a:solidFill>
                  <a:schemeClr val="bg1"/>
                </a:solidFill>
              </a:rPr>
              <a:t>Variable Name
There are conventions and best practices associated with naming variables created in Python. They are intended to facilitate the interpretability and maintenance of the code created. </a:t>
            </a:r>
          </a:p>
        </p:txBody>
      </p:sp>
    </p:spTree>
    <p:extLst>
      <p:ext uri="{BB962C8B-B14F-4D97-AF65-F5344CB8AC3E}">
        <p14:creationId xmlns:p14="http://schemas.microsoft.com/office/powerpoint/2010/main" val="8601480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3A58148-D452-4F6F-A2FE-EED968DE1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86463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descr="Open Quotation Mark">
            <a:extLst>
              <a:ext uri="{FF2B5EF4-FFF2-40B4-BE49-F238E27FC236}">
                <a16:creationId xmlns:a16="http://schemas.microsoft.com/office/drawing/2014/main" id="{0AB7B008-C859-5AD8-1D4A-A39DEE9900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02271" y="2122544"/>
            <a:ext cx="914400" cy="914400"/>
          </a:xfrm>
          <a:prstGeom prst="rect">
            <a:avLst/>
          </a:prstGeom>
        </p:spPr>
      </p:pic>
      <p:sp>
        <p:nvSpPr>
          <p:cNvPr id="5" name="CuadroTexto 4">
            <a:extLst>
              <a:ext uri="{FF2B5EF4-FFF2-40B4-BE49-F238E27FC236}">
                <a16:creationId xmlns:a16="http://schemas.microsoft.com/office/drawing/2014/main" id="{36E74193-4E65-ADA1-70AD-E848C5FFDD9E}"/>
              </a:ext>
            </a:extLst>
          </p:cNvPr>
          <p:cNvSpPr txBox="1"/>
          <p:nvPr/>
        </p:nvSpPr>
        <p:spPr>
          <a:xfrm>
            <a:off x="4104622" y="1928155"/>
            <a:ext cx="7612696" cy="1839085"/>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a:t>Declare a numeric variable called num_entero that contains an integer value of your choice.
Prints the data type for that variable.</a:t>
            </a:r>
            <a:endParaRPr lang="en-US" b="0" i="0" dirty="0">
              <a:effectLst/>
            </a:endParaRPr>
          </a:p>
        </p:txBody>
      </p:sp>
      <p:sp>
        <p:nvSpPr>
          <p:cNvPr id="2" name="Marcador de pie de página 1">
            <a:extLst>
              <a:ext uri="{FF2B5EF4-FFF2-40B4-BE49-F238E27FC236}">
                <a16:creationId xmlns:a16="http://schemas.microsoft.com/office/drawing/2014/main" id="{F13E8283-7642-F423-34FF-4923AF340DA5}"/>
              </a:ext>
            </a:extLst>
          </p:cNvPr>
          <p:cNvSpPr>
            <a:spLocks noGrp="1"/>
          </p:cNvSpPr>
          <p:nvPr>
            <p:ph type="ftr" sz="quarter" idx="11"/>
          </p:nvPr>
        </p:nvSpPr>
        <p:spPr>
          <a:xfrm>
            <a:off x="4064000" y="6356350"/>
            <a:ext cx="4089400" cy="365125"/>
          </a:xfrm>
        </p:spPr>
        <p:txBody>
          <a:bodyPr vert="horz" lIns="91440" tIns="45720" rIns="91440" bIns="45720" rtlCol="0" anchor="ctr">
            <a:normAutofit/>
          </a:bodyPr>
          <a:lstStyle/>
          <a:p>
            <a:pPr algn="l">
              <a:spcAft>
                <a:spcPts val="600"/>
              </a:spcAft>
            </a:pPr>
            <a:r>
              <a:rPr lang="en-US" kern="1200">
                <a:solidFill>
                  <a:schemeClr val="tx1">
                    <a:tint val="75000"/>
                  </a:schemeClr>
                </a:solidFill>
                <a:latin typeface="+mn-lt"/>
                <a:ea typeface="+mn-ea"/>
                <a:cs typeface="+mn-cs"/>
              </a:rPr>
              <a:t>Arabots Robotics</a:t>
            </a:r>
          </a:p>
        </p:txBody>
      </p:sp>
      <p:sp>
        <p:nvSpPr>
          <p:cNvPr id="3" name="Marcador de número de diapositiva 2">
            <a:extLst>
              <a:ext uri="{FF2B5EF4-FFF2-40B4-BE49-F238E27FC236}">
                <a16:creationId xmlns:a16="http://schemas.microsoft.com/office/drawing/2014/main" id="{D72B3E5A-C0FC-6F67-B321-1E59FA4F32C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4EA4A3B0-B5DF-4E2B-B48F-E4B7B7872040}" type="slidenum">
              <a:rPr lang="en-US" smtClean="0"/>
              <a:pPr>
                <a:spcAft>
                  <a:spcPts val="600"/>
                </a:spcAft>
              </a:pPr>
              <a:t>17</a:t>
            </a:fld>
            <a:endParaRPr lang="en-US"/>
          </a:p>
        </p:txBody>
      </p:sp>
      <p:sp>
        <p:nvSpPr>
          <p:cNvPr id="7" name="CuadroTexto 6">
            <a:extLst>
              <a:ext uri="{FF2B5EF4-FFF2-40B4-BE49-F238E27FC236}">
                <a16:creationId xmlns:a16="http://schemas.microsoft.com/office/drawing/2014/main" id="{631710DF-BE46-2565-94FE-5773D3C69F14}"/>
              </a:ext>
            </a:extLst>
          </p:cNvPr>
          <p:cNvSpPr txBox="1"/>
          <p:nvPr/>
        </p:nvSpPr>
        <p:spPr>
          <a:xfrm>
            <a:off x="4064000" y="562756"/>
            <a:ext cx="7653318" cy="1000274"/>
          </a:xfrm>
          <a:prstGeom prst="rect">
            <a:avLst/>
          </a:prstGeom>
          <a:noFill/>
        </p:spPr>
        <p:txBody>
          <a:bodyPr wrap="square">
            <a:spAutoFit/>
          </a:bodyPr>
          <a:lstStyle/>
          <a:p>
            <a:pPr>
              <a:spcAft>
                <a:spcPts val="600"/>
              </a:spcAft>
            </a:pPr>
            <a:r>
              <a:rPr lang="en-US">
                <a:solidFill>
                  <a:srgbClr val="1C1D1F"/>
                </a:solidFill>
                <a:latin typeface="udemy sans"/>
              </a:rPr>
              <a:t>Declare a numeric variable called num_decimal that contains a float value of your choice.
Prints the data type for that variable.</a:t>
            </a:r>
            <a:endParaRPr lang="es-MX" b="0" i="0" dirty="0">
              <a:solidFill>
                <a:srgbClr val="1C1D1F"/>
              </a:solidFill>
              <a:effectLst/>
              <a:latin typeface="udemy sans"/>
            </a:endParaRPr>
          </a:p>
        </p:txBody>
      </p:sp>
      <p:sp>
        <p:nvSpPr>
          <p:cNvPr id="11" name="CuadroTexto 10">
            <a:extLst>
              <a:ext uri="{FF2B5EF4-FFF2-40B4-BE49-F238E27FC236}">
                <a16:creationId xmlns:a16="http://schemas.microsoft.com/office/drawing/2014/main" id="{A1213C33-87C8-384B-9ADF-18BA3C96BBD9}"/>
              </a:ext>
            </a:extLst>
          </p:cNvPr>
          <p:cNvSpPr txBox="1"/>
          <p:nvPr/>
        </p:nvSpPr>
        <p:spPr>
          <a:xfrm>
            <a:off x="4104621" y="4017248"/>
            <a:ext cx="7612695" cy="2062103"/>
          </a:xfrm>
          <a:prstGeom prst="rect">
            <a:avLst/>
          </a:prstGeom>
          <a:noFill/>
        </p:spPr>
        <p:txBody>
          <a:bodyPr wrap="square">
            <a:spAutoFit/>
          </a:bodyPr>
          <a:lstStyle/>
          <a:p>
            <a:pPr>
              <a:spcAft>
                <a:spcPts val="600"/>
              </a:spcAft>
            </a:pPr>
            <a:r>
              <a:rPr lang="en-US">
                <a:solidFill>
                  <a:srgbClr val="1C1D1F"/>
                </a:solidFill>
                <a:latin typeface="udemy sans"/>
              </a:rPr>
              <a:t>What kind is the result of the sum of 7.5 + 2.5? Generate the code to verify it.
To do this, create two variables:
num1 = 7.5
num2 = 2.5
It then displays on the screen the type of data that results from the sum of both numbers.</a:t>
            </a:r>
            <a:endParaRPr lang="es-MX" b="0" i="0" dirty="0">
              <a:solidFill>
                <a:srgbClr val="1C1D1F"/>
              </a:solidFill>
              <a:effectLst/>
              <a:latin typeface="udemy sans"/>
            </a:endParaRPr>
          </a:p>
        </p:txBody>
      </p:sp>
      <p:sp>
        <p:nvSpPr>
          <p:cNvPr id="13" name="CuadroTexto 12">
            <a:extLst>
              <a:ext uri="{FF2B5EF4-FFF2-40B4-BE49-F238E27FC236}">
                <a16:creationId xmlns:a16="http://schemas.microsoft.com/office/drawing/2014/main" id="{B884E1E3-36CA-50E8-430F-6BA513242CD0}"/>
              </a:ext>
            </a:extLst>
          </p:cNvPr>
          <p:cNvSpPr txBox="1"/>
          <p:nvPr/>
        </p:nvSpPr>
        <p:spPr>
          <a:xfrm>
            <a:off x="193611" y="3016220"/>
            <a:ext cx="3119202" cy="369332"/>
          </a:xfrm>
          <a:prstGeom prst="rect">
            <a:avLst/>
          </a:prstGeom>
          <a:noFill/>
        </p:spPr>
        <p:txBody>
          <a:bodyPr wrap="square">
            <a:spAutoFit/>
          </a:bodyPr>
          <a:lstStyle/>
          <a:p>
            <a:pPr>
              <a:spcAft>
                <a:spcPts val="600"/>
              </a:spcAft>
            </a:pPr>
            <a:r>
              <a:rPr lang="es-MX" b="1">
                <a:solidFill>
                  <a:srgbClr val="1C1D1F"/>
                </a:solidFill>
                <a:latin typeface="udemy sans"/>
              </a:rPr>
              <a:t>Types of Numerical Data</a:t>
            </a:r>
            <a:endParaRPr lang="es-MX"/>
          </a:p>
        </p:txBody>
      </p:sp>
    </p:spTree>
    <p:extLst>
      <p:ext uri="{BB962C8B-B14F-4D97-AF65-F5344CB8AC3E}">
        <p14:creationId xmlns:p14="http://schemas.microsoft.com/office/powerpoint/2010/main" val="236167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Marcador de pie de página 1">
            <a:extLst>
              <a:ext uri="{FF2B5EF4-FFF2-40B4-BE49-F238E27FC236}">
                <a16:creationId xmlns:a16="http://schemas.microsoft.com/office/drawing/2014/main" id="{1518DE10-F9C3-9355-4615-FDC26D2FD21B}"/>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5" name="CuadroTexto 4">
            <a:extLst>
              <a:ext uri="{FF2B5EF4-FFF2-40B4-BE49-F238E27FC236}">
                <a16:creationId xmlns:a16="http://schemas.microsoft.com/office/drawing/2014/main" id="{1CD184C9-B176-B139-0E59-5FFA4954FCB6}"/>
              </a:ext>
            </a:extLst>
          </p:cNvPr>
          <p:cNvSpPr txBox="1"/>
          <p:nvPr/>
        </p:nvSpPr>
        <p:spPr>
          <a:xfrm>
            <a:off x="4810259" y="649480"/>
            <a:ext cx="6555347" cy="5546047"/>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i="1"/>
              <a:t>int(var) &gt;&lt; &lt;class 'float' &lt; - Converts the data to integer float(var) &gt;&gt; &lt; class 'float' &lt; - Converts the data to float</a:t>
            </a:r>
            <a:endParaRPr lang="en-US" sz="2000" dirty="0"/>
          </a:p>
        </p:txBody>
      </p:sp>
      <p:sp>
        <p:nvSpPr>
          <p:cNvPr id="3" name="Marcador de número de diapositiva 2">
            <a:extLst>
              <a:ext uri="{FF2B5EF4-FFF2-40B4-BE49-F238E27FC236}">
                <a16:creationId xmlns:a16="http://schemas.microsoft.com/office/drawing/2014/main" id="{FE085543-AFFC-E6DE-D81E-E4234CE55BA6}"/>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18</a:t>
            </a:fld>
            <a:endParaRPr lang="en-US" sz="1100">
              <a:solidFill>
                <a:schemeClr val="tx1">
                  <a:lumMod val="50000"/>
                  <a:lumOff val="50000"/>
                </a:schemeClr>
              </a:solidFill>
            </a:endParaRPr>
          </a:p>
        </p:txBody>
      </p:sp>
      <p:sp>
        <p:nvSpPr>
          <p:cNvPr id="7" name="CuadroTexto 6">
            <a:extLst>
              <a:ext uri="{FF2B5EF4-FFF2-40B4-BE49-F238E27FC236}">
                <a16:creationId xmlns:a16="http://schemas.microsoft.com/office/drawing/2014/main" id="{CD21337F-41CB-61F5-F5AB-F7A8C47E61ED}"/>
              </a:ext>
            </a:extLst>
          </p:cNvPr>
          <p:cNvSpPr txBox="1"/>
          <p:nvPr/>
        </p:nvSpPr>
        <p:spPr>
          <a:xfrm>
            <a:off x="294640" y="1527294"/>
            <a:ext cx="3373120" cy="1831271"/>
          </a:xfrm>
          <a:prstGeom prst="rect">
            <a:avLst/>
          </a:prstGeom>
          <a:noFill/>
        </p:spPr>
        <p:txBody>
          <a:bodyPr wrap="square">
            <a:spAutoFit/>
          </a:bodyPr>
          <a:lstStyle/>
          <a:p>
            <a:pPr>
              <a:spcAft>
                <a:spcPts val="600"/>
              </a:spcAft>
            </a:pPr>
            <a:r>
              <a:rPr lang="en-US" i="1">
                <a:solidFill>
                  <a:schemeClr val="bg1"/>
                </a:solidFill>
              </a:rPr>
              <a:t>Conversions
Python performs implicit conversions of data types automatically to operate with numeric values. In other cases, we'll need to explicitly convert.</a:t>
            </a:r>
            <a:endParaRPr lang="es-MX" i="1" dirty="0">
              <a:solidFill>
                <a:schemeClr val="bg1"/>
              </a:solidFill>
            </a:endParaRPr>
          </a:p>
        </p:txBody>
      </p:sp>
    </p:spTree>
    <p:extLst>
      <p:ext uri="{BB962C8B-B14F-4D97-AF65-F5344CB8AC3E}">
        <p14:creationId xmlns:p14="http://schemas.microsoft.com/office/powerpoint/2010/main" val="3730756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18B47EC-880C-488C-A09F-1082C7675D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 y="0"/>
            <a:ext cx="1219285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7">
            <a:extLst>
              <a:ext uri="{FF2B5EF4-FFF2-40B4-BE49-F238E27FC236}">
                <a16:creationId xmlns:a16="http://schemas.microsoft.com/office/drawing/2014/main" id="{44BF5144-F7BD-4540-9CFD-700A8426DA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 y="1466224"/>
            <a:ext cx="5439902" cy="3925553"/>
          </a:xfrm>
          <a:custGeom>
            <a:avLst/>
            <a:gdLst>
              <a:gd name="connsiteX0" fmla="*/ 0 w 8078051"/>
              <a:gd name="connsiteY0" fmla="*/ 0 h 5829300"/>
              <a:gd name="connsiteX1" fmla="*/ 4453793 w 8078051"/>
              <a:gd name="connsiteY1" fmla="*/ 0 h 5829300"/>
              <a:gd name="connsiteX2" fmla="*/ 5363426 w 8078051"/>
              <a:gd name="connsiteY2" fmla="*/ 0 h 5829300"/>
              <a:gd name="connsiteX3" fmla="*/ 5368184 w 8078051"/>
              <a:gd name="connsiteY3" fmla="*/ 0 h 5829300"/>
              <a:gd name="connsiteX4" fmla="*/ 8078051 w 8078051"/>
              <a:gd name="connsiteY4" fmla="*/ 5829300 h 5829300"/>
              <a:gd name="connsiteX5" fmla="*/ 1743926 w 8078051"/>
              <a:gd name="connsiteY5" fmla="*/ 5829300 h 5829300"/>
              <a:gd name="connsiteX6" fmla="*/ 1744148 w 8078051"/>
              <a:gd name="connsiteY6" fmla="*/ 5828822 h 5829300"/>
              <a:gd name="connsiteX7" fmla="*/ 0 w 8078051"/>
              <a:gd name="connsiteY7" fmla="*/ 5828822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8051" h="5829300">
                <a:moveTo>
                  <a:pt x="0" y="0"/>
                </a:moveTo>
                <a:lnTo>
                  <a:pt x="4453793" y="0"/>
                </a:lnTo>
                <a:lnTo>
                  <a:pt x="5363426" y="0"/>
                </a:lnTo>
                <a:lnTo>
                  <a:pt x="5368184" y="0"/>
                </a:lnTo>
                <a:lnTo>
                  <a:pt x="8078051" y="5829300"/>
                </a:lnTo>
                <a:lnTo>
                  <a:pt x="1743926" y="5829300"/>
                </a:lnTo>
                <a:lnTo>
                  <a:pt x="1744148" y="5828822"/>
                </a:lnTo>
                <a:lnTo>
                  <a:pt x="0" y="5828822"/>
                </a:lnTo>
                <a:close/>
              </a:path>
            </a:pathLst>
          </a:cu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ítulo 3">
            <a:extLst>
              <a:ext uri="{FF2B5EF4-FFF2-40B4-BE49-F238E27FC236}">
                <a16:creationId xmlns:a16="http://schemas.microsoft.com/office/drawing/2014/main" id="{AB2D4F45-96AC-6C63-ED9E-ECB0701704DB}"/>
              </a:ext>
            </a:extLst>
          </p:cNvPr>
          <p:cNvSpPr>
            <a:spLocks noGrp="1"/>
          </p:cNvSpPr>
          <p:nvPr>
            <p:ph type="title"/>
          </p:nvPr>
        </p:nvSpPr>
        <p:spPr>
          <a:xfrm>
            <a:off x="483782" y="1950856"/>
            <a:ext cx="3261741" cy="2956289"/>
          </a:xfrm>
        </p:spPr>
        <p:txBody>
          <a:bodyPr vert="horz" lIns="91440" tIns="45720" rIns="91440" bIns="45720" rtlCol="0" anchor="ctr">
            <a:normAutofit/>
          </a:bodyPr>
          <a:lstStyle/>
          <a:p>
            <a:r>
              <a:rPr lang="en-US" sz="4000">
                <a:solidFill>
                  <a:srgbClr val="FFFFFF"/>
                </a:solidFill>
              </a:rPr>
              <a:t>Variable Exercises</a:t>
            </a:r>
            <a:endParaRPr lang="en-US" sz="4000" kern="1200" dirty="0">
              <a:solidFill>
                <a:srgbClr val="FFFFFF"/>
              </a:solidFill>
              <a:latin typeface="+mj-lt"/>
              <a:ea typeface="+mj-ea"/>
              <a:cs typeface="+mj-cs"/>
            </a:endParaRPr>
          </a:p>
        </p:txBody>
      </p:sp>
      <p:sp>
        <p:nvSpPr>
          <p:cNvPr id="2" name="Marcador de pie de página 1">
            <a:extLst>
              <a:ext uri="{FF2B5EF4-FFF2-40B4-BE49-F238E27FC236}">
                <a16:creationId xmlns:a16="http://schemas.microsoft.com/office/drawing/2014/main" id="{445D1E6E-CBA8-166B-0511-CBAA18A5F543}"/>
              </a:ext>
            </a:extLst>
          </p:cNvPr>
          <p:cNvSpPr>
            <a:spLocks noGrp="1"/>
          </p:cNvSpPr>
          <p:nvPr>
            <p:ph type="ftr" sz="quarter" idx="11"/>
          </p:nvPr>
        </p:nvSpPr>
        <p:spPr>
          <a:xfrm>
            <a:off x="642617" y="6356350"/>
            <a:ext cx="6596383" cy="365125"/>
          </a:xfrm>
        </p:spPr>
        <p:txBody>
          <a:bodyPr vert="horz" lIns="91440" tIns="45720" rIns="91440" bIns="45720" rtlCol="0" anchor="ctr">
            <a:normAutofit/>
          </a:bodyPr>
          <a:lstStyle/>
          <a:p>
            <a:pPr algn="l">
              <a:spcAft>
                <a:spcPts val="600"/>
              </a:spcAft>
            </a:pPr>
            <a:r>
              <a:rPr lang="en-US" kern="1200">
                <a:solidFill>
                  <a:srgbClr val="000000">
                    <a:alpha val="80000"/>
                  </a:srgbClr>
                </a:solidFill>
                <a:latin typeface="+mn-lt"/>
                <a:ea typeface="+mn-ea"/>
                <a:cs typeface="+mn-cs"/>
              </a:rPr>
              <a:t>Arabots Robotics</a:t>
            </a:r>
          </a:p>
        </p:txBody>
      </p:sp>
      <p:sp>
        <p:nvSpPr>
          <p:cNvPr id="3" name="Marcador de número de diapositiva 2">
            <a:extLst>
              <a:ext uri="{FF2B5EF4-FFF2-40B4-BE49-F238E27FC236}">
                <a16:creationId xmlns:a16="http://schemas.microsoft.com/office/drawing/2014/main" id="{8FA6E8C0-5B55-2BF4-3DC0-020119C581C5}"/>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4EA4A3B0-B5DF-4E2B-B48F-E4B7B7872040}" type="slidenum">
              <a:rPr lang="en-US">
                <a:solidFill>
                  <a:srgbClr val="000000">
                    <a:alpha val="80000"/>
                  </a:srgbClr>
                </a:solidFill>
              </a:rPr>
              <a:pPr>
                <a:spcAft>
                  <a:spcPts val="600"/>
                </a:spcAft>
              </a:pPr>
              <a:t>19</a:t>
            </a:fld>
            <a:endParaRPr lang="en-US">
              <a:solidFill>
                <a:srgbClr val="000000">
                  <a:alpha val="80000"/>
                </a:srgbClr>
              </a:solidFill>
            </a:endParaRPr>
          </a:p>
        </p:txBody>
      </p:sp>
      <p:sp>
        <p:nvSpPr>
          <p:cNvPr id="5" name="Marcador de contenido 2">
            <a:extLst>
              <a:ext uri="{FF2B5EF4-FFF2-40B4-BE49-F238E27FC236}">
                <a16:creationId xmlns:a16="http://schemas.microsoft.com/office/drawing/2014/main" id="{FB568B47-1D03-C848-2732-E8DE57B23EED}"/>
              </a:ext>
            </a:extLst>
          </p:cNvPr>
          <p:cNvSpPr>
            <a:spLocks noGrp="1"/>
          </p:cNvSpPr>
          <p:nvPr>
            <p:ph idx="1"/>
          </p:nvPr>
        </p:nvSpPr>
        <p:spPr>
          <a:xfrm>
            <a:off x="5923684" y="1389147"/>
            <a:ext cx="5493774" cy="976569"/>
          </a:xfrm>
        </p:spPr>
        <p:txBody>
          <a:bodyPr>
            <a:normAutofit/>
          </a:bodyPr>
          <a:lstStyle/>
          <a:p>
            <a:pPr marL="0" indent="0">
              <a:buNone/>
            </a:pPr>
            <a:r>
              <a:rPr lang="en-US" sz="1800">
                <a:solidFill>
                  <a:srgbClr val="1C1D1F"/>
                </a:solidFill>
              </a:rPr>
              <a:t>It converts the value of num1 to an int and prints the resulting data type:</a:t>
            </a:r>
            <a:endParaRPr lang="es-MX" sz="1800" dirty="0"/>
          </a:p>
        </p:txBody>
      </p:sp>
      <p:sp>
        <p:nvSpPr>
          <p:cNvPr id="6" name="CuadroTexto 5">
            <a:extLst>
              <a:ext uri="{FF2B5EF4-FFF2-40B4-BE49-F238E27FC236}">
                <a16:creationId xmlns:a16="http://schemas.microsoft.com/office/drawing/2014/main" id="{647B65F2-86CB-3545-41AC-5E42E0A8F98C}"/>
              </a:ext>
            </a:extLst>
          </p:cNvPr>
          <p:cNvSpPr txBox="1"/>
          <p:nvPr/>
        </p:nvSpPr>
        <p:spPr>
          <a:xfrm>
            <a:off x="5923684" y="2511609"/>
            <a:ext cx="6096000" cy="646331"/>
          </a:xfrm>
          <a:prstGeom prst="rect">
            <a:avLst/>
          </a:prstGeom>
          <a:noFill/>
        </p:spPr>
        <p:txBody>
          <a:bodyPr wrap="square">
            <a:spAutoFit/>
          </a:bodyPr>
          <a:lstStyle/>
          <a:p>
            <a:r>
              <a:rPr lang="en-US">
                <a:solidFill>
                  <a:srgbClr val="1C1D1F"/>
                </a:solidFill>
              </a:rPr>
              <a:t>It converts the value of num2 into a float and prints the resulting data type:</a:t>
            </a:r>
            <a:endParaRPr lang="es-MX" dirty="0"/>
          </a:p>
        </p:txBody>
      </p:sp>
      <p:sp>
        <p:nvSpPr>
          <p:cNvPr id="8" name="Rectangle 1">
            <a:extLst>
              <a:ext uri="{FF2B5EF4-FFF2-40B4-BE49-F238E27FC236}">
                <a16:creationId xmlns:a16="http://schemas.microsoft.com/office/drawing/2014/main" id="{93A5B720-2008-719C-F814-3DC210BA3D63}"/>
              </a:ext>
            </a:extLst>
          </p:cNvPr>
          <p:cNvSpPr>
            <a:spLocks noChangeArrowheads="1"/>
          </p:cNvSpPr>
          <p:nvPr/>
        </p:nvSpPr>
        <p:spPr bwMode="auto">
          <a:xfrm>
            <a:off x="5948516" y="3907829"/>
            <a:ext cx="6243484" cy="11079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s-MX">
                <a:solidFill>
                  <a:srgbClr val="1C1D1F"/>
                </a:solidFill>
                <a:latin typeface="+mn-lt"/>
              </a:rPr>
              <a:t>Add the values of num1 and num2.
Do not change the value of the variables that have already been declared, but apply the necessary conversions within the print() function.</a:t>
            </a:r>
            <a:endParaRPr kumimoji="0" lang="es-MX" altLang="es-MX"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5045854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Marcador de pie de página 1">
            <a:extLst>
              <a:ext uri="{FF2B5EF4-FFF2-40B4-BE49-F238E27FC236}">
                <a16:creationId xmlns:a16="http://schemas.microsoft.com/office/drawing/2014/main" id="{6D58C0F1-9E45-9304-A200-E7B783F51FA6}"/>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5" name="CuadroTexto 4">
            <a:extLst>
              <a:ext uri="{FF2B5EF4-FFF2-40B4-BE49-F238E27FC236}">
                <a16:creationId xmlns:a16="http://schemas.microsoft.com/office/drawing/2014/main" id="{D492B58C-535B-6BE8-D10F-1B09964B9D20}"/>
              </a:ext>
            </a:extLst>
          </p:cNvPr>
          <p:cNvSpPr txBox="1"/>
          <p:nvPr/>
        </p:nvSpPr>
        <p:spPr>
          <a:xfrm>
            <a:off x="4810259" y="649480"/>
            <a:ext cx="6555347" cy="5546047"/>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i="1"/>
              <a:t>Format function: enclose the positions of the variables in square brackets { }, and after the string we call the variables with the format function 
print("My car is {} and license plate
{}" .format(color_auto,matricula)) 
Literal strings (f-strings): starting with Python 3.8, we can anticipate the concatenation of variables by prefixing f to the string
print(f"My car is {color_auto} and license plate {license plate}")</a:t>
            </a:r>
            <a:endParaRPr lang="en-US" sz="2000" dirty="0"/>
          </a:p>
        </p:txBody>
      </p:sp>
      <p:sp>
        <p:nvSpPr>
          <p:cNvPr id="3" name="Marcador de número de diapositiva 2">
            <a:extLst>
              <a:ext uri="{FF2B5EF4-FFF2-40B4-BE49-F238E27FC236}">
                <a16:creationId xmlns:a16="http://schemas.microsoft.com/office/drawing/2014/main" id="{81DA7DD0-2CC4-82D3-95A2-0F770AB567DE}"/>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20</a:t>
            </a:fld>
            <a:endParaRPr lang="en-US" sz="1100">
              <a:solidFill>
                <a:schemeClr val="tx1">
                  <a:lumMod val="50000"/>
                  <a:lumOff val="50000"/>
                </a:schemeClr>
              </a:solidFill>
            </a:endParaRPr>
          </a:p>
        </p:txBody>
      </p:sp>
      <p:sp>
        <p:nvSpPr>
          <p:cNvPr id="7" name="CuadroTexto 6">
            <a:extLst>
              <a:ext uri="{FF2B5EF4-FFF2-40B4-BE49-F238E27FC236}">
                <a16:creationId xmlns:a16="http://schemas.microsoft.com/office/drawing/2014/main" id="{DE499E44-F163-0C84-BE4D-2B448EE17280}"/>
              </a:ext>
            </a:extLst>
          </p:cNvPr>
          <p:cNvSpPr txBox="1"/>
          <p:nvPr/>
        </p:nvSpPr>
        <p:spPr>
          <a:xfrm>
            <a:off x="344938" y="1470739"/>
            <a:ext cx="2976880" cy="5339923"/>
          </a:xfrm>
          <a:prstGeom prst="rect">
            <a:avLst/>
          </a:prstGeom>
          <a:noFill/>
        </p:spPr>
        <p:txBody>
          <a:bodyPr wrap="square">
            <a:spAutoFit/>
          </a:bodyPr>
          <a:lstStyle/>
          <a:p>
            <a:pPr>
              <a:spcAft>
                <a:spcPts val="600"/>
              </a:spcAft>
            </a:pPr>
            <a:r>
              <a:rPr lang="en-US" sz="2800" i="1">
                <a:solidFill>
                  <a:schemeClr val="bg1"/>
                </a:solidFill>
              </a:rPr>
              <a:t>Format Strings 
To facilitate the concatenation of variables and text in Python, we have two tools that prevent us from manipulating the variables, to incorporate them directly into the text:</a:t>
            </a:r>
            <a:endParaRPr lang="es-MX" sz="2000" dirty="0">
              <a:solidFill>
                <a:schemeClr val="bg1"/>
              </a:solidFill>
            </a:endParaRPr>
          </a:p>
        </p:txBody>
      </p:sp>
    </p:spTree>
    <p:extLst>
      <p:ext uri="{BB962C8B-B14F-4D97-AF65-F5344CB8AC3E}">
        <p14:creationId xmlns:p14="http://schemas.microsoft.com/office/powerpoint/2010/main" val="2050297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6D11131C-3ACE-05F9-2362-B8588CAC49CE}"/>
              </a:ext>
            </a:extLst>
          </p:cNvPr>
          <p:cNvSpPr>
            <a:spLocks noGrp="1"/>
          </p:cNvSpPr>
          <p:nvPr>
            <p:ph type="ftr" sz="quarter" idx="11"/>
          </p:nvPr>
        </p:nvSpPr>
        <p:spPr/>
        <p:txBody>
          <a:bodyPr/>
          <a:lstStyle/>
          <a:p>
            <a:r>
              <a:rPr lang="es-MX"/>
              <a:t>Arabots Robotics</a:t>
            </a:r>
          </a:p>
        </p:txBody>
      </p:sp>
      <p:sp>
        <p:nvSpPr>
          <p:cNvPr id="3" name="Marcador de número de diapositiva 2">
            <a:extLst>
              <a:ext uri="{FF2B5EF4-FFF2-40B4-BE49-F238E27FC236}">
                <a16:creationId xmlns:a16="http://schemas.microsoft.com/office/drawing/2014/main" id="{9117915D-8B57-9ABD-1436-DFF7A337A2F8}"/>
              </a:ext>
            </a:extLst>
          </p:cNvPr>
          <p:cNvSpPr>
            <a:spLocks noGrp="1"/>
          </p:cNvSpPr>
          <p:nvPr>
            <p:ph type="sldNum" sz="quarter" idx="12"/>
          </p:nvPr>
        </p:nvSpPr>
        <p:spPr/>
        <p:txBody>
          <a:bodyPr/>
          <a:lstStyle/>
          <a:p>
            <a:fld id="{4EA4A3B0-B5DF-4E2B-B48F-E4B7B7872040}" type="slidenum">
              <a:rPr lang="es-MX" smtClean="0"/>
              <a:t>21</a:t>
            </a:fld>
            <a:endParaRPr lang="es-MX"/>
          </a:p>
        </p:txBody>
      </p:sp>
      <p:sp>
        <p:nvSpPr>
          <p:cNvPr id="4" name="Rectangle 1">
            <a:extLst>
              <a:ext uri="{FF2B5EF4-FFF2-40B4-BE49-F238E27FC236}">
                <a16:creationId xmlns:a16="http://schemas.microsoft.com/office/drawing/2014/main" id="{007B390C-63B4-2046-3AF2-8B41617F8B8E}"/>
              </a:ext>
            </a:extLst>
          </p:cNvPr>
          <p:cNvSpPr>
            <a:spLocks noChangeArrowheads="1"/>
          </p:cNvSpPr>
          <p:nvPr/>
        </p:nvSpPr>
        <p:spPr bwMode="auto">
          <a:xfrm>
            <a:off x="4892845" y="770762"/>
            <a:ext cx="6923314" cy="11079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s-MX">
                <a:solidFill>
                  <a:srgbClr val="1C1D1F"/>
                </a:solidFill>
                <a:latin typeface="udemy sans"/>
              </a:rPr>
              <a:t>We need to print the name and number of the associate inside the following sentence:
Dear (nombre_asociado), your membership number is: (numero_asociado)</a:t>
            </a:r>
            <a:endParaRPr kumimoji="0" lang="es-MX" altLang="es-MX" sz="1400" b="0" i="0" u="none" strike="noStrike" cap="none" normalizeH="0" baseline="0" dirty="0">
              <a:ln>
                <a:noFill/>
              </a:ln>
              <a:solidFill>
                <a:schemeClr val="tx1"/>
              </a:solidFill>
              <a:effectLst/>
            </a:endParaRPr>
          </a:p>
        </p:txBody>
      </p:sp>
      <p:sp>
        <p:nvSpPr>
          <p:cNvPr id="5" name="Rectangle 2">
            <a:extLst>
              <a:ext uri="{FF2B5EF4-FFF2-40B4-BE49-F238E27FC236}">
                <a16:creationId xmlns:a16="http://schemas.microsoft.com/office/drawing/2014/main" id="{84FF2ADC-A3F7-188B-885D-DF960F2063EF}"/>
              </a:ext>
            </a:extLst>
          </p:cNvPr>
          <p:cNvSpPr>
            <a:spLocks noChangeArrowheads="1"/>
          </p:cNvSpPr>
          <p:nvPr/>
        </p:nvSpPr>
        <p:spPr bwMode="auto">
          <a:xfrm>
            <a:off x="4920343" y="2980607"/>
            <a:ext cx="6923314" cy="11079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s-MX">
                <a:solidFill>
                  <a:srgbClr val="1C1D1F"/>
                </a:solidFill>
                <a:latin typeface="udemy sans"/>
              </a:rPr>
              <a:t>It shows the user the number of points accumulated within the following sentence:
You've earned (puntos_nuevos) points! In total, you accumulate (puntos_totales) points</a:t>
            </a:r>
            <a:endParaRPr kumimoji="0" lang="es-MX" altLang="es-MX" sz="1400" b="0" i="0" u="none" strike="noStrike" cap="none" normalizeH="0" baseline="0" dirty="0">
              <a:ln>
                <a:noFill/>
              </a:ln>
              <a:solidFill>
                <a:schemeClr val="tx1"/>
              </a:solidFill>
              <a:effectLst/>
            </a:endParaRPr>
          </a:p>
        </p:txBody>
      </p:sp>
      <p:sp>
        <p:nvSpPr>
          <p:cNvPr id="6" name="Rectangle 3">
            <a:extLst>
              <a:ext uri="{FF2B5EF4-FFF2-40B4-BE49-F238E27FC236}">
                <a16:creationId xmlns:a16="http://schemas.microsoft.com/office/drawing/2014/main" id="{260BBF6F-A273-C683-5E54-1CEA30151CC1}"/>
              </a:ext>
            </a:extLst>
          </p:cNvPr>
          <p:cNvSpPr>
            <a:spLocks noChangeArrowheads="1"/>
          </p:cNvSpPr>
          <p:nvPr/>
        </p:nvSpPr>
        <p:spPr bwMode="auto">
          <a:xfrm>
            <a:off x="4920343" y="4753808"/>
            <a:ext cx="6923314" cy="16619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s-MX">
                <a:solidFill>
                  <a:srgbClr val="1C1D1F"/>
                </a:solidFill>
                <a:latin typeface="udemy sans"/>
              </a:rPr>
              <a:t>It shows the user the number of points accumulated within the following sentence:
You've earned (puntos_nuevos) points! In total, you accumulate (puntos_totales) points
On this occasion, the amount of points accumulated (total) will be equal to the puntos_anteriores plus the puntos_nuevos.</a:t>
            </a:r>
            <a:endParaRPr kumimoji="0" lang="es-MX" altLang="es-MX" sz="1400" b="0" i="0" u="none" strike="noStrike" cap="none" normalizeH="0" baseline="0" dirty="0">
              <a:ln>
                <a:noFill/>
              </a:ln>
              <a:solidFill>
                <a:schemeClr val="tx1"/>
              </a:solidFill>
              <a:effectLst/>
            </a:endParaRPr>
          </a:p>
        </p:txBody>
      </p:sp>
      <p:sp>
        <p:nvSpPr>
          <p:cNvPr id="8" name="CuadroTexto 7">
            <a:extLst>
              <a:ext uri="{FF2B5EF4-FFF2-40B4-BE49-F238E27FC236}">
                <a16:creationId xmlns:a16="http://schemas.microsoft.com/office/drawing/2014/main" id="{F228BF51-4709-E3DC-EE73-9AFED1AB2099}"/>
              </a:ext>
            </a:extLst>
          </p:cNvPr>
          <p:cNvSpPr txBox="1"/>
          <p:nvPr/>
        </p:nvSpPr>
        <p:spPr>
          <a:xfrm>
            <a:off x="417006" y="2660108"/>
            <a:ext cx="3621594" cy="369332"/>
          </a:xfrm>
          <a:prstGeom prst="rect">
            <a:avLst/>
          </a:prstGeom>
          <a:noFill/>
        </p:spPr>
        <p:txBody>
          <a:bodyPr wrap="square">
            <a:spAutoFit/>
          </a:bodyPr>
          <a:lstStyle/>
          <a:p>
            <a:r>
              <a:rPr lang="es-MX" b="1">
                <a:solidFill>
                  <a:srgbClr val="1C1D1F"/>
                </a:solidFill>
                <a:latin typeface="udemy sans"/>
              </a:rPr>
              <a:t>Formatting Strings</a:t>
            </a:r>
            <a:endParaRPr lang="es-MX" dirty="0"/>
          </a:p>
        </p:txBody>
      </p:sp>
    </p:spTree>
    <p:extLst>
      <p:ext uri="{BB962C8B-B14F-4D97-AF65-F5344CB8AC3E}">
        <p14:creationId xmlns:p14="http://schemas.microsoft.com/office/powerpoint/2010/main" val="1346391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Marcador de pie de página 1">
            <a:extLst>
              <a:ext uri="{FF2B5EF4-FFF2-40B4-BE49-F238E27FC236}">
                <a16:creationId xmlns:a16="http://schemas.microsoft.com/office/drawing/2014/main" id="{8E14FC74-A4E7-43C0-81F8-4C58AFFD67D2}"/>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5" name="CuadroTexto 4">
            <a:extLst>
              <a:ext uri="{FF2B5EF4-FFF2-40B4-BE49-F238E27FC236}">
                <a16:creationId xmlns:a16="http://schemas.microsoft.com/office/drawing/2014/main" id="{2C3E3D59-E6AA-DD66-96DF-92856A9039E7}"/>
              </a:ext>
            </a:extLst>
          </p:cNvPr>
          <p:cNvSpPr txBox="1"/>
          <p:nvPr/>
        </p:nvSpPr>
        <p:spPr>
          <a:xfrm>
            <a:off x="4810259" y="649480"/>
            <a:ext cx="6555347" cy="5546047"/>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i="1"/>
              <a:t>Sum: +
Subtraction:-
Multiplication:*
Division:/
Quotient (division "to the floor"): //
Remainder (module): % --- useful for detecting even values ;) 
Power:**
Square root: **0.5 ----- it's a special case of potency!</a:t>
            </a:r>
            <a:endParaRPr lang="en-US" sz="2000" dirty="0"/>
          </a:p>
        </p:txBody>
      </p:sp>
      <p:sp>
        <p:nvSpPr>
          <p:cNvPr id="3" name="Marcador de número de diapositiva 2">
            <a:extLst>
              <a:ext uri="{FF2B5EF4-FFF2-40B4-BE49-F238E27FC236}">
                <a16:creationId xmlns:a16="http://schemas.microsoft.com/office/drawing/2014/main" id="{922D81A6-803E-F726-67B2-AD65B0E41357}"/>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22</a:t>
            </a:fld>
            <a:endParaRPr lang="en-US" sz="1100">
              <a:solidFill>
                <a:schemeClr val="tx1">
                  <a:lumMod val="50000"/>
                  <a:lumOff val="50000"/>
                </a:schemeClr>
              </a:solidFill>
            </a:endParaRPr>
          </a:p>
        </p:txBody>
      </p:sp>
      <p:sp>
        <p:nvSpPr>
          <p:cNvPr id="7" name="CuadroTexto 6">
            <a:extLst>
              <a:ext uri="{FF2B5EF4-FFF2-40B4-BE49-F238E27FC236}">
                <a16:creationId xmlns:a16="http://schemas.microsoft.com/office/drawing/2014/main" id="{BE797AEF-6027-0A01-F9A4-F6A567C52CDC}"/>
              </a:ext>
            </a:extLst>
          </p:cNvPr>
          <p:cNvSpPr txBox="1"/>
          <p:nvPr/>
        </p:nvSpPr>
        <p:spPr>
          <a:xfrm>
            <a:off x="411163" y="250719"/>
            <a:ext cx="3489810" cy="4601260"/>
          </a:xfrm>
          <a:prstGeom prst="rect">
            <a:avLst/>
          </a:prstGeom>
          <a:noFill/>
        </p:spPr>
        <p:txBody>
          <a:bodyPr wrap="square">
            <a:spAutoFit/>
          </a:bodyPr>
          <a:lstStyle/>
          <a:p>
            <a:pPr>
              <a:spcAft>
                <a:spcPts val="600"/>
              </a:spcAft>
            </a:pPr>
            <a:r>
              <a:rPr lang="en-US" sz="3200" i="1">
                <a:solidFill>
                  <a:schemeClr val="bg1"/>
                </a:solidFill>
              </a:rPr>
              <a:t>Mathematical Operators
 Let's take a look at the basic mathematical operators of Python, which we will use to perform calculations:</a:t>
            </a:r>
            <a:endParaRPr lang="es-MX" sz="3200" dirty="0">
              <a:solidFill>
                <a:schemeClr val="bg1"/>
              </a:solidFill>
            </a:endParaRPr>
          </a:p>
        </p:txBody>
      </p:sp>
    </p:spTree>
    <p:extLst>
      <p:ext uri="{BB962C8B-B14F-4D97-AF65-F5344CB8AC3E}">
        <p14:creationId xmlns:p14="http://schemas.microsoft.com/office/powerpoint/2010/main" val="42566194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riángulo rectángulo 9">
            <a:extLst>
              <a:ext uri="{FF2B5EF4-FFF2-40B4-BE49-F238E27FC236}">
                <a16:creationId xmlns:a16="http://schemas.microsoft.com/office/drawing/2014/main" id="{B7DB7E95-2B44-58B5-8C72-A704D3704F9E}"/>
              </a:ext>
            </a:extLst>
          </p:cNvPr>
          <p:cNvSpPr/>
          <p:nvPr/>
        </p:nvSpPr>
        <p:spPr>
          <a:xfrm>
            <a:off x="338854" y="20688"/>
            <a:ext cx="5554043" cy="3706762"/>
          </a:xfrm>
          <a:prstGeom prst="rtTriangl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s-MX"/>
          </a:p>
        </p:txBody>
      </p:sp>
      <p:sp>
        <p:nvSpPr>
          <p:cNvPr id="2" name="Título 1">
            <a:extLst>
              <a:ext uri="{FF2B5EF4-FFF2-40B4-BE49-F238E27FC236}">
                <a16:creationId xmlns:a16="http://schemas.microsoft.com/office/drawing/2014/main" id="{49DDC835-0F3B-E972-90DF-8A55B70CCADE}"/>
              </a:ext>
            </a:extLst>
          </p:cNvPr>
          <p:cNvSpPr>
            <a:spLocks noGrp="1"/>
          </p:cNvSpPr>
          <p:nvPr>
            <p:ph type="title"/>
          </p:nvPr>
        </p:nvSpPr>
        <p:spPr>
          <a:xfrm>
            <a:off x="323202" y="2724929"/>
            <a:ext cx="5261521" cy="1325563"/>
          </a:xfrm>
        </p:spPr>
        <p:txBody>
          <a:bodyPr/>
          <a:lstStyle/>
          <a:p>
            <a:r>
              <a:rPr lang="es-MX"/>
              <a:t>Operator Exercises</a:t>
            </a:r>
            <a:endParaRPr lang="es-MX" dirty="0"/>
          </a:p>
        </p:txBody>
      </p:sp>
      <p:sp>
        <p:nvSpPr>
          <p:cNvPr id="4" name="Marcador de pie de página 3">
            <a:extLst>
              <a:ext uri="{FF2B5EF4-FFF2-40B4-BE49-F238E27FC236}">
                <a16:creationId xmlns:a16="http://schemas.microsoft.com/office/drawing/2014/main" id="{0661CA79-4F90-F5B7-38DC-412EDBBCCAE0}"/>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2B6C582E-4E13-B884-D0A6-05C914E9BC47}"/>
              </a:ext>
            </a:extLst>
          </p:cNvPr>
          <p:cNvSpPr>
            <a:spLocks noGrp="1"/>
          </p:cNvSpPr>
          <p:nvPr>
            <p:ph type="sldNum" sz="quarter" idx="12"/>
          </p:nvPr>
        </p:nvSpPr>
        <p:spPr/>
        <p:txBody>
          <a:bodyPr/>
          <a:lstStyle/>
          <a:p>
            <a:fld id="{4EA4A3B0-B5DF-4E2B-B48F-E4B7B7872040}" type="slidenum">
              <a:rPr lang="es-MX" smtClean="0"/>
              <a:t>23</a:t>
            </a:fld>
            <a:endParaRPr lang="es-MX"/>
          </a:p>
        </p:txBody>
      </p:sp>
      <p:sp>
        <p:nvSpPr>
          <p:cNvPr id="3" name="Marcador de contenido 2">
            <a:extLst>
              <a:ext uri="{FF2B5EF4-FFF2-40B4-BE49-F238E27FC236}">
                <a16:creationId xmlns:a16="http://schemas.microsoft.com/office/drawing/2014/main" id="{D759F8B6-0FE7-F1F7-4B3B-2E2459FB2FF0}"/>
              </a:ext>
            </a:extLst>
          </p:cNvPr>
          <p:cNvSpPr>
            <a:spLocks noGrp="1"/>
          </p:cNvSpPr>
          <p:nvPr>
            <p:ph idx="4294967295"/>
          </p:nvPr>
        </p:nvSpPr>
        <p:spPr>
          <a:xfrm>
            <a:off x="5846373" y="717818"/>
            <a:ext cx="5675312" cy="2049462"/>
          </a:xfrm>
        </p:spPr>
        <p:txBody>
          <a:bodyPr>
            <a:normAutofit/>
          </a:bodyPr>
          <a:lstStyle/>
          <a:p>
            <a:pPr marL="0" indent="0">
              <a:buNone/>
            </a:pPr>
            <a:r>
              <a:rPr lang="en-US" sz="2000">
                <a:solidFill>
                  <a:schemeClr val="accent5">
                    <a:lumMod val="20000"/>
                    <a:lumOff val="80000"/>
                  </a:schemeClr>
                </a:solidFill>
                <a:latin typeface="udemy sans"/>
              </a:rPr>
              <a:t>It shows on the screen the quotient (division to the floor) of the following two numbers: 874 divided by 27.
You should display only the numeric value that results from this operation.</a:t>
            </a:r>
            <a:endParaRPr lang="es-MX" sz="2000" dirty="0">
              <a:solidFill>
                <a:schemeClr val="accent5">
                  <a:lumMod val="20000"/>
                  <a:lumOff val="80000"/>
                </a:schemeClr>
              </a:solidFill>
            </a:endParaRPr>
          </a:p>
        </p:txBody>
      </p:sp>
      <p:sp>
        <p:nvSpPr>
          <p:cNvPr id="7" name="CuadroTexto 6">
            <a:extLst>
              <a:ext uri="{FF2B5EF4-FFF2-40B4-BE49-F238E27FC236}">
                <a16:creationId xmlns:a16="http://schemas.microsoft.com/office/drawing/2014/main" id="{8C6273E0-A7D9-EBC4-FE85-A81728FF8207}"/>
              </a:ext>
            </a:extLst>
          </p:cNvPr>
          <p:cNvSpPr txBox="1"/>
          <p:nvPr/>
        </p:nvSpPr>
        <p:spPr>
          <a:xfrm>
            <a:off x="5892897" y="2767280"/>
            <a:ext cx="5582264" cy="1323439"/>
          </a:xfrm>
          <a:prstGeom prst="rect">
            <a:avLst/>
          </a:prstGeom>
          <a:noFill/>
        </p:spPr>
        <p:txBody>
          <a:bodyPr wrap="square">
            <a:spAutoFit/>
          </a:bodyPr>
          <a:lstStyle/>
          <a:p>
            <a:r>
              <a:rPr lang="en-US" sz="2000">
                <a:solidFill>
                  <a:schemeClr val="accent5">
                    <a:lumMod val="20000"/>
                    <a:lumOff val="80000"/>
                  </a:schemeClr>
                </a:solidFill>
                <a:latin typeface="udemy sans"/>
              </a:rPr>
              <a:t>Displays the module (i.e. the rest) of the division between 456 and 33 on the screen.
You should display only the numeric value that results from this operation.</a:t>
            </a:r>
            <a:endParaRPr lang="es-MX" sz="2000" b="0" i="0" dirty="0">
              <a:solidFill>
                <a:schemeClr val="accent5">
                  <a:lumMod val="20000"/>
                  <a:lumOff val="80000"/>
                </a:schemeClr>
              </a:solidFill>
              <a:effectLst/>
              <a:latin typeface="udemy sans"/>
            </a:endParaRPr>
          </a:p>
        </p:txBody>
      </p:sp>
      <p:sp>
        <p:nvSpPr>
          <p:cNvPr id="9" name="CuadroTexto 8">
            <a:extLst>
              <a:ext uri="{FF2B5EF4-FFF2-40B4-BE49-F238E27FC236}">
                <a16:creationId xmlns:a16="http://schemas.microsoft.com/office/drawing/2014/main" id="{3BC361FD-E8F1-6E17-4017-32CDD44919C8}"/>
              </a:ext>
            </a:extLst>
          </p:cNvPr>
          <p:cNvSpPr txBox="1"/>
          <p:nvPr/>
        </p:nvSpPr>
        <p:spPr>
          <a:xfrm>
            <a:off x="5892897" y="4626419"/>
            <a:ext cx="5582264" cy="1323439"/>
          </a:xfrm>
          <a:prstGeom prst="rect">
            <a:avLst/>
          </a:prstGeom>
          <a:noFill/>
        </p:spPr>
        <p:txBody>
          <a:bodyPr wrap="square">
            <a:spAutoFit/>
          </a:bodyPr>
          <a:lstStyle/>
          <a:p>
            <a:r>
              <a:rPr lang="en-US" sz="2000">
                <a:solidFill>
                  <a:schemeClr val="accent5">
                    <a:lumMod val="20000"/>
                    <a:lumOff val="80000"/>
                  </a:schemeClr>
                </a:solidFill>
                <a:latin typeface="udemy sans"/>
              </a:rPr>
              <a:t>Calculates and displays the square root of 783 on the screen.
You should display only the numeric value that results from this operation.</a:t>
            </a:r>
            <a:endParaRPr lang="es-MX" sz="2000" b="0" i="0" dirty="0">
              <a:solidFill>
                <a:schemeClr val="accent5">
                  <a:lumMod val="20000"/>
                  <a:lumOff val="80000"/>
                </a:schemeClr>
              </a:solidFill>
              <a:effectLst/>
              <a:latin typeface="udemy sans"/>
            </a:endParaRPr>
          </a:p>
        </p:txBody>
      </p:sp>
    </p:spTree>
    <p:extLst>
      <p:ext uri="{BB962C8B-B14F-4D97-AF65-F5344CB8AC3E}">
        <p14:creationId xmlns:p14="http://schemas.microsoft.com/office/powerpoint/2010/main" val="1852212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18" name="Rectangle 11">
            <a:extLst>
              <a:ext uri="{FF2B5EF4-FFF2-40B4-BE49-F238E27FC236}">
                <a16:creationId xmlns:a16="http://schemas.microsoft.com/office/drawing/2014/main" id="{2A6B319F-86FE-4754-878E-06F0804D8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32385" cy="6858000"/>
          </a:xfrm>
          <a:prstGeom prst="rect">
            <a:avLst/>
          </a:prstGeom>
          <a:solidFill>
            <a:schemeClr val="accent5">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9" name="Rectangle 13">
            <a:extLst>
              <a:ext uri="{FF2B5EF4-FFF2-40B4-BE49-F238E27FC236}">
                <a16:creationId xmlns:a16="http://schemas.microsoft.com/office/drawing/2014/main" id="{DCF7D1B5-3477-499F-ACC5-2C8B07F4ED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2385" y="0"/>
            <a:ext cx="3218914"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ítulo 4">
            <a:extLst>
              <a:ext uri="{FF2B5EF4-FFF2-40B4-BE49-F238E27FC236}">
                <a16:creationId xmlns:a16="http://schemas.microsoft.com/office/drawing/2014/main" id="{9CC09C04-A924-B51A-75DC-F8882CB50C34}"/>
              </a:ext>
            </a:extLst>
          </p:cNvPr>
          <p:cNvSpPr>
            <a:spLocks noGrp="1"/>
          </p:cNvSpPr>
          <p:nvPr>
            <p:ph type="title"/>
          </p:nvPr>
        </p:nvSpPr>
        <p:spPr>
          <a:xfrm>
            <a:off x="992206" y="1608667"/>
            <a:ext cx="2823275" cy="4501127"/>
          </a:xfrm>
        </p:spPr>
        <p:txBody>
          <a:bodyPr anchor="t">
            <a:normAutofit/>
          </a:bodyPr>
          <a:lstStyle/>
          <a:p>
            <a:pPr algn="r"/>
            <a:r>
              <a:rPr lang="es-MX" sz="3200">
                <a:solidFill>
                  <a:srgbClr val="FFFFFF"/>
                </a:solidFill>
              </a:rPr>
              <a:t>rounding</a:t>
            </a:r>
            <a:endParaRPr lang="es-MX" sz="3200" dirty="0">
              <a:solidFill>
                <a:srgbClr val="FFFFFF"/>
              </a:solidFill>
            </a:endParaRPr>
          </a:p>
        </p:txBody>
      </p:sp>
      <p:sp>
        <p:nvSpPr>
          <p:cNvPr id="6" name="Marcador de contenido 5">
            <a:extLst>
              <a:ext uri="{FF2B5EF4-FFF2-40B4-BE49-F238E27FC236}">
                <a16:creationId xmlns:a16="http://schemas.microsoft.com/office/drawing/2014/main" id="{E26ECCAC-B5E4-501C-D735-3FA8B4079973}"/>
              </a:ext>
            </a:extLst>
          </p:cNvPr>
          <p:cNvSpPr>
            <a:spLocks noGrp="1"/>
          </p:cNvSpPr>
          <p:nvPr>
            <p:ph sz="half" idx="1"/>
          </p:nvPr>
        </p:nvSpPr>
        <p:spPr>
          <a:xfrm>
            <a:off x="4547698" y="1608667"/>
            <a:ext cx="3421958" cy="4501127"/>
          </a:xfrm>
        </p:spPr>
        <p:txBody>
          <a:bodyPr>
            <a:normAutofit/>
          </a:bodyPr>
          <a:lstStyle/>
          <a:p>
            <a:r>
              <a:rPr lang="en-US" sz="2000"/>
              <a:t>Rounding makes it easier to interpret calculated values by limiting the number of decimal places displayed on the screen. It also allows us to approximate decimal values to the nearest integer.</a:t>
            </a:r>
            <a:endParaRPr lang="es-MX" sz="2000" dirty="0"/>
          </a:p>
        </p:txBody>
      </p:sp>
      <p:sp>
        <p:nvSpPr>
          <p:cNvPr id="7" name="Marcador de contenido 6">
            <a:extLst>
              <a:ext uri="{FF2B5EF4-FFF2-40B4-BE49-F238E27FC236}">
                <a16:creationId xmlns:a16="http://schemas.microsoft.com/office/drawing/2014/main" id="{D0F170AD-7DE8-1A9D-64F4-4A4EB2C2BCC9}"/>
              </a:ext>
            </a:extLst>
          </p:cNvPr>
          <p:cNvSpPr>
            <a:spLocks noGrp="1"/>
          </p:cNvSpPr>
          <p:nvPr>
            <p:ph sz="half" idx="2"/>
          </p:nvPr>
        </p:nvSpPr>
        <p:spPr>
          <a:xfrm>
            <a:off x="8289696" y="1608667"/>
            <a:ext cx="3421957" cy="4501127"/>
          </a:xfrm>
        </p:spPr>
        <p:txBody>
          <a:bodyPr>
            <a:normAutofit/>
          </a:bodyPr>
          <a:lstStyle/>
          <a:p>
            <a:r>
              <a:rPr lang="en-US" sz="2000"/>
              <a:t>round(number,ndigits)
Examples of use 
print(round(100/3)) &gt;&gt; 33</a:t>
            </a:r>
            <a:endParaRPr lang="es-MX" sz="1600" dirty="0"/>
          </a:p>
        </p:txBody>
      </p:sp>
      <p:sp>
        <p:nvSpPr>
          <p:cNvPr id="3" name="Marcador de pie de página 2">
            <a:extLst>
              <a:ext uri="{FF2B5EF4-FFF2-40B4-BE49-F238E27FC236}">
                <a16:creationId xmlns:a16="http://schemas.microsoft.com/office/drawing/2014/main" id="{ED576169-15ED-EBCB-14DE-A64CBD75A531}"/>
              </a:ext>
            </a:extLst>
          </p:cNvPr>
          <p:cNvSpPr>
            <a:spLocks noGrp="1"/>
          </p:cNvSpPr>
          <p:nvPr>
            <p:ph type="ftr" sz="quarter" idx="11"/>
          </p:nvPr>
        </p:nvSpPr>
        <p:spPr>
          <a:xfrm>
            <a:off x="4547698" y="6356350"/>
            <a:ext cx="5687683" cy="365125"/>
          </a:xfrm>
        </p:spPr>
        <p:txBody>
          <a:bodyPr>
            <a:normAutofit/>
          </a:bodyPr>
          <a:lstStyle/>
          <a:p>
            <a:pPr algn="l">
              <a:spcAft>
                <a:spcPts val="600"/>
              </a:spcAft>
            </a:pPr>
            <a:r>
              <a:rPr lang="es-MX" sz="1050"/>
              <a:t>Arabots Robotics</a:t>
            </a:r>
          </a:p>
        </p:txBody>
      </p:sp>
      <p:sp>
        <p:nvSpPr>
          <p:cNvPr id="4" name="Marcador de número de diapositiva 3">
            <a:extLst>
              <a:ext uri="{FF2B5EF4-FFF2-40B4-BE49-F238E27FC236}">
                <a16:creationId xmlns:a16="http://schemas.microsoft.com/office/drawing/2014/main" id="{44757246-E5AE-6DAF-FC0E-4CC0DF51E80D}"/>
              </a:ext>
            </a:extLst>
          </p:cNvPr>
          <p:cNvSpPr>
            <a:spLocks noGrp="1"/>
          </p:cNvSpPr>
          <p:nvPr>
            <p:ph type="sldNum" sz="quarter" idx="12"/>
          </p:nvPr>
        </p:nvSpPr>
        <p:spPr>
          <a:xfrm>
            <a:off x="10353368" y="6356350"/>
            <a:ext cx="1358284" cy="365125"/>
          </a:xfrm>
        </p:spPr>
        <p:txBody>
          <a:bodyPr>
            <a:normAutofit/>
          </a:bodyPr>
          <a:lstStyle/>
          <a:p>
            <a:pPr>
              <a:spcAft>
                <a:spcPts val="600"/>
              </a:spcAft>
            </a:pPr>
            <a:fld id="{4EA4A3B0-B5DF-4E2B-B48F-E4B7B7872040}" type="slidenum">
              <a:rPr lang="es-MX" sz="1050"/>
              <a:pPr>
                <a:spcAft>
                  <a:spcPts val="600"/>
                </a:spcAft>
              </a:pPr>
              <a:t>24</a:t>
            </a:fld>
            <a:endParaRPr lang="es-MX" sz="1050"/>
          </a:p>
        </p:txBody>
      </p:sp>
    </p:spTree>
    <p:extLst>
      <p:ext uri="{BB962C8B-B14F-4D97-AF65-F5344CB8AC3E}">
        <p14:creationId xmlns:p14="http://schemas.microsoft.com/office/powerpoint/2010/main" val="3684988331"/>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784A47-4395-9A7C-9554-AE038F8647C3}"/>
              </a:ext>
            </a:extLst>
          </p:cNvPr>
          <p:cNvSpPr>
            <a:spLocks noGrp="1"/>
          </p:cNvSpPr>
          <p:nvPr>
            <p:ph type="title"/>
          </p:nvPr>
        </p:nvSpPr>
        <p:spPr>
          <a:xfrm>
            <a:off x="838200" y="365125"/>
            <a:ext cx="10515600" cy="1362075"/>
          </a:xfrm>
        </p:spPr>
        <p:txBody>
          <a:bodyPr/>
          <a:lstStyle/>
          <a:p>
            <a:r>
              <a:rPr lang="es-MX">
                <a:solidFill>
                  <a:schemeClr val="accent5">
                    <a:lumMod val="20000"/>
                    <a:lumOff val="80000"/>
                  </a:schemeClr>
                </a:solidFill>
              </a:rPr>
              <a:t>Rounding Exercises</a:t>
            </a:r>
            <a:endParaRPr lang="es-MX" dirty="0">
              <a:solidFill>
                <a:schemeClr val="accent5">
                  <a:lumMod val="20000"/>
                  <a:lumOff val="80000"/>
                </a:schemeClr>
              </a:solidFill>
            </a:endParaRPr>
          </a:p>
        </p:txBody>
      </p:sp>
      <p:sp>
        <p:nvSpPr>
          <p:cNvPr id="3" name="Marcador de contenido 2">
            <a:extLst>
              <a:ext uri="{FF2B5EF4-FFF2-40B4-BE49-F238E27FC236}">
                <a16:creationId xmlns:a16="http://schemas.microsoft.com/office/drawing/2014/main" id="{FA986067-F129-F763-1F6C-53B6D2CBA059}"/>
              </a:ext>
            </a:extLst>
          </p:cNvPr>
          <p:cNvSpPr>
            <a:spLocks noGrp="1"/>
          </p:cNvSpPr>
          <p:nvPr>
            <p:ph sz="half" idx="1"/>
          </p:nvPr>
        </p:nvSpPr>
        <p:spPr>
          <a:xfrm>
            <a:off x="838200" y="1825625"/>
            <a:ext cx="10515598" cy="1979459"/>
          </a:xfrm>
        </p:spPr>
        <p:txBody>
          <a:bodyPr>
            <a:normAutofit/>
          </a:bodyPr>
          <a:lstStyle/>
          <a:p>
            <a:pPr marL="0" indent="0">
              <a:buNone/>
            </a:pPr>
            <a:r>
              <a:rPr lang="en-US">
                <a:solidFill>
                  <a:srgbClr val="1C1D1F"/>
                </a:solidFill>
                <a:latin typeface="udemy sans"/>
              </a:rPr>
              <a:t>It rounds the result of the 10/3 division to a number with 2 decimal places, and displays the rounded value on the screen.</a:t>
            </a:r>
            <a:endParaRPr lang="es-MX" dirty="0"/>
          </a:p>
        </p:txBody>
      </p:sp>
      <p:sp>
        <p:nvSpPr>
          <p:cNvPr id="4" name="Marcador de contenido 3">
            <a:extLst>
              <a:ext uri="{FF2B5EF4-FFF2-40B4-BE49-F238E27FC236}">
                <a16:creationId xmlns:a16="http://schemas.microsoft.com/office/drawing/2014/main" id="{79768A01-14D1-A2C9-E182-F0B29E6836A0}"/>
              </a:ext>
            </a:extLst>
          </p:cNvPr>
          <p:cNvSpPr>
            <a:spLocks noGrp="1"/>
          </p:cNvSpPr>
          <p:nvPr>
            <p:ph sz="half" idx="2"/>
          </p:nvPr>
        </p:nvSpPr>
        <p:spPr>
          <a:xfrm>
            <a:off x="838200" y="5019463"/>
            <a:ext cx="10515600" cy="1325563"/>
          </a:xfrm>
        </p:spPr>
        <p:txBody>
          <a:bodyPr>
            <a:normAutofit/>
          </a:bodyPr>
          <a:lstStyle/>
          <a:p>
            <a:pPr marL="0" indent="0">
              <a:buNone/>
            </a:pPr>
            <a:r>
              <a:rPr lang="en-US">
                <a:solidFill>
                  <a:srgbClr val="1C1D1F"/>
                </a:solidFill>
                <a:latin typeface="udemy sans"/>
              </a:rPr>
              <a:t>Round the number 10.676767 to the nearest integer, and display the result on the screen.</a:t>
            </a:r>
            <a:endParaRPr lang="es-MX" dirty="0"/>
          </a:p>
        </p:txBody>
      </p:sp>
      <p:sp>
        <p:nvSpPr>
          <p:cNvPr id="5" name="Marcador de pie de página 4">
            <a:extLst>
              <a:ext uri="{FF2B5EF4-FFF2-40B4-BE49-F238E27FC236}">
                <a16:creationId xmlns:a16="http://schemas.microsoft.com/office/drawing/2014/main" id="{F4EFC73B-5981-3143-6406-F16DFBBC7BDA}"/>
              </a:ext>
            </a:extLst>
          </p:cNvPr>
          <p:cNvSpPr>
            <a:spLocks noGrp="1"/>
          </p:cNvSpPr>
          <p:nvPr>
            <p:ph type="ftr" sz="quarter" idx="11"/>
          </p:nvPr>
        </p:nvSpPr>
        <p:spPr/>
        <p:txBody>
          <a:bodyPr/>
          <a:lstStyle/>
          <a:p>
            <a:r>
              <a:rPr lang="es-MX"/>
              <a:t>Arabots Robotics</a:t>
            </a:r>
          </a:p>
        </p:txBody>
      </p:sp>
      <p:sp>
        <p:nvSpPr>
          <p:cNvPr id="6" name="Marcador de número de diapositiva 5">
            <a:extLst>
              <a:ext uri="{FF2B5EF4-FFF2-40B4-BE49-F238E27FC236}">
                <a16:creationId xmlns:a16="http://schemas.microsoft.com/office/drawing/2014/main" id="{6CEFB29F-EDD1-5009-12C4-E3D198E5A8F9}"/>
              </a:ext>
            </a:extLst>
          </p:cNvPr>
          <p:cNvSpPr>
            <a:spLocks noGrp="1"/>
          </p:cNvSpPr>
          <p:nvPr>
            <p:ph type="sldNum" sz="quarter" idx="12"/>
          </p:nvPr>
        </p:nvSpPr>
        <p:spPr/>
        <p:txBody>
          <a:bodyPr/>
          <a:lstStyle/>
          <a:p>
            <a:fld id="{4EA4A3B0-B5DF-4E2B-B48F-E4B7B7872040}" type="slidenum">
              <a:rPr lang="es-MX" smtClean="0"/>
              <a:t>25</a:t>
            </a:fld>
            <a:endParaRPr lang="es-MX"/>
          </a:p>
        </p:txBody>
      </p:sp>
      <p:sp>
        <p:nvSpPr>
          <p:cNvPr id="8" name="CuadroTexto 7">
            <a:extLst>
              <a:ext uri="{FF2B5EF4-FFF2-40B4-BE49-F238E27FC236}">
                <a16:creationId xmlns:a16="http://schemas.microsoft.com/office/drawing/2014/main" id="{A0E53A49-0936-7522-0C10-CD068EACC99D}"/>
              </a:ext>
            </a:extLst>
          </p:cNvPr>
          <p:cNvSpPr txBox="1"/>
          <p:nvPr/>
        </p:nvSpPr>
        <p:spPr>
          <a:xfrm>
            <a:off x="838199" y="3661305"/>
            <a:ext cx="10515599" cy="954107"/>
          </a:xfrm>
          <a:prstGeom prst="rect">
            <a:avLst/>
          </a:prstGeom>
          <a:noFill/>
        </p:spPr>
        <p:txBody>
          <a:bodyPr wrap="square">
            <a:spAutoFit/>
          </a:bodyPr>
          <a:lstStyle/>
          <a:p>
            <a:r>
              <a:rPr lang="en-US" sz="2800">
                <a:solidFill>
                  <a:srgbClr val="1C1D1F"/>
                </a:solidFill>
                <a:latin typeface="udemy sans"/>
              </a:rPr>
              <a:t>It calculates the square root of 5, and displays the result rounded with 4 decimal places.</a:t>
            </a:r>
            <a:endParaRPr lang="es-MX" sz="2800" dirty="0"/>
          </a:p>
        </p:txBody>
      </p:sp>
    </p:spTree>
    <p:extLst>
      <p:ext uri="{BB962C8B-B14F-4D97-AF65-F5344CB8AC3E}">
        <p14:creationId xmlns:p14="http://schemas.microsoft.com/office/powerpoint/2010/main" val="23105296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0BBF9F-640B-DF26-10ED-98337594EC7C}"/>
              </a:ext>
            </a:extLst>
          </p:cNvPr>
          <p:cNvSpPr>
            <a:spLocks noGrp="1"/>
          </p:cNvSpPr>
          <p:nvPr>
            <p:ph type="title"/>
          </p:nvPr>
        </p:nvSpPr>
        <p:spPr>
          <a:xfrm>
            <a:off x="5186680" y="2346325"/>
            <a:ext cx="1671320" cy="1325563"/>
          </a:xfrm>
        </p:spPr>
        <p:txBody>
          <a:bodyPr/>
          <a:lstStyle/>
          <a:p>
            <a:r>
              <a:rPr lang="es-MX" dirty="0"/>
              <a:t>Quiz 2</a:t>
            </a:r>
          </a:p>
        </p:txBody>
      </p:sp>
      <p:sp>
        <p:nvSpPr>
          <p:cNvPr id="3" name="Marcador de pie de página 2">
            <a:extLst>
              <a:ext uri="{FF2B5EF4-FFF2-40B4-BE49-F238E27FC236}">
                <a16:creationId xmlns:a16="http://schemas.microsoft.com/office/drawing/2014/main" id="{28D64CA7-BE4F-0817-D163-35853347A377}"/>
              </a:ext>
            </a:extLst>
          </p:cNvPr>
          <p:cNvSpPr>
            <a:spLocks noGrp="1"/>
          </p:cNvSpPr>
          <p:nvPr>
            <p:ph type="ftr" sz="quarter" idx="11"/>
          </p:nvPr>
        </p:nvSpPr>
        <p:spPr/>
        <p:txBody>
          <a:bodyPr/>
          <a:lstStyle/>
          <a:p>
            <a:r>
              <a:rPr lang="es-MX"/>
              <a:t>Arabots Robotics</a:t>
            </a:r>
          </a:p>
        </p:txBody>
      </p:sp>
      <p:sp>
        <p:nvSpPr>
          <p:cNvPr id="4" name="Marcador de número de diapositiva 3">
            <a:extLst>
              <a:ext uri="{FF2B5EF4-FFF2-40B4-BE49-F238E27FC236}">
                <a16:creationId xmlns:a16="http://schemas.microsoft.com/office/drawing/2014/main" id="{6CB43CDB-A5A7-CBAE-F22F-F22DB387C524}"/>
              </a:ext>
            </a:extLst>
          </p:cNvPr>
          <p:cNvSpPr>
            <a:spLocks noGrp="1"/>
          </p:cNvSpPr>
          <p:nvPr>
            <p:ph type="sldNum" sz="quarter" idx="12"/>
          </p:nvPr>
        </p:nvSpPr>
        <p:spPr/>
        <p:txBody>
          <a:bodyPr/>
          <a:lstStyle/>
          <a:p>
            <a:fld id="{4EA4A3B0-B5DF-4E2B-B48F-E4B7B7872040}" type="slidenum">
              <a:rPr lang="es-MX" smtClean="0"/>
              <a:t>26</a:t>
            </a:fld>
            <a:endParaRPr lang="es-MX"/>
          </a:p>
        </p:txBody>
      </p:sp>
    </p:spTree>
    <p:extLst>
      <p:ext uri="{BB962C8B-B14F-4D97-AF65-F5344CB8AC3E}">
        <p14:creationId xmlns:p14="http://schemas.microsoft.com/office/powerpoint/2010/main" val="2900551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5C8E7CB6-80AF-D6CE-59A2-BF7FE7A25AF9}"/>
              </a:ext>
            </a:extLst>
          </p:cNvPr>
          <p:cNvSpPr>
            <a:spLocks noGrp="1"/>
          </p:cNvSpPr>
          <p:nvPr>
            <p:ph type="title"/>
          </p:nvPr>
        </p:nvSpPr>
        <p:spPr>
          <a:xfrm>
            <a:off x="2026693" y="1030406"/>
            <a:ext cx="8147713" cy="3081242"/>
          </a:xfrm>
        </p:spPr>
        <p:txBody>
          <a:bodyPr vert="horz" lIns="91440" tIns="45720" rIns="91440" bIns="45720" rtlCol="0" anchor="ctr">
            <a:normAutofit/>
          </a:bodyPr>
          <a:lstStyle/>
          <a:p>
            <a:pPr algn="ctr"/>
            <a:r>
              <a:rPr lang="en-US" sz="4800" dirty="0">
                <a:solidFill>
                  <a:srgbClr val="FFFFFF"/>
                </a:solidFill>
              </a:rPr>
              <a:t>Sets may contain duplicate values?</a:t>
            </a:r>
            <a:endParaRPr lang="en-US" sz="4800" kern="1200" dirty="0">
              <a:solidFill>
                <a:srgbClr val="FFFFFF"/>
              </a:solidFill>
              <a:latin typeface="+mj-lt"/>
              <a:ea typeface="+mj-ea"/>
              <a:cs typeface="+mj-cs"/>
            </a:endParaRPr>
          </a:p>
        </p:txBody>
      </p:sp>
      <p:sp>
        <p:nvSpPr>
          <p:cNvPr id="3" name="Marcador de pie de página 2">
            <a:extLst>
              <a:ext uri="{FF2B5EF4-FFF2-40B4-BE49-F238E27FC236}">
                <a16:creationId xmlns:a16="http://schemas.microsoft.com/office/drawing/2014/main" id="{402BC520-F684-5C20-5CAA-E86099F24B29}"/>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4" name="Marcador de número de diapositiva 3">
            <a:extLst>
              <a:ext uri="{FF2B5EF4-FFF2-40B4-BE49-F238E27FC236}">
                <a16:creationId xmlns:a16="http://schemas.microsoft.com/office/drawing/2014/main" id="{1BDBFBBC-C0F1-55B2-581D-5853A334F56F}"/>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rgbClr val="FFFFFF"/>
                </a:solidFill>
              </a:rPr>
              <a:pPr>
                <a:spcAft>
                  <a:spcPts val="600"/>
                </a:spcAft>
              </a:pPr>
              <a:t>27</a:t>
            </a:fld>
            <a:endParaRPr lang="en-US" sz="1100">
              <a:solidFill>
                <a:srgbClr val="FFFFFF"/>
              </a:solidFill>
            </a:endParaRPr>
          </a:p>
        </p:txBody>
      </p:sp>
    </p:spTree>
    <p:extLst>
      <p:ext uri="{BB962C8B-B14F-4D97-AF65-F5344CB8AC3E}">
        <p14:creationId xmlns:p14="http://schemas.microsoft.com/office/powerpoint/2010/main" val="303313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A72E03A1-C47D-8F93-3973-D5FB0B2224E6}"/>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en-US" sz="2600" dirty="0">
                <a:solidFill>
                  <a:srgbClr val="FFFFFF"/>
                </a:solidFill>
              </a:rPr>
              <a:t>Suppose we run the following code:</a:t>
            </a:r>
            <a:br>
              <a:rPr lang="en-US" sz="2600" dirty="0">
                <a:solidFill>
                  <a:srgbClr val="FFFFFF"/>
                </a:solidFill>
              </a:rPr>
            </a:br>
            <a:br>
              <a:rPr lang="en-US" sz="2600" dirty="0">
                <a:solidFill>
                  <a:srgbClr val="FFFFFF"/>
                </a:solidFill>
              </a:rPr>
            </a:br>
            <a:r>
              <a:rPr lang="en-US" sz="2600" dirty="0">
                <a:solidFill>
                  <a:srgbClr val="FFFFFF"/>
                </a:solidFill>
              </a:rPr>
              <a:t>num1 = 10</a:t>
            </a:r>
            <a:br>
              <a:rPr lang="en-US" sz="2600" dirty="0">
                <a:solidFill>
                  <a:srgbClr val="FFFFFF"/>
                </a:solidFill>
              </a:rPr>
            </a:br>
            <a:r>
              <a:rPr lang="en-US" sz="2600" dirty="0">
                <a:solidFill>
                  <a:srgbClr val="FFFFFF"/>
                </a:solidFill>
              </a:rPr>
              <a:t>num2 = 25</a:t>
            </a:r>
            <a:br>
              <a:rPr lang="en-US" sz="2600" dirty="0">
                <a:solidFill>
                  <a:srgbClr val="FFFFFF"/>
                </a:solidFill>
              </a:rPr>
            </a:br>
            <a:r>
              <a:rPr lang="en-US" sz="2600" dirty="0">
                <a:solidFill>
                  <a:srgbClr val="FFFFFF"/>
                </a:solidFill>
              </a:rPr>
              <a:t>num1 = num2</a:t>
            </a:r>
            <a:br>
              <a:rPr lang="en-US" sz="2600" dirty="0">
                <a:solidFill>
                  <a:srgbClr val="FFFFFF"/>
                </a:solidFill>
              </a:rPr>
            </a:br>
            <a:r>
              <a:rPr lang="en-US" sz="2600" dirty="0">
                <a:solidFill>
                  <a:srgbClr val="FFFFFF"/>
                </a:solidFill>
              </a:rPr>
              <a:t>What will be the value of num1 and num2 upon completion?</a:t>
            </a:r>
            <a:endParaRPr lang="en-US" sz="2600" kern="1200" dirty="0">
              <a:solidFill>
                <a:srgbClr val="FFFFFF"/>
              </a:solidFill>
              <a:latin typeface="+mj-lt"/>
              <a:ea typeface="+mj-ea"/>
              <a:cs typeface="+mj-cs"/>
            </a:endParaRPr>
          </a:p>
        </p:txBody>
      </p:sp>
      <p:sp>
        <p:nvSpPr>
          <p:cNvPr id="19" name="Rectangle 18">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pie de página 2">
            <a:extLst>
              <a:ext uri="{FF2B5EF4-FFF2-40B4-BE49-F238E27FC236}">
                <a16:creationId xmlns:a16="http://schemas.microsoft.com/office/drawing/2014/main" id="{8CF51ADF-FAB3-ADCF-7F72-78844EA30104}"/>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21" name="Rectangle 20">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a:extLst>
              <a:ext uri="{FF2B5EF4-FFF2-40B4-BE49-F238E27FC236}">
                <a16:creationId xmlns:a16="http://schemas.microsoft.com/office/drawing/2014/main" id="{A42640D9-CFF6-0782-68D1-5EE10DE14C5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rgbClr val="FFFFFF"/>
                </a:solidFill>
              </a:rPr>
              <a:pPr>
                <a:spcAft>
                  <a:spcPts val="600"/>
                </a:spcAft>
              </a:pPr>
              <a:t>28</a:t>
            </a:fld>
            <a:endParaRPr lang="en-US" sz="1100">
              <a:solidFill>
                <a:srgbClr val="FFFFFF"/>
              </a:solidFill>
            </a:endParaRPr>
          </a:p>
        </p:txBody>
      </p:sp>
    </p:spTree>
    <p:extLst>
      <p:ext uri="{BB962C8B-B14F-4D97-AF65-F5344CB8AC3E}">
        <p14:creationId xmlns:p14="http://schemas.microsoft.com/office/powerpoint/2010/main" val="5666950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9C8D46-54D8-4DF1-99A2-E651C7B132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12191999" cy="6858000"/>
          </a:xfrm>
          <a:prstGeom prst="rect">
            <a:avLst/>
          </a:prstGeom>
          <a:gradFill>
            <a:gsLst>
              <a:gs pos="0">
                <a:schemeClr val="accent1">
                  <a:lumMod val="50000"/>
                </a:schemeClr>
              </a:gs>
              <a:gs pos="100000">
                <a:srgbClr val="000000"/>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E12BF4D-F47A-41C1-85FC-652E412D3B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8591">
            <a:off x="7897613" y="684022"/>
            <a:ext cx="5330585" cy="5218721"/>
          </a:xfrm>
          <a:custGeom>
            <a:avLst/>
            <a:gdLst>
              <a:gd name="connsiteX0" fmla="*/ 4721855 w 5330585"/>
              <a:gd name="connsiteY0" fmla="*/ 4361426 h 5218721"/>
              <a:gd name="connsiteX1" fmla="*/ 3457542 w 5330585"/>
              <a:gd name="connsiteY1" fmla="*/ 5211667 h 5218721"/>
              <a:gd name="connsiteX2" fmla="*/ 3430109 w 5330585"/>
              <a:gd name="connsiteY2" fmla="*/ 5218721 h 5218721"/>
              <a:gd name="connsiteX3" fmla="*/ 0 w 5330585"/>
              <a:gd name="connsiteY3" fmla="*/ 2647363 h 5218721"/>
              <a:gd name="connsiteX4" fmla="*/ 12834 w 5330585"/>
              <a:gd name="connsiteY4" fmla="*/ 2393199 h 5218721"/>
              <a:gd name="connsiteX5" fmla="*/ 2664828 w 5330585"/>
              <a:gd name="connsiteY5" fmla="*/ 0 h 5218721"/>
              <a:gd name="connsiteX6" fmla="*/ 5330585 w 5330585"/>
              <a:gd name="connsiteY6" fmla="*/ 2665757 h 5218721"/>
              <a:gd name="connsiteX7" fmla="*/ 4721855 w 5330585"/>
              <a:gd name="connsiteY7" fmla="*/ 4361426 h 521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0585" h="5218721">
                <a:moveTo>
                  <a:pt x="4721855" y="4361426"/>
                </a:moveTo>
                <a:cubicBezTo>
                  <a:pt x="4395896" y="4756397"/>
                  <a:pt x="3958379" y="5055891"/>
                  <a:pt x="3457542" y="5211667"/>
                </a:cubicBezTo>
                <a:lnTo>
                  <a:pt x="3430109" y="5218721"/>
                </a:lnTo>
                <a:lnTo>
                  <a:pt x="0" y="2647363"/>
                </a:lnTo>
                <a:lnTo>
                  <a:pt x="12834" y="2393199"/>
                </a:lnTo>
                <a:cubicBezTo>
                  <a:pt x="149347" y="1048975"/>
                  <a:pt x="1284587" y="0"/>
                  <a:pt x="2664828" y="0"/>
                </a:cubicBezTo>
                <a:cubicBezTo>
                  <a:pt x="4137085" y="0"/>
                  <a:pt x="5330585" y="1193500"/>
                  <a:pt x="5330585" y="2665757"/>
                </a:cubicBezTo>
                <a:cubicBezTo>
                  <a:pt x="5330585" y="3309870"/>
                  <a:pt x="5102142" y="3900626"/>
                  <a:pt x="4721855" y="4361426"/>
                </a:cubicBezTo>
                <a:close/>
              </a:path>
            </a:pathLst>
          </a:custGeom>
          <a:gradFill>
            <a:gsLst>
              <a:gs pos="16000">
                <a:srgbClr val="000000">
                  <a:alpha val="41000"/>
                </a:srgbClr>
              </a:gs>
              <a:gs pos="85000">
                <a:schemeClr val="accent1">
                  <a:alpha val="25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14">
            <a:extLst>
              <a:ext uri="{FF2B5EF4-FFF2-40B4-BE49-F238E27FC236}">
                <a16:creationId xmlns:a16="http://schemas.microsoft.com/office/drawing/2014/main" id="{AAF055B3-1F95-4ABA-BFE4-A58320A82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65981" cy="4480890"/>
          </a:xfrm>
          <a:prstGeom prst="rect">
            <a:avLst/>
          </a:prstGeom>
          <a:gradFill>
            <a:gsLst>
              <a:gs pos="0">
                <a:schemeClr val="accent1">
                  <a:lumMod val="75000"/>
                  <a:alpha val="50000"/>
                </a:schemeClr>
              </a:gs>
              <a:gs pos="99000">
                <a:srgbClr val="000000">
                  <a:alpha val="34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5FBF53F-BBBA-4974-AD72-0E8CD294E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2622" y="-2"/>
            <a:ext cx="12179371" cy="6400796"/>
          </a:xfrm>
          <a:prstGeom prst="rect">
            <a:avLst/>
          </a:prstGeom>
          <a:gradFill>
            <a:gsLst>
              <a:gs pos="45000">
                <a:schemeClr val="accent1">
                  <a:lumMod val="75000"/>
                  <a:alpha val="0"/>
                </a:schemeClr>
              </a:gs>
              <a:gs pos="99000">
                <a:srgbClr val="000000">
                  <a:alpha val="68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2160105-159B-6B93-74B6-56DB363128CC}"/>
              </a:ext>
            </a:extLst>
          </p:cNvPr>
          <p:cNvSpPr>
            <a:spLocks noGrp="1"/>
          </p:cNvSpPr>
          <p:nvPr>
            <p:ph type="title"/>
          </p:nvPr>
        </p:nvSpPr>
        <p:spPr>
          <a:xfrm>
            <a:off x="4221803" y="1201002"/>
            <a:ext cx="7208197" cy="2779619"/>
          </a:xfrm>
        </p:spPr>
        <p:txBody>
          <a:bodyPr vert="horz" lIns="91440" tIns="45720" rIns="91440" bIns="45720" rtlCol="0" anchor="b">
            <a:normAutofit/>
          </a:bodyPr>
          <a:lstStyle/>
          <a:p>
            <a:r>
              <a:rPr lang="en-US" sz="4800">
                <a:solidFill>
                  <a:srgbClr val="FFFFFF"/>
                </a:solidFill>
              </a:rPr>
              <a:t>What kind is the result of the following sum?</a:t>
            </a:r>
            <a:br>
              <a:rPr lang="en-US" sz="4800">
                <a:solidFill>
                  <a:srgbClr val="FFFFFF"/>
                </a:solidFill>
              </a:rPr>
            </a:br>
            <a:br>
              <a:rPr lang="en-US" sz="4800">
                <a:solidFill>
                  <a:srgbClr val="FFFFFF"/>
                </a:solidFill>
              </a:rPr>
            </a:br>
            <a:r>
              <a:rPr lang="en-US" sz="4800">
                <a:solidFill>
                  <a:srgbClr val="FFFFFF"/>
                </a:solidFill>
              </a:rPr>
              <a:t>print(type(7.5 + 2.5))</a:t>
            </a:r>
            <a:endParaRPr lang="en-US" sz="4800" kern="1200">
              <a:solidFill>
                <a:srgbClr val="FFFFFF"/>
              </a:solidFill>
              <a:latin typeface="+mj-lt"/>
              <a:ea typeface="+mj-ea"/>
              <a:cs typeface="+mj-cs"/>
            </a:endParaRPr>
          </a:p>
        </p:txBody>
      </p:sp>
      <p:sp>
        <p:nvSpPr>
          <p:cNvPr id="3" name="Marcador de pie de página 2">
            <a:extLst>
              <a:ext uri="{FF2B5EF4-FFF2-40B4-BE49-F238E27FC236}">
                <a16:creationId xmlns:a16="http://schemas.microsoft.com/office/drawing/2014/main" id="{EA1BAF27-181B-4F0A-C10D-BB4B3F62CB65}"/>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19" name="Rectangle 18">
            <a:extLst>
              <a:ext uri="{FF2B5EF4-FFF2-40B4-BE49-F238E27FC236}">
                <a16:creationId xmlns:a16="http://schemas.microsoft.com/office/drawing/2014/main" id="{5A2875D7-3769-4291-959E-9FAD764A7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2461" y="0"/>
            <a:ext cx="3214360" cy="6858000"/>
          </a:xfrm>
          <a:prstGeom prst="rect">
            <a:avLst/>
          </a:prstGeom>
          <a:gradFill>
            <a:gsLst>
              <a:gs pos="0">
                <a:srgbClr val="000000">
                  <a:alpha val="41000"/>
                </a:srgbClr>
              </a:gs>
              <a:gs pos="86000">
                <a:schemeClr val="accent1">
                  <a:alpha val="3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Marcador de número de diapositiva 3">
            <a:extLst>
              <a:ext uri="{FF2B5EF4-FFF2-40B4-BE49-F238E27FC236}">
                <a16:creationId xmlns:a16="http://schemas.microsoft.com/office/drawing/2014/main" id="{FF23DA31-D8A1-5DEF-8425-4FAAB46C262A}"/>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rgbClr val="FFFFFF"/>
                </a:solidFill>
              </a:rPr>
              <a:pPr>
                <a:spcAft>
                  <a:spcPts val="600"/>
                </a:spcAft>
              </a:pPr>
              <a:t>29</a:t>
            </a:fld>
            <a:endParaRPr lang="en-US" sz="1100">
              <a:solidFill>
                <a:srgbClr val="FFFFFF"/>
              </a:solidFill>
            </a:endParaRPr>
          </a:p>
        </p:txBody>
      </p:sp>
    </p:spTree>
    <p:extLst>
      <p:ext uri="{BB962C8B-B14F-4D97-AF65-F5344CB8AC3E}">
        <p14:creationId xmlns:p14="http://schemas.microsoft.com/office/powerpoint/2010/main" val="23559255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915BF5F1-D451-E89D-A8B9-A735343D7C4C}"/>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en-US" sz="2300">
                <a:solidFill>
                  <a:srgbClr val="FFFFFF"/>
                </a:solidFill>
              </a:rPr>
              <a:t>Given a variable called num1, with a value of 13.87:</a:t>
            </a:r>
            <a:br>
              <a:rPr lang="en-US" sz="2300">
                <a:solidFill>
                  <a:srgbClr val="FFFFFF"/>
                </a:solidFill>
              </a:rPr>
            </a:br>
            <a:br>
              <a:rPr lang="en-US" sz="2300">
                <a:solidFill>
                  <a:srgbClr val="FFFFFF"/>
                </a:solidFill>
              </a:rPr>
            </a:br>
            <a:r>
              <a:rPr lang="en-US" sz="2300">
                <a:solidFill>
                  <a:srgbClr val="FFFFFF"/>
                </a:solidFill>
              </a:rPr>
              <a:t>num1 = 13.87</a:t>
            </a:r>
            <a:br>
              <a:rPr lang="en-US" sz="2300">
                <a:solidFill>
                  <a:srgbClr val="FFFFFF"/>
                </a:solidFill>
              </a:rPr>
            </a:br>
            <a:br>
              <a:rPr lang="en-US" sz="2300">
                <a:solidFill>
                  <a:srgbClr val="FFFFFF"/>
                </a:solidFill>
              </a:rPr>
            </a:br>
            <a:r>
              <a:rPr lang="en-US" sz="2300">
                <a:solidFill>
                  <a:srgbClr val="FFFFFF"/>
                </a:solidFill>
              </a:rPr>
              <a:t>The following lines in Python would yield the same result:</a:t>
            </a:r>
            <a:br>
              <a:rPr lang="en-US" sz="2300">
                <a:solidFill>
                  <a:srgbClr val="FFFFFF"/>
                </a:solidFill>
              </a:rPr>
            </a:br>
            <a:br>
              <a:rPr lang="en-US" sz="2300">
                <a:solidFill>
                  <a:srgbClr val="FFFFFF"/>
                </a:solidFill>
              </a:rPr>
            </a:br>
            <a:r>
              <a:rPr lang="en-US" sz="2300">
                <a:solidFill>
                  <a:srgbClr val="FFFFFF"/>
                </a:solidFill>
              </a:rPr>
              <a:t>print(round(num1))</a:t>
            </a:r>
            <a:br>
              <a:rPr lang="en-US" sz="2300">
                <a:solidFill>
                  <a:srgbClr val="FFFFFF"/>
                </a:solidFill>
              </a:rPr>
            </a:br>
            <a:r>
              <a:rPr lang="en-US" sz="2300">
                <a:solidFill>
                  <a:srgbClr val="FFFFFF"/>
                </a:solidFill>
              </a:rPr>
              <a:t>print(int(num1))</a:t>
            </a:r>
            <a:endParaRPr lang="en-US" sz="2300" kern="1200">
              <a:solidFill>
                <a:srgbClr val="FFFFFF"/>
              </a:solidFill>
              <a:latin typeface="+mj-lt"/>
              <a:ea typeface="+mj-ea"/>
              <a:cs typeface="+mj-cs"/>
            </a:endParaRPr>
          </a:p>
        </p:txBody>
      </p:sp>
      <p:sp>
        <p:nvSpPr>
          <p:cNvPr id="19" name="Rectangle 18">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pie de página 2">
            <a:extLst>
              <a:ext uri="{FF2B5EF4-FFF2-40B4-BE49-F238E27FC236}">
                <a16:creationId xmlns:a16="http://schemas.microsoft.com/office/drawing/2014/main" id="{71E8960D-C49B-28F3-FD74-A5A70F51FD3A}"/>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21" name="Rectangle 20">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a:extLst>
              <a:ext uri="{FF2B5EF4-FFF2-40B4-BE49-F238E27FC236}">
                <a16:creationId xmlns:a16="http://schemas.microsoft.com/office/drawing/2014/main" id="{0A99931E-542D-6753-5C05-B6867F116EE6}"/>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rgbClr val="FFFFFF"/>
                </a:solidFill>
              </a:rPr>
              <a:pPr>
                <a:spcAft>
                  <a:spcPts val="600"/>
                </a:spcAft>
              </a:pPr>
              <a:t>30</a:t>
            </a:fld>
            <a:endParaRPr lang="en-US" sz="1100">
              <a:solidFill>
                <a:srgbClr val="FFFFFF"/>
              </a:solidFill>
            </a:endParaRPr>
          </a:p>
        </p:txBody>
      </p:sp>
    </p:spTree>
    <p:extLst>
      <p:ext uri="{BB962C8B-B14F-4D97-AF65-F5344CB8AC3E}">
        <p14:creationId xmlns:p14="http://schemas.microsoft.com/office/powerpoint/2010/main" val="5851516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142AB659-5F79-841C-33C6-0A84235B614D}"/>
              </a:ext>
            </a:extLst>
          </p:cNvPr>
          <p:cNvSpPr>
            <a:spLocks noGrp="1"/>
          </p:cNvSpPr>
          <p:nvPr>
            <p:ph type="title"/>
          </p:nvPr>
        </p:nvSpPr>
        <p:spPr>
          <a:xfrm>
            <a:off x="2026693" y="1030406"/>
            <a:ext cx="8147713" cy="3081242"/>
          </a:xfrm>
        </p:spPr>
        <p:txBody>
          <a:bodyPr vert="horz" lIns="91440" tIns="45720" rIns="91440" bIns="45720" rtlCol="0" anchor="ctr">
            <a:normAutofit/>
          </a:bodyPr>
          <a:lstStyle/>
          <a:p>
            <a:pPr algn="ctr"/>
            <a:r>
              <a:rPr lang="en-US" sz="4800">
                <a:solidFill>
                  <a:srgbClr val="FFFFFF"/>
                </a:solidFill>
              </a:rPr>
              <a:t>What type is the value of variable num1?</a:t>
            </a:r>
            <a:br>
              <a:rPr lang="en-US" sz="4800">
                <a:solidFill>
                  <a:srgbClr val="FFFFFF"/>
                </a:solidFill>
              </a:rPr>
            </a:br>
            <a:br>
              <a:rPr lang="en-US" sz="4800">
                <a:solidFill>
                  <a:srgbClr val="FFFFFF"/>
                </a:solidFill>
              </a:rPr>
            </a:br>
            <a:r>
              <a:rPr lang="en-US" sz="4800">
                <a:solidFill>
                  <a:srgbClr val="FFFFFF"/>
                </a:solidFill>
              </a:rPr>
              <a:t>num1 = round(13/2,0)</a:t>
            </a:r>
            <a:endParaRPr lang="en-US" sz="4800" kern="1200">
              <a:solidFill>
                <a:srgbClr val="FFFFFF"/>
              </a:solidFill>
              <a:latin typeface="+mj-lt"/>
              <a:ea typeface="+mj-ea"/>
              <a:cs typeface="+mj-cs"/>
            </a:endParaRPr>
          </a:p>
        </p:txBody>
      </p:sp>
      <p:sp>
        <p:nvSpPr>
          <p:cNvPr id="3" name="Marcador de pie de página 2">
            <a:extLst>
              <a:ext uri="{FF2B5EF4-FFF2-40B4-BE49-F238E27FC236}">
                <a16:creationId xmlns:a16="http://schemas.microsoft.com/office/drawing/2014/main" id="{C4802AE1-06CB-990E-415A-91261BDEE0FE}"/>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4" name="Marcador de número de diapositiva 3">
            <a:extLst>
              <a:ext uri="{FF2B5EF4-FFF2-40B4-BE49-F238E27FC236}">
                <a16:creationId xmlns:a16="http://schemas.microsoft.com/office/drawing/2014/main" id="{4F8D6250-3009-403A-9BD4-9FDC2861ACEE}"/>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rgbClr val="FFFFFF"/>
                </a:solidFill>
              </a:rPr>
              <a:pPr>
                <a:spcAft>
                  <a:spcPts val="600"/>
                </a:spcAft>
              </a:pPr>
              <a:t>31</a:t>
            </a:fld>
            <a:endParaRPr lang="en-US" sz="1100">
              <a:solidFill>
                <a:srgbClr val="FFFFFF"/>
              </a:solidFill>
            </a:endParaRPr>
          </a:p>
        </p:txBody>
      </p:sp>
    </p:spTree>
    <p:extLst>
      <p:ext uri="{BB962C8B-B14F-4D97-AF65-F5344CB8AC3E}">
        <p14:creationId xmlns:p14="http://schemas.microsoft.com/office/powerpoint/2010/main" val="32138918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ítulo 1">
            <a:extLst>
              <a:ext uri="{FF2B5EF4-FFF2-40B4-BE49-F238E27FC236}">
                <a16:creationId xmlns:a16="http://schemas.microsoft.com/office/drawing/2014/main" id="{02BD5DF1-F1C9-8DA4-AB16-535C58A9A0C5}"/>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2600" dirty="0">
                <a:solidFill>
                  <a:srgbClr val="FFFFFF"/>
                </a:solidFill>
              </a:rPr>
              <a:t>Which of the following operators would help me detect whether a value is odd or even?</a:t>
            </a:r>
            <a:br>
              <a:rPr lang="en-US" sz="2600" b="0" i="0" kern="1200" dirty="0">
                <a:solidFill>
                  <a:srgbClr val="FFFFFF"/>
                </a:solidFill>
                <a:effectLst/>
                <a:latin typeface="+mj-lt"/>
                <a:ea typeface="+mj-ea"/>
                <a:cs typeface="+mj-cs"/>
              </a:rPr>
            </a:br>
            <a:br>
              <a:rPr lang="en-US" sz="2600" b="0" i="0" kern="1200" dirty="0">
                <a:solidFill>
                  <a:srgbClr val="FFFFFF"/>
                </a:solidFill>
                <a:effectLst/>
                <a:latin typeface="+mj-lt"/>
                <a:ea typeface="+mj-ea"/>
                <a:cs typeface="+mj-cs"/>
              </a:rPr>
            </a:br>
            <a:r>
              <a:rPr lang="en-US" sz="2600" b="0" i="0" kern="1200" dirty="0">
                <a:solidFill>
                  <a:srgbClr val="FFFFFF"/>
                </a:solidFill>
                <a:effectLst/>
                <a:latin typeface="+mj-lt"/>
                <a:ea typeface="+mj-ea"/>
                <a:cs typeface="+mj-cs"/>
              </a:rPr>
              <a:t>/</a:t>
            </a:r>
            <a:br>
              <a:rPr lang="en-US" sz="2600" b="0" i="0" kern="1200" dirty="0">
                <a:solidFill>
                  <a:srgbClr val="FFFFFF"/>
                </a:solidFill>
                <a:effectLst/>
                <a:latin typeface="+mj-lt"/>
                <a:ea typeface="+mj-ea"/>
                <a:cs typeface="+mj-cs"/>
              </a:rPr>
            </a:br>
            <a:r>
              <a:rPr lang="en-US" sz="2600" b="0" i="0" kern="1200" dirty="0">
                <a:solidFill>
                  <a:srgbClr val="FFFFFF"/>
                </a:solidFill>
                <a:effectLst/>
                <a:latin typeface="+mj-lt"/>
                <a:ea typeface="+mj-ea"/>
                <a:cs typeface="+mj-cs"/>
              </a:rPr>
              <a:t>//</a:t>
            </a:r>
            <a:br>
              <a:rPr lang="en-US" sz="2600" b="0" i="0" kern="1200" dirty="0">
                <a:solidFill>
                  <a:srgbClr val="FFFFFF"/>
                </a:solidFill>
                <a:effectLst/>
                <a:latin typeface="+mj-lt"/>
                <a:ea typeface="+mj-ea"/>
                <a:cs typeface="+mj-cs"/>
              </a:rPr>
            </a:br>
            <a:r>
              <a:rPr lang="en-US" sz="2600" b="0" i="0" kern="1200" dirty="0">
                <a:solidFill>
                  <a:srgbClr val="FFFFFF"/>
                </a:solidFill>
                <a:effectLst/>
                <a:latin typeface="+mj-lt"/>
                <a:ea typeface="+mj-ea"/>
                <a:cs typeface="+mj-cs"/>
              </a:rPr>
              <a:t>%</a:t>
            </a:r>
            <a:br>
              <a:rPr lang="en-US" sz="2600" b="0" i="0" kern="1200" dirty="0">
                <a:solidFill>
                  <a:srgbClr val="FFFFFF"/>
                </a:solidFill>
                <a:effectLst/>
                <a:latin typeface="+mj-lt"/>
                <a:ea typeface="+mj-ea"/>
                <a:cs typeface="+mj-cs"/>
              </a:rPr>
            </a:br>
            <a:r>
              <a:rPr lang="en-US" sz="2600" b="0" i="0" kern="1200" dirty="0">
                <a:solidFill>
                  <a:srgbClr val="FFFFFF"/>
                </a:solidFill>
                <a:effectLst/>
                <a:latin typeface="+mj-lt"/>
                <a:ea typeface="+mj-ea"/>
                <a:cs typeface="+mj-cs"/>
              </a:rPr>
              <a:t>**0.5</a:t>
            </a:r>
            <a:endParaRPr lang="en-US" sz="2600" kern="1200" dirty="0">
              <a:solidFill>
                <a:srgbClr val="FFFFFF"/>
              </a:solidFill>
              <a:latin typeface="+mj-lt"/>
              <a:ea typeface="+mj-ea"/>
              <a:cs typeface="+mj-cs"/>
            </a:endParaRPr>
          </a:p>
        </p:txBody>
      </p:sp>
      <p:sp>
        <p:nvSpPr>
          <p:cNvPr id="3" name="Marcador de pie de página 2">
            <a:extLst>
              <a:ext uri="{FF2B5EF4-FFF2-40B4-BE49-F238E27FC236}">
                <a16:creationId xmlns:a16="http://schemas.microsoft.com/office/drawing/2014/main" id="{482BD88B-6958-884C-E1B1-44B7EFF229F5}"/>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4" name="Marcador de número de diapositiva 3">
            <a:extLst>
              <a:ext uri="{FF2B5EF4-FFF2-40B4-BE49-F238E27FC236}">
                <a16:creationId xmlns:a16="http://schemas.microsoft.com/office/drawing/2014/main" id="{5D3775E3-F654-AB9F-444E-081A424449F9}"/>
              </a:ext>
            </a:extLst>
          </p:cNvPr>
          <p:cNvSpPr>
            <a:spLocks noGrp="1"/>
          </p:cNvSpPr>
          <p:nvPr>
            <p:ph type="sldNum" sz="quarter" idx="12"/>
          </p:nvPr>
        </p:nvSpPr>
        <p:spPr>
          <a:xfrm>
            <a:off x="11704320" y="6446837"/>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32</a:t>
            </a:fld>
            <a:endParaRPr lang="en-US" sz="1100">
              <a:solidFill>
                <a:schemeClr val="tx1">
                  <a:lumMod val="50000"/>
                  <a:lumOff val="50000"/>
                </a:schemeClr>
              </a:solidFill>
            </a:endParaRPr>
          </a:p>
        </p:txBody>
      </p:sp>
    </p:spTree>
    <p:extLst>
      <p:ext uri="{BB962C8B-B14F-4D97-AF65-F5344CB8AC3E}">
        <p14:creationId xmlns:p14="http://schemas.microsoft.com/office/powerpoint/2010/main" val="2368674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Rectangle 2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ABD617C-4D22-2340-654A-60EE95852362}"/>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a:solidFill>
                  <a:srgbClr val="FFFFFF"/>
                </a:solidFill>
              </a:rPr>
              <a:t>Project2</a:t>
            </a:r>
            <a:endParaRPr lang="en-US" sz="4000" kern="1200" dirty="0">
              <a:solidFill>
                <a:srgbClr val="FFFFFF"/>
              </a:solidFill>
              <a:latin typeface="+mj-lt"/>
              <a:ea typeface="+mj-ea"/>
              <a:cs typeface="+mj-cs"/>
            </a:endParaRPr>
          </a:p>
        </p:txBody>
      </p:sp>
      <p:sp>
        <p:nvSpPr>
          <p:cNvPr id="5" name="Marcador de pie de página 4">
            <a:extLst>
              <a:ext uri="{FF2B5EF4-FFF2-40B4-BE49-F238E27FC236}">
                <a16:creationId xmlns:a16="http://schemas.microsoft.com/office/drawing/2014/main" id="{0DB50E13-5CBC-1748-EF40-1C4B0F97C862}"/>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8875920D-01E9-E1CA-6A0F-D733FCDA20A2}"/>
              </a:ext>
            </a:extLst>
          </p:cNvPr>
          <p:cNvSpPr txBox="1"/>
          <p:nvPr/>
        </p:nvSpPr>
        <p:spPr>
          <a:xfrm>
            <a:off x="4810259" y="649480"/>
            <a:ext cx="6555347" cy="5546047"/>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a:t>Here's the thing: You work at a company where salespeople receive 13% commissions on their total sales, and your boss wants you to help salespeople calculate their commissions by creating a program that asks them their name and how much they've sold this month. Your program will respond with a phrase that includes your name and the amount you are entitled to in commissions.</a:t>
            </a:r>
            <a:endParaRPr lang="en-US" sz="2000" dirty="0"/>
          </a:p>
        </p:txBody>
      </p:sp>
      <p:sp>
        <p:nvSpPr>
          <p:cNvPr id="6" name="Marcador de número de diapositiva 5">
            <a:extLst>
              <a:ext uri="{FF2B5EF4-FFF2-40B4-BE49-F238E27FC236}">
                <a16:creationId xmlns:a16="http://schemas.microsoft.com/office/drawing/2014/main" id="{3E85ADB0-0658-7744-D1CB-CD6A5DD860CF}"/>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33</a:t>
            </a:fld>
            <a:endParaRPr lang="en-US" sz="1100">
              <a:solidFill>
                <a:schemeClr val="tx1">
                  <a:lumMod val="50000"/>
                  <a:lumOff val="50000"/>
                </a:schemeClr>
              </a:solidFill>
            </a:endParaRPr>
          </a:p>
        </p:txBody>
      </p:sp>
    </p:spTree>
    <p:extLst>
      <p:ext uri="{BB962C8B-B14F-4D97-AF65-F5344CB8AC3E}">
        <p14:creationId xmlns:p14="http://schemas.microsoft.com/office/powerpoint/2010/main" val="26801484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A6B319F-86FE-4754-878E-06F0804D8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32385" cy="6858000"/>
          </a:xfrm>
          <a:prstGeom prst="rect">
            <a:avLst/>
          </a:prstGeom>
          <a:solidFill>
            <a:schemeClr val="accent5">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3" name="Rectangle 12">
            <a:extLst>
              <a:ext uri="{FF2B5EF4-FFF2-40B4-BE49-F238E27FC236}">
                <a16:creationId xmlns:a16="http://schemas.microsoft.com/office/drawing/2014/main" id="{DCF7D1B5-3477-499F-ACC5-2C8B07F4ED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2385" y="0"/>
            <a:ext cx="3218914"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9A46D5C-FC31-CF2A-AFE6-159B8CE9FB65}"/>
              </a:ext>
            </a:extLst>
          </p:cNvPr>
          <p:cNvSpPr>
            <a:spLocks noGrp="1"/>
          </p:cNvSpPr>
          <p:nvPr>
            <p:ph type="title"/>
          </p:nvPr>
        </p:nvSpPr>
        <p:spPr>
          <a:xfrm>
            <a:off x="992206" y="1608667"/>
            <a:ext cx="2823275" cy="4501127"/>
          </a:xfrm>
        </p:spPr>
        <p:txBody>
          <a:bodyPr anchor="t">
            <a:normAutofit/>
          </a:bodyPr>
          <a:lstStyle/>
          <a:p>
            <a:pPr algn="r"/>
            <a:r>
              <a:rPr lang="en-US" sz="2200">
                <a:solidFill>
                  <a:srgbClr val="FFFFFF"/>
                </a:solidFill>
              </a:rPr>
              <a:t>This isn't a complex program, but it's understandable that it can get complicated when you're learning. As simple as what you've learned so far is very simple, putting it all together in a single program can be complex, so I'll give you a couple of helps:</a:t>
            </a:r>
            <a:endParaRPr lang="es-MX" sz="2200" dirty="0">
              <a:solidFill>
                <a:srgbClr val="FFFFFF"/>
              </a:solidFill>
            </a:endParaRPr>
          </a:p>
        </p:txBody>
      </p:sp>
      <p:sp>
        <p:nvSpPr>
          <p:cNvPr id="3" name="Marcador de contenido 2">
            <a:extLst>
              <a:ext uri="{FF2B5EF4-FFF2-40B4-BE49-F238E27FC236}">
                <a16:creationId xmlns:a16="http://schemas.microsoft.com/office/drawing/2014/main" id="{391D6D27-FF35-76DB-4FB2-0A01D2477F77}"/>
              </a:ext>
            </a:extLst>
          </p:cNvPr>
          <p:cNvSpPr>
            <a:spLocks noGrp="1"/>
          </p:cNvSpPr>
          <p:nvPr>
            <p:ph sz="half" idx="1"/>
          </p:nvPr>
        </p:nvSpPr>
        <p:spPr>
          <a:xfrm>
            <a:off x="4547698" y="1608667"/>
            <a:ext cx="3421958" cy="4501127"/>
          </a:xfrm>
        </p:spPr>
        <p:txBody>
          <a:bodyPr>
            <a:normAutofit/>
          </a:bodyPr>
          <a:lstStyle/>
          <a:p>
            <a:r>
              <a:rPr lang="en-US" sz="2000"/>
              <a:t>This program should start by asking the user questions, therefore, you will need input in order to receive the user's income and you should use variables to store that income. Remember that user logins are stored as strings. Therefore, you should convert one of those revenues into a float so that you can make trades with it.</a:t>
            </a:r>
            <a:endParaRPr lang="es-MX" sz="2000" dirty="0"/>
          </a:p>
        </p:txBody>
      </p:sp>
      <p:sp>
        <p:nvSpPr>
          <p:cNvPr id="4" name="Marcador de contenido 3">
            <a:extLst>
              <a:ext uri="{FF2B5EF4-FFF2-40B4-BE49-F238E27FC236}">
                <a16:creationId xmlns:a16="http://schemas.microsoft.com/office/drawing/2014/main" id="{290DD4FF-BE24-02AC-E4F5-6DDE2E68867B}"/>
              </a:ext>
            </a:extLst>
          </p:cNvPr>
          <p:cNvSpPr>
            <a:spLocks noGrp="1"/>
          </p:cNvSpPr>
          <p:nvPr>
            <p:ph sz="half" idx="2"/>
          </p:nvPr>
        </p:nvSpPr>
        <p:spPr>
          <a:xfrm>
            <a:off x="8289696" y="1608667"/>
            <a:ext cx="3421957" cy="4501127"/>
          </a:xfrm>
        </p:spPr>
        <p:txBody>
          <a:bodyPr>
            <a:normAutofit/>
          </a:bodyPr>
          <a:lstStyle/>
          <a:p>
            <a:r>
              <a:rPr lang="en-US" sz="2000"/>
              <a:t>And what operations do you need to do? Well, calculate 13% of the number that the user has entered. That is, you should multiply that number by 13 and then divide it by 100. Remember to store that result in a variable.</a:t>
            </a:r>
            <a:endParaRPr lang="es-MX" sz="2000" dirty="0"/>
          </a:p>
        </p:txBody>
      </p:sp>
      <p:sp>
        <p:nvSpPr>
          <p:cNvPr id="5" name="Marcador de pie de página 4">
            <a:extLst>
              <a:ext uri="{FF2B5EF4-FFF2-40B4-BE49-F238E27FC236}">
                <a16:creationId xmlns:a16="http://schemas.microsoft.com/office/drawing/2014/main" id="{C1EC7634-3899-7FCD-0760-216274E1B383}"/>
              </a:ext>
            </a:extLst>
          </p:cNvPr>
          <p:cNvSpPr>
            <a:spLocks noGrp="1"/>
          </p:cNvSpPr>
          <p:nvPr>
            <p:ph type="ftr" sz="quarter" idx="11"/>
          </p:nvPr>
        </p:nvSpPr>
        <p:spPr>
          <a:xfrm>
            <a:off x="4547698" y="6356350"/>
            <a:ext cx="5687683" cy="365125"/>
          </a:xfrm>
        </p:spPr>
        <p:txBody>
          <a:bodyPr>
            <a:normAutofit/>
          </a:bodyPr>
          <a:lstStyle/>
          <a:p>
            <a:pPr algn="l">
              <a:spcAft>
                <a:spcPts val="600"/>
              </a:spcAft>
            </a:pPr>
            <a:r>
              <a:rPr lang="es-MX" sz="1050"/>
              <a:t>Arabots Robotics</a:t>
            </a:r>
          </a:p>
        </p:txBody>
      </p:sp>
      <p:sp>
        <p:nvSpPr>
          <p:cNvPr id="6" name="Marcador de número de diapositiva 5">
            <a:extLst>
              <a:ext uri="{FF2B5EF4-FFF2-40B4-BE49-F238E27FC236}">
                <a16:creationId xmlns:a16="http://schemas.microsoft.com/office/drawing/2014/main" id="{1D636F8D-CA81-C938-B9CE-9C13BA6ADA7B}"/>
              </a:ext>
            </a:extLst>
          </p:cNvPr>
          <p:cNvSpPr>
            <a:spLocks noGrp="1"/>
          </p:cNvSpPr>
          <p:nvPr>
            <p:ph type="sldNum" sz="quarter" idx="12"/>
          </p:nvPr>
        </p:nvSpPr>
        <p:spPr>
          <a:xfrm>
            <a:off x="10353368" y="6356350"/>
            <a:ext cx="1358284" cy="365125"/>
          </a:xfrm>
        </p:spPr>
        <p:txBody>
          <a:bodyPr>
            <a:normAutofit/>
          </a:bodyPr>
          <a:lstStyle/>
          <a:p>
            <a:pPr>
              <a:spcAft>
                <a:spcPts val="600"/>
              </a:spcAft>
            </a:pPr>
            <a:fld id="{4EA4A3B0-B5DF-4E2B-B48F-E4B7B7872040}" type="slidenum">
              <a:rPr lang="es-MX" sz="1050"/>
              <a:pPr>
                <a:spcAft>
                  <a:spcPts val="600"/>
                </a:spcAft>
              </a:pPr>
              <a:t>34</a:t>
            </a:fld>
            <a:endParaRPr lang="es-MX" sz="1050"/>
          </a:p>
        </p:txBody>
      </p:sp>
    </p:spTree>
    <p:extLst>
      <p:ext uri="{BB962C8B-B14F-4D97-AF65-F5344CB8AC3E}">
        <p14:creationId xmlns:p14="http://schemas.microsoft.com/office/powerpoint/2010/main" val="106728649"/>
      </p:ext>
    </p:extLst>
  </p:cSld>
  <p:clrMapOvr>
    <a:overrideClrMapping bg1="dk1" tx1="lt1" bg2="dk2" tx2="lt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Video 6">
            <a:extLst>
              <a:ext uri="{FF2B5EF4-FFF2-40B4-BE49-F238E27FC236}">
                <a16:creationId xmlns:a16="http://schemas.microsoft.com/office/drawing/2014/main" id="{1D0415A1-DFBC-66F4-3C89-175B66D68F49}"/>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3047" y="10"/>
            <a:ext cx="12191999" cy="6857990"/>
          </a:xfrm>
          <a:prstGeom prst="rect">
            <a:avLst/>
          </a:prstGeom>
        </p:spPr>
      </p:pic>
      <p:sp>
        <p:nvSpPr>
          <p:cNvPr id="13" name="Rectangle 12">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5F01DB9-87FF-FA43-5DE0-0CEDF00A19BF}"/>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s-MX" sz="5200">
                <a:solidFill>
                  <a:srgbClr val="FFFFFF"/>
                </a:solidFill>
              </a:rPr>
              <a:t>Inicio de la Clase 3</a:t>
            </a:r>
          </a:p>
        </p:txBody>
      </p:sp>
      <p:sp>
        <p:nvSpPr>
          <p:cNvPr id="3" name="Subtítulo 2">
            <a:extLst>
              <a:ext uri="{FF2B5EF4-FFF2-40B4-BE49-F238E27FC236}">
                <a16:creationId xmlns:a16="http://schemas.microsoft.com/office/drawing/2014/main" id="{378071C6-855D-814E-F5C6-4D700520C809}"/>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s-MX">
                <a:solidFill>
                  <a:srgbClr val="FFFFFF"/>
                </a:solidFill>
              </a:rPr>
              <a:t>14/10/2022</a:t>
            </a:r>
          </a:p>
        </p:txBody>
      </p:sp>
      <p:sp>
        <p:nvSpPr>
          <p:cNvPr id="4" name="Marcador de pie de página 3">
            <a:extLst>
              <a:ext uri="{FF2B5EF4-FFF2-40B4-BE49-F238E27FC236}">
                <a16:creationId xmlns:a16="http://schemas.microsoft.com/office/drawing/2014/main" id="{787BB548-5FDB-9538-8D0D-1E972A008F9F}"/>
              </a:ext>
            </a:extLst>
          </p:cNvPr>
          <p:cNvSpPr>
            <a:spLocks noGrp="1"/>
          </p:cNvSpPr>
          <p:nvPr>
            <p:ph type="ftr" sz="quarter" idx="11"/>
          </p:nvPr>
        </p:nvSpPr>
        <p:spPr>
          <a:xfrm>
            <a:off x="4038600" y="6356350"/>
            <a:ext cx="4114800" cy="365125"/>
          </a:xfrm>
        </p:spPr>
        <p:txBody>
          <a:bodyPr>
            <a:normAutofit/>
          </a:bodyPr>
          <a:lstStyle/>
          <a:p>
            <a:pPr>
              <a:spcAft>
                <a:spcPts val="600"/>
              </a:spcAft>
            </a:pPr>
            <a:r>
              <a:rPr lang="es-MX">
                <a:solidFill>
                  <a:srgbClr val="FFFFFF"/>
                </a:solidFill>
              </a:rPr>
              <a:t>Arabots Robotics</a:t>
            </a:r>
          </a:p>
        </p:txBody>
      </p:sp>
      <p:sp>
        <p:nvSpPr>
          <p:cNvPr id="5" name="Marcador de número de diapositiva 4">
            <a:extLst>
              <a:ext uri="{FF2B5EF4-FFF2-40B4-BE49-F238E27FC236}">
                <a16:creationId xmlns:a16="http://schemas.microsoft.com/office/drawing/2014/main" id="{DF33D120-66A3-BCFC-5391-1C2A31112898}"/>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a:solidFill>
                  <a:srgbClr val="FFFFFF"/>
                </a:solidFill>
              </a:rPr>
              <a:pPr>
                <a:spcAft>
                  <a:spcPts val="600"/>
                </a:spcAft>
              </a:pPr>
              <a:t>35</a:t>
            </a:fld>
            <a:endParaRPr lang="es-MX">
              <a:solidFill>
                <a:srgbClr val="FFFFFF"/>
              </a:solidFill>
            </a:endParaRPr>
          </a:p>
        </p:txBody>
      </p:sp>
    </p:spTree>
    <p:extLst>
      <p:ext uri="{BB962C8B-B14F-4D97-AF65-F5344CB8AC3E}">
        <p14:creationId xmlns:p14="http://schemas.microsoft.com/office/powerpoint/2010/main" val="1410047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999"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C18F8AD-7E3F-C1B0-C0B4-80EE190D4CF9}"/>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Index( )</a:t>
            </a:r>
            <a:br>
              <a:rPr lang="es-MX" sz="4000">
                <a:solidFill>
                  <a:srgbClr val="FFFFFF"/>
                </a:solidFill>
              </a:rPr>
            </a:br>
            <a:endParaRPr lang="es-MX" sz="4000">
              <a:solidFill>
                <a:srgbClr val="FFFFFF"/>
              </a:solidFill>
            </a:endParaRPr>
          </a:p>
        </p:txBody>
      </p:sp>
      <p:sp>
        <p:nvSpPr>
          <p:cNvPr id="4" name="Marcador de pie de página 3">
            <a:extLst>
              <a:ext uri="{FF2B5EF4-FFF2-40B4-BE49-F238E27FC236}">
                <a16:creationId xmlns:a16="http://schemas.microsoft.com/office/drawing/2014/main" id="{C0424E1A-02D4-8952-441C-F5F078CA1C6F}"/>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E5C07EC9-0710-99D4-DCE4-EF180AB9B0F9}"/>
              </a:ext>
            </a:extLst>
          </p:cNvPr>
          <p:cNvSpPr>
            <a:spLocks noGrp="1"/>
          </p:cNvSpPr>
          <p:nvPr>
            <p:ph idx="1"/>
          </p:nvPr>
        </p:nvSpPr>
        <p:spPr>
          <a:xfrm>
            <a:off x="4093385" y="10138"/>
            <a:ext cx="8151126" cy="6858000"/>
          </a:xfrm>
        </p:spPr>
        <p:txBody>
          <a:bodyPr anchor="ctr">
            <a:normAutofit/>
          </a:bodyPr>
          <a:lstStyle/>
          <a:p>
            <a:pPr marL="0" indent="0">
              <a:buNone/>
            </a:pPr>
            <a:r>
              <a:rPr lang="es-MX" sz="2000" dirty="0"/>
              <a:t>Utilizamos el método </a:t>
            </a:r>
            <a:r>
              <a:rPr lang="es-MX" sz="2000" dirty="0" err="1"/>
              <a:t>index</a:t>
            </a:r>
            <a:r>
              <a:rPr lang="es-MX" sz="2000" dirty="0"/>
              <a:t>( ) para explorar strings, ya que permite hallar el índice de aparición de un </a:t>
            </a:r>
            <a:r>
              <a:rPr lang="es-MX" sz="2000" dirty="0" err="1"/>
              <a:t>caracter</a:t>
            </a:r>
            <a:r>
              <a:rPr lang="es-MX" sz="2000" dirty="0"/>
              <a:t> o cadena de caracteres dentro de un texto dado. </a:t>
            </a:r>
          </a:p>
          <a:p>
            <a:pPr marL="0" indent="0">
              <a:buNone/>
            </a:pPr>
            <a:r>
              <a:rPr lang="es-MX" sz="2000" dirty="0"/>
              <a:t>variable que almacena un </a:t>
            </a:r>
            <a:r>
              <a:rPr lang="es-MX" sz="2000" dirty="0" err="1"/>
              <a:t>string</a:t>
            </a:r>
            <a:r>
              <a:rPr lang="es-MX" sz="2000" dirty="0"/>
              <a:t> </a:t>
            </a:r>
          </a:p>
          <a:p>
            <a:pPr marL="0" indent="0">
              <a:buNone/>
            </a:pPr>
            <a:r>
              <a:rPr lang="es-MX" sz="2000" dirty="0"/>
              <a:t>	</a:t>
            </a:r>
            <a:r>
              <a:rPr lang="en-US" sz="2000" dirty="0" err="1"/>
              <a:t>string.index</a:t>
            </a:r>
            <a:r>
              <a:rPr lang="en-US" sz="2000" dirty="0"/>
              <a:t>(value, start, end)</a:t>
            </a:r>
            <a:endParaRPr lang="es-MX" sz="2000" dirty="0"/>
          </a:p>
          <a:p>
            <a:pPr marL="0" indent="0">
              <a:buNone/>
            </a:pPr>
            <a:r>
              <a:rPr lang="es-MX" sz="2000" dirty="0" err="1"/>
              <a:t>Value</a:t>
            </a:r>
            <a:r>
              <a:rPr lang="es-MX" sz="2000" dirty="0"/>
              <a:t>=</a:t>
            </a:r>
            <a:r>
              <a:rPr lang="es-MX" sz="2000" dirty="0" err="1"/>
              <a:t>caracter</a:t>
            </a:r>
            <a:r>
              <a:rPr lang="es-MX" sz="2000" dirty="0"/>
              <a:t>(es) buscado(s) </a:t>
            </a:r>
          </a:p>
          <a:p>
            <a:pPr marL="0" indent="0">
              <a:buNone/>
            </a:pPr>
            <a:r>
              <a:rPr lang="es-MX" sz="2000" dirty="0" err="1"/>
              <a:t>Stert</a:t>
            </a:r>
            <a:r>
              <a:rPr lang="es-MX" sz="2000" dirty="0"/>
              <a:t>=las apariciones antes del índice </a:t>
            </a:r>
            <a:r>
              <a:rPr lang="es-MX" sz="2000" dirty="0" err="1"/>
              <a:t>start</a:t>
            </a:r>
            <a:r>
              <a:rPr lang="es-MX" sz="2000" dirty="0"/>
              <a:t> se ignoran  </a:t>
            </a:r>
          </a:p>
          <a:p>
            <a:pPr marL="0" indent="0">
              <a:buNone/>
            </a:pPr>
            <a:r>
              <a:rPr lang="es-MX" sz="2000" dirty="0" err="1"/>
              <a:t>End</a:t>
            </a:r>
            <a:r>
              <a:rPr lang="es-MX" sz="2000" dirty="0"/>
              <a:t>= las apariciones luego del índice </a:t>
            </a:r>
            <a:r>
              <a:rPr lang="es-MX" sz="2000" dirty="0" err="1"/>
              <a:t>end</a:t>
            </a:r>
            <a:r>
              <a:rPr lang="es-MX" sz="2000" dirty="0"/>
              <a:t> se ignoran</a:t>
            </a:r>
          </a:p>
          <a:p>
            <a:pPr marL="0" indent="0">
              <a:buNone/>
            </a:pPr>
            <a:endParaRPr lang="es-MX" sz="2000" dirty="0"/>
          </a:p>
          <a:p>
            <a:pPr marL="0" indent="0">
              <a:buNone/>
            </a:pPr>
            <a:r>
              <a:rPr lang="es-MX" sz="2000" dirty="0"/>
              <a:t>	</a:t>
            </a:r>
            <a:r>
              <a:rPr lang="es-MX" sz="2000" dirty="0" err="1"/>
              <a:t>string</a:t>
            </a:r>
            <a:r>
              <a:rPr lang="es-MX" sz="2000" dirty="0"/>
              <a:t>[i] </a:t>
            </a:r>
          </a:p>
          <a:p>
            <a:pPr marL="0" indent="0">
              <a:buNone/>
            </a:pPr>
            <a:r>
              <a:rPr lang="es-MX" sz="2000" dirty="0"/>
              <a:t>devuelve el </a:t>
            </a:r>
            <a:r>
              <a:rPr lang="es-MX" sz="2000" dirty="0" err="1"/>
              <a:t>caracter</a:t>
            </a:r>
            <a:r>
              <a:rPr lang="es-MX" sz="2000" dirty="0"/>
              <a:t> en el índice i</a:t>
            </a:r>
          </a:p>
          <a:p>
            <a:pPr marL="0" indent="0">
              <a:buNone/>
            </a:pPr>
            <a:endParaRPr lang="es-MX" sz="2000" dirty="0"/>
          </a:p>
          <a:p>
            <a:pPr marL="0" indent="0">
              <a:buNone/>
            </a:pPr>
            <a:r>
              <a:rPr lang="es-MX" sz="2000" dirty="0"/>
              <a:t>	</a:t>
            </a:r>
            <a:r>
              <a:rPr lang="es-MX" sz="2000" dirty="0" err="1"/>
              <a:t>string.rindex</a:t>
            </a:r>
            <a:r>
              <a:rPr lang="es-MX" sz="2000" dirty="0"/>
              <a:t>(</a:t>
            </a:r>
            <a:r>
              <a:rPr lang="es-MX" sz="2000" dirty="0" err="1"/>
              <a:t>value</a:t>
            </a:r>
            <a:r>
              <a:rPr lang="es-MX" sz="2000" dirty="0"/>
              <a:t>, </a:t>
            </a:r>
            <a:r>
              <a:rPr lang="es-MX" sz="2000" dirty="0" err="1"/>
              <a:t>start</a:t>
            </a:r>
            <a:r>
              <a:rPr lang="es-MX" sz="2000" dirty="0"/>
              <a:t>, </a:t>
            </a:r>
            <a:r>
              <a:rPr lang="es-MX" sz="2000" dirty="0" err="1"/>
              <a:t>end</a:t>
            </a:r>
            <a:r>
              <a:rPr lang="es-MX" sz="2000" dirty="0"/>
              <a:t>) </a:t>
            </a:r>
          </a:p>
          <a:p>
            <a:pPr marL="0" indent="0">
              <a:buNone/>
            </a:pPr>
            <a:r>
              <a:rPr lang="es-MX" sz="2000" dirty="0"/>
              <a:t>devuelve el </a:t>
            </a:r>
            <a:r>
              <a:rPr lang="es-MX" sz="2000" dirty="0" err="1"/>
              <a:t>caracter</a:t>
            </a:r>
            <a:r>
              <a:rPr lang="es-MX" sz="2000" dirty="0"/>
              <a:t> en el índice i* búsqueda en sentido inverso</a:t>
            </a:r>
          </a:p>
          <a:p>
            <a:pPr marL="0" indent="0">
              <a:buNone/>
            </a:pPr>
            <a:r>
              <a:rPr lang="es-MX" sz="2000" dirty="0"/>
              <a:t> *: En Python, el índice en primera posición es el 0</a:t>
            </a:r>
          </a:p>
        </p:txBody>
      </p:sp>
      <p:sp>
        <p:nvSpPr>
          <p:cNvPr id="5" name="Marcador de número de diapositiva 4">
            <a:extLst>
              <a:ext uri="{FF2B5EF4-FFF2-40B4-BE49-F238E27FC236}">
                <a16:creationId xmlns:a16="http://schemas.microsoft.com/office/drawing/2014/main" id="{72AA0127-0B15-E669-2DDA-C60F732AEDCA}"/>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36</a:t>
            </a:fld>
            <a:endParaRPr lang="es-MX" sz="1100">
              <a:solidFill>
                <a:schemeClr val="tx1">
                  <a:lumMod val="50000"/>
                  <a:lumOff val="50000"/>
                </a:schemeClr>
              </a:solidFill>
            </a:endParaRPr>
          </a:p>
        </p:txBody>
      </p:sp>
    </p:spTree>
    <p:extLst>
      <p:ext uri="{BB962C8B-B14F-4D97-AF65-F5344CB8AC3E}">
        <p14:creationId xmlns:p14="http://schemas.microsoft.com/office/powerpoint/2010/main" val="26895871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0478BDF-7F56-5418-B0BC-A42C2D1BCB2A}"/>
              </a:ext>
            </a:extLst>
          </p:cNvPr>
          <p:cNvSpPr>
            <a:spLocks noGrp="1"/>
          </p:cNvSpPr>
          <p:nvPr>
            <p:ph type="title"/>
          </p:nvPr>
        </p:nvSpPr>
        <p:spPr>
          <a:xfrm>
            <a:off x="1371599" y="294538"/>
            <a:ext cx="9895951" cy="1033669"/>
          </a:xfrm>
        </p:spPr>
        <p:txBody>
          <a:bodyPr>
            <a:normAutofit/>
          </a:bodyPr>
          <a:lstStyle/>
          <a:p>
            <a:r>
              <a:rPr lang="es-MX" sz="4000" dirty="0">
                <a:solidFill>
                  <a:srgbClr val="FFFFFF"/>
                </a:solidFill>
              </a:rPr>
              <a:t>Ejercicios</a:t>
            </a:r>
          </a:p>
        </p:txBody>
      </p:sp>
      <p:sp>
        <p:nvSpPr>
          <p:cNvPr id="4" name="Marcador de pie de página 3">
            <a:extLst>
              <a:ext uri="{FF2B5EF4-FFF2-40B4-BE49-F238E27FC236}">
                <a16:creationId xmlns:a16="http://schemas.microsoft.com/office/drawing/2014/main" id="{3A3E9D4B-9412-8D6B-0A65-83BEE2CF2BEF}"/>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3FCDC46A-CC1F-4BA9-1BD5-679155FF4BF6}"/>
              </a:ext>
            </a:extLst>
          </p:cNvPr>
          <p:cNvSpPr>
            <a:spLocks noGrp="1"/>
          </p:cNvSpPr>
          <p:nvPr>
            <p:ph idx="1"/>
          </p:nvPr>
        </p:nvSpPr>
        <p:spPr>
          <a:xfrm>
            <a:off x="1371599" y="2318197"/>
            <a:ext cx="9724031" cy="3683358"/>
          </a:xfrm>
        </p:spPr>
        <p:txBody>
          <a:bodyPr anchor="ctr">
            <a:normAutofit/>
          </a:bodyPr>
          <a:lstStyle/>
          <a:p>
            <a:r>
              <a:rPr lang="es-MX" sz="2000" b="0" i="0">
                <a:effectLst/>
                <a:latin typeface="udemy sans"/>
              </a:rPr>
              <a:t>Encuentra y muestra en pantalla qué caracter ocupa la quinta posición dentro de la siguiente palabra: "orde</a:t>
            </a:r>
            <a:r>
              <a:rPr lang="es-MX" sz="2000" b="1" i="0">
                <a:effectLst/>
                <a:latin typeface="udemy sans"/>
              </a:rPr>
              <a:t>n</a:t>
            </a:r>
            <a:r>
              <a:rPr lang="es-MX" sz="2000" b="0" i="0">
                <a:effectLst/>
                <a:latin typeface="udemy sans"/>
              </a:rPr>
              <a:t>ador“</a:t>
            </a:r>
          </a:p>
          <a:p>
            <a:r>
              <a:rPr lang="es-MX" sz="2000" b="0" i="0">
                <a:effectLst/>
                <a:latin typeface="udemy sans"/>
              </a:rPr>
              <a:t>Encuentra y muestra en pantalla el índice de la </a:t>
            </a:r>
            <a:r>
              <a:rPr lang="es-MX" sz="2000" b="1" i="1">
                <a:effectLst/>
                <a:latin typeface="udemy sans"/>
              </a:rPr>
              <a:t>primera </a:t>
            </a:r>
            <a:r>
              <a:rPr lang="es-MX" sz="2000" b="0" i="0">
                <a:effectLst/>
                <a:latin typeface="udemy sans"/>
              </a:rPr>
              <a:t>aparición de la palabra "</a:t>
            </a:r>
            <a:r>
              <a:rPr lang="es-MX" sz="2000" b="1" i="0">
                <a:effectLst/>
                <a:latin typeface="udemy sans"/>
              </a:rPr>
              <a:t>práctica</a:t>
            </a:r>
            <a:r>
              <a:rPr lang="es-MX" sz="2000" b="0" i="0">
                <a:effectLst/>
                <a:latin typeface="udemy sans"/>
              </a:rPr>
              <a:t>" en la siguiente frase:</a:t>
            </a:r>
          </a:p>
          <a:p>
            <a:pPr lvl="1"/>
            <a:r>
              <a:rPr lang="es-MX" sz="2000" b="0" i="1">
                <a:effectLst/>
                <a:latin typeface="udemy sans"/>
              </a:rPr>
              <a:t>"En teoría, la teoría y la práctica son los mismos. En la práctica, no lo son.“</a:t>
            </a:r>
          </a:p>
          <a:p>
            <a:r>
              <a:rPr lang="es-MX" sz="2000" b="0" i="0">
                <a:effectLst/>
                <a:latin typeface="udemy sans"/>
              </a:rPr>
              <a:t>Encuentra y muestra en pantalla el índice de la </a:t>
            </a:r>
            <a:r>
              <a:rPr lang="es-MX" sz="2000" b="1" i="1">
                <a:effectLst/>
                <a:latin typeface="udemy sans"/>
              </a:rPr>
              <a:t>última </a:t>
            </a:r>
            <a:r>
              <a:rPr lang="es-MX" sz="2000" b="0" i="0">
                <a:effectLst/>
                <a:latin typeface="udemy sans"/>
              </a:rPr>
              <a:t>aparición de la palabra "</a:t>
            </a:r>
            <a:r>
              <a:rPr lang="es-MX" sz="2000" b="1" i="0">
                <a:effectLst/>
                <a:latin typeface="udemy sans"/>
              </a:rPr>
              <a:t>práctica</a:t>
            </a:r>
            <a:r>
              <a:rPr lang="es-MX" sz="2000" b="0" i="0">
                <a:effectLst/>
                <a:latin typeface="udemy sans"/>
              </a:rPr>
              <a:t>" en la siguiente frase:</a:t>
            </a:r>
          </a:p>
          <a:p>
            <a:r>
              <a:rPr lang="es-MX" sz="2000" b="0" i="1">
                <a:effectLst/>
                <a:latin typeface="udemy sans"/>
              </a:rPr>
              <a:t>"En teoría, la teoría y la práctica son los mismos. En la práctica, no lo son."</a:t>
            </a:r>
            <a:endParaRPr lang="es-MX" sz="2000" b="0" i="0">
              <a:effectLst/>
              <a:latin typeface="udemy sans"/>
            </a:endParaRPr>
          </a:p>
          <a:p>
            <a:endParaRPr lang="es-MX" sz="2000" b="0" i="0">
              <a:effectLst/>
              <a:latin typeface="udemy sans"/>
            </a:endParaRPr>
          </a:p>
          <a:p>
            <a:endParaRPr lang="es-MX" sz="2000"/>
          </a:p>
        </p:txBody>
      </p:sp>
      <p:sp>
        <p:nvSpPr>
          <p:cNvPr id="5" name="Marcador de número de diapositiva 4">
            <a:extLst>
              <a:ext uri="{FF2B5EF4-FFF2-40B4-BE49-F238E27FC236}">
                <a16:creationId xmlns:a16="http://schemas.microsoft.com/office/drawing/2014/main" id="{DC70A05A-E166-845B-340D-CA75ABDEA6C7}"/>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37</a:t>
            </a:fld>
            <a:endParaRPr lang="es-MX" sz="1100">
              <a:solidFill>
                <a:schemeClr val="tx1">
                  <a:lumMod val="50000"/>
                  <a:lumOff val="50000"/>
                </a:schemeClr>
              </a:solidFill>
            </a:endParaRPr>
          </a:p>
        </p:txBody>
      </p:sp>
    </p:spTree>
    <p:extLst>
      <p:ext uri="{BB962C8B-B14F-4D97-AF65-F5344CB8AC3E}">
        <p14:creationId xmlns:p14="http://schemas.microsoft.com/office/powerpoint/2010/main" val="24784689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125DF32E-2224-ECBD-8147-437963B0F3C3}"/>
              </a:ext>
            </a:extLst>
          </p:cNvPr>
          <p:cNvSpPr>
            <a:spLocks noGrp="1"/>
          </p:cNvSpPr>
          <p:nvPr>
            <p:ph type="title"/>
          </p:nvPr>
        </p:nvSpPr>
        <p:spPr>
          <a:xfrm>
            <a:off x="826396" y="586855"/>
            <a:ext cx="4230100" cy="3387497"/>
          </a:xfrm>
        </p:spPr>
        <p:txBody>
          <a:bodyPr anchor="b">
            <a:normAutofit/>
          </a:bodyPr>
          <a:lstStyle/>
          <a:p>
            <a:pPr algn="r"/>
            <a:r>
              <a:rPr lang="es-MX" sz="4000" i="1" u="sng">
                <a:solidFill>
                  <a:srgbClr val="FFFFFF"/>
                </a:solidFill>
              </a:rPr>
              <a:t>S</a:t>
            </a:r>
            <a:r>
              <a:rPr lang="es-MX" sz="4000" i="1">
                <a:solidFill>
                  <a:srgbClr val="FFFFFF"/>
                </a:solidFill>
              </a:rPr>
              <a:t>ubstrings</a:t>
            </a:r>
          </a:p>
        </p:txBody>
      </p:sp>
      <p:sp>
        <p:nvSpPr>
          <p:cNvPr id="4" name="Marcador de pie de página 3">
            <a:extLst>
              <a:ext uri="{FF2B5EF4-FFF2-40B4-BE49-F238E27FC236}">
                <a16:creationId xmlns:a16="http://schemas.microsoft.com/office/drawing/2014/main" id="{901AC823-C554-C1B1-A167-DB0AA65FC66D}"/>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7A367FDD-A253-0464-15CA-BBF3D273375B}"/>
              </a:ext>
            </a:extLst>
          </p:cNvPr>
          <p:cNvSpPr>
            <a:spLocks noGrp="1"/>
          </p:cNvSpPr>
          <p:nvPr>
            <p:ph idx="1"/>
          </p:nvPr>
        </p:nvSpPr>
        <p:spPr>
          <a:xfrm>
            <a:off x="5567938" y="0"/>
            <a:ext cx="6669334" cy="6847859"/>
          </a:xfrm>
        </p:spPr>
        <p:txBody>
          <a:bodyPr anchor="ctr">
            <a:normAutofit/>
          </a:bodyPr>
          <a:lstStyle/>
          <a:p>
            <a:pPr marL="0" indent="0">
              <a:buNone/>
            </a:pPr>
            <a:r>
              <a:rPr lang="es-MX" sz="1900" dirty="0"/>
              <a:t>Podemos extraer porciones de texto utilizando las herramientas de manipulación de strings conocidas como </a:t>
            </a:r>
            <a:r>
              <a:rPr lang="es-MX" sz="1900" dirty="0" err="1"/>
              <a:t>slicing</a:t>
            </a:r>
            <a:r>
              <a:rPr lang="es-MX" sz="1900" dirty="0"/>
              <a:t> (rebanar).</a:t>
            </a:r>
          </a:p>
          <a:p>
            <a:pPr marL="0" indent="0">
              <a:buNone/>
            </a:pPr>
            <a:endParaRPr lang="es-MX" sz="1900" dirty="0"/>
          </a:p>
          <a:p>
            <a:pPr marL="0" indent="0">
              <a:buNone/>
            </a:pPr>
            <a:r>
              <a:rPr lang="es-MX" sz="1900" dirty="0"/>
              <a:t>índice de inicio del </a:t>
            </a:r>
            <a:r>
              <a:rPr lang="es-MX" sz="1900" dirty="0" err="1"/>
              <a:t>sub-string</a:t>
            </a:r>
            <a:r>
              <a:rPr lang="es-MX" sz="1900" dirty="0"/>
              <a:t> (incluido) </a:t>
            </a:r>
          </a:p>
          <a:p>
            <a:pPr marL="0" indent="0">
              <a:buNone/>
            </a:pPr>
            <a:r>
              <a:rPr lang="es-MX" sz="1900" dirty="0"/>
              <a:t>				                    paso</a:t>
            </a:r>
          </a:p>
          <a:p>
            <a:pPr marL="0" indent="0">
              <a:buNone/>
            </a:pPr>
            <a:r>
              <a:rPr lang="es-MX" sz="1900" dirty="0"/>
              <a:t>                                        </a:t>
            </a:r>
            <a:r>
              <a:rPr lang="es-MX" sz="1900" dirty="0" err="1"/>
              <a:t>string</a:t>
            </a:r>
            <a:r>
              <a:rPr lang="es-MX" sz="1900" dirty="0"/>
              <a:t>[</a:t>
            </a:r>
            <a:r>
              <a:rPr lang="es-MX" sz="1900" dirty="0" err="1"/>
              <a:t>start:stop:step</a:t>
            </a:r>
            <a:r>
              <a:rPr lang="es-MX" sz="1900" dirty="0"/>
              <a:t>]</a:t>
            </a:r>
          </a:p>
          <a:p>
            <a:pPr marL="0" indent="0">
              <a:buNone/>
            </a:pPr>
            <a:endParaRPr lang="es-MX" sz="1900" dirty="0"/>
          </a:p>
          <a:p>
            <a:pPr marL="0" indent="0">
              <a:buNone/>
            </a:pPr>
            <a:r>
              <a:rPr lang="es-MX" sz="1900" dirty="0"/>
              <a:t>                         índice del final del </a:t>
            </a:r>
            <a:r>
              <a:rPr lang="es-MX" sz="1900" dirty="0" err="1"/>
              <a:t>sub-string</a:t>
            </a:r>
            <a:r>
              <a:rPr lang="es-MX" sz="1900" dirty="0"/>
              <a:t> (no incluido)</a:t>
            </a:r>
          </a:p>
          <a:p>
            <a:pPr marL="0" indent="0">
              <a:buNone/>
            </a:pPr>
            <a:r>
              <a:rPr lang="es-MX" sz="1900" dirty="0"/>
              <a:t>saludo= </a:t>
            </a:r>
            <a:r>
              <a:rPr lang="es-MX" sz="1900" dirty="0" err="1"/>
              <a:t>Hola_mundo</a:t>
            </a:r>
            <a:endParaRPr lang="es-MX" sz="1900" dirty="0"/>
          </a:p>
          <a:p>
            <a:pPr marL="0" indent="0">
              <a:buNone/>
            </a:pPr>
            <a:r>
              <a:rPr lang="pt-BR" sz="1900" dirty="0"/>
              <a:t>saludo = 0 1 2 3 4 5 6 7 8 9 </a:t>
            </a:r>
          </a:p>
          <a:p>
            <a:pPr marL="0" indent="0">
              <a:buNone/>
            </a:pPr>
            <a:endParaRPr lang="es-MX" sz="1900" dirty="0"/>
          </a:p>
          <a:p>
            <a:pPr marL="0" indent="0">
              <a:buNone/>
            </a:pPr>
            <a:r>
              <a:rPr lang="pt-BR" sz="1900" dirty="0"/>
              <a:t>print(saludo[2:6]) &gt;&gt; </a:t>
            </a:r>
            <a:r>
              <a:rPr lang="pt-BR" sz="1900" dirty="0" err="1"/>
              <a:t>la_M</a:t>
            </a:r>
            <a:r>
              <a:rPr lang="pt-BR" sz="1900" dirty="0"/>
              <a:t> </a:t>
            </a:r>
          </a:p>
          <a:p>
            <a:pPr marL="0" indent="0">
              <a:buNone/>
            </a:pPr>
            <a:r>
              <a:rPr lang="pt-BR" sz="1900" dirty="0"/>
              <a:t>print(saludo[3::3]) &gt;&gt; </a:t>
            </a:r>
            <a:r>
              <a:rPr lang="pt-BR" sz="1900" dirty="0" err="1"/>
              <a:t>auo</a:t>
            </a:r>
            <a:r>
              <a:rPr lang="pt-BR" sz="1900" dirty="0"/>
              <a:t>  </a:t>
            </a:r>
          </a:p>
          <a:p>
            <a:pPr marL="0" indent="0">
              <a:buNone/>
            </a:pPr>
            <a:r>
              <a:rPr lang="pt-BR" sz="1900" dirty="0"/>
              <a:t>	H o l a _ M u n d o---- 0 1 2 3 4 5 6 7 8 9</a:t>
            </a:r>
          </a:p>
          <a:p>
            <a:pPr marL="0" indent="0">
              <a:buNone/>
            </a:pPr>
            <a:r>
              <a:rPr lang="pt-BR" sz="1900" dirty="0"/>
              <a:t> print(saludo[::-1]) &gt;&gt; </a:t>
            </a:r>
            <a:r>
              <a:rPr lang="pt-BR" sz="1900" dirty="0" err="1"/>
              <a:t>odnuM_aloH</a:t>
            </a:r>
            <a:r>
              <a:rPr lang="pt-BR" sz="1900" dirty="0"/>
              <a:t>  </a:t>
            </a:r>
          </a:p>
          <a:p>
            <a:pPr marL="0" indent="0">
              <a:buNone/>
            </a:pPr>
            <a:r>
              <a:rPr lang="pt-BR" sz="1900" dirty="0"/>
              <a:t>	H o l a _ M u n d o -9 -8 -7 -6 -5 -4 -3 -2 -1 0 </a:t>
            </a:r>
          </a:p>
        </p:txBody>
      </p:sp>
      <p:sp>
        <p:nvSpPr>
          <p:cNvPr id="5" name="Marcador de número de diapositiva 4">
            <a:extLst>
              <a:ext uri="{FF2B5EF4-FFF2-40B4-BE49-F238E27FC236}">
                <a16:creationId xmlns:a16="http://schemas.microsoft.com/office/drawing/2014/main" id="{F0F12D17-2D06-B6F1-8DF7-3AF2F1403D40}"/>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38</a:t>
            </a:fld>
            <a:endParaRPr lang="es-MX" sz="1100">
              <a:solidFill>
                <a:schemeClr val="tx1">
                  <a:lumMod val="50000"/>
                  <a:lumOff val="50000"/>
                </a:schemeClr>
              </a:solidFill>
            </a:endParaRPr>
          </a:p>
        </p:txBody>
      </p:sp>
    </p:spTree>
    <p:extLst>
      <p:ext uri="{BB962C8B-B14F-4D97-AF65-F5344CB8AC3E}">
        <p14:creationId xmlns:p14="http://schemas.microsoft.com/office/powerpoint/2010/main" val="30128250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BCF653A-610F-FF06-AB1D-807610E56032}"/>
              </a:ext>
            </a:extLst>
          </p:cNvPr>
          <p:cNvSpPr>
            <a:spLocks noGrp="1"/>
          </p:cNvSpPr>
          <p:nvPr>
            <p:ph type="title"/>
          </p:nvPr>
        </p:nvSpPr>
        <p:spPr>
          <a:xfrm>
            <a:off x="1371599" y="294538"/>
            <a:ext cx="9895951" cy="1033669"/>
          </a:xfrm>
        </p:spPr>
        <p:txBody>
          <a:bodyPr>
            <a:normAutofit/>
          </a:bodyPr>
          <a:lstStyle/>
          <a:p>
            <a:r>
              <a:rPr lang="es-MX" sz="4000" dirty="0">
                <a:solidFill>
                  <a:srgbClr val="FFFFFF"/>
                </a:solidFill>
              </a:rPr>
              <a:t>Ejercicios</a:t>
            </a:r>
          </a:p>
        </p:txBody>
      </p:sp>
      <p:sp>
        <p:nvSpPr>
          <p:cNvPr id="4" name="Marcador de pie de página 3">
            <a:extLst>
              <a:ext uri="{FF2B5EF4-FFF2-40B4-BE49-F238E27FC236}">
                <a16:creationId xmlns:a16="http://schemas.microsoft.com/office/drawing/2014/main" id="{11B4FCFE-C043-2573-1408-7AC4F63C0ACF}"/>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46E2C13F-445D-64BA-E000-4B25CAB7AEB0}"/>
              </a:ext>
            </a:extLst>
          </p:cNvPr>
          <p:cNvSpPr>
            <a:spLocks noGrp="1"/>
          </p:cNvSpPr>
          <p:nvPr>
            <p:ph idx="1"/>
          </p:nvPr>
        </p:nvSpPr>
        <p:spPr>
          <a:xfrm>
            <a:off x="1371599" y="2318197"/>
            <a:ext cx="9724031" cy="3683358"/>
          </a:xfrm>
        </p:spPr>
        <p:txBody>
          <a:bodyPr anchor="ctr">
            <a:normAutofit/>
          </a:bodyPr>
          <a:lstStyle/>
          <a:p>
            <a:r>
              <a:rPr lang="es-MX" sz="2000" b="0" i="0">
                <a:effectLst/>
                <a:latin typeface="udemy sans"/>
              </a:rPr>
              <a:t>Extrae la primera palabra de la siguiente frase utilizando </a:t>
            </a:r>
            <a:r>
              <a:rPr lang="es-MX" sz="2000" b="0" i="1">
                <a:effectLst/>
                <a:latin typeface="udemy sans"/>
              </a:rPr>
              <a:t>slicing</a:t>
            </a:r>
            <a:r>
              <a:rPr lang="es-MX" sz="2000" b="0" i="0">
                <a:effectLst/>
                <a:latin typeface="udemy sans"/>
              </a:rPr>
              <a:t>, y muéstrala en pantalla:</a:t>
            </a:r>
          </a:p>
          <a:p>
            <a:pPr lvl="1"/>
            <a:r>
              <a:rPr lang="es-MX" sz="2000" b="0" i="1">
                <a:effectLst/>
                <a:latin typeface="udemy sans"/>
              </a:rPr>
              <a:t>"Controlar la complejidad es la esencia de la programación"</a:t>
            </a:r>
            <a:endParaRPr lang="es-MX" sz="2000" b="0" i="0">
              <a:effectLst/>
              <a:latin typeface="udemy sans"/>
            </a:endParaRPr>
          </a:p>
          <a:p>
            <a:pPr lvl="1"/>
            <a:r>
              <a:rPr lang="es-MX" sz="2000" b="0" i="0">
                <a:effectLst/>
                <a:latin typeface="udemy sans"/>
              </a:rPr>
              <a:t>Pista: "</a:t>
            </a:r>
            <a:r>
              <a:rPr lang="es-MX" sz="2000" b="0" i="1">
                <a:effectLst/>
                <a:latin typeface="udemy sans"/>
              </a:rPr>
              <a:t>Controlar</a:t>
            </a:r>
            <a:r>
              <a:rPr lang="es-MX" sz="2000" b="0" i="0">
                <a:effectLst/>
                <a:latin typeface="udemy sans"/>
              </a:rPr>
              <a:t>" tiene un largo de 9 caracteres.</a:t>
            </a:r>
          </a:p>
          <a:p>
            <a:r>
              <a:rPr lang="es-MX" sz="2000" b="0" i="0">
                <a:effectLst/>
                <a:latin typeface="udemy sans"/>
              </a:rPr>
              <a:t>Toma </a:t>
            </a:r>
            <a:r>
              <a:rPr lang="es-MX" sz="2000" b="1" i="1">
                <a:effectLst/>
                <a:latin typeface="udemy sans"/>
              </a:rPr>
              <a:t>cada tercer caracter</a:t>
            </a:r>
            <a:r>
              <a:rPr lang="es-MX" sz="2000" b="0" i="0">
                <a:effectLst/>
                <a:latin typeface="udemy sans"/>
              </a:rPr>
              <a:t> empezando </a:t>
            </a:r>
            <a:r>
              <a:rPr lang="es-MX" sz="2000" b="1" i="1">
                <a:effectLst/>
                <a:latin typeface="udemy sans"/>
              </a:rPr>
              <a:t>desde el noveno hasta el final de la frase</a:t>
            </a:r>
            <a:r>
              <a:rPr lang="es-MX" sz="2000" b="0" i="0">
                <a:effectLst/>
                <a:latin typeface="udemy sans"/>
              </a:rPr>
              <a:t>, e imprime el resultado.</a:t>
            </a:r>
          </a:p>
          <a:p>
            <a:pPr lvl="1"/>
            <a:r>
              <a:rPr lang="es-MX" sz="2000" b="0" i="1">
                <a:effectLst/>
                <a:latin typeface="udemy sans"/>
              </a:rPr>
              <a:t>"Nunca confíes en un ordenador que no puedas lanzar por una ventana"</a:t>
            </a:r>
            <a:endParaRPr lang="es-MX" sz="2000" b="0" i="0">
              <a:effectLst/>
              <a:latin typeface="udemy sans"/>
            </a:endParaRPr>
          </a:p>
          <a:p>
            <a:r>
              <a:rPr lang="es-MX" sz="2000" b="0" i="0">
                <a:effectLst/>
                <a:latin typeface="udemy sans"/>
              </a:rPr>
              <a:t>Invierte la posición de todos los caracteres de la siguiente frase y muestra el resultado en pantalla.</a:t>
            </a:r>
          </a:p>
          <a:p>
            <a:pPr lvl="1"/>
            <a:r>
              <a:rPr lang="es-MX" sz="2000" b="0" i="1">
                <a:effectLst/>
                <a:latin typeface="udemy sans"/>
              </a:rPr>
              <a:t>"Es genial trabajar con ordenadores. No discuten, lo recuerdan todo y no se beben tu cerveza"</a:t>
            </a:r>
            <a:endParaRPr lang="es-MX" sz="2000" b="0" i="0">
              <a:effectLst/>
              <a:latin typeface="udemy sans"/>
            </a:endParaRPr>
          </a:p>
          <a:p>
            <a:endParaRPr lang="es-MX" sz="2000"/>
          </a:p>
        </p:txBody>
      </p:sp>
      <p:sp>
        <p:nvSpPr>
          <p:cNvPr id="5" name="Marcador de número de diapositiva 4">
            <a:extLst>
              <a:ext uri="{FF2B5EF4-FFF2-40B4-BE49-F238E27FC236}">
                <a16:creationId xmlns:a16="http://schemas.microsoft.com/office/drawing/2014/main" id="{00EA952A-E7DE-479C-D5EF-54AA7015AEF1}"/>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39</a:t>
            </a:fld>
            <a:endParaRPr lang="es-MX" sz="1100">
              <a:solidFill>
                <a:schemeClr val="tx1">
                  <a:lumMod val="50000"/>
                  <a:lumOff val="50000"/>
                </a:schemeClr>
              </a:solidFill>
            </a:endParaRPr>
          </a:p>
        </p:txBody>
      </p:sp>
    </p:spTree>
    <p:extLst>
      <p:ext uri="{BB962C8B-B14F-4D97-AF65-F5344CB8AC3E}">
        <p14:creationId xmlns:p14="http://schemas.microsoft.com/office/powerpoint/2010/main" val="10351770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7671FFDF-DA92-D2B2-1921-66253B6E675C}"/>
              </a:ext>
            </a:extLst>
          </p:cNvPr>
          <p:cNvSpPr>
            <a:spLocks noGrp="1"/>
          </p:cNvSpPr>
          <p:nvPr>
            <p:ph type="title"/>
          </p:nvPr>
        </p:nvSpPr>
        <p:spPr>
          <a:xfrm>
            <a:off x="826396" y="586855"/>
            <a:ext cx="4230100" cy="3387497"/>
          </a:xfrm>
        </p:spPr>
        <p:txBody>
          <a:bodyPr anchor="b">
            <a:normAutofit/>
          </a:bodyPr>
          <a:lstStyle/>
          <a:p>
            <a:pPr algn="r"/>
            <a:r>
              <a:rPr lang="es-MX" sz="4000" i="1" dirty="0">
                <a:solidFill>
                  <a:srgbClr val="FFFFFF"/>
                </a:solidFill>
              </a:rPr>
              <a:t>strings: métodos</a:t>
            </a:r>
          </a:p>
        </p:txBody>
      </p:sp>
      <p:sp>
        <p:nvSpPr>
          <p:cNvPr id="4" name="Marcador de pie de página 3">
            <a:extLst>
              <a:ext uri="{FF2B5EF4-FFF2-40B4-BE49-F238E27FC236}">
                <a16:creationId xmlns:a16="http://schemas.microsoft.com/office/drawing/2014/main" id="{E9FE403C-AC90-20BA-4F81-893942BF6AA3}"/>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8331955B-2579-9BDD-F0EB-1180BAF24B00}"/>
              </a:ext>
            </a:extLst>
          </p:cNvPr>
          <p:cNvSpPr>
            <a:spLocks noGrp="1"/>
          </p:cNvSpPr>
          <p:nvPr>
            <p:ph idx="1"/>
          </p:nvPr>
        </p:nvSpPr>
        <p:spPr>
          <a:xfrm>
            <a:off x="6503158" y="649480"/>
            <a:ext cx="4862447" cy="5546047"/>
          </a:xfrm>
        </p:spPr>
        <p:txBody>
          <a:bodyPr anchor="ctr">
            <a:normAutofit lnSpcReduction="10000"/>
          </a:bodyPr>
          <a:lstStyle/>
          <a:p>
            <a:pPr marL="0" indent="0">
              <a:buNone/>
            </a:pPr>
            <a:r>
              <a:rPr lang="es-MX" sz="1700" dirty="0" err="1"/>
              <a:t>count</a:t>
            </a:r>
            <a:r>
              <a:rPr lang="es-MX" sz="1700" dirty="0"/>
              <a:t>( ) : retorna el número de veces que se repite un conjunto de caracteres especificado.</a:t>
            </a:r>
          </a:p>
          <a:p>
            <a:pPr marL="0" indent="0">
              <a:buNone/>
            </a:pPr>
            <a:r>
              <a:rPr lang="es-MX" sz="1700" dirty="0"/>
              <a:t>"Hola mundo" .</a:t>
            </a:r>
            <a:r>
              <a:rPr lang="es-MX" sz="1700" dirty="0" err="1"/>
              <a:t>count</a:t>
            </a:r>
            <a:r>
              <a:rPr lang="es-MX" sz="1700" dirty="0"/>
              <a:t>("Hola") </a:t>
            </a:r>
          </a:p>
          <a:p>
            <a:pPr marL="0" indent="0">
              <a:buNone/>
            </a:pPr>
            <a:r>
              <a:rPr lang="es-MX" sz="1700" dirty="0"/>
              <a:t>&gt;&gt; 1</a:t>
            </a:r>
          </a:p>
          <a:p>
            <a:pPr marL="0" indent="0">
              <a:buNone/>
            </a:pPr>
            <a:endParaRPr lang="es-MX" sz="1700" dirty="0"/>
          </a:p>
          <a:p>
            <a:pPr marL="0" indent="0">
              <a:buNone/>
            </a:pPr>
            <a:r>
              <a:rPr lang="es-MX" sz="1700" dirty="0" err="1"/>
              <a:t>find</a:t>
            </a:r>
            <a:r>
              <a:rPr lang="es-MX" sz="1700" dirty="0"/>
              <a:t>( ) e </a:t>
            </a:r>
            <a:r>
              <a:rPr lang="es-MX" sz="1700" dirty="0" err="1"/>
              <a:t>index</a:t>
            </a:r>
            <a:r>
              <a:rPr lang="es-MX" sz="1700" dirty="0"/>
              <a:t>( ) retornan la ubicación (comenzando desde el cero) en la que se encuentra el argumento indicado. Difieren en que </a:t>
            </a:r>
            <a:r>
              <a:rPr lang="es-MX" sz="1700" dirty="0" err="1"/>
              <a:t>index</a:t>
            </a:r>
            <a:r>
              <a:rPr lang="es-MX" sz="1700" dirty="0"/>
              <a:t> lanza </a:t>
            </a:r>
            <a:r>
              <a:rPr lang="es-MX" sz="1700" dirty="0" err="1"/>
              <a:t>ValueError</a:t>
            </a:r>
            <a:r>
              <a:rPr lang="es-MX" sz="1700" dirty="0"/>
              <a:t> cuando el argumento no es encontrado, mientras </a:t>
            </a:r>
            <a:r>
              <a:rPr lang="es-MX" sz="1700" dirty="0" err="1"/>
              <a:t>find</a:t>
            </a:r>
            <a:r>
              <a:rPr lang="es-MX" sz="1700" dirty="0"/>
              <a:t> retorna -1.</a:t>
            </a:r>
          </a:p>
          <a:p>
            <a:pPr marL="0" indent="0">
              <a:buNone/>
            </a:pPr>
            <a:endParaRPr lang="es-MX" sz="1700" dirty="0"/>
          </a:p>
          <a:p>
            <a:pPr marL="0" indent="0">
              <a:buNone/>
            </a:pPr>
            <a:r>
              <a:rPr lang="en-US" sz="1700" dirty="0"/>
              <a:t>"Hola </a:t>
            </a:r>
            <a:r>
              <a:rPr lang="en-US" sz="1700" dirty="0" err="1"/>
              <a:t>mundo</a:t>
            </a:r>
            <a:r>
              <a:rPr lang="en-US" sz="1700" dirty="0"/>
              <a:t>" .find("world") </a:t>
            </a:r>
          </a:p>
          <a:p>
            <a:pPr marL="0" indent="0">
              <a:buNone/>
            </a:pPr>
            <a:r>
              <a:rPr lang="en-US" sz="1700" dirty="0"/>
              <a:t>&gt;&gt; -1</a:t>
            </a:r>
          </a:p>
          <a:p>
            <a:pPr marL="0" indent="0">
              <a:buNone/>
            </a:pPr>
            <a:endParaRPr lang="en-US" sz="1700" dirty="0"/>
          </a:p>
          <a:p>
            <a:pPr marL="0" indent="0">
              <a:buNone/>
            </a:pPr>
            <a:r>
              <a:rPr lang="es-MX" sz="1700" dirty="0" err="1"/>
              <a:t>rfind</a:t>
            </a:r>
            <a:r>
              <a:rPr lang="es-MX" sz="1700" dirty="0"/>
              <a:t>( ) y </a:t>
            </a:r>
            <a:r>
              <a:rPr lang="es-MX" sz="1700" dirty="0" err="1"/>
              <a:t>rindex</a:t>
            </a:r>
            <a:r>
              <a:rPr lang="es-MX" sz="1700" dirty="0"/>
              <a:t>( ).Para buscar un conjunto de caracteres pero desde el final.</a:t>
            </a:r>
          </a:p>
          <a:p>
            <a:pPr marL="0" indent="0">
              <a:buNone/>
            </a:pPr>
            <a:r>
              <a:rPr lang="es-MX" sz="1700" dirty="0"/>
              <a:t>"C:/python36/python.exe" .</a:t>
            </a:r>
            <a:r>
              <a:rPr lang="es-MX" sz="1700" dirty="0" err="1"/>
              <a:t>rfind</a:t>
            </a:r>
            <a:r>
              <a:rPr lang="es-MX" sz="1700" dirty="0"/>
              <a:t>("/") </a:t>
            </a:r>
          </a:p>
          <a:p>
            <a:pPr marL="0" indent="0">
              <a:buNone/>
            </a:pPr>
            <a:r>
              <a:rPr lang="es-MX" sz="1700" dirty="0"/>
              <a:t>&gt;&gt; 11</a:t>
            </a:r>
          </a:p>
        </p:txBody>
      </p:sp>
      <p:sp>
        <p:nvSpPr>
          <p:cNvPr id="5" name="Marcador de número de diapositiva 4">
            <a:extLst>
              <a:ext uri="{FF2B5EF4-FFF2-40B4-BE49-F238E27FC236}">
                <a16:creationId xmlns:a16="http://schemas.microsoft.com/office/drawing/2014/main" id="{FE6ED9DF-2BD2-0B1C-4E53-F65FAAA963BE}"/>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40</a:t>
            </a:fld>
            <a:endParaRPr lang="es-MX" sz="1100">
              <a:solidFill>
                <a:schemeClr val="tx1">
                  <a:lumMod val="50000"/>
                  <a:lumOff val="50000"/>
                </a:schemeClr>
              </a:solidFill>
            </a:endParaRPr>
          </a:p>
        </p:txBody>
      </p:sp>
      <mc:AlternateContent xmlns:mc="http://schemas.openxmlformats.org/markup-compatibility/2006" xmlns:p14="http://schemas.microsoft.com/office/powerpoint/2010/main">
        <mc:Choice Requires="p14">
          <p:contentPart p14:bwMode="auto" r:id="rId2">
            <p14:nvContentPartPr>
              <p14:cNvPr id="6" name="Entrada de lápiz 5">
                <a:extLst>
                  <a:ext uri="{FF2B5EF4-FFF2-40B4-BE49-F238E27FC236}">
                    <a16:creationId xmlns:a16="http://schemas.microsoft.com/office/drawing/2014/main" id="{DC43EB93-1B56-8B1E-5587-749FF210F782}"/>
                  </a:ext>
                </a:extLst>
              </p14:cNvPr>
              <p14:cNvContentPartPr/>
              <p14:nvPr/>
            </p14:nvContentPartPr>
            <p14:xfrm>
              <a:off x="5958000" y="3720240"/>
              <a:ext cx="360" cy="360"/>
            </p14:xfrm>
          </p:contentPart>
        </mc:Choice>
        <mc:Fallback xmlns="">
          <p:pic>
            <p:nvPicPr>
              <p:cNvPr id="6" name="Entrada de lápiz 5">
                <a:extLst>
                  <a:ext uri="{FF2B5EF4-FFF2-40B4-BE49-F238E27FC236}">
                    <a16:creationId xmlns:a16="http://schemas.microsoft.com/office/drawing/2014/main" id="{DC43EB93-1B56-8B1E-5587-749FF210F782}"/>
                  </a:ext>
                </a:extLst>
              </p:cNvPr>
              <p:cNvPicPr/>
              <p:nvPr/>
            </p:nvPicPr>
            <p:blipFill>
              <a:blip r:embed="rId3"/>
              <a:stretch>
                <a:fillRect/>
              </a:stretch>
            </p:blipFill>
            <p:spPr>
              <a:xfrm>
                <a:off x="5948640" y="3710880"/>
                <a:ext cx="19080" cy="19080"/>
              </a:xfrm>
              <a:prstGeom prst="rect">
                <a:avLst/>
              </a:prstGeom>
            </p:spPr>
          </p:pic>
        </mc:Fallback>
      </mc:AlternateContent>
    </p:spTree>
    <p:extLst>
      <p:ext uri="{BB962C8B-B14F-4D97-AF65-F5344CB8AC3E}">
        <p14:creationId xmlns:p14="http://schemas.microsoft.com/office/powerpoint/2010/main" val="2220953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39D4D98-53DC-C000-5D85-6F0258B7F855}"/>
              </a:ext>
            </a:extLst>
          </p:cNvPr>
          <p:cNvSpPr>
            <a:spLocks noGrp="1"/>
          </p:cNvSpPr>
          <p:nvPr>
            <p:ph type="title"/>
          </p:nvPr>
        </p:nvSpPr>
        <p:spPr>
          <a:xfrm>
            <a:off x="1371599" y="294538"/>
            <a:ext cx="9895951" cy="1033669"/>
          </a:xfrm>
        </p:spPr>
        <p:txBody>
          <a:bodyPr>
            <a:normAutofit/>
          </a:bodyPr>
          <a:lstStyle/>
          <a:p>
            <a:endParaRPr lang="es-MX" sz="4000" dirty="0">
              <a:solidFill>
                <a:srgbClr val="FFFFFF"/>
              </a:solidFill>
            </a:endParaRPr>
          </a:p>
        </p:txBody>
      </p:sp>
      <p:sp>
        <p:nvSpPr>
          <p:cNvPr id="4" name="Marcador de pie de página 3">
            <a:extLst>
              <a:ext uri="{FF2B5EF4-FFF2-40B4-BE49-F238E27FC236}">
                <a16:creationId xmlns:a16="http://schemas.microsoft.com/office/drawing/2014/main" id="{BD043C0F-8ED9-8B3B-10BA-D5DCF7EFB995}"/>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785E4965-F8B5-9C61-FDD8-82AFB4B551A9}"/>
              </a:ext>
            </a:extLst>
          </p:cNvPr>
          <p:cNvSpPr>
            <a:spLocks noGrp="1"/>
          </p:cNvSpPr>
          <p:nvPr>
            <p:ph idx="1"/>
          </p:nvPr>
        </p:nvSpPr>
        <p:spPr>
          <a:xfrm>
            <a:off x="47108" y="1590740"/>
            <a:ext cx="12097779" cy="5229815"/>
          </a:xfrm>
        </p:spPr>
        <p:txBody>
          <a:bodyPr anchor="ctr">
            <a:normAutofit/>
          </a:bodyPr>
          <a:lstStyle/>
          <a:p>
            <a:pPr marL="0" indent="0">
              <a:buNone/>
            </a:pPr>
            <a:r>
              <a:rPr lang="es-MX" sz="2000" dirty="0" err="1"/>
              <a:t>startswith</a:t>
            </a:r>
            <a:r>
              <a:rPr lang="es-MX" sz="2000" dirty="0"/>
              <a:t>( ) y </a:t>
            </a:r>
            <a:r>
              <a:rPr lang="es-MX" sz="2000" dirty="0" err="1"/>
              <a:t>endswith</a:t>
            </a:r>
            <a:r>
              <a:rPr lang="es-MX" sz="2000" dirty="0"/>
              <a:t>( ) indican si la cadena en cuestión comienza o termina con el conjunto de caracteres pasados como argumento, y retornan True o False en función de ello.</a:t>
            </a:r>
          </a:p>
          <a:p>
            <a:pPr marL="0" indent="0">
              <a:buNone/>
            </a:pPr>
            <a:r>
              <a:rPr lang="en-US" sz="2000" dirty="0"/>
              <a:t>"Hola </a:t>
            </a:r>
            <a:r>
              <a:rPr lang="en-US" sz="2000" dirty="0" err="1"/>
              <a:t>mundo</a:t>
            </a:r>
            <a:r>
              <a:rPr lang="en-US" sz="2000" dirty="0"/>
              <a:t>" .</a:t>
            </a:r>
            <a:r>
              <a:rPr lang="en-US" sz="2000" dirty="0" err="1"/>
              <a:t>startswith</a:t>
            </a:r>
            <a:r>
              <a:rPr lang="en-US" sz="2000" dirty="0"/>
              <a:t>("Hola") </a:t>
            </a:r>
          </a:p>
          <a:p>
            <a:pPr marL="0" indent="0">
              <a:buNone/>
            </a:pPr>
            <a:r>
              <a:rPr lang="en-US" sz="2000" dirty="0"/>
              <a:t>&gt;&gt; True</a:t>
            </a:r>
          </a:p>
          <a:p>
            <a:pPr marL="0" indent="0">
              <a:buNone/>
            </a:pPr>
            <a:endParaRPr lang="en-US" sz="2000" dirty="0"/>
          </a:p>
          <a:p>
            <a:pPr marL="0" indent="0">
              <a:buNone/>
            </a:pPr>
            <a:r>
              <a:rPr lang="es-MX" sz="2000" dirty="0" err="1"/>
              <a:t>isdigit</a:t>
            </a:r>
            <a:r>
              <a:rPr lang="es-MX" sz="2000" dirty="0"/>
              <a:t>( ): determina si todos los caracteres de la cadena son dígitos, o pueden formar números, incluidos aquellos correspondientes a lenguas orientales.</a:t>
            </a:r>
            <a:endParaRPr lang="en-US" sz="2000" dirty="0"/>
          </a:p>
          <a:p>
            <a:pPr marL="0" indent="0">
              <a:buNone/>
            </a:pPr>
            <a:r>
              <a:rPr lang="es-MX" sz="2000" dirty="0"/>
              <a:t>"abc123" .</a:t>
            </a:r>
            <a:r>
              <a:rPr lang="es-MX" sz="2000" dirty="0" err="1"/>
              <a:t>isdigit</a:t>
            </a:r>
            <a:r>
              <a:rPr lang="es-MX" sz="2000" dirty="0"/>
              <a:t>() </a:t>
            </a:r>
          </a:p>
          <a:p>
            <a:pPr marL="0" indent="0">
              <a:buNone/>
            </a:pPr>
            <a:r>
              <a:rPr lang="es-MX" sz="2000" dirty="0"/>
              <a:t>&gt;&gt; False</a:t>
            </a:r>
          </a:p>
          <a:p>
            <a:pPr marL="0" indent="0">
              <a:buNone/>
            </a:pPr>
            <a:endParaRPr lang="es-MX" sz="2000" dirty="0"/>
          </a:p>
          <a:p>
            <a:pPr marL="0" indent="0">
              <a:buNone/>
            </a:pPr>
            <a:r>
              <a:rPr lang="es-MX" sz="2000" dirty="0" err="1"/>
              <a:t>isnumeric</a:t>
            </a:r>
            <a:r>
              <a:rPr lang="es-MX" sz="2000" dirty="0"/>
              <a:t>( ): determina si todos los caracteres de la cadena son números, incluye también caracteres de connotación numérica que no necesariamente son dígitos (por ejemplo, una fracción).</a:t>
            </a:r>
          </a:p>
          <a:p>
            <a:pPr marL="0" indent="0">
              <a:buNone/>
            </a:pPr>
            <a:r>
              <a:rPr lang="es-MX" sz="2000" dirty="0"/>
              <a:t>"1234" .</a:t>
            </a:r>
            <a:r>
              <a:rPr lang="es-MX" sz="2000" dirty="0" err="1"/>
              <a:t>isnumeric</a:t>
            </a:r>
            <a:r>
              <a:rPr lang="es-MX" sz="2000" dirty="0"/>
              <a:t>() </a:t>
            </a:r>
          </a:p>
          <a:p>
            <a:pPr marL="0" indent="0">
              <a:buNone/>
            </a:pPr>
            <a:r>
              <a:rPr lang="es-MX" sz="2000" dirty="0"/>
              <a:t>&gt;&gt; True</a:t>
            </a:r>
          </a:p>
        </p:txBody>
      </p:sp>
      <p:sp>
        <p:nvSpPr>
          <p:cNvPr id="5" name="Marcador de número de diapositiva 4">
            <a:extLst>
              <a:ext uri="{FF2B5EF4-FFF2-40B4-BE49-F238E27FC236}">
                <a16:creationId xmlns:a16="http://schemas.microsoft.com/office/drawing/2014/main" id="{03860EBC-BA4C-E26F-911D-9DD9ADA37450}"/>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41</a:t>
            </a:fld>
            <a:endParaRPr lang="es-MX" sz="1100">
              <a:solidFill>
                <a:schemeClr val="tx1">
                  <a:lumMod val="50000"/>
                  <a:lumOff val="50000"/>
                </a:schemeClr>
              </a:solidFill>
            </a:endParaRPr>
          </a:p>
        </p:txBody>
      </p:sp>
    </p:spTree>
    <p:extLst>
      <p:ext uri="{BB962C8B-B14F-4D97-AF65-F5344CB8AC3E}">
        <p14:creationId xmlns:p14="http://schemas.microsoft.com/office/powerpoint/2010/main" val="32209500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035F0AE-E6E6-8BC1-F84B-F963C2FB8F2B}"/>
              </a:ext>
            </a:extLst>
          </p:cNvPr>
          <p:cNvSpPr>
            <a:spLocks noGrp="1"/>
          </p:cNvSpPr>
          <p:nvPr>
            <p:ph type="title"/>
          </p:nvPr>
        </p:nvSpPr>
        <p:spPr>
          <a:xfrm>
            <a:off x="1371599" y="294538"/>
            <a:ext cx="9895951" cy="1033669"/>
          </a:xfrm>
        </p:spPr>
        <p:txBody>
          <a:bodyPr>
            <a:normAutofit/>
          </a:bodyPr>
          <a:lstStyle/>
          <a:p>
            <a:endParaRPr lang="es-MX" sz="4000">
              <a:solidFill>
                <a:srgbClr val="FFFFFF"/>
              </a:solidFill>
            </a:endParaRPr>
          </a:p>
        </p:txBody>
      </p:sp>
      <p:sp>
        <p:nvSpPr>
          <p:cNvPr id="4" name="Marcador de pie de página 3">
            <a:extLst>
              <a:ext uri="{FF2B5EF4-FFF2-40B4-BE49-F238E27FC236}">
                <a16:creationId xmlns:a16="http://schemas.microsoft.com/office/drawing/2014/main" id="{BE90F90D-40E5-D58B-FEA6-5220D3821855}"/>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35B9D17F-8E07-688C-D118-B23A83D79051}"/>
              </a:ext>
            </a:extLst>
          </p:cNvPr>
          <p:cNvSpPr>
            <a:spLocks noGrp="1"/>
          </p:cNvSpPr>
          <p:nvPr>
            <p:ph idx="1"/>
          </p:nvPr>
        </p:nvSpPr>
        <p:spPr>
          <a:xfrm>
            <a:off x="47112" y="1590740"/>
            <a:ext cx="12191997" cy="5229815"/>
          </a:xfrm>
        </p:spPr>
        <p:txBody>
          <a:bodyPr anchor="ctr">
            <a:normAutofit lnSpcReduction="10000"/>
          </a:bodyPr>
          <a:lstStyle/>
          <a:p>
            <a:pPr marL="0" indent="0">
              <a:buNone/>
            </a:pPr>
            <a:r>
              <a:rPr lang="es-MX" sz="2400" dirty="0" err="1"/>
              <a:t>isdecimal</a:t>
            </a:r>
            <a:r>
              <a:rPr lang="es-MX" sz="2400" dirty="0"/>
              <a:t>( ): determina si todos los caracteres de la cadena son decimales; esto es, formados por dígitos del 0 al 9</a:t>
            </a:r>
          </a:p>
          <a:p>
            <a:pPr marL="0" indent="0">
              <a:buNone/>
            </a:pPr>
            <a:r>
              <a:rPr lang="es-MX" sz="2400" dirty="0"/>
              <a:t>"1234" .</a:t>
            </a:r>
            <a:r>
              <a:rPr lang="es-MX" sz="2400" dirty="0" err="1"/>
              <a:t>isdecimal</a:t>
            </a:r>
            <a:r>
              <a:rPr lang="es-MX" sz="2400" dirty="0"/>
              <a:t>() </a:t>
            </a:r>
          </a:p>
          <a:p>
            <a:pPr marL="0" indent="0">
              <a:buNone/>
            </a:pPr>
            <a:r>
              <a:rPr lang="es-MX" sz="2400" dirty="0"/>
              <a:t>&gt;&gt; True</a:t>
            </a:r>
          </a:p>
          <a:p>
            <a:pPr marL="0" indent="0">
              <a:buNone/>
            </a:pPr>
            <a:endParaRPr lang="es-MX" sz="2400" dirty="0"/>
          </a:p>
          <a:p>
            <a:pPr marL="0" indent="0">
              <a:buNone/>
            </a:pPr>
            <a:r>
              <a:rPr lang="es-MX" sz="2400" dirty="0" err="1"/>
              <a:t>isalnum</a:t>
            </a:r>
            <a:r>
              <a:rPr lang="es-MX" sz="2400" dirty="0"/>
              <a:t>( ): determina si todos los caracteres de la cadena son alfanuméricos.</a:t>
            </a:r>
          </a:p>
          <a:p>
            <a:pPr marL="0" indent="0">
              <a:buNone/>
            </a:pPr>
            <a:r>
              <a:rPr lang="es-MX" sz="2400" dirty="0"/>
              <a:t>"abc123" .</a:t>
            </a:r>
            <a:r>
              <a:rPr lang="es-MX" sz="2400" dirty="0" err="1"/>
              <a:t>isalnum</a:t>
            </a:r>
            <a:r>
              <a:rPr lang="es-MX" sz="2400" dirty="0"/>
              <a:t>() </a:t>
            </a:r>
          </a:p>
          <a:p>
            <a:pPr marL="0" indent="0">
              <a:buNone/>
            </a:pPr>
            <a:r>
              <a:rPr lang="es-MX" sz="2400" dirty="0"/>
              <a:t>&gt;&gt; True</a:t>
            </a:r>
          </a:p>
          <a:p>
            <a:pPr marL="0" indent="0">
              <a:buNone/>
            </a:pPr>
            <a:endParaRPr lang="es-MX" sz="2400" dirty="0"/>
          </a:p>
          <a:p>
            <a:pPr marL="0" indent="0">
              <a:buNone/>
            </a:pPr>
            <a:r>
              <a:rPr lang="es-MX" sz="2400" dirty="0" err="1"/>
              <a:t>isalpha</a:t>
            </a:r>
            <a:r>
              <a:rPr lang="es-MX" sz="2400" dirty="0"/>
              <a:t>( ): determina si todos los caracteres de la cadena son alfabéticos</a:t>
            </a:r>
          </a:p>
          <a:p>
            <a:pPr marL="0" indent="0">
              <a:buNone/>
            </a:pPr>
            <a:r>
              <a:rPr lang="es-MX" sz="2400" dirty="0"/>
              <a:t>"abc123" .</a:t>
            </a:r>
            <a:r>
              <a:rPr lang="es-MX" sz="2400" dirty="0" err="1"/>
              <a:t>isalpha</a:t>
            </a:r>
            <a:r>
              <a:rPr lang="es-MX" sz="2400" dirty="0"/>
              <a:t>() </a:t>
            </a:r>
          </a:p>
          <a:p>
            <a:pPr marL="0" indent="0">
              <a:buNone/>
            </a:pPr>
            <a:r>
              <a:rPr lang="es-MX" sz="2400" dirty="0"/>
              <a:t>&gt;&gt; False</a:t>
            </a:r>
          </a:p>
        </p:txBody>
      </p:sp>
      <p:sp>
        <p:nvSpPr>
          <p:cNvPr id="5" name="Marcador de número de diapositiva 4">
            <a:extLst>
              <a:ext uri="{FF2B5EF4-FFF2-40B4-BE49-F238E27FC236}">
                <a16:creationId xmlns:a16="http://schemas.microsoft.com/office/drawing/2014/main" id="{1D99AE3C-E697-91FD-B29F-E8502C3DD791}"/>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42</a:t>
            </a:fld>
            <a:endParaRPr lang="es-MX" sz="1100">
              <a:solidFill>
                <a:schemeClr val="tx1">
                  <a:lumMod val="50000"/>
                  <a:lumOff val="50000"/>
                </a:schemeClr>
              </a:solidFill>
            </a:endParaRPr>
          </a:p>
        </p:txBody>
      </p:sp>
    </p:spTree>
    <p:extLst>
      <p:ext uri="{BB962C8B-B14F-4D97-AF65-F5344CB8AC3E}">
        <p14:creationId xmlns:p14="http://schemas.microsoft.com/office/powerpoint/2010/main" val="41568162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35C8FCE-0039-04FF-3FDB-988F656CBDF2}"/>
              </a:ext>
            </a:extLst>
          </p:cNvPr>
          <p:cNvSpPr>
            <a:spLocks noGrp="1"/>
          </p:cNvSpPr>
          <p:nvPr>
            <p:ph type="title"/>
          </p:nvPr>
        </p:nvSpPr>
        <p:spPr>
          <a:xfrm>
            <a:off x="838200" y="365125"/>
            <a:ext cx="10515600" cy="1325563"/>
          </a:xfrm>
        </p:spPr>
        <p:txBody>
          <a:bodyPr>
            <a:normAutofit/>
          </a:bodyPr>
          <a:lstStyle/>
          <a:p>
            <a:endParaRPr lang="es-MX" sz="5400"/>
          </a:p>
        </p:txBody>
      </p:sp>
      <p:sp>
        <p:nvSpPr>
          <p:cNvPr id="13"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pie de página 3">
            <a:extLst>
              <a:ext uri="{FF2B5EF4-FFF2-40B4-BE49-F238E27FC236}">
                <a16:creationId xmlns:a16="http://schemas.microsoft.com/office/drawing/2014/main" id="{4E6AEBBE-23A0-5152-67EA-7A8A1624A5E9}"/>
              </a:ext>
            </a:extLst>
          </p:cNvPr>
          <p:cNvSpPr>
            <a:spLocks noGrp="1"/>
          </p:cNvSpPr>
          <p:nvPr>
            <p:ph type="ftr" sz="quarter" idx="11"/>
          </p:nvPr>
        </p:nvSpPr>
        <p:spPr>
          <a:xfrm>
            <a:off x="4038600" y="6356350"/>
            <a:ext cx="4114800" cy="365125"/>
          </a:xfrm>
        </p:spPr>
        <p:txBody>
          <a:bodyPr>
            <a:normAutofit/>
          </a:bodyPr>
          <a:lstStyle/>
          <a:p>
            <a:pPr>
              <a:spcAft>
                <a:spcPts val="600"/>
              </a:spcAft>
            </a:pPr>
            <a:r>
              <a:rPr lang="es-MX"/>
              <a:t>Arabots Robotics</a:t>
            </a:r>
          </a:p>
        </p:txBody>
      </p:sp>
      <p:sp>
        <p:nvSpPr>
          <p:cNvPr id="5" name="Marcador de número de diapositiva 4">
            <a:extLst>
              <a:ext uri="{FF2B5EF4-FFF2-40B4-BE49-F238E27FC236}">
                <a16:creationId xmlns:a16="http://schemas.microsoft.com/office/drawing/2014/main" id="{7135695B-3181-EFBA-2A54-9AFFFEF4AFFD}"/>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smtClean="0"/>
              <a:pPr>
                <a:spcAft>
                  <a:spcPts val="600"/>
                </a:spcAft>
              </a:pPr>
              <a:t>43</a:t>
            </a:fld>
            <a:endParaRPr lang="es-MX"/>
          </a:p>
        </p:txBody>
      </p:sp>
      <p:graphicFrame>
        <p:nvGraphicFramePr>
          <p:cNvPr id="7" name="Marcador de contenido 2">
            <a:extLst>
              <a:ext uri="{FF2B5EF4-FFF2-40B4-BE49-F238E27FC236}">
                <a16:creationId xmlns:a16="http://schemas.microsoft.com/office/drawing/2014/main" id="{FC770235-D70F-F35D-582F-59051B994FCE}"/>
              </a:ext>
            </a:extLst>
          </p:cNvPr>
          <p:cNvGraphicFramePr>
            <a:graphicFrameLocks noGrp="1"/>
          </p:cNvGraphicFramePr>
          <p:nvPr>
            <p:ph idx="1"/>
            <p:extLst>
              <p:ext uri="{D42A27DB-BD31-4B8C-83A1-F6EECF244321}">
                <p14:modId xmlns:p14="http://schemas.microsoft.com/office/powerpoint/2010/main" val="1176450129"/>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39878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99DED67A-9978-4F4F-8155-9FEC5D369046}"/>
              </a:ext>
            </a:extLst>
          </p:cNvPr>
          <p:cNvSpPr>
            <a:spLocks noGrp="1"/>
          </p:cNvSpPr>
          <p:nvPr>
            <p:ph type="title"/>
          </p:nvPr>
        </p:nvSpPr>
        <p:spPr>
          <a:xfrm>
            <a:off x="826396" y="586855"/>
            <a:ext cx="4230100" cy="3387497"/>
          </a:xfrm>
        </p:spPr>
        <p:txBody>
          <a:bodyPr anchor="b">
            <a:normAutofit/>
          </a:bodyPr>
          <a:lstStyle/>
          <a:p>
            <a:pPr algn="r"/>
            <a:r>
              <a:rPr lang="es-MX" sz="4000" i="1">
                <a:solidFill>
                  <a:srgbClr val="FFFFFF"/>
                </a:solidFill>
              </a:rPr>
              <a:t>métodos de transformación</a:t>
            </a:r>
          </a:p>
        </p:txBody>
      </p:sp>
      <p:sp>
        <p:nvSpPr>
          <p:cNvPr id="4" name="Marcador de pie de página 3">
            <a:extLst>
              <a:ext uri="{FF2B5EF4-FFF2-40B4-BE49-F238E27FC236}">
                <a16:creationId xmlns:a16="http://schemas.microsoft.com/office/drawing/2014/main" id="{832F4148-AD27-6568-2409-4C1420F3D05E}"/>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2C6C1B4F-FFD7-CC11-353F-F7866171CBBC}"/>
              </a:ext>
            </a:extLst>
          </p:cNvPr>
          <p:cNvSpPr>
            <a:spLocks noGrp="1"/>
          </p:cNvSpPr>
          <p:nvPr>
            <p:ph idx="1"/>
          </p:nvPr>
        </p:nvSpPr>
        <p:spPr>
          <a:xfrm>
            <a:off x="6503158" y="649480"/>
            <a:ext cx="4862447" cy="5546047"/>
          </a:xfrm>
        </p:spPr>
        <p:txBody>
          <a:bodyPr anchor="ctr">
            <a:normAutofit/>
          </a:bodyPr>
          <a:lstStyle/>
          <a:p>
            <a:pPr marL="0" indent="0">
              <a:buNone/>
            </a:pPr>
            <a:r>
              <a:rPr lang="es-MX" sz="1900" dirty="0"/>
              <a:t>En realidad los strings son inmutables; por ende, todos los métodos a continuación no actúan sobre el objeto original sino que retornan uno nuevo. </a:t>
            </a:r>
          </a:p>
          <a:p>
            <a:pPr marL="0" indent="0">
              <a:buNone/>
            </a:pPr>
            <a:r>
              <a:rPr lang="es-MX" sz="1900" dirty="0" err="1"/>
              <a:t>capitalize</a:t>
            </a:r>
            <a:r>
              <a:rPr lang="es-MX" sz="1900" dirty="0"/>
              <a:t>( ) retorna la cadena con su primera letra en mayúscula.</a:t>
            </a:r>
          </a:p>
          <a:p>
            <a:pPr marL="0" indent="0">
              <a:buNone/>
            </a:pPr>
            <a:r>
              <a:rPr lang="es-MX" sz="1900" dirty="0"/>
              <a:t>"hola mundo" .</a:t>
            </a:r>
            <a:r>
              <a:rPr lang="es-MX" sz="1900" dirty="0" err="1"/>
              <a:t>capitalize</a:t>
            </a:r>
            <a:r>
              <a:rPr lang="es-MX" sz="1900" dirty="0"/>
              <a:t>() </a:t>
            </a:r>
          </a:p>
          <a:p>
            <a:pPr marL="0" indent="0">
              <a:buNone/>
            </a:pPr>
            <a:r>
              <a:rPr lang="es-MX" sz="1900" dirty="0"/>
              <a:t>&gt;&gt; 'Hola mundo’</a:t>
            </a:r>
          </a:p>
          <a:p>
            <a:pPr marL="0" indent="0">
              <a:buNone/>
            </a:pPr>
            <a:r>
              <a:rPr lang="es-MX" sz="1900" dirty="0" err="1"/>
              <a:t>encode</a:t>
            </a:r>
            <a:r>
              <a:rPr lang="es-MX" sz="1900" dirty="0"/>
              <a:t>( ) codifica la cadena con el mapa de caracteres especificado y retorna una instancia del tipo bytes.</a:t>
            </a:r>
          </a:p>
          <a:p>
            <a:pPr marL="0" indent="0">
              <a:buNone/>
            </a:pPr>
            <a:r>
              <a:rPr lang="es-MX" sz="1900" dirty="0"/>
              <a:t> "Hola mundo" .</a:t>
            </a:r>
            <a:r>
              <a:rPr lang="es-MX" sz="1900" dirty="0" err="1"/>
              <a:t>encode</a:t>
            </a:r>
            <a:r>
              <a:rPr lang="es-MX" sz="1900" dirty="0"/>
              <a:t>("utf-8") </a:t>
            </a:r>
          </a:p>
          <a:p>
            <a:pPr marL="0" indent="0">
              <a:buNone/>
            </a:pPr>
            <a:r>
              <a:rPr lang="es-MX" sz="1900" dirty="0"/>
              <a:t>&gt;&gt; </a:t>
            </a:r>
            <a:r>
              <a:rPr lang="es-MX" sz="1900" dirty="0" err="1"/>
              <a:t>b'Hola</a:t>
            </a:r>
            <a:r>
              <a:rPr lang="es-MX" sz="1900" dirty="0"/>
              <a:t> mundo’</a:t>
            </a:r>
          </a:p>
          <a:p>
            <a:pPr marL="0" indent="0">
              <a:buNone/>
            </a:pPr>
            <a:r>
              <a:rPr lang="es-MX" sz="1900" dirty="0" err="1"/>
              <a:t>replace</a:t>
            </a:r>
            <a:r>
              <a:rPr lang="es-MX" sz="1900" dirty="0"/>
              <a:t>( ) reemplaza una cadena por otra. </a:t>
            </a:r>
          </a:p>
          <a:p>
            <a:pPr marL="0" indent="0">
              <a:buNone/>
            </a:pPr>
            <a:r>
              <a:rPr lang="es-MX" sz="1900" dirty="0"/>
              <a:t>"Hola mundo" .</a:t>
            </a:r>
            <a:r>
              <a:rPr lang="es-MX" sz="1900" dirty="0" err="1"/>
              <a:t>replace</a:t>
            </a:r>
            <a:r>
              <a:rPr lang="es-MX" sz="1900" dirty="0"/>
              <a:t>("mundo" , "</a:t>
            </a:r>
            <a:r>
              <a:rPr lang="es-MX" sz="1900" dirty="0" err="1"/>
              <a:t>world</a:t>
            </a:r>
            <a:r>
              <a:rPr lang="es-MX" sz="1900" dirty="0"/>
              <a:t>") </a:t>
            </a:r>
          </a:p>
          <a:p>
            <a:pPr marL="0" indent="0">
              <a:buNone/>
            </a:pPr>
            <a:r>
              <a:rPr lang="es-MX" sz="1900" dirty="0"/>
              <a:t>&gt;&gt; 'Hola </a:t>
            </a:r>
            <a:r>
              <a:rPr lang="es-MX" sz="1900" dirty="0" err="1"/>
              <a:t>world</a:t>
            </a:r>
            <a:r>
              <a:rPr lang="es-MX" sz="1900" dirty="0"/>
              <a:t>'</a:t>
            </a:r>
          </a:p>
        </p:txBody>
      </p:sp>
      <p:sp>
        <p:nvSpPr>
          <p:cNvPr id="5" name="Marcador de número de diapositiva 4">
            <a:extLst>
              <a:ext uri="{FF2B5EF4-FFF2-40B4-BE49-F238E27FC236}">
                <a16:creationId xmlns:a16="http://schemas.microsoft.com/office/drawing/2014/main" id="{1FE09C26-5808-89ED-D9E8-92E2F8B2638D}"/>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44</a:t>
            </a:fld>
            <a:endParaRPr lang="es-MX" sz="1100">
              <a:solidFill>
                <a:schemeClr val="tx1">
                  <a:lumMod val="50000"/>
                  <a:lumOff val="50000"/>
                </a:schemeClr>
              </a:solidFill>
            </a:endParaRPr>
          </a:p>
        </p:txBody>
      </p:sp>
    </p:spTree>
    <p:extLst>
      <p:ext uri="{BB962C8B-B14F-4D97-AF65-F5344CB8AC3E}">
        <p14:creationId xmlns:p14="http://schemas.microsoft.com/office/powerpoint/2010/main" val="11782381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C58AD7C-1A0C-D5C6-3195-9EEAB83B236B}"/>
              </a:ext>
            </a:extLst>
          </p:cNvPr>
          <p:cNvSpPr>
            <a:spLocks noGrp="1"/>
          </p:cNvSpPr>
          <p:nvPr>
            <p:ph type="title"/>
          </p:nvPr>
        </p:nvSpPr>
        <p:spPr>
          <a:xfrm>
            <a:off x="1371599" y="294538"/>
            <a:ext cx="9895951" cy="1033669"/>
          </a:xfrm>
        </p:spPr>
        <p:txBody>
          <a:bodyPr>
            <a:normAutofit/>
          </a:bodyPr>
          <a:lstStyle/>
          <a:p>
            <a:endParaRPr lang="es-MX" sz="4000">
              <a:solidFill>
                <a:srgbClr val="FFFFFF"/>
              </a:solidFill>
            </a:endParaRPr>
          </a:p>
        </p:txBody>
      </p:sp>
      <p:sp>
        <p:nvSpPr>
          <p:cNvPr id="4" name="Marcador de pie de página 3">
            <a:extLst>
              <a:ext uri="{FF2B5EF4-FFF2-40B4-BE49-F238E27FC236}">
                <a16:creationId xmlns:a16="http://schemas.microsoft.com/office/drawing/2014/main" id="{9FF07026-7877-C0B4-16F7-6B234808B923}"/>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F64AA779-2FE8-FBEA-D5E7-6EEB8973057F}"/>
              </a:ext>
            </a:extLst>
          </p:cNvPr>
          <p:cNvSpPr>
            <a:spLocks noGrp="1"/>
          </p:cNvSpPr>
          <p:nvPr>
            <p:ph idx="1"/>
          </p:nvPr>
        </p:nvSpPr>
        <p:spPr>
          <a:xfrm>
            <a:off x="-3" y="1597432"/>
            <a:ext cx="12192003" cy="5260568"/>
          </a:xfrm>
        </p:spPr>
        <p:txBody>
          <a:bodyPr anchor="ctr">
            <a:normAutofit/>
          </a:bodyPr>
          <a:lstStyle/>
          <a:p>
            <a:pPr marL="0" indent="0">
              <a:buNone/>
            </a:pPr>
            <a:r>
              <a:rPr lang="es-MX" sz="3200" dirty="0" err="1"/>
              <a:t>lower</a:t>
            </a:r>
            <a:r>
              <a:rPr lang="es-MX" sz="3200" dirty="0"/>
              <a:t>( ) retorna una copia de la cadena con todas sus letras en minúsculas.</a:t>
            </a:r>
          </a:p>
          <a:p>
            <a:pPr marL="0" indent="0">
              <a:buNone/>
            </a:pPr>
            <a:r>
              <a:rPr lang="es-MX" sz="3200" dirty="0"/>
              <a:t>"Hola Mundo!" .</a:t>
            </a:r>
            <a:r>
              <a:rPr lang="es-MX" sz="3200" dirty="0" err="1"/>
              <a:t>lower</a:t>
            </a:r>
            <a:r>
              <a:rPr lang="es-MX" sz="3200" dirty="0"/>
              <a:t>() </a:t>
            </a:r>
          </a:p>
          <a:p>
            <a:pPr marL="0" indent="0">
              <a:buNone/>
            </a:pPr>
            <a:r>
              <a:rPr lang="es-MX" sz="3200" dirty="0"/>
              <a:t>&gt;&gt; 'hola mundo!'</a:t>
            </a:r>
          </a:p>
          <a:p>
            <a:pPr marL="0" indent="0">
              <a:buNone/>
            </a:pPr>
            <a:r>
              <a:rPr lang="es-MX" sz="3200" dirty="0"/>
              <a:t> </a:t>
            </a:r>
            <a:r>
              <a:rPr lang="es-MX" sz="3200" dirty="0" err="1"/>
              <a:t>upper</a:t>
            </a:r>
            <a:r>
              <a:rPr lang="es-MX" sz="3200" dirty="0"/>
              <a:t>( ) retorna una copia de la cadena con todas sus letras en mayúsculas. </a:t>
            </a:r>
          </a:p>
          <a:p>
            <a:pPr marL="0" indent="0">
              <a:buNone/>
            </a:pPr>
            <a:r>
              <a:rPr lang="es-MX" sz="3200" dirty="0"/>
              <a:t>"Hola Mundo!" .</a:t>
            </a:r>
            <a:r>
              <a:rPr lang="es-MX" sz="3200" dirty="0" err="1"/>
              <a:t>upper</a:t>
            </a:r>
            <a:r>
              <a:rPr lang="es-MX" sz="3200" dirty="0"/>
              <a:t>() </a:t>
            </a:r>
          </a:p>
          <a:p>
            <a:pPr marL="0" indent="0">
              <a:buNone/>
            </a:pPr>
            <a:r>
              <a:rPr lang="es-MX" sz="3200" dirty="0"/>
              <a:t>&gt;&gt; 'HOLA MUNDO!' </a:t>
            </a:r>
          </a:p>
        </p:txBody>
      </p:sp>
      <p:sp>
        <p:nvSpPr>
          <p:cNvPr id="5" name="Marcador de número de diapositiva 4">
            <a:extLst>
              <a:ext uri="{FF2B5EF4-FFF2-40B4-BE49-F238E27FC236}">
                <a16:creationId xmlns:a16="http://schemas.microsoft.com/office/drawing/2014/main" id="{895490CF-AE02-B423-636E-713357DC9134}"/>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45</a:t>
            </a:fld>
            <a:endParaRPr lang="es-MX" sz="1100">
              <a:solidFill>
                <a:schemeClr val="tx1">
                  <a:lumMod val="50000"/>
                  <a:lumOff val="50000"/>
                </a:schemeClr>
              </a:solidFill>
            </a:endParaRPr>
          </a:p>
        </p:txBody>
      </p:sp>
    </p:spTree>
    <p:extLst>
      <p:ext uri="{BB962C8B-B14F-4D97-AF65-F5344CB8AC3E}">
        <p14:creationId xmlns:p14="http://schemas.microsoft.com/office/powerpoint/2010/main" val="34014519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DBBD030-85BE-84EE-F384-BF5455E220B0}"/>
              </a:ext>
            </a:extLst>
          </p:cNvPr>
          <p:cNvSpPr>
            <a:spLocks noGrp="1"/>
          </p:cNvSpPr>
          <p:nvPr>
            <p:ph type="title"/>
          </p:nvPr>
        </p:nvSpPr>
        <p:spPr>
          <a:xfrm>
            <a:off x="1371599" y="294538"/>
            <a:ext cx="9895951" cy="1033669"/>
          </a:xfrm>
        </p:spPr>
        <p:txBody>
          <a:bodyPr>
            <a:normAutofit/>
          </a:bodyPr>
          <a:lstStyle/>
          <a:p>
            <a:endParaRPr lang="es-MX" sz="4000">
              <a:solidFill>
                <a:srgbClr val="FFFFFF"/>
              </a:solidFill>
            </a:endParaRPr>
          </a:p>
        </p:txBody>
      </p:sp>
      <p:sp>
        <p:nvSpPr>
          <p:cNvPr id="4" name="Marcador de pie de página 3">
            <a:extLst>
              <a:ext uri="{FF2B5EF4-FFF2-40B4-BE49-F238E27FC236}">
                <a16:creationId xmlns:a16="http://schemas.microsoft.com/office/drawing/2014/main" id="{6F8ED762-7C86-CDED-99E0-9689A087175E}"/>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291CCF83-825C-ABF5-729E-4E217B7E5FD0}"/>
              </a:ext>
            </a:extLst>
          </p:cNvPr>
          <p:cNvSpPr>
            <a:spLocks noGrp="1"/>
          </p:cNvSpPr>
          <p:nvPr>
            <p:ph idx="1"/>
          </p:nvPr>
        </p:nvSpPr>
        <p:spPr>
          <a:xfrm>
            <a:off x="-3" y="1590742"/>
            <a:ext cx="12192003" cy="5267258"/>
          </a:xfrm>
        </p:spPr>
        <p:txBody>
          <a:bodyPr anchor="ctr">
            <a:normAutofit lnSpcReduction="10000"/>
          </a:bodyPr>
          <a:lstStyle/>
          <a:p>
            <a:pPr marL="0" indent="0">
              <a:buNone/>
            </a:pPr>
            <a:r>
              <a:rPr lang="es-MX" dirty="0" err="1"/>
              <a:t>swapcase</a:t>
            </a:r>
            <a:r>
              <a:rPr lang="es-MX" dirty="0"/>
              <a:t>( ) cambia las mayúsculas por minúsculas y viceversa. </a:t>
            </a:r>
          </a:p>
          <a:p>
            <a:pPr marL="0" indent="0">
              <a:buNone/>
            </a:pPr>
            <a:r>
              <a:rPr lang="es-MX" dirty="0"/>
              <a:t>"Hola Mundo!" .</a:t>
            </a:r>
            <a:r>
              <a:rPr lang="es-MX" dirty="0" err="1"/>
              <a:t>swapcase</a:t>
            </a:r>
            <a:r>
              <a:rPr lang="es-MX" dirty="0"/>
              <a:t>() </a:t>
            </a:r>
          </a:p>
          <a:p>
            <a:pPr marL="0" indent="0">
              <a:buNone/>
            </a:pPr>
            <a:r>
              <a:rPr lang="es-MX" dirty="0"/>
              <a:t>&gt;&gt; '</a:t>
            </a:r>
            <a:r>
              <a:rPr lang="es-MX" dirty="0" err="1"/>
              <a:t>hOLA</a:t>
            </a:r>
            <a:r>
              <a:rPr lang="es-MX" dirty="0"/>
              <a:t> </a:t>
            </a:r>
            <a:r>
              <a:rPr lang="es-MX" dirty="0" err="1"/>
              <a:t>mUNDO</a:t>
            </a:r>
            <a:r>
              <a:rPr lang="es-MX" dirty="0"/>
              <a:t>!'</a:t>
            </a:r>
          </a:p>
          <a:p>
            <a:pPr marL="0" indent="0">
              <a:buNone/>
            </a:pPr>
            <a:r>
              <a:rPr lang="es-MX" dirty="0" err="1"/>
              <a:t>strip</a:t>
            </a:r>
            <a:r>
              <a:rPr lang="es-MX" dirty="0"/>
              <a:t>( ), </a:t>
            </a:r>
            <a:r>
              <a:rPr lang="es-MX" dirty="0" err="1"/>
              <a:t>lstrip</a:t>
            </a:r>
            <a:r>
              <a:rPr lang="es-MX" dirty="0"/>
              <a:t>( ) y </a:t>
            </a:r>
            <a:r>
              <a:rPr lang="es-MX" dirty="0" err="1"/>
              <a:t>rstrip</a:t>
            </a:r>
            <a:r>
              <a:rPr lang="es-MX" dirty="0"/>
              <a:t>( ) remueven los espacios en blanco que preceden y/o suceden a la cadena.</a:t>
            </a:r>
          </a:p>
          <a:p>
            <a:pPr marL="0" indent="0">
              <a:buNone/>
            </a:pPr>
            <a:r>
              <a:rPr lang="es-MX" dirty="0"/>
              <a:t>" Hola mundo! " .</a:t>
            </a:r>
            <a:r>
              <a:rPr lang="es-MX" dirty="0" err="1"/>
              <a:t>strip</a:t>
            </a:r>
            <a:r>
              <a:rPr lang="es-MX" dirty="0"/>
              <a:t>() </a:t>
            </a:r>
          </a:p>
          <a:p>
            <a:pPr marL="0" indent="0">
              <a:buNone/>
            </a:pPr>
            <a:r>
              <a:rPr lang="es-MX" dirty="0"/>
              <a:t>&gt;&gt; 'Hola mundo!'</a:t>
            </a:r>
          </a:p>
          <a:p>
            <a:pPr marL="0" indent="0">
              <a:buNone/>
            </a:pPr>
            <a:r>
              <a:rPr lang="es-MX" dirty="0"/>
              <a:t> </a:t>
            </a:r>
            <a:r>
              <a:rPr lang="es-MX" dirty="0" err="1"/>
              <a:t>split</a:t>
            </a:r>
            <a:r>
              <a:rPr lang="es-MX" dirty="0"/>
              <a:t>( ) divide una cadena según un </a:t>
            </a:r>
            <a:r>
              <a:rPr lang="es-MX" dirty="0" err="1"/>
              <a:t>caracter</a:t>
            </a:r>
            <a:r>
              <a:rPr lang="es-MX" dirty="0"/>
              <a:t> separador (por defecto son espacios en blanco). </a:t>
            </a:r>
          </a:p>
          <a:p>
            <a:pPr marL="0" indent="0">
              <a:buNone/>
            </a:pPr>
            <a:r>
              <a:rPr lang="es-MX" dirty="0"/>
              <a:t>"Hola" .center(10, "*") </a:t>
            </a:r>
          </a:p>
          <a:p>
            <a:pPr marL="0" indent="0">
              <a:buNone/>
            </a:pPr>
            <a:r>
              <a:rPr lang="es-MX" dirty="0"/>
              <a:t>&gt;&gt; '***Hola***'</a:t>
            </a:r>
          </a:p>
        </p:txBody>
      </p:sp>
      <p:sp>
        <p:nvSpPr>
          <p:cNvPr id="5" name="Marcador de número de diapositiva 4">
            <a:extLst>
              <a:ext uri="{FF2B5EF4-FFF2-40B4-BE49-F238E27FC236}">
                <a16:creationId xmlns:a16="http://schemas.microsoft.com/office/drawing/2014/main" id="{1BD5826B-3A75-E539-64ED-328E0D04C228}"/>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46</a:t>
            </a:fld>
            <a:endParaRPr lang="es-MX" sz="1100">
              <a:solidFill>
                <a:schemeClr val="tx1">
                  <a:lumMod val="50000"/>
                  <a:lumOff val="50000"/>
                </a:schemeClr>
              </a:solidFill>
            </a:endParaRPr>
          </a:p>
        </p:txBody>
      </p:sp>
    </p:spTree>
    <p:extLst>
      <p:ext uri="{BB962C8B-B14F-4D97-AF65-F5344CB8AC3E}">
        <p14:creationId xmlns:p14="http://schemas.microsoft.com/office/powerpoint/2010/main" val="21102448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E13DE92-2042-359B-F9CD-8207946CE0F9}"/>
              </a:ext>
            </a:extLst>
          </p:cNvPr>
          <p:cNvSpPr>
            <a:spLocks noGrp="1"/>
          </p:cNvSpPr>
          <p:nvPr>
            <p:ph type="title"/>
          </p:nvPr>
        </p:nvSpPr>
        <p:spPr>
          <a:xfrm>
            <a:off x="1371599" y="294538"/>
            <a:ext cx="9895951" cy="1033669"/>
          </a:xfrm>
        </p:spPr>
        <p:txBody>
          <a:bodyPr>
            <a:normAutofit/>
          </a:bodyPr>
          <a:lstStyle/>
          <a:p>
            <a:r>
              <a:rPr lang="es-MX" sz="4000" i="1">
                <a:solidFill>
                  <a:srgbClr val="FFFFFF"/>
                </a:solidFill>
              </a:rPr>
              <a:t>Método de separación y union</a:t>
            </a:r>
          </a:p>
        </p:txBody>
      </p:sp>
      <p:sp>
        <p:nvSpPr>
          <p:cNvPr id="4" name="Marcador de pie de página 3">
            <a:extLst>
              <a:ext uri="{FF2B5EF4-FFF2-40B4-BE49-F238E27FC236}">
                <a16:creationId xmlns:a16="http://schemas.microsoft.com/office/drawing/2014/main" id="{8EFE3C74-667C-A9CA-1CFB-CD9B8B9199A1}"/>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1E1A5BE6-C115-2445-C009-F50C2B14987F}"/>
              </a:ext>
            </a:extLst>
          </p:cNvPr>
          <p:cNvSpPr>
            <a:spLocks noGrp="1"/>
          </p:cNvSpPr>
          <p:nvPr>
            <p:ph idx="1"/>
          </p:nvPr>
        </p:nvSpPr>
        <p:spPr>
          <a:xfrm>
            <a:off x="0" y="1597432"/>
            <a:ext cx="12144887" cy="5260567"/>
          </a:xfrm>
        </p:spPr>
        <p:txBody>
          <a:bodyPr anchor="ctr">
            <a:normAutofit/>
          </a:bodyPr>
          <a:lstStyle/>
          <a:p>
            <a:pPr marL="0" indent="0">
              <a:buNone/>
            </a:pPr>
            <a:r>
              <a:rPr lang="es-MX" dirty="0" err="1"/>
              <a:t>split</a:t>
            </a:r>
            <a:r>
              <a:rPr lang="es-MX" dirty="0"/>
              <a:t>( ) divide una cadena según un </a:t>
            </a:r>
            <a:r>
              <a:rPr lang="es-MX" dirty="0" err="1"/>
              <a:t>caracter</a:t>
            </a:r>
            <a:r>
              <a:rPr lang="es-MX" dirty="0"/>
              <a:t> separador (por defecto son espacios en blanco). Un segundo argumento en </a:t>
            </a:r>
            <a:r>
              <a:rPr lang="es-MX" dirty="0" err="1"/>
              <a:t>split</a:t>
            </a:r>
            <a:r>
              <a:rPr lang="es-MX" dirty="0"/>
              <a:t>( ) indica cuál es el máximo de divisiones que puede tener lugar (-1 por defecto para representar una cantidad ilimitada).</a:t>
            </a:r>
          </a:p>
          <a:p>
            <a:pPr marL="0" indent="0">
              <a:buNone/>
            </a:pPr>
            <a:r>
              <a:rPr lang="es-MX" dirty="0"/>
              <a:t>"Hola mundo!\</a:t>
            </a:r>
            <a:r>
              <a:rPr lang="es-MX" dirty="0" err="1"/>
              <a:t>nHello</a:t>
            </a:r>
            <a:r>
              <a:rPr lang="es-MX" dirty="0"/>
              <a:t> </a:t>
            </a:r>
            <a:r>
              <a:rPr lang="es-MX" dirty="0" err="1"/>
              <a:t>world</a:t>
            </a:r>
            <a:r>
              <a:rPr lang="es-MX" dirty="0"/>
              <a:t>!" .</a:t>
            </a:r>
            <a:r>
              <a:rPr lang="es-MX" dirty="0" err="1"/>
              <a:t>split</a:t>
            </a:r>
            <a:r>
              <a:rPr lang="es-MX" dirty="0"/>
              <a:t>() </a:t>
            </a:r>
          </a:p>
          <a:p>
            <a:pPr marL="0" indent="0">
              <a:buNone/>
            </a:pPr>
            <a:r>
              <a:rPr lang="es-MX" dirty="0"/>
              <a:t>&gt;&gt; ['Hola' , 'mundo!' , '</a:t>
            </a:r>
            <a:r>
              <a:rPr lang="es-MX" dirty="0" err="1"/>
              <a:t>Hello</a:t>
            </a:r>
            <a:r>
              <a:rPr lang="es-MX" dirty="0"/>
              <a:t>' , '</a:t>
            </a:r>
            <a:r>
              <a:rPr lang="es-MX" dirty="0" err="1"/>
              <a:t>world</a:t>
            </a:r>
            <a:r>
              <a:rPr lang="es-MX" dirty="0"/>
              <a:t>!’]</a:t>
            </a:r>
          </a:p>
          <a:p>
            <a:pPr marL="0" indent="0">
              <a:buNone/>
            </a:pPr>
            <a:r>
              <a:rPr lang="es-MX" dirty="0" err="1"/>
              <a:t>splitlines</a:t>
            </a:r>
            <a:r>
              <a:rPr lang="es-MX" dirty="0"/>
              <a:t>( ) divide una cadena con cada aparición de un salto de línea. </a:t>
            </a:r>
          </a:p>
          <a:p>
            <a:pPr marL="0" indent="0">
              <a:buNone/>
            </a:pPr>
            <a:r>
              <a:rPr lang="es-MX" dirty="0"/>
              <a:t>"Hola mundo!\</a:t>
            </a:r>
            <a:r>
              <a:rPr lang="es-MX" dirty="0" err="1"/>
              <a:t>nHello</a:t>
            </a:r>
            <a:r>
              <a:rPr lang="es-MX" dirty="0"/>
              <a:t> </a:t>
            </a:r>
            <a:r>
              <a:rPr lang="es-MX" dirty="0" err="1"/>
              <a:t>world</a:t>
            </a:r>
            <a:r>
              <a:rPr lang="es-MX" dirty="0"/>
              <a:t>!" .</a:t>
            </a:r>
            <a:r>
              <a:rPr lang="es-MX" dirty="0" err="1"/>
              <a:t>splitlines</a:t>
            </a:r>
            <a:r>
              <a:rPr lang="es-MX" dirty="0"/>
              <a:t>()  </a:t>
            </a:r>
          </a:p>
          <a:p>
            <a:pPr marL="0" indent="0">
              <a:buNone/>
            </a:pPr>
            <a:r>
              <a:rPr lang="es-MX" dirty="0"/>
              <a:t>&gt;&gt; ['Hola mundo!' , '</a:t>
            </a:r>
            <a:r>
              <a:rPr lang="es-MX" dirty="0" err="1"/>
              <a:t>Hello</a:t>
            </a:r>
            <a:r>
              <a:rPr lang="es-MX" dirty="0"/>
              <a:t> </a:t>
            </a:r>
            <a:r>
              <a:rPr lang="es-MX" dirty="0" err="1"/>
              <a:t>world</a:t>
            </a:r>
            <a:r>
              <a:rPr lang="es-MX" dirty="0"/>
              <a:t>!']</a:t>
            </a:r>
          </a:p>
        </p:txBody>
      </p:sp>
      <p:sp>
        <p:nvSpPr>
          <p:cNvPr id="5" name="Marcador de número de diapositiva 4">
            <a:extLst>
              <a:ext uri="{FF2B5EF4-FFF2-40B4-BE49-F238E27FC236}">
                <a16:creationId xmlns:a16="http://schemas.microsoft.com/office/drawing/2014/main" id="{22B9FB9F-6069-489E-1C02-2735327DFA65}"/>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47</a:t>
            </a:fld>
            <a:endParaRPr lang="es-MX" sz="1100">
              <a:solidFill>
                <a:schemeClr val="tx1">
                  <a:lumMod val="50000"/>
                  <a:lumOff val="50000"/>
                </a:schemeClr>
              </a:solidFill>
            </a:endParaRPr>
          </a:p>
        </p:txBody>
      </p:sp>
    </p:spTree>
    <p:extLst>
      <p:ext uri="{BB962C8B-B14F-4D97-AF65-F5344CB8AC3E}">
        <p14:creationId xmlns:p14="http://schemas.microsoft.com/office/powerpoint/2010/main" val="17791128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DE53885-A982-38F1-12E1-B1EB8C2CA0CF}"/>
              </a:ext>
            </a:extLst>
          </p:cNvPr>
          <p:cNvSpPr>
            <a:spLocks noGrp="1"/>
          </p:cNvSpPr>
          <p:nvPr>
            <p:ph type="title"/>
          </p:nvPr>
        </p:nvSpPr>
        <p:spPr>
          <a:xfrm>
            <a:off x="1371599" y="294538"/>
            <a:ext cx="9895951" cy="1033669"/>
          </a:xfrm>
        </p:spPr>
        <p:txBody>
          <a:bodyPr>
            <a:normAutofit/>
          </a:bodyPr>
          <a:lstStyle/>
          <a:p>
            <a:endParaRPr lang="es-MX" sz="4000">
              <a:solidFill>
                <a:srgbClr val="FFFFFF"/>
              </a:solidFill>
            </a:endParaRPr>
          </a:p>
        </p:txBody>
      </p:sp>
      <p:sp>
        <p:nvSpPr>
          <p:cNvPr id="4" name="Marcador de pie de página 3">
            <a:extLst>
              <a:ext uri="{FF2B5EF4-FFF2-40B4-BE49-F238E27FC236}">
                <a16:creationId xmlns:a16="http://schemas.microsoft.com/office/drawing/2014/main" id="{ACAFB954-BBFA-2462-F652-7AA278A48CFC}"/>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1E8C0F1B-D429-EB72-CBA1-18F1B63B0B20}"/>
              </a:ext>
            </a:extLst>
          </p:cNvPr>
          <p:cNvSpPr>
            <a:spLocks noGrp="1"/>
          </p:cNvSpPr>
          <p:nvPr>
            <p:ph idx="1"/>
          </p:nvPr>
        </p:nvSpPr>
        <p:spPr>
          <a:xfrm>
            <a:off x="-4" y="1590740"/>
            <a:ext cx="12192003" cy="5229815"/>
          </a:xfrm>
        </p:spPr>
        <p:txBody>
          <a:bodyPr anchor="ctr">
            <a:normAutofit lnSpcReduction="10000"/>
          </a:bodyPr>
          <a:lstStyle/>
          <a:p>
            <a:pPr marL="0" indent="0">
              <a:buNone/>
            </a:pPr>
            <a:r>
              <a:rPr lang="es-MX" sz="2400" dirty="0" err="1"/>
              <a:t>partition</a:t>
            </a:r>
            <a:r>
              <a:rPr lang="es-MX" sz="2400" dirty="0"/>
              <a:t>( ) retorna una tupla de tres elementos: el bloque de caracteres anterior a la primera ocurrencia del separador, el separador mismo, y el bloque posterior. </a:t>
            </a:r>
          </a:p>
          <a:p>
            <a:pPr marL="0" indent="0">
              <a:buNone/>
            </a:pPr>
            <a:r>
              <a:rPr lang="es-MX" sz="2400" dirty="0"/>
              <a:t>"Hola mundo. </a:t>
            </a:r>
            <a:r>
              <a:rPr lang="es-MX" sz="2400" dirty="0" err="1"/>
              <a:t>Hello</a:t>
            </a:r>
            <a:r>
              <a:rPr lang="es-MX" sz="2400" dirty="0"/>
              <a:t> </a:t>
            </a:r>
            <a:r>
              <a:rPr lang="es-MX" sz="2400" dirty="0" err="1"/>
              <a:t>world</a:t>
            </a:r>
            <a:r>
              <a:rPr lang="es-MX" sz="2400" dirty="0"/>
              <a:t>!" .</a:t>
            </a:r>
            <a:r>
              <a:rPr lang="es-MX" sz="2400" dirty="0" err="1"/>
              <a:t>partition</a:t>
            </a:r>
            <a:r>
              <a:rPr lang="es-MX" sz="2400" dirty="0"/>
              <a:t>(" ")</a:t>
            </a:r>
          </a:p>
          <a:p>
            <a:pPr marL="0" indent="0">
              <a:buNone/>
            </a:pPr>
            <a:r>
              <a:rPr lang="es-MX" sz="2400" dirty="0"/>
              <a:t> &gt;&gt; ('Hola' , ' ' , 'mundo. </a:t>
            </a:r>
            <a:r>
              <a:rPr lang="es-MX" sz="2400" dirty="0" err="1"/>
              <a:t>Hello</a:t>
            </a:r>
            <a:r>
              <a:rPr lang="es-MX" sz="2400" dirty="0"/>
              <a:t> </a:t>
            </a:r>
            <a:r>
              <a:rPr lang="es-MX" sz="2400" dirty="0" err="1"/>
              <a:t>world</a:t>
            </a:r>
            <a:r>
              <a:rPr lang="es-MX" sz="2400" dirty="0"/>
              <a:t>!’)</a:t>
            </a:r>
          </a:p>
          <a:p>
            <a:pPr marL="0" indent="0">
              <a:buNone/>
            </a:pPr>
            <a:r>
              <a:rPr lang="es-MX" sz="2400" dirty="0" err="1"/>
              <a:t>rpartition</a:t>
            </a:r>
            <a:r>
              <a:rPr lang="es-MX" sz="2400" dirty="0"/>
              <a:t>( ) opera del mismo modo que el anterior, pero partiendo de derecha a izquierda. </a:t>
            </a:r>
          </a:p>
          <a:p>
            <a:pPr marL="0" indent="0">
              <a:buNone/>
            </a:pPr>
            <a:endParaRPr lang="es-MX" sz="2400" dirty="0"/>
          </a:p>
          <a:p>
            <a:pPr marL="0" indent="0">
              <a:buNone/>
            </a:pPr>
            <a:r>
              <a:rPr lang="es-MX" sz="2400" dirty="0"/>
              <a:t>"Hola mundo. </a:t>
            </a:r>
            <a:r>
              <a:rPr lang="es-MX" sz="2400" dirty="0" err="1"/>
              <a:t>Hello</a:t>
            </a:r>
            <a:r>
              <a:rPr lang="es-MX" sz="2400" dirty="0"/>
              <a:t> </a:t>
            </a:r>
            <a:r>
              <a:rPr lang="es-MX" sz="2400" dirty="0" err="1"/>
              <a:t>world</a:t>
            </a:r>
            <a:r>
              <a:rPr lang="es-MX" sz="2400" dirty="0"/>
              <a:t>!" .</a:t>
            </a:r>
            <a:r>
              <a:rPr lang="es-MX" sz="2400" dirty="0" err="1"/>
              <a:t>rpartition</a:t>
            </a:r>
            <a:r>
              <a:rPr lang="es-MX" sz="2400" dirty="0"/>
              <a:t>(" ") </a:t>
            </a:r>
          </a:p>
          <a:p>
            <a:pPr marL="0" indent="0">
              <a:buNone/>
            </a:pPr>
            <a:r>
              <a:rPr lang="es-MX" sz="2400" dirty="0"/>
              <a:t>&gt;&gt; ('Hola mundo. </a:t>
            </a:r>
            <a:r>
              <a:rPr lang="es-MX" sz="2400" dirty="0" err="1"/>
              <a:t>Hello</a:t>
            </a:r>
            <a:r>
              <a:rPr lang="es-MX" sz="2400" dirty="0"/>
              <a:t>' , ' ' , '</a:t>
            </a:r>
            <a:r>
              <a:rPr lang="es-MX" sz="2400" dirty="0" err="1"/>
              <a:t>world</a:t>
            </a:r>
            <a:r>
              <a:rPr lang="es-MX" sz="2400" dirty="0"/>
              <a:t>!') </a:t>
            </a:r>
          </a:p>
          <a:p>
            <a:pPr marL="0" indent="0">
              <a:buNone/>
            </a:pPr>
            <a:r>
              <a:rPr lang="es-MX" sz="2400" dirty="0" err="1"/>
              <a:t>join</a:t>
            </a:r>
            <a:r>
              <a:rPr lang="es-MX" sz="2400" dirty="0"/>
              <a:t>( ) debe ser llamado desde una cadena que actúa como separador para unir dentro de una misma cadena resultante los elementos de una lista. </a:t>
            </a:r>
          </a:p>
          <a:p>
            <a:pPr marL="0" indent="0">
              <a:buNone/>
            </a:pPr>
            <a:endParaRPr lang="fi-FI" sz="2400" dirty="0"/>
          </a:p>
          <a:p>
            <a:pPr marL="0" indent="0">
              <a:buNone/>
            </a:pPr>
            <a:r>
              <a:rPr lang="fi-FI" sz="2400" dirty="0"/>
              <a:t>" , " .join(["C" , "C++" , "Python" , "Java"]) </a:t>
            </a:r>
          </a:p>
          <a:p>
            <a:pPr marL="0" indent="0">
              <a:buNone/>
            </a:pPr>
            <a:r>
              <a:rPr lang="fi-FI" sz="2400" dirty="0"/>
              <a:t>&gt;&gt; 'C, C++, Python, Java'</a:t>
            </a:r>
            <a:endParaRPr lang="es-MX" sz="2400" dirty="0"/>
          </a:p>
        </p:txBody>
      </p:sp>
      <p:sp>
        <p:nvSpPr>
          <p:cNvPr id="5" name="Marcador de número de diapositiva 4">
            <a:extLst>
              <a:ext uri="{FF2B5EF4-FFF2-40B4-BE49-F238E27FC236}">
                <a16:creationId xmlns:a16="http://schemas.microsoft.com/office/drawing/2014/main" id="{EC25113E-925C-7DC9-04B3-E4388CEFF16E}"/>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48</a:t>
            </a:fld>
            <a:endParaRPr lang="es-MX" sz="1100">
              <a:solidFill>
                <a:schemeClr val="tx1">
                  <a:lumMod val="50000"/>
                  <a:lumOff val="50000"/>
                </a:schemeClr>
              </a:solidFill>
            </a:endParaRPr>
          </a:p>
        </p:txBody>
      </p:sp>
    </p:spTree>
    <p:extLst>
      <p:ext uri="{BB962C8B-B14F-4D97-AF65-F5344CB8AC3E}">
        <p14:creationId xmlns:p14="http://schemas.microsoft.com/office/powerpoint/2010/main" val="28183823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6CDD1EF-1E2B-2DB9-9720-586E90CEDE16}"/>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Ejercicios</a:t>
            </a:r>
          </a:p>
        </p:txBody>
      </p:sp>
      <p:sp>
        <p:nvSpPr>
          <p:cNvPr id="4" name="Marcador de pie de página 3">
            <a:extLst>
              <a:ext uri="{FF2B5EF4-FFF2-40B4-BE49-F238E27FC236}">
                <a16:creationId xmlns:a16="http://schemas.microsoft.com/office/drawing/2014/main" id="{DB01AE81-846C-242A-32FE-D1EF481DC9E6}"/>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B423A406-4F8E-0527-BA12-D9FDB34BED81}"/>
              </a:ext>
            </a:extLst>
          </p:cNvPr>
          <p:cNvSpPr>
            <a:spLocks noGrp="1"/>
          </p:cNvSpPr>
          <p:nvPr>
            <p:ph idx="1"/>
          </p:nvPr>
        </p:nvSpPr>
        <p:spPr>
          <a:xfrm>
            <a:off x="1371599" y="2318197"/>
            <a:ext cx="9724031" cy="3683358"/>
          </a:xfrm>
        </p:spPr>
        <p:txBody>
          <a:bodyPr anchor="ctr">
            <a:normAutofit/>
          </a:bodyPr>
          <a:lstStyle/>
          <a:p>
            <a:r>
              <a:rPr lang="es-MX" sz="1400" b="0" i="0" dirty="0">
                <a:effectLst/>
                <a:latin typeface="udemy sans"/>
              </a:rPr>
              <a:t>Imprime el siguiente texto en mayúsculas, empleando el método específico de strings:</a:t>
            </a:r>
          </a:p>
          <a:p>
            <a:pPr lvl="1"/>
            <a:r>
              <a:rPr lang="es-MX" sz="1400" dirty="0"/>
              <a:t>frase = "Especialmente en las comunicaciones electrónicas, la escritura enteramente en mayúsculas equivale a gritar.“</a:t>
            </a:r>
          </a:p>
          <a:p>
            <a:r>
              <a:rPr lang="es-MX" sz="1400" b="0" i="0" dirty="0">
                <a:effectLst/>
                <a:latin typeface="udemy sans"/>
              </a:rPr>
              <a:t>Une la siguiente lista en un </a:t>
            </a:r>
            <a:r>
              <a:rPr lang="es-MX" sz="1400" b="0" i="0" dirty="0" err="1">
                <a:effectLst/>
                <a:latin typeface="udemy sans"/>
              </a:rPr>
              <a:t>string</a:t>
            </a:r>
            <a:r>
              <a:rPr lang="es-MX" sz="1400" b="0" i="0" dirty="0">
                <a:effectLst/>
                <a:latin typeface="udemy sans"/>
              </a:rPr>
              <a:t>, separando cada elemento con un espacio. Utiliza el método apropiado de listas/strings, y muestra en pantalla el resultado.</a:t>
            </a:r>
          </a:p>
          <a:p>
            <a:pPr lvl="1"/>
            <a:r>
              <a:rPr lang="es-MX" sz="1400" dirty="0" err="1"/>
              <a:t>lista_palabras</a:t>
            </a:r>
            <a:r>
              <a:rPr lang="es-MX" sz="1400" dirty="0"/>
              <a:t> = ["</a:t>
            </a:r>
            <a:r>
              <a:rPr lang="es-MX" sz="1400" dirty="0" err="1"/>
              <a:t>La","legibilidad","cuenta</a:t>
            </a:r>
            <a:r>
              <a:rPr lang="es-MX" sz="1400" dirty="0"/>
              <a:t>."]</a:t>
            </a:r>
          </a:p>
          <a:p>
            <a:r>
              <a:rPr lang="es-MX" sz="1400" b="0" i="0" dirty="0">
                <a:effectLst/>
                <a:latin typeface="udemy sans"/>
              </a:rPr>
              <a:t>Reemplaza en la siguiente frase:</a:t>
            </a:r>
          </a:p>
          <a:p>
            <a:pPr lvl="1"/>
            <a:r>
              <a:rPr lang="es-MX" sz="1400" b="0" i="0" dirty="0">
                <a:effectLst/>
                <a:latin typeface="udemy sans"/>
              </a:rPr>
              <a:t>"</a:t>
            </a:r>
            <a:r>
              <a:rPr lang="es-MX" sz="1400" b="0" i="1" dirty="0">
                <a:effectLst/>
                <a:latin typeface="udemy sans"/>
              </a:rPr>
              <a:t>Si la implementación es difícil de explicar, puede que sea una mala idea.</a:t>
            </a:r>
            <a:r>
              <a:rPr lang="es-MX" sz="1400" b="0" i="0" dirty="0">
                <a:effectLst/>
                <a:latin typeface="udemy sans"/>
              </a:rPr>
              <a:t>"</a:t>
            </a:r>
          </a:p>
          <a:p>
            <a:pPr marL="0" indent="0">
              <a:buNone/>
            </a:pPr>
            <a:r>
              <a:rPr lang="es-MX" sz="1400" b="0" i="0" dirty="0">
                <a:effectLst/>
                <a:latin typeface="udemy sans"/>
              </a:rPr>
              <a:t> 	los siguientes pares de palabras:</a:t>
            </a:r>
          </a:p>
          <a:p>
            <a:pPr lvl="2"/>
            <a:r>
              <a:rPr lang="es-MX" sz="1400" b="0" i="0" dirty="0">
                <a:effectLst/>
                <a:latin typeface="udemy sans"/>
              </a:rPr>
              <a:t>"</a:t>
            </a:r>
            <a:r>
              <a:rPr lang="es-MX" sz="1400" b="0" i="1" dirty="0">
                <a:effectLst/>
                <a:latin typeface="udemy sans"/>
              </a:rPr>
              <a:t>difícil</a:t>
            </a:r>
            <a:r>
              <a:rPr lang="es-MX" sz="1400" b="0" i="0" dirty="0">
                <a:effectLst/>
                <a:latin typeface="udemy sans"/>
              </a:rPr>
              <a:t>" --&gt; "</a:t>
            </a:r>
            <a:r>
              <a:rPr lang="es-MX" sz="1400" b="1" i="0" dirty="0">
                <a:effectLst/>
                <a:latin typeface="udemy sans"/>
              </a:rPr>
              <a:t>fácil</a:t>
            </a:r>
            <a:r>
              <a:rPr lang="es-MX" sz="1400" b="0" i="0" dirty="0">
                <a:effectLst/>
                <a:latin typeface="udemy sans"/>
              </a:rPr>
              <a:t>"</a:t>
            </a:r>
          </a:p>
          <a:p>
            <a:pPr lvl="2"/>
            <a:r>
              <a:rPr lang="es-MX" sz="1400" b="0" i="0" dirty="0">
                <a:effectLst/>
                <a:latin typeface="udemy sans"/>
              </a:rPr>
              <a:t>"</a:t>
            </a:r>
            <a:r>
              <a:rPr lang="es-MX" sz="1400" b="0" i="1" dirty="0">
                <a:effectLst/>
                <a:latin typeface="udemy sans"/>
              </a:rPr>
              <a:t>mala</a:t>
            </a:r>
            <a:r>
              <a:rPr lang="es-MX" sz="1400" b="0" i="0" dirty="0">
                <a:effectLst/>
                <a:latin typeface="udemy sans"/>
              </a:rPr>
              <a:t>" --&gt; "</a:t>
            </a:r>
            <a:r>
              <a:rPr lang="es-MX" sz="1400" b="1" i="0" dirty="0">
                <a:effectLst/>
                <a:latin typeface="udemy sans"/>
              </a:rPr>
              <a:t>buena</a:t>
            </a:r>
            <a:r>
              <a:rPr lang="es-MX" sz="1400" b="0" i="0" dirty="0">
                <a:effectLst/>
                <a:latin typeface="udemy sans"/>
              </a:rPr>
              <a:t>"</a:t>
            </a:r>
          </a:p>
          <a:p>
            <a:pPr lvl="1"/>
            <a:r>
              <a:rPr lang="es-MX" sz="1400" b="0" i="0" dirty="0">
                <a:effectLst/>
                <a:latin typeface="udemy sans"/>
              </a:rPr>
              <a:t>y muestra en pantalla la frase con ambas palabras modificadas.</a:t>
            </a:r>
            <a:br>
              <a:rPr lang="es-MX" sz="1400" dirty="0"/>
            </a:br>
            <a:endParaRPr lang="es-MX" sz="1400" dirty="0"/>
          </a:p>
        </p:txBody>
      </p:sp>
      <p:sp>
        <p:nvSpPr>
          <p:cNvPr id="5" name="Marcador de número de diapositiva 4">
            <a:extLst>
              <a:ext uri="{FF2B5EF4-FFF2-40B4-BE49-F238E27FC236}">
                <a16:creationId xmlns:a16="http://schemas.microsoft.com/office/drawing/2014/main" id="{229564B1-51C1-8C0C-5D2D-F9497847F010}"/>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49</a:t>
            </a:fld>
            <a:endParaRPr lang="es-MX" sz="1100">
              <a:solidFill>
                <a:schemeClr val="tx1">
                  <a:lumMod val="50000"/>
                  <a:lumOff val="50000"/>
                </a:schemeClr>
              </a:solidFill>
            </a:endParaRPr>
          </a:p>
        </p:txBody>
      </p:sp>
    </p:spTree>
    <p:extLst>
      <p:ext uri="{BB962C8B-B14F-4D97-AF65-F5344CB8AC3E}">
        <p14:creationId xmlns:p14="http://schemas.microsoft.com/office/powerpoint/2010/main" val="14695003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14EDC349-D5BE-567B-7719-DE9D2E2EA393}"/>
              </a:ext>
            </a:extLst>
          </p:cNvPr>
          <p:cNvSpPr>
            <a:spLocks noGrp="1"/>
          </p:cNvSpPr>
          <p:nvPr>
            <p:ph type="title"/>
          </p:nvPr>
        </p:nvSpPr>
        <p:spPr>
          <a:xfrm>
            <a:off x="826396" y="586855"/>
            <a:ext cx="4230100" cy="3387497"/>
          </a:xfrm>
        </p:spPr>
        <p:txBody>
          <a:bodyPr anchor="b">
            <a:normAutofit/>
          </a:bodyPr>
          <a:lstStyle/>
          <a:p>
            <a:pPr algn="r"/>
            <a:r>
              <a:rPr lang="es-MX" sz="4000" i="1" dirty="0">
                <a:solidFill>
                  <a:srgbClr val="FFFFFF"/>
                </a:solidFill>
              </a:rPr>
              <a:t>Propiedades de Strings</a:t>
            </a:r>
          </a:p>
        </p:txBody>
      </p:sp>
      <p:sp>
        <p:nvSpPr>
          <p:cNvPr id="4" name="Marcador de pie de página 3">
            <a:extLst>
              <a:ext uri="{FF2B5EF4-FFF2-40B4-BE49-F238E27FC236}">
                <a16:creationId xmlns:a16="http://schemas.microsoft.com/office/drawing/2014/main" id="{0836E0F8-686D-EC23-7C24-BE0078D9C768}"/>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8D25D6B3-4A8A-07FC-217D-7C8FC8F45AEF}"/>
              </a:ext>
            </a:extLst>
          </p:cNvPr>
          <p:cNvSpPr>
            <a:spLocks noGrp="1"/>
          </p:cNvSpPr>
          <p:nvPr>
            <p:ph idx="1"/>
          </p:nvPr>
        </p:nvSpPr>
        <p:spPr>
          <a:xfrm>
            <a:off x="6503158" y="649480"/>
            <a:ext cx="4862447" cy="5546047"/>
          </a:xfrm>
        </p:spPr>
        <p:txBody>
          <a:bodyPr anchor="ctr">
            <a:normAutofit/>
          </a:bodyPr>
          <a:lstStyle/>
          <a:p>
            <a:pPr marL="0" indent="0">
              <a:buNone/>
            </a:pPr>
            <a:r>
              <a:rPr lang="es-MX" sz="1700" dirty="0"/>
              <a:t>Esto es lo que debes tener presente al trabajar con strings en Python: Python </a:t>
            </a:r>
          </a:p>
          <a:p>
            <a:pPr marL="0" indent="0">
              <a:buNone/>
            </a:pPr>
            <a:r>
              <a:rPr lang="es-MX" sz="1700" dirty="0"/>
              <a:t>son inmutables: una vez creados, no pueden modificarse sus partes, pero sí pueden reasignarse los valores de las variables a través de métodos de strings</a:t>
            </a:r>
          </a:p>
          <a:p>
            <a:pPr marL="0" indent="0">
              <a:buNone/>
            </a:pPr>
            <a:r>
              <a:rPr lang="es-MX" sz="1700" dirty="0"/>
              <a:t> </a:t>
            </a:r>
            <a:r>
              <a:rPr lang="es-MX" sz="1700" dirty="0" err="1"/>
              <a:t>concatenable</a:t>
            </a:r>
            <a:r>
              <a:rPr lang="es-MX" sz="1700" dirty="0"/>
              <a:t>: es posible unir strings con el símbolo + </a:t>
            </a:r>
          </a:p>
          <a:p>
            <a:pPr marL="0" indent="0">
              <a:buNone/>
            </a:pPr>
            <a:r>
              <a:rPr lang="es-MX" sz="1700" dirty="0"/>
              <a:t>multiplicable: es posible concatenar repeticiones de un </a:t>
            </a:r>
            <a:r>
              <a:rPr lang="es-MX" sz="1700" dirty="0" err="1"/>
              <a:t>string</a:t>
            </a:r>
            <a:r>
              <a:rPr lang="es-MX" sz="1700" dirty="0"/>
              <a:t> con el símbolo *</a:t>
            </a:r>
          </a:p>
          <a:p>
            <a:pPr marL="0" indent="0">
              <a:buNone/>
            </a:pPr>
            <a:r>
              <a:rPr lang="es-MX" sz="1700" dirty="0"/>
              <a:t> </a:t>
            </a:r>
            <a:r>
              <a:rPr lang="es-MX" sz="1700" dirty="0" err="1"/>
              <a:t>multilineales</a:t>
            </a:r>
            <a:r>
              <a:rPr lang="es-MX" sz="1700" dirty="0"/>
              <a:t>: pueden escribirse en varias líneas al encerrarse entre triples comillas simples (''' ''') o dobles (""" """) </a:t>
            </a:r>
          </a:p>
          <a:p>
            <a:pPr marL="0" indent="0">
              <a:buNone/>
            </a:pPr>
            <a:r>
              <a:rPr lang="es-MX" sz="1700" dirty="0"/>
              <a:t>determinar su longitud: a través de la función </a:t>
            </a:r>
            <a:r>
              <a:rPr lang="es-MX" sz="1700" dirty="0" err="1"/>
              <a:t>len</a:t>
            </a:r>
            <a:r>
              <a:rPr lang="es-MX" sz="1700" dirty="0"/>
              <a:t>(</a:t>
            </a:r>
            <a:r>
              <a:rPr lang="es-MX" sz="1700" dirty="0" err="1"/>
              <a:t>mi_string</a:t>
            </a:r>
            <a:r>
              <a:rPr lang="es-MX" sz="1700" dirty="0"/>
              <a:t>) </a:t>
            </a:r>
          </a:p>
          <a:p>
            <a:pPr marL="0" indent="0">
              <a:buNone/>
            </a:pPr>
            <a:r>
              <a:rPr lang="es-MX" sz="1700" dirty="0"/>
              <a:t>verificar su contenido: a través de las palabras clave in y </a:t>
            </a:r>
            <a:r>
              <a:rPr lang="es-MX" sz="1700" dirty="0" err="1"/>
              <a:t>not</a:t>
            </a:r>
            <a:r>
              <a:rPr lang="es-MX" sz="1700" dirty="0"/>
              <a:t> in. El resultado de esta verificación es un booleano (True / False).</a:t>
            </a:r>
          </a:p>
        </p:txBody>
      </p:sp>
      <p:sp>
        <p:nvSpPr>
          <p:cNvPr id="5" name="Marcador de número de diapositiva 4">
            <a:extLst>
              <a:ext uri="{FF2B5EF4-FFF2-40B4-BE49-F238E27FC236}">
                <a16:creationId xmlns:a16="http://schemas.microsoft.com/office/drawing/2014/main" id="{CA89DAB5-9165-9C3B-FE60-7B3E74EC8D38}"/>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50</a:t>
            </a:fld>
            <a:endParaRPr lang="es-MX" sz="1100">
              <a:solidFill>
                <a:schemeClr val="tx1">
                  <a:lumMod val="50000"/>
                  <a:lumOff val="50000"/>
                </a:schemeClr>
              </a:solidFill>
            </a:endParaRPr>
          </a:p>
        </p:txBody>
      </p:sp>
    </p:spTree>
    <p:extLst>
      <p:ext uri="{BB962C8B-B14F-4D97-AF65-F5344CB8AC3E}">
        <p14:creationId xmlns:p14="http://schemas.microsoft.com/office/powerpoint/2010/main" val="13224577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38DD65C-6C12-65DF-04E3-72E80E386FAC}"/>
              </a:ext>
            </a:extLst>
          </p:cNvPr>
          <p:cNvSpPr>
            <a:spLocks noGrp="1"/>
          </p:cNvSpPr>
          <p:nvPr>
            <p:ph type="title"/>
          </p:nvPr>
        </p:nvSpPr>
        <p:spPr>
          <a:xfrm>
            <a:off x="1371599" y="294538"/>
            <a:ext cx="9895951" cy="1033669"/>
          </a:xfrm>
        </p:spPr>
        <p:txBody>
          <a:bodyPr>
            <a:normAutofit/>
          </a:bodyPr>
          <a:lstStyle/>
          <a:p>
            <a:r>
              <a:rPr lang="es-MX" sz="4000" dirty="0">
                <a:solidFill>
                  <a:srgbClr val="FFFFFF"/>
                </a:solidFill>
              </a:rPr>
              <a:t>Ejercicio</a:t>
            </a:r>
          </a:p>
        </p:txBody>
      </p:sp>
      <p:sp>
        <p:nvSpPr>
          <p:cNvPr id="4" name="Marcador de pie de página 3">
            <a:extLst>
              <a:ext uri="{FF2B5EF4-FFF2-40B4-BE49-F238E27FC236}">
                <a16:creationId xmlns:a16="http://schemas.microsoft.com/office/drawing/2014/main" id="{DF0D3034-3F05-DAB7-BF69-F664AC677D5F}"/>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B429C1AB-55CB-922A-182B-A93A627E0399}"/>
              </a:ext>
            </a:extLst>
          </p:cNvPr>
          <p:cNvSpPr>
            <a:spLocks noGrp="1"/>
          </p:cNvSpPr>
          <p:nvPr>
            <p:ph idx="1"/>
          </p:nvPr>
        </p:nvSpPr>
        <p:spPr>
          <a:xfrm>
            <a:off x="1371599" y="2318197"/>
            <a:ext cx="9724031" cy="3683358"/>
          </a:xfrm>
        </p:spPr>
        <p:txBody>
          <a:bodyPr anchor="ctr">
            <a:normAutofit/>
          </a:bodyPr>
          <a:lstStyle/>
          <a:p>
            <a:r>
              <a:rPr lang="es-MX" sz="2000" b="0" i="0" dirty="0">
                <a:effectLst/>
                <a:latin typeface="udemy sans"/>
              </a:rPr>
              <a:t>Concatena 15 veces el texto "Repetición" y muestra el resultado en pantalla. Por suerte, conoces que los strings son multiplicables y puedes realizar esta actividad de forma simple y elegante.</a:t>
            </a:r>
          </a:p>
          <a:p>
            <a:r>
              <a:rPr lang="es-MX" sz="2000" b="0" i="0" dirty="0">
                <a:effectLst/>
                <a:latin typeface="udemy sans"/>
              </a:rPr>
              <a:t>Verifica si la palabra "agua" </a:t>
            </a:r>
            <a:r>
              <a:rPr lang="es-MX" sz="2000" b="1" i="0" dirty="0">
                <a:effectLst/>
                <a:latin typeface="udemy sans"/>
              </a:rPr>
              <a:t>no </a:t>
            </a:r>
            <a:r>
              <a:rPr lang="es-MX" sz="2000" b="0" i="0" dirty="0">
                <a:effectLst/>
                <a:latin typeface="udemy sans"/>
              </a:rPr>
              <a:t>se encuentra en el siguiente haiku. Debes imprimir el booleano.</a:t>
            </a:r>
          </a:p>
          <a:p>
            <a:pPr lvl="1"/>
            <a:r>
              <a:rPr lang="es-MX" sz="2000" b="0" i="1" dirty="0">
                <a:effectLst/>
                <a:latin typeface="udemy sans"/>
              </a:rPr>
              <a:t>Tierra </a:t>
            </a:r>
            <a:r>
              <a:rPr lang="es-MX" sz="2000" b="0" i="1" dirty="0" err="1">
                <a:effectLst/>
                <a:latin typeface="udemy sans"/>
              </a:rPr>
              <a:t>mojada,mis</a:t>
            </a:r>
            <a:r>
              <a:rPr lang="es-MX" sz="2000" b="0" i="1" dirty="0">
                <a:effectLst/>
                <a:latin typeface="udemy sans"/>
              </a:rPr>
              <a:t> recuerdos de viaje entre las lluvias</a:t>
            </a:r>
            <a:endParaRPr lang="es-MX" sz="2000" b="0" i="0" dirty="0">
              <a:effectLst/>
              <a:latin typeface="udemy sans"/>
            </a:endParaRPr>
          </a:p>
          <a:p>
            <a:r>
              <a:rPr lang="es-MX" sz="2000" b="0" i="0" dirty="0">
                <a:effectLst/>
                <a:latin typeface="udemy sans"/>
              </a:rPr>
              <a:t>Muestra en pantalla el largo (en números de caracteres) de la palabra </a:t>
            </a:r>
            <a:r>
              <a:rPr lang="es-MX" sz="2000" b="1" i="1" dirty="0">
                <a:effectLst/>
                <a:latin typeface="udemy sans"/>
              </a:rPr>
              <a:t>electroencefalografista</a:t>
            </a:r>
            <a:r>
              <a:rPr lang="es-MX" sz="2000" b="0" i="0" dirty="0">
                <a:effectLst/>
                <a:latin typeface="udemy sans"/>
              </a:rPr>
              <a:t>.</a:t>
            </a:r>
            <a:endParaRPr lang="es-MX" sz="2000" dirty="0"/>
          </a:p>
        </p:txBody>
      </p:sp>
      <p:sp>
        <p:nvSpPr>
          <p:cNvPr id="5" name="Marcador de número de diapositiva 4">
            <a:extLst>
              <a:ext uri="{FF2B5EF4-FFF2-40B4-BE49-F238E27FC236}">
                <a16:creationId xmlns:a16="http://schemas.microsoft.com/office/drawing/2014/main" id="{5524F0BE-8D0F-C18D-4232-925A4508B252}"/>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51</a:t>
            </a:fld>
            <a:endParaRPr lang="es-MX" sz="1100">
              <a:solidFill>
                <a:schemeClr val="tx1">
                  <a:lumMod val="50000"/>
                  <a:lumOff val="50000"/>
                </a:schemeClr>
              </a:solidFill>
            </a:endParaRPr>
          </a:p>
        </p:txBody>
      </p:sp>
    </p:spTree>
    <p:extLst>
      <p:ext uri="{BB962C8B-B14F-4D97-AF65-F5344CB8AC3E}">
        <p14:creationId xmlns:p14="http://schemas.microsoft.com/office/powerpoint/2010/main" val="8841970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8DAFB36-1B5C-45E6-24DF-140A70341900}"/>
              </a:ext>
            </a:extLst>
          </p:cNvPr>
          <p:cNvSpPr>
            <a:spLocks noGrp="1"/>
          </p:cNvSpPr>
          <p:nvPr>
            <p:ph type="title"/>
          </p:nvPr>
        </p:nvSpPr>
        <p:spPr>
          <a:xfrm>
            <a:off x="826396" y="586855"/>
            <a:ext cx="4230100" cy="3387497"/>
          </a:xfrm>
        </p:spPr>
        <p:txBody>
          <a:bodyPr anchor="b">
            <a:normAutofit/>
          </a:bodyPr>
          <a:lstStyle/>
          <a:p>
            <a:pPr algn="r"/>
            <a:r>
              <a:rPr lang="es-MX" sz="4000" i="1">
                <a:solidFill>
                  <a:srgbClr val="FFFFFF"/>
                </a:solidFill>
              </a:rPr>
              <a:t>Listas</a:t>
            </a:r>
          </a:p>
        </p:txBody>
      </p:sp>
      <p:sp>
        <p:nvSpPr>
          <p:cNvPr id="4" name="Marcador de pie de página 3">
            <a:extLst>
              <a:ext uri="{FF2B5EF4-FFF2-40B4-BE49-F238E27FC236}">
                <a16:creationId xmlns:a16="http://schemas.microsoft.com/office/drawing/2014/main" id="{EFDFDA24-D92D-D857-297D-43395E1F6E5E}"/>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5A2F6DC8-1F97-2090-1EBC-BE16DCDBFBFE}"/>
              </a:ext>
            </a:extLst>
          </p:cNvPr>
          <p:cNvSpPr>
            <a:spLocks noGrp="1"/>
          </p:cNvSpPr>
          <p:nvPr>
            <p:ph idx="1"/>
          </p:nvPr>
        </p:nvSpPr>
        <p:spPr>
          <a:xfrm>
            <a:off x="6503158" y="649480"/>
            <a:ext cx="4862447" cy="5546047"/>
          </a:xfrm>
        </p:spPr>
        <p:txBody>
          <a:bodyPr anchor="ctr">
            <a:normAutofit/>
          </a:bodyPr>
          <a:lstStyle/>
          <a:p>
            <a:pPr marL="0" indent="0">
              <a:buNone/>
            </a:pPr>
            <a:r>
              <a:rPr lang="es-MX" sz="1700" dirty="0"/>
              <a:t>Las listas son secuencias ordenadas de objetos. Estos objetos pueden ser datos de cualquier tipo: strings, </a:t>
            </a:r>
            <a:r>
              <a:rPr lang="es-MX" sz="1700" dirty="0" err="1"/>
              <a:t>integers</a:t>
            </a:r>
            <a:r>
              <a:rPr lang="es-MX" sz="1700" dirty="0"/>
              <a:t>, </a:t>
            </a:r>
            <a:r>
              <a:rPr lang="es-MX" sz="1700" dirty="0" err="1"/>
              <a:t>floats</a:t>
            </a:r>
            <a:r>
              <a:rPr lang="es-MX" sz="1700" dirty="0"/>
              <a:t>, booleanos, listas, entre otros. Son tipos de datos mutables.</a:t>
            </a:r>
          </a:p>
          <a:p>
            <a:pPr marL="0" indent="0">
              <a:buNone/>
            </a:pPr>
            <a:r>
              <a:rPr lang="es-MX" sz="1700" dirty="0"/>
              <a:t>	Mutable    ordenado     admite duplicados</a:t>
            </a:r>
          </a:p>
          <a:p>
            <a:pPr marL="0" indent="0">
              <a:buNone/>
            </a:pPr>
            <a:r>
              <a:rPr lang="es-MX" sz="1700" dirty="0"/>
              <a:t>	lista_1 = ["C" , "C++" , "Python" , "Java"] </a:t>
            </a:r>
          </a:p>
          <a:p>
            <a:pPr marL="0" indent="0">
              <a:buNone/>
            </a:pPr>
            <a:r>
              <a:rPr lang="es-MX" sz="1700" dirty="0"/>
              <a:t>	lista_2 = ["PHP" , "SQL" , "Visual Basic"]</a:t>
            </a:r>
          </a:p>
          <a:p>
            <a:pPr marL="0" indent="0">
              <a:buNone/>
            </a:pPr>
            <a:r>
              <a:rPr lang="es-MX" sz="1700" dirty="0"/>
              <a:t>indexado: podemos acceder a los elementos de una lista a través de sus índices [</a:t>
            </a:r>
            <a:r>
              <a:rPr lang="es-MX" sz="1700" dirty="0" err="1"/>
              <a:t>inicio:fin:paso</a:t>
            </a:r>
            <a:r>
              <a:rPr lang="es-MX" sz="1700" dirty="0"/>
              <a:t>]</a:t>
            </a:r>
          </a:p>
          <a:p>
            <a:pPr marL="0" indent="0">
              <a:buNone/>
            </a:pPr>
            <a:r>
              <a:rPr lang="es-MX" sz="1700" dirty="0"/>
              <a:t> 	</a:t>
            </a:r>
            <a:r>
              <a:rPr lang="es-MX" sz="1700" dirty="0" err="1"/>
              <a:t>print</a:t>
            </a:r>
            <a:r>
              <a:rPr lang="es-MX" sz="1700" dirty="0"/>
              <a:t>(lista_1[1:3]) </a:t>
            </a:r>
          </a:p>
          <a:p>
            <a:pPr marL="0" indent="0">
              <a:buNone/>
            </a:pPr>
            <a:r>
              <a:rPr lang="es-MX" sz="1700" dirty="0"/>
              <a:t>	&gt;&gt; ["C++" , "Python"]</a:t>
            </a:r>
          </a:p>
          <a:p>
            <a:pPr marL="0" indent="0">
              <a:buNone/>
            </a:pPr>
            <a:r>
              <a:rPr lang="es-MX" sz="1700" dirty="0"/>
              <a:t>cantidad de elementos: a través de la propiedad </a:t>
            </a:r>
            <a:r>
              <a:rPr lang="es-MX" sz="1700" dirty="0" err="1"/>
              <a:t>len</a:t>
            </a:r>
            <a:r>
              <a:rPr lang="es-MX" sz="1700" dirty="0"/>
              <a:t>( ) </a:t>
            </a:r>
          </a:p>
          <a:p>
            <a:pPr marL="0" indent="0">
              <a:buNone/>
            </a:pPr>
            <a:r>
              <a:rPr lang="es-MX" sz="1700" dirty="0"/>
              <a:t>	</a:t>
            </a:r>
            <a:r>
              <a:rPr lang="es-MX" sz="1700" dirty="0" err="1"/>
              <a:t>print</a:t>
            </a:r>
            <a:r>
              <a:rPr lang="es-MX" sz="1700" dirty="0"/>
              <a:t>(</a:t>
            </a:r>
            <a:r>
              <a:rPr lang="es-MX" sz="1700" dirty="0" err="1"/>
              <a:t>len</a:t>
            </a:r>
            <a:r>
              <a:rPr lang="es-MX" sz="1700" dirty="0"/>
              <a:t>(lista_1)) </a:t>
            </a:r>
          </a:p>
          <a:p>
            <a:pPr marL="0" indent="0">
              <a:buNone/>
            </a:pPr>
            <a:r>
              <a:rPr lang="es-MX" sz="1700" dirty="0"/>
              <a:t>	&gt;&gt; 4</a:t>
            </a:r>
          </a:p>
        </p:txBody>
      </p:sp>
      <p:sp>
        <p:nvSpPr>
          <p:cNvPr id="5" name="Marcador de número de diapositiva 4">
            <a:extLst>
              <a:ext uri="{FF2B5EF4-FFF2-40B4-BE49-F238E27FC236}">
                <a16:creationId xmlns:a16="http://schemas.microsoft.com/office/drawing/2014/main" id="{706A53FF-783C-18DE-7ACA-2D2131DD3264}"/>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52</a:t>
            </a:fld>
            <a:endParaRPr lang="es-MX" sz="1100">
              <a:solidFill>
                <a:schemeClr val="tx1">
                  <a:lumMod val="50000"/>
                  <a:lumOff val="50000"/>
                </a:schemeClr>
              </a:solidFill>
            </a:endParaRPr>
          </a:p>
        </p:txBody>
      </p:sp>
    </p:spTree>
    <p:extLst>
      <p:ext uri="{BB962C8B-B14F-4D97-AF65-F5344CB8AC3E}">
        <p14:creationId xmlns:p14="http://schemas.microsoft.com/office/powerpoint/2010/main" val="16129244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7029D93-3A23-0211-CC5A-B7BA0F3F028A}"/>
              </a:ext>
            </a:extLst>
          </p:cNvPr>
          <p:cNvSpPr>
            <a:spLocks noGrp="1"/>
          </p:cNvSpPr>
          <p:nvPr>
            <p:ph type="title"/>
          </p:nvPr>
        </p:nvSpPr>
        <p:spPr>
          <a:xfrm>
            <a:off x="1371599" y="294538"/>
            <a:ext cx="9895951" cy="1033669"/>
          </a:xfrm>
        </p:spPr>
        <p:txBody>
          <a:bodyPr>
            <a:normAutofit/>
          </a:bodyPr>
          <a:lstStyle/>
          <a:p>
            <a:endParaRPr lang="es-MX" sz="4000">
              <a:solidFill>
                <a:srgbClr val="FFFFFF"/>
              </a:solidFill>
            </a:endParaRPr>
          </a:p>
        </p:txBody>
      </p:sp>
      <p:sp>
        <p:nvSpPr>
          <p:cNvPr id="4" name="Marcador de pie de página 3">
            <a:extLst>
              <a:ext uri="{FF2B5EF4-FFF2-40B4-BE49-F238E27FC236}">
                <a16:creationId xmlns:a16="http://schemas.microsoft.com/office/drawing/2014/main" id="{B7A15635-085A-C9E9-DE94-6F14E20C9A2A}"/>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0BC1626C-1D8F-ED20-9212-08C0B204075D}"/>
              </a:ext>
            </a:extLst>
          </p:cNvPr>
          <p:cNvSpPr>
            <a:spLocks noGrp="1"/>
          </p:cNvSpPr>
          <p:nvPr>
            <p:ph idx="1"/>
          </p:nvPr>
        </p:nvSpPr>
        <p:spPr>
          <a:xfrm>
            <a:off x="-4" y="1590740"/>
            <a:ext cx="12192003" cy="5267259"/>
          </a:xfrm>
        </p:spPr>
        <p:txBody>
          <a:bodyPr anchor="ctr">
            <a:normAutofit/>
          </a:bodyPr>
          <a:lstStyle/>
          <a:p>
            <a:pPr marL="0" indent="0">
              <a:buNone/>
            </a:pPr>
            <a:r>
              <a:rPr lang="es-MX" sz="3200" dirty="0"/>
              <a:t>concatenación: sumamos los elementos de varias listas con el símbolo + </a:t>
            </a:r>
          </a:p>
          <a:p>
            <a:pPr marL="0" indent="0">
              <a:buNone/>
            </a:pPr>
            <a:r>
              <a:rPr lang="es-MX" sz="3200" dirty="0"/>
              <a:t>	</a:t>
            </a:r>
            <a:r>
              <a:rPr lang="es-MX" sz="3200" dirty="0" err="1"/>
              <a:t>print</a:t>
            </a:r>
            <a:r>
              <a:rPr lang="es-MX" sz="3200" dirty="0"/>
              <a:t>(lista_1 + lista_2) </a:t>
            </a:r>
          </a:p>
          <a:p>
            <a:pPr marL="0" indent="0">
              <a:buNone/>
            </a:pPr>
            <a:r>
              <a:rPr lang="es-MX" sz="3200" dirty="0"/>
              <a:t>	&gt;&gt; ['C' , 'C++' , 'Python' , 'Java' , 'PHP' , 'SQL' , 'Visual Basic’]</a:t>
            </a:r>
          </a:p>
          <a:p>
            <a:pPr marL="0" indent="0">
              <a:buNone/>
            </a:pPr>
            <a:r>
              <a:rPr lang="fi-FI" sz="3200" dirty="0"/>
              <a:t>	lista_1 = ["C" , "C++" , "Python" , "Java"]</a:t>
            </a:r>
            <a:endParaRPr lang="pt-BR" sz="3200" dirty="0"/>
          </a:p>
          <a:p>
            <a:pPr marL="0" indent="0">
              <a:buNone/>
            </a:pPr>
            <a:r>
              <a:rPr lang="pt-BR" sz="3200" dirty="0"/>
              <a:t>	lista_2 = ["PHP" , "SQL" , "Visual Basic"]</a:t>
            </a:r>
          </a:p>
          <a:p>
            <a:pPr marL="0" indent="0">
              <a:buNone/>
            </a:pPr>
            <a:r>
              <a:rPr lang="pt-BR" sz="3200" dirty="0"/>
              <a:t>	lista_3 = ["d" , "a" , "c" , "b" , "e"] </a:t>
            </a:r>
          </a:p>
          <a:p>
            <a:pPr marL="0" indent="0">
              <a:buNone/>
            </a:pPr>
            <a:r>
              <a:rPr lang="pt-BR" sz="3200" dirty="0"/>
              <a:t>	lista_4 = [5, 4, 7, 1, 9]</a:t>
            </a:r>
            <a:endParaRPr lang="es-MX" sz="3200" dirty="0"/>
          </a:p>
        </p:txBody>
      </p:sp>
      <p:sp>
        <p:nvSpPr>
          <p:cNvPr id="5" name="Marcador de número de diapositiva 4">
            <a:extLst>
              <a:ext uri="{FF2B5EF4-FFF2-40B4-BE49-F238E27FC236}">
                <a16:creationId xmlns:a16="http://schemas.microsoft.com/office/drawing/2014/main" id="{CE289E16-A944-9BB4-C865-EAEA48C9D7AE}"/>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53</a:t>
            </a:fld>
            <a:endParaRPr lang="es-MX" sz="1100">
              <a:solidFill>
                <a:schemeClr val="tx1">
                  <a:lumMod val="50000"/>
                  <a:lumOff val="50000"/>
                </a:schemeClr>
              </a:solidFill>
            </a:endParaRPr>
          </a:p>
        </p:txBody>
      </p:sp>
    </p:spTree>
    <p:extLst>
      <p:ext uri="{BB962C8B-B14F-4D97-AF65-F5344CB8AC3E}">
        <p14:creationId xmlns:p14="http://schemas.microsoft.com/office/powerpoint/2010/main" val="35836050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AFA733D-823A-64CC-F679-091FD6E59C07}"/>
              </a:ext>
            </a:extLst>
          </p:cNvPr>
          <p:cNvSpPr>
            <a:spLocks noGrp="1"/>
          </p:cNvSpPr>
          <p:nvPr>
            <p:ph type="title"/>
          </p:nvPr>
        </p:nvSpPr>
        <p:spPr>
          <a:xfrm>
            <a:off x="1371599" y="294538"/>
            <a:ext cx="9895951" cy="1033669"/>
          </a:xfrm>
        </p:spPr>
        <p:txBody>
          <a:bodyPr>
            <a:normAutofit/>
          </a:bodyPr>
          <a:lstStyle/>
          <a:p>
            <a:endParaRPr lang="es-MX" sz="4000">
              <a:solidFill>
                <a:srgbClr val="FFFFFF"/>
              </a:solidFill>
            </a:endParaRPr>
          </a:p>
        </p:txBody>
      </p:sp>
      <p:sp>
        <p:nvSpPr>
          <p:cNvPr id="4" name="Marcador de pie de página 3">
            <a:extLst>
              <a:ext uri="{FF2B5EF4-FFF2-40B4-BE49-F238E27FC236}">
                <a16:creationId xmlns:a16="http://schemas.microsoft.com/office/drawing/2014/main" id="{8D664507-E5B9-BC9B-EEAC-206F091DCBF2}"/>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88925957-A403-5DCA-F102-3BA0E735C4A1}"/>
              </a:ext>
            </a:extLst>
          </p:cNvPr>
          <p:cNvSpPr>
            <a:spLocks noGrp="1"/>
          </p:cNvSpPr>
          <p:nvPr>
            <p:ph idx="1"/>
          </p:nvPr>
        </p:nvSpPr>
        <p:spPr>
          <a:xfrm>
            <a:off x="0" y="1587320"/>
            <a:ext cx="12192000" cy="5270679"/>
          </a:xfrm>
        </p:spPr>
        <p:txBody>
          <a:bodyPr anchor="ctr">
            <a:normAutofit/>
          </a:bodyPr>
          <a:lstStyle/>
          <a:p>
            <a:pPr marL="0" indent="0">
              <a:buNone/>
            </a:pPr>
            <a:r>
              <a:rPr lang="es-MX" sz="1800" dirty="0"/>
              <a:t>función </a:t>
            </a:r>
            <a:r>
              <a:rPr lang="es-MX" sz="1800" dirty="0" err="1"/>
              <a:t>append</a:t>
            </a:r>
            <a:r>
              <a:rPr lang="es-MX" sz="1800" dirty="0"/>
              <a:t>( ): agrega un elemento a una lista en el lugar lista_1.append("R") </a:t>
            </a:r>
          </a:p>
          <a:p>
            <a:pPr marL="0" indent="0">
              <a:buNone/>
            </a:pPr>
            <a:r>
              <a:rPr lang="es-MX" sz="1800" dirty="0" err="1"/>
              <a:t>print</a:t>
            </a:r>
            <a:r>
              <a:rPr lang="es-MX" sz="1800" dirty="0"/>
              <a:t>(</a:t>
            </a:r>
            <a:r>
              <a:rPr lang="es-MX" sz="2000" dirty="0"/>
              <a:t>lista</a:t>
            </a:r>
            <a:r>
              <a:rPr lang="es-MX" sz="1800" dirty="0"/>
              <a:t>_1) </a:t>
            </a:r>
          </a:p>
          <a:p>
            <a:pPr marL="0" indent="0">
              <a:buNone/>
            </a:pPr>
            <a:r>
              <a:rPr lang="es-MX" sz="1800" dirty="0"/>
              <a:t>	&gt;&gt; ["C" , "C++" , "Python" , "Java" , "R"]</a:t>
            </a:r>
          </a:p>
          <a:p>
            <a:pPr marL="0" indent="0">
              <a:buNone/>
            </a:pPr>
            <a:r>
              <a:rPr lang="es-MX" sz="1800" dirty="0"/>
              <a:t>función pop( ): elimina un elemento de la lista dado el índice, y devuelve el valor quitado </a:t>
            </a:r>
          </a:p>
          <a:p>
            <a:pPr marL="0" indent="0">
              <a:buNone/>
            </a:pPr>
            <a:r>
              <a:rPr lang="pt-BR" sz="1800" dirty="0"/>
              <a:t>print(lista_1.pop(4)) </a:t>
            </a:r>
          </a:p>
          <a:p>
            <a:pPr marL="0" indent="0">
              <a:buNone/>
            </a:pPr>
            <a:r>
              <a:rPr lang="pt-BR" sz="1800" dirty="0"/>
              <a:t>	&gt;&gt; "R“</a:t>
            </a:r>
          </a:p>
          <a:p>
            <a:pPr marL="0" indent="0">
              <a:buNone/>
            </a:pPr>
            <a:r>
              <a:rPr lang="es-MX" sz="1800" dirty="0"/>
              <a:t>función </a:t>
            </a:r>
            <a:r>
              <a:rPr lang="es-MX" sz="1800" dirty="0" err="1"/>
              <a:t>sort</a:t>
            </a:r>
            <a:r>
              <a:rPr lang="es-MX" sz="1800" dirty="0"/>
              <a:t>( ): ordena los elementos de la lista en el lugar lista_3.sort() </a:t>
            </a:r>
          </a:p>
          <a:p>
            <a:pPr marL="0" indent="0">
              <a:buNone/>
            </a:pPr>
            <a:r>
              <a:rPr lang="es-MX" sz="1800" dirty="0" err="1"/>
              <a:t>print</a:t>
            </a:r>
            <a:r>
              <a:rPr lang="es-MX" sz="1800" dirty="0"/>
              <a:t>(lista_3)</a:t>
            </a:r>
          </a:p>
          <a:p>
            <a:pPr marL="0" indent="0">
              <a:buNone/>
            </a:pPr>
            <a:r>
              <a:rPr lang="es-MX" sz="1800" dirty="0"/>
              <a:t> 	&gt;&gt; ['a' , 'b' , 'c' , 'd' , 'e']</a:t>
            </a:r>
          </a:p>
          <a:p>
            <a:pPr marL="0" indent="0">
              <a:buNone/>
            </a:pPr>
            <a:r>
              <a:rPr lang="es-MX" sz="1800" dirty="0"/>
              <a:t>función reverse( ): </a:t>
            </a:r>
          </a:p>
          <a:p>
            <a:pPr marL="0" indent="0">
              <a:buNone/>
            </a:pPr>
            <a:r>
              <a:rPr lang="es-MX" sz="1800" dirty="0"/>
              <a:t>invierte el orden de los elementos en el lugar</a:t>
            </a:r>
          </a:p>
          <a:p>
            <a:pPr marL="0" indent="0">
              <a:buNone/>
            </a:pPr>
            <a:r>
              <a:rPr lang="es-MX" sz="1800" dirty="0"/>
              <a:t> lista_4.reverse() </a:t>
            </a:r>
            <a:r>
              <a:rPr lang="es-MX" sz="1800" dirty="0" err="1"/>
              <a:t>print</a:t>
            </a:r>
            <a:r>
              <a:rPr lang="es-MX" sz="1800" dirty="0"/>
              <a:t>(lista_4)</a:t>
            </a:r>
          </a:p>
          <a:p>
            <a:pPr marL="0" indent="0">
              <a:buNone/>
            </a:pPr>
            <a:r>
              <a:rPr lang="es-MX" sz="1800" dirty="0"/>
              <a:t> 	&gt;&gt; [9, 1, 7, 4, 5]</a:t>
            </a:r>
          </a:p>
        </p:txBody>
      </p:sp>
      <p:sp>
        <p:nvSpPr>
          <p:cNvPr id="5" name="Marcador de número de diapositiva 4">
            <a:extLst>
              <a:ext uri="{FF2B5EF4-FFF2-40B4-BE49-F238E27FC236}">
                <a16:creationId xmlns:a16="http://schemas.microsoft.com/office/drawing/2014/main" id="{C52A3830-8108-BBF1-9248-530F39F645E9}"/>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54</a:t>
            </a:fld>
            <a:endParaRPr lang="es-MX" sz="1100">
              <a:solidFill>
                <a:schemeClr val="tx1">
                  <a:lumMod val="50000"/>
                  <a:lumOff val="50000"/>
                </a:schemeClr>
              </a:solidFill>
            </a:endParaRPr>
          </a:p>
        </p:txBody>
      </p:sp>
    </p:spTree>
    <p:extLst>
      <p:ext uri="{BB962C8B-B14F-4D97-AF65-F5344CB8AC3E}">
        <p14:creationId xmlns:p14="http://schemas.microsoft.com/office/powerpoint/2010/main" val="8670505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279E93F-CB26-BE4E-2A90-1EADD44FDBC3}"/>
              </a:ext>
            </a:extLst>
          </p:cNvPr>
          <p:cNvSpPr>
            <a:spLocks noGrp="1"/>
          </p:cNvSpPr>
          <p:nvPr>
            <p:ph type="title"/>
          </p:nvPr>
        </p:nvSpPr>
        <p:spPr>
          <a:xfrm>
            <a:off x="1371599" y="294538"/>
            <a:ext cx="9895951" cy="1033669"/>
          </a:xfrm>
        </p:spPr>
        <p:txBody>
          <a:bodyPr>
            <a:normAutofit fontScale="90000"/>
          </a:bodyPr>
          <a:lstStyle/>
          <a:p>
            <a:r>
              <a:rPr lang="es-MX" sz="4000" i="1" dirty="0">
                <a:solidFill>
                  <a:srgbClr val="FFFFFF"/>
                </a:solidFill>
              </a:rPr>
              <a:t>Sets </a:t>
            </a:r>
            <a:r>
              <a:rPr lang="es-MX" sz="2700" dirty="0">
                <a:solidFill>
                  <a:schemeClr val="bg1"/>
                </a:solidFill>
              </a:rPr>
              <a:t>Los sets son otro tipo de estructuras de datos. Se diferencian de listas, tuplas y diccionarios porque son una colección mutable de elementos inmutables, no ordenados y sin datos repetidos.</a:t>
            </a:r>
            <a:br>
              <a:rPr lang="es-MX" sz="2700" dirty="0">
                <a:solidFill>
                  <a:schemeClr val="bg1"/>
                </a:solidFill>
              </a:rPr>
            </a:br>
            <a:endParaRPr lang="es-MX" sz="2700" i="1" dirty="0">
              <a:solidFill>
                <a:schemeClr val="bg1"/>
              </a:solidFill>
            </a:endParaRPr>
          </a:p>
        </p:txBody>
      </p:sp>
      <p:sp>
        <p:nvSpPr>
          <p:cNvPr id="4" name="Marcador de pie de página 3">
            <a:extLst>
              <a:ext uri="{FF2B5EF4-FFF2-40B4-BE49-F238E27FC236}">
                <a16:creationId xmlns:a16="http://schemas.microsoft.com/office/drawing/2014/main" id="{035CC2AC-B65F-0023-5C06-18AB3AEF9A52}"/>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667DAC2B-269C-0239-4737-DF58A30FCA79}"/>
              </a:ext>
            </a:extLst>
          </p:cNvPr>
          <p:cNvSpPr>
            <a:spLocks noGrp="1"/>
          </p:cNvSpPr>
          <p:nvPr>
            <p:ph idx="1"/>
          </p:nvPr>
        </p:nvSpPr>
        <p:spPr>
          <a:xfrm>
            <a:off x="0" y="1597432"/>
            <a:ext cx="12191999" cy="5260568"/>
          </a:xfrm>
        </p:spPr>
        <p:txBody>
          <a:bodyPr anchor="ctr">
            <a:normAutofit/>
          </a:bodyPr>
          <a:lstStyle/>
          <a:p>
            <a:pPr marL="0" indent="0">
              <a:buNone/>
            </a:pPr>
            <a:r>
              <a:rPr lang="es-MX" sz="1800" dirty="0" err="1"/>
              <a:t>mi_set_a</a:t>
            </a:r>
            <a:r>
              <a:rPr lang="es-MX" sz="1800" dirty="0"/>
              <a:t> = {1, 2, "tres"} </a:t>
            </a:r>
            <a:r>
              <a:rPr lang="es-MX" sz="1800" dirty="0" err="1"/>
              <a:t>mi_set_b</a:t>
            </a:r>
            <a:r>
              <a:rPr lang="es-MX" sz="1800" dirty="0"/>
              <a:t> = {3, "tres"}</a:t>
            </a:r>
          </a:p>
          <a:p>
            <a:pPr marL="0" indent="0">
              <a:buNone/>
            </a:pPr>
            <a:r>
              <a:rPr lang="es-MX" sz="1800" dirty="0"/>
              <a:t>Métodos</a:t>
            </a:r>
          </a:p>
          <a:p>
            <a:pPr marL="0" indent="0">
              <a:buNone/>
            </a:pPr>
            <a:r>
              <a:rPr lang="it-IT" sz="1800" dirty="0"/>
              <a:t>add(item) agrega un elemento al set mi_set_a.add(5) </a:t>
            </a:r>
          </a:p>
          <a:p>
            <a:pPr marL="0" indent="0">
              <a:buNone/>
            </a:pPr>
            <a:r>
              <a:rPr lang="it-IT" sz="1800" dirty="0"/>
              <a:t>	print(mi_set_a) </a:t>
            </a:r>
          </a:p>
          <a:p>
            <a:pPr marL="0" indent="0">
              <a:buNone/>
            </a:pPr>
            <a:r>
              <a:rPr lang="it-IT" sz="1800" dirty="0"/>
              <a:t>	&gt;&gt; {1, 2, "tres" , 5}</a:t>
            </a:r>
          </a:p>
          <a:p>
            <a:pPr marL="0" indent="0">
              <a:buNone/>
            </a:pPr>
            <a:r>
              <a:rPr lang="es-MX" sz="1800" dirty="0" err="1"/>
              <a:t>clear</a:t>
            </a:r>
            <a:r>
              <a:rPr lang="es-MX" sz="1800" dirty="0"/>
              <a:t>( ) remueve todos los elementos de un set</a:t>
            </a:r>
          </a:p>
          <a:p>
            <a:pPr marL="0" indent="0">
              <a:buNone/>
            </a:pPr>
            <a:r>
              <a:rPr lang="es-MX" sz="1800" dirty="0"/>
              <a:t>	</a:t>
            </a:r>
            <a:r>
              <a:rPr lang="es-MX" sz="1800" dirty="0" err="1"/>
              <a:t>mi_set_a.clear</a:t>
            </a:r>
            <a:r>
              <a:rPr lang="es-MX" sz="1800" dirty="0"/>
              <a:t>() </a:t>
            </a:r>
          </a:p>
          <a:p>
            <a:pPr marL="0" indent="0">
              <a:buNone/>
            </a:pPr>
            <a:r>
              <a:rPr lang="es-MX" sz="1800" dirty="0"/>
              <a:t>	</a:t>
            </a:r>
            <a:r>
              <a:rPr lang="es-MX" sz="1800" dirty="0" err="1"/>
              <a:t>print</a:t>
            </a:r>
            <a:r>
              <a:rPr lang="es-MX" sz="1800" dirty="0"/>
              <a:t>(</a:t>
            </a:r>
            <a:r>
              <a:rPr lang="es-MX" sz="1800" dirty="0" err="1"/>
              <a:t>mi_set_a</a:t>
            </a:r>
            <a:r>
              <a:rPr lang="es-MX" sz="1800" dirty="0"/>
              <a:t>)</a:t>
            </a:r>
          </a:p>
          <a:p>
            <a:pPr marL="0" indent="0">
              <a:buNone/>
            </a:pPr>
            <a:r>
              <a:rPr lang="es-MX" sz="1800" dirty="0"/>
              <a:t>	&gt;&gt; set()</a:t>
            </a:r>
          </a:p>
          <a:p>
            <a:pPr marL="0" indent="0">
              <a:buNone/>
            </a:pPr>
            <a:r>
              <a:rPr lang="es-MX" sz="1800" dirty="0"/>
              <a:t> </a:t>
            </a:r>
            <a:r>
              <a:rPr lang="es-MX" sz="1800" dirty="0" err="1"/>
              <a:t>copy</a:t>
            </a:r>
            <a:r>
              <a:rPr lang="es-MX" sz="1800" dirty="0"/>
              <a:t>( ) retorna una copia del set </a:t>
            </a:r>
          </a:p>
          <a:p>
            <a:pPr marL="0" indent="0">
              <a:buNone/>
            </a:pPr>
            <a:r>
              <a:rPr lang="es-MX" sz="1800" dirty="0"/>
              <a:t>	</a:t>
            </a:r>
            <a:r>
              <a:rPr lang="es-MX" sz="1800" dirty="0" err="1"/>
              <a:t>mi_set_c</a:t>
            </a:r>
            <a:r>
              <a:rPr lang="es-MX" sz="1800" dirty="0"/>
              <a:t> = </a:t>
            </a:r>
            <a:r>
              <a:rPr lang="es-MX" sz="1800" dirty="0" err="1"/>
              <a:t>mi_set_a.copy</a:t>
            </a:r>
            <a:r>
              <a:rPr lang="es-MX" sz="1800" dirty="0"/>
              <a:t>() </a:t>
            </a:r>
          </a:p>
          <a:p>
            <a:pPr marL="0" indent="0">
              <a:buNone/>
            </a:pPr>
            <a:r>
              <a:rPr lang="es-MX" sz="1800" dirty="0"/>
              <a:t>	</a:t>
            </a:r>
            <a:r>
              <a:rPr lang="es-MX" sz="1800" dirty="0" err="1"/>
              <a:t>print</a:t>
            </a:r>
            <a:r>
              <a:rPr lang="es-MX" sz="1800" dirty="0"/>
              <a:t>(</a:t>
            </a:r>
            <a:r>
              <a:rPr lang="es-MX" sz="1800" dirty="0" err="1"/>
              <a:t>mi_set_c</a:t>
            </a:r>
            <a:r>
              <a:rPr lang="es-MX" sz="1800" dirty="0"/>
              <a:t>) </a:t>
            </a:r>
          </a:p>
          <a:p>
            <a:pPr marL="0" indent="0">
              <a:buNone/>
            </a:pPr>
            <a:r>
              <a:rPr lang="es-MX" sz="1800" dirty="0"/>
              <a:t>	&gt;&gt; {1, 2, "tres"}</a:t>
            </a:r>
          </a:p>
        </p:txBody>
      </p:sp>
      <p:sp>
        <p:nvSpPr>
          <p:cNvPr id="5" name="Marcador de número de diapositiva 4">
            <a:extLst>
              <a:ext uri="{FF2B5EF4-FFF2-40B4-BE49-F238E27FC236}">
                <a16:creationId xmlns:a16="http://schemas.microsoft.com/office/drawing/2014/main" id="{6F51743D-71BF-E53F-B46D-8E6A450139FB}"/>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55</a:t>
            </a:fld>
            <a:endParaRPr lang="es-MX" sz="1100">
              <a:solidFill>
                <a:schemeClr val="tx1">
                  <a:lumMod val="50000"/>
                  <a:lumOff val="50000"/>
                </a:schemeClr>
              </a:solidFill>
            </a:endParaRPr>
          </a:p>
        </p:txBody>
      </p:sp>
    </p:spTree>
    <p:extLst>
      <p:ext uri="{BB962C8B-B14F-4D97-AF65-F5344CB8AC3E}">
        <p14:creationId xmlns:p14="http://schemas.microsoft.com/office/powerpoint/2010/main" val="23358625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E3C2A80-6EE2-AB9B-AFD6-3AD84AE19F30}"/>
              </a:ext>
            </a:extLst>
          </p:cNvPr>
          <p:cNvSpPr>
            <a:spLocks noGrp="1"/>
          </p:cNvSpPr>
          <p:nvPr>
            <p:ph type="title"/>
          </p:nvPr>
        </p:nvSpPr>
        <p:spPr>
          <a:xfrm>
            <a:off x="1371599" y="294538"/>
            <a:ext cx="9895951" cy="1033669"/>
          </a:xfrm>
        </p:spPr>
        <p:txBody>
          <a:bodyPr>
            <a:normAutofit/>
          </a:bodyPr>
          <a:lstStyle/>
          <a:p>
            <a:endParaRPr lang="es-MX" sz="4000">
              <a:solidFill>
                <a:srgbClr val="FFFFFF"/>
              </a:solidFill>
            </a:endParaRPr>
          </a:p>
        </p:txBody>
      </p:sp>
      <p:sp>
        <p:nvSpPr>
          <p:cNvPr id="4" name="Marcador de pie de página 3">
            <a:extLst>
              <a:ext uri="{FF2B5EF4-FFF2-40B4-BE49-F238E27FC236}">
                <a16:creationId xmlns:a16="http://schemas.microsoft.com/office/drawing/2014/main" id="{B011305E-9718-14B0-FE70-03B4FC88F337}"/>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FE7903D5-56C8-1D9B-EBBE-929B8885B3D9}"/>
              </a:ext>
            </a:extLst>
          </p:cNvPr>
          <p:cNvSpPr>
            <a:spLocks noGrp="1"/>
          </p:cNvSpPr>
          <p:nvPr>
            <p:ph idx="1"/>
          </p:nvPr>
        </p:nvSpPr>
        <p:spPr>
          <a:xfrm>
            <a:off x="-7" y="1590740"/>
            <a:ext cx="12192007" cy="5267259"/>
          </a:xfrm>
        </p:spPr>
        <p:txBody>
          <a:bodyPr anchor="ctr">
            <a:normAutofit/>
          </a:bodyPr>
          <a:lstStyle/>
          <a:p>
            <a:pPr marL="0" indent="0">
              <a:buNone/>
            </a:pPr>
            <a:r>
              <a:rPr lang="es-MX" sz="1800" dirty="0" err="1"/>
              <a:t>Mi_set_a</a:t>
            </a:r>
            <a:r>
              <a:rPr lang="es-MX" sz="1800" dirty="0"/>
              <a:t> = {1, 2, "tres"} </a:t>
            </a:r>
            <a:r>
              <a:rPr lang="es-MX" sz="1800" dirty="0" err="1"/>
              <a:t>mi_set_b</a:t>
            </a:r>
            <a:r>
              <a:rPr lang="es-MX" sz="1800" dirty="0"/>
              <a:t> = {3, "tres"}</a:t>
            </a:r>
          </a:p>
          <a:p>
            <a:pPr marL="0" indent="0">
              <a:buNone/>
            </a:pPr>
            <a:r>
              <a:rPr lang="es-MX" sz="1800" dirty="0" err="1"/>
              <a:t>difference</a:t>
            </a:r>
            <a:r>
              <a:rPr lang="es-MX" sz="1800" dirty="0"/>
              <a:t>(set) retorna el set formado por todos los elementos que únicamente existen en el set A </a:t>
            </a:r>
            <a:r>
              <a:rPr lang="es-MX" sz="1800" dirty="0" err="1"/>
              <a:t>mi_set_c</a:t>
            </a:r>
            <a:r>
              <a:rPr lang="es-MX" sz="1800" dirty="0"/>
              <a:t> = </a:t>
            </a:r>
            <a:r>
              <a:rPr lang="es-MX" sz="1800" dirty="0" err="1"/>
              <a:t>mi_set_a.difference</a:t>
            </a:r>
            <a:r>
              <a:rPr lang="es-MX" sz="1800" dirty="0"/>
              <a:t>(</a:t>
            </a:r>
            <a:r>
              <a:rPr lang="es-MX" sz="1800" dirty="0" err="1"/>
              <a:t>mi_set_b</a:t>
            </a:r>
            <a:r>
              <a:rPr lang="es-MX" sz="1800" dirty="0"/>
              <a:t>) </a:t>
            </a:r>
          </a:p>
          <a:p>
            <a:pPr marL="0" indent="0">
              <a:buNone/>
            </a:pPr>
            <a:r>
              <a:rPr lang="es-MX" sz="1800" dirty="0"/>
              <a:t>	</a:t>
            </a:r>
            <a:r>
              <a:rPr lang="es-MX" sz="1800" dirty="0" err="1"/>
              <a:t>print</a:t>
            </a:r>
            <a:r>
              <a:rPr lang="es-MX" sz="1800" dirty="0"/>
              <a:t>(</a:t>
            </a:r>
            <a:r>
              <a:rPr lang="es-MX" sz="1800" dirty="0" err="1"/>
              <a:t>mi_set_c</a:t>
            </a:r>
            <a:r>
              <a:rPr lang="es-MX" sz="1800" dirty="0"/>
              <a:t>)</a:t>
            </a:r>
          </a:p>
          <a:p>
            <a:pPr marL="0" indent="0">
              <a:buNone/>
            </a:pPr>
            <a:r>
              <a:rPr lang="es-MX" sz="1800" dirty="0"/>
              <a:t>	 &gt;&gt; {1, 2}</a:t>
            </a:r>
          </a:p>
          <a:p>
            <a:pPr marL="0" indent="0">
              <a:buNone/>
            </a:pPr>
            <a:r>
              <a:rPr lang="es-MX" sz="1800" dirty="0" err="1"/>
              <a:t>difference_update</a:t>
            </a:r>
            <a:r>
              <a:rPr lang="es-MX" sz="1800" dirty="0"/>
              <a:t>(set) remueve de A todos los elementos comunes a </a:t>
            </a:r>
            <a:r>
              <a:rPr lang="es-MX" sz="1800" dirty="0" err="1"/>
              <a:t>A</a:t>
            </a:r>
            <a:r>
              <a:rPr lang="es-MX" sz="1800" dirty="0"/>
              <a:t> y B</a:t>
            </a:r>
          </a:p>
          <a:p>
            <a:pPr marL="0" indent="0">
              <a:buNone/>
            </a:pPr>
            <a:r>
              <a:rPr lang="es-MX" sz="1800" dirty="0"/>
              <a:t>	</a:t>
            </a:r>
            <a:r>
              <a:rPr lang="es-MX" sz="1800" dirty="0" err="1"/>
              <a:t>mi_set_a.difference_update</a:t>
            </a:r>
            <a:r>
              <a:rPr lang="es-MX" sz="1800" dirty="0"/>
              <a:t>(</a:t>
            </a:r>
            <a:r>
              <a:rPr lang="es-MX" sz="1800" dirty="0" err="1"/>
              <a:t>mi_set_b</a:t>
            </a:r>
            <a:r>
              <a:rPr lang="es-MX" sz="1800" dirty="0"/>
              <a:t>) </a:t>
            </a:r>
          </a:p>
          <a:p>
            <a:pPr marL="0" indent="0">
              <a:buNone/>
            </a:pPr>
            <a:r>
              <a:rPr lang="es-MX" sz="1800" dirty="0"/>
              <a:t>	</a:t>
            </a:r>
            <a:r>
              <a:rPr lang="es-MX" sz="1800" dirty="0" err="1"/>
              <a:t>print</a:t>
            </a:r>
            <a:r>
              <a:rPr lang="es-MX" sz="1800" dirty="0"/>
              <a:t>(</a:t>
            </a:r>
            <a:r>
              <a:rPr lang="es-MX" sz="1800" dirty="0" err="1"/>
              <a:t>mi_set_a</a:t>
            </a:r>
            <a:r>
              <a:rPr lang="es-MX" sz="1800" dirty="0"/>
              <a:t>) </a:t>
            </a:r>
          </a:p>
          <a:p>
            <a:pPr marL="0" indent="0">
              <a:buNone/>
            </a:pPr>
            <a:r>
              <a:rPr lang="es-MX" sz="1800" dirty="0"/>
              <a:t>	&gt;&gt; {1, 2}</a:t>
            </a:r>
          </a:p>
          <a:p>
            <a:pPr marL="0" indent="0">
              <a:buNone/>
            </a:pPr>
            <a:r>
              <a:rPr lang="en-US" sz="1800" dirty="0"/>
              <a:t>discard(item) </a:t>
            </a:r>
            <a:r>
              <a:rPr lang="en-US" sz="1800" dirty="0" err="1"/>
              <a:t>remueve</a:t>
            </a:r>
            <a:r>
              <a:rPr lang="en-US" sz="1800" dirty="0"/>
              <a:t> un </a:t>
            </a:r>
            <a:r>
              <a:rPr lang="en-US" sz="1800" dirty="0" err="1"/>
              <a:t>elemento</a:t>
            </a:r>
            <a:r>
              <a:rPr lang="en-US" sz="1800" dirty="0"/>
              <a:t> del set</a:t>
            </a:r>
          </a:p>
          <a:p>
            <a:pPr marL="0" indent="0">
              <a:buNone/>
            </a:pPr>
            <a:r>
              <a:rPr lang="en-US" sz="1800" dirty="0"/>
              <a:t> 	</a:t>
            </a:r>
            <a:r>
              <a:rPr lang="en-US" sz="1800" dirty="0" err="1"/>
              <a:t>mi_set_a.discard</a:t>
            </a:r>
            <a:r>
              <a:rPr lang="en-US" sz="1800" dirty="0"/>
              <a:t>("</a:t>
            </a:r>
            <a:r>
              <a:rPr lang="en-US" sz="1800" dirty="0" err="1"/>
              <a:t>tres</a:t>
            </a:r>
            <a:r>
              <a:rPr lang="en-US" sz="1800" dirty="0"/>
              <a:t>") </a:t>
            </a:r>
          </a:p>
          <a:p>
            <a:pPr marL="0" indent="0">
              <a:buNone/>
            </a:pPr>
            <a:r>
              <a:rPr lang="en-US" sz="1800" dirty="0"/>
              <a:t>	print(</a:t>
            </a:r>
            <a:r>
              <a:rPr lang="en-US" sz="1800" dirty="0" err="1"/>
              <a:t>mi_set_a</a:t>
            </a:r>
            <a:r>
              <a:rPr lang="en-US" sz="1800" dirty="0"/>
              <a:t>) </a:t>
            </a:r>
          </a:p>
          <a:p>
            <a:pPr marL="0" indent="0">
              <a:buNone/>
            </a:pPr>
            <a:r>
              <a:rPr lang="en-US" sz="1800" dirty="0"/>
              <a:t>	&gt;&gt; {1, 2}</a:t>
            </a:r>
            <a:endParaRPr lang="es-MX" sz="1800" dirty="0"/>
          </a:p>
        </p:txBody>
      </p:sp>
      <p:sp>
        <p:nvSpPr>
          <p:cNvPr id="5" name="Marcador de número de diapositiva 4">
            <a:extLst>
              <a:ext uri="{FF2B5EF4-FFF2-40B4-BE49-F238E27FC236}">
                <a16:creationId xmlns:a16="http://schemas.microsoft.com/office/drawing/2014/main" id="{B29D5093-50F9-E3BE-53BE-DC3561F3D541}"/>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56</a:t>
            </a:fld>
            <a:endParaRPr lang="es-MX" sz="1100">
              <a:solidFill>
                <a:schemeClr val="tx1">
                  <a:lumMod val="50000"/>
                  <a:lumOff val="50000"/>
                </a:schemeClr>
              </a:solidFill>
            </a:endParaRPr>
          </a:p>
        </p:txBody>
      </p:sp>
    </p:spTree>
    <p:extLst>
      <p:ext uri="{BB962C8B-B14F-4D97-AF65-F5344CB8AC3E}">
        <p14:creationId xmlns:p14="http://schemas.microsoft.com/office/powerpoint/2010/main" val="16821881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4F327DE-0954-078F-F2DC-A3861B299956}"/>
              </a:ext>
            </a:extLst>
          </p:cNvPr>
          <p:cNvSpPr>
            <a:spLocks noGrp="1"/>
          </p:cNvSpPr>
          <p:nvPr>
            <p:ph type="title"/>
          </p:nvPr>
        </p:nvSpPr>
        <p:spPr>
          <a:xfrm>
            <a:off x="1371599" y="294538"/>
            <a:ext cx="9895951" cy="1033669"/>
          </a:xfrm>
        </p:spPr>
        <p:txBody>
          <a:bodyPr>
            <a:normAutofit/>
          </a:bodyPr>
          <a:lstStyle/>
          <a:p>
            <a:endParaRPr lang="es-MX" sz="4000">
              <a:solidFill>
                <a:srgbClr val="FFFFFF"/>
              </a:solidFill>
            </a:endParaRPr>
          </a:p>
        </p:txBody>
      </p:sp>
      <p:sp>
        <p:nvSpPr>
          <p:cNvPr id="4" name="Marcador de pie de página 3">
            <a:extLst>
              <a:ext uri="{FF2B5EF4-FFF2-40B4-BE49-F238E27FC236}">
                <a16:creationId xmlns:a16="http://schemas.microsoft.com/office/drawing/2014/main" id="{E9D910DD-0AA3-DF40-F806-D8580D956491}"/>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F6670CAB-702A-675E-0A9A-D1EE8AB1458C}"/>
              </a:ext>
            </a:extLst>
          </p:cNvPr>
          <p:cNvSpPr>
            <a:spLocks noGrp="1"/>
          </p:cNvSpPr>
          <p:nvPr>
            <p:ph idx="1"/>
          </p:nvPr>
        </p:nvSpPr>
        <p:spPr>
          <a:xfrm>
            <a:off x="-7" y="1590740"/>
            <a:ext cx="12192007" cy="5267259"/>
          </a:xfrm>
        </p:spPr>
        <p:txBody>
          <a:bodyPr anchor="ctr">
            <a:normAutofit/>
          </a:bodyPr>
          <a:lstStyle/>
          <a:p>
            <a:pPr marL="0" indent="0">
              <a:buNone/>
            </a:pPr>
            <a:r>
              <a:rPr lang="es-MX" sz="1800" dirty="0" err="1"/>
              <a:t>intersection</a:t>
            </a:r>
            <a:r>
              <a:rPr lang="es-MX" sz="1800" dirty="0"/>
              <a:t>(set) retorna el set formado por todos los elementos que existen en A y B simultáneamente.  </a:t>
            </a:r>
          </a:p>
          <a:p>
            <a:pPr marL="0" indent="0">
              <a:buNone/>
            </a:pPr>
            <a:r>
              <a:rPr lang="es-MX" sz="1800" dirty="0"/>
              <a:t>	</a:t>
            </a:r>
            <a:r>
              <a:rPr lang="es-MX" sz="1800" dirty="0" err="1"/>
              <a:t>mi_set_c</a:t>
            </a:r>
            <a:r>
              <a:rPr lang="es-MX" sz="1800" dirty="0"/>
              <a:t> = </a:t>
            </a:r>
            <a:r>
              <a:rPr lang="es-MX" sz="1800" dirty="0" err="1"/>
              <a:t>mi_set_a.intersection</a:t>
            </a:r>
            <a:r>
              <a:rPr lang="es-MX" sz="1800" dirty="0"/>
              <a:t>(</a:t>
            </a:r>
            <a:r>
              <a:rPr lang="es-MX" sz="1800" dirty="0" err="1"/>
              <a:t>mi_set_b</a:t>
            </a:r>
            <a:r>
              <a:rPr lang="es-MX" sz="1800" dirty="0"/>
              <a:t>) </a:t>
            </a:r>
          </a:p>
          <a:p>
            <a:pPr marL="0" indent="0">
              <a:buNone/>
            </a:pPr>
            <a:r>
              <a:rPr lang="es-MX" sz="1800" dirty="0"/>
              <a:t>	</a:t>
            </a:r>
            <a:r>
              <a:rPr lang="es-MX" sz="1800" dirty="0" err="1"/>
              <a:t>print</a:t>
            </a:r>
            <a:r>
              <a:rPr lang="es-MX" sz="1800" dirty="0"/>
              <a:t>(</a:t>
            </a:r>
            <a:r>
              <a:rPr lang="es-MX" sz="1800" dirty="0" err="1"/>
              <a:t>mi_set_c</a:t>
            </a:r>
            <a:r>
              <a:rPr lang="es-MX" sz="1800" dirty="0"/>
              <a:t>) </a:t>
            </a:r>
          </a:p>
          <a:p>
            <a:pPr marL="0" indent="0">
              <a:buNone/>
            </a:pPr>
            <a:r>
              <a:rPr lang="es-MX" sz="1800" dirty="0"/>
              <a:t>	&gt;&gt; {'tres’}</a:t>
            </a:r>
          </a:p>
          <a:p>
            <a:pPr marL="0" indent="0">
              <a:buNone/>
            </a:pPr>
            <a:r>
              <a:rPr lang="es-MX" sz="1800" dirty="0"/>
              <a:t>	</a:t>
            </a:r>
            <a:r>
              <a:rPr lang="es-MX" sz="1800" dirty="0" err="1"/>
              <a:t>mi_set_a</a:t>
            </a:r>
            <a:r>
              <a:rPr lang="es-MX" sz="1800" dirty="0"/>
              <a:t> = {1, 2, "tres"} </a:t>
            </a:r>
            <a:r>
              <a:rPr lang="es-MX" sz="1800" dirty="0" err="1"/>
              <a:t>mi_set_b</a:t>
            </a:r>
            <a:r>
              <a:rPr lang="es-MX" sz="1800" dirty="0"/>
              <a:t> = {3, "tres"}</a:t>
            </a:r>
          </a:p>
          <a:p>
            <a:pPr marL="0" indent="0">
              <a:buNone/>
            </a:pPr>
            <a:r>
              <a:rPr lang="es-MX" sz="1800" dirty="0" err="1"/>
              <a:t>intersection_update</a:t>
            </a:r>
            <a:r>
              <a:rPr lang="es-MX" sz="1800" dirty="0"/>
              <a:t>(set) mantiene únicamente los elementos comunes a </a:t>
            </a:r>
            <a:r>
              <a:rPr lang="es-MX" sz="1800" dirty="0" err="1"/>
              <a:t>A</a:t>
            </a:r>
            <a:r>
              <a:rPr lang="es-MX" sz="1800" dirty="0"/>
              <a:t> y B </a:t>
            </a:r>
          </a:p>
          <a:p>
            <a:pPr marL="0" indent="0">
              <a:buNone/>
            </a:pPr>
            <a:r>
              <a:rPr lang="es-MX" sz="1800" dirty="0"/>
              <a:t>	</a:t>
            </a:r>
            <a:r>
              <a:rPr lang="es-MX" sz="1800" dirty="0" err="1"/>
              <a:t>mi_set_b.intersection_update</a:t>
            </a:r>
            <a:r>
              <a:rPr lang="es-MX" sz="1800" dirty="0"/>
              <a:t>(</a:t>
            </a:r>
            <a:r>
              <a:rPr lang="es-MX" sz="1800" dirty="0" err="1"/>
              <a:t>mi_set_a</a:t>
            </a:r>
            <a:r>
              <a:rPr lang="es-MX" sz="1800" dirty="0"/>
              <a:t>) </a:t>
            </a:r>
          </a:p>
          <a:p>
            <a:pPr marL="0" indent="0">
              <a:buNone/>
            </a:pPr>
            <a:r>
              <a:rPr lang="es-MX" sz="1800" dirty="0"/>
              <a:t>	</a:t>
            </a:r>
            <a:r>
              <a:rPr lang="es-MX" sz="1800" dirty="0" err="1"/>
              <a:t>print</a:t>
            </a:r>
            <a:r>
              <a:rPr lang="es-MX" sz="1800" dirty="0"/>
              <a:t>(</a:t>
            </a:r>
            <a:r>
              <a:rPr lang="es-MX" sz="1800" dirty="0" err="1"/>
              <a:t>mi_set_b</a:t>
            </a:r>
            <a:r>
              <a:rPr lang="es-MX" sz="1800" dirty="0"/>
              <a:t>) </a:t>
            </a:r>
          </a:p>
          <a:p>
            <a:pPr marL="0" indent="0">
              <a:buNone/>
            </a:pPr>
            <a:r>
              <a:rPr lang="es-MX" sz="1800" dirty="0"/>
              <a:t>	&gt;&gt; {"tres"}</a:t>
            </a:r>
          </a:p>
          <a:p>
            <a:pPr marL="0" indent="0">
              <a:buNone/>
            </a:pPr>
            <a:r>
              <a:rPr lang="es-MX" sz="1800" dirty="0" err="1"/>
              <a:t>isdisjoint</a:t>
            </a:r>
            <a:r>
              <a:rPr lang="es-MX" sz="1800" dirty="0"/>
              <a:t>(set) devuelve True si A y B no tienen elementos en común</a:t>
            </a:r>
          </a:p>
          <a:p>
            <a:pPr marL="0" indent="0">
              <a:buNone/>
            </a:pPr>
            <a:r>
              <a:rPr lang="es-MX" sz="1800" dirty="0"/>
              <a:t>	</a:t>
            </a:r>
            <a:r>
              <a:rPr lang="es-MX" sz="1800" dirty="0" err="1"/>
              <a:t>Conjunto_disjunto</a:t>
            </a:r>
            <a:r>
              <a:rPr lang="es-MX" sz="1800" dirty="0"/>
              <a:t> = </a:t>
            </a:r>
            <a:r>
              <a:rPr lang="es-MX" sz="1800" dirty="0" err="1"/>
              <a:t>mi_set_a.isdisjoint</a:t>
            </a:r>
            <a:r>
              <a:rPr lang="es-MX" sz="1800" dirty="0"/>
              <a:t>(</a:t>
            </a:r>
            <a:r>
              <a:rPr lang="es-MX" sz="1800" dirty="0" err="1"/>
              <a:t>mi_set_b</a:t>
            </a:r>
            <a:r>
              <a:rPr lang="es-MX" sz="1800" dirty="0"/>
              <a:t>) </a:t>
            </a:r>
          </a:p>
          <a:p>
            <a:pPr marL="0" indent="0">
              <a:buNone/>
            </a:pPr>
            <a:r>
              <a:rPr lang="es-MX" sz="1800" dirty="0"/>
              <a:t>	</a:t>
            </a:r>
            <a:r>
              <a:rPr lang="es-MX" sz="1800" dirty="0" err="1"/>
              <a:t>print</a:t>
            </a:r>
            <a:r>
              <a:rPr lang="es-MX" sz="1800" dirty="0"/>
              <a:t>(</a:t>
            </a:r>
            <a:r>
              <a:rPr lang="es-MX" sz="1800" dirty="0" err="1"/>
              <a:t>conjunto_disjunto</a:t>
            </a:r>
            <a:r>
              <a:rPr lang="es-MX" sz="1800" dirty="0"/>
              <a:t>) </a:t>
            </a:r>
          </a:p>
          <a:p>
            <a:pPr marL="0" indent="0">
              <a:buNone/>
            </a:pPr>
            <a:r>
              <a:rPr lang="es-MX" sz="1800" dirty="0"/>
              <a:t>	&gt;&gt; False</a:t>
            </a:r>
          </a:p>
        </p:txBody>
      </p:sp>
      <p:sp>
        <p:nvSpPr>
          <p:cNvPr id="5" name="Marcador de número de diapositiva 4">
            <a:extLst>
              <a:ext uri="{FF2B5EF4-FFF2-40B4-BE49-F238E27FC236}">
                <a16:creationId xmlns:a16="http://schemas.microsoft.com/office/drawing/2014/main" id="{5287C34F-B2F0-7F41-9A10-B615BF67D14B}"/>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57</a:t>
            </a:fld>
            <a:endParaRPr lang="es-MX" sz="1100">
              <a:solidFill>
                <a:schemeClr val="tx1">
                  <a:lumMod val="50000"/>
                  <a:lumOff val="50000"/>
                </a:schemeClr>
              </a:solidFill>
            </a:endParaRPr>
          </a:p>
        </p:txBody>
      </p:sp>
    </p:spTree>
    <p:extLst>
      <p:ext uri="{BB962C8B-B14F-4D97-AF65-F5344CB8AC3E}">
        <p14:creationId xmlns:p14="http://schemas.microsoft.com/office/powerpoint/2010/main" val="9281996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AAC704E-7968-2B39-18FF-D8C2E287BF85}"/>
              </a:ext>
            </a:extLst>
          </p:cNvPr>
          <p:cNvSpPr>
            <a:spLocks noGrp="1"/>
          </p:cNvSpPr>
          <p:nvPr>
            <p:ph type="title"/>
          </p:nvPr>
        </p:nvSpPr>
        <p:spPr>
          <a:xfrm>
            <a:off x="1371599" y="294538"/>
            <a:ext cx="9895951" cy="1033669"/>
          </a:xfrm>
        </p:spPr>
        <p:txBody>
          <a:bodyPr>
            <a:normAutofit/>
          </a:bodyPr>
          <a:lstStyle/>
          <a:p>
            <a:endParaRPr lang="es-MX" sz="4000">
              <a:solidFill>
                <a:srgbClr val="FFFFFF"/>
              </a:solidFill>
            </a:endParaRPr>
          </a:p>
        </p:txBody>
      </p:sp>
      <p:sp>
        <p:nvSpPr>
          <p:cNvPr id="4" name="Marcador de pie de página 3">
            <a:extLst>
              <a:ext uri="{FF2B5EF4-FFF2-40B4-BE49-F238E27FC236}">
                <a16:creationId xmlns:a16="http://schemas.microsoft.com/office/drawing/2014/main" id="{9C344A06-1506-696A-1B4B-27CE8792A1E6}"/>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86D8164A-A667-DE86-FF47-9FDCADFBE844}"/>
              </a:ext>
            </a:extLst>
          </p:cNvPr>
          <p:cNvSpPr>
            <a:spLocks noGrp="1"/>
          </p:cNvSpPr>
          <p:nvPr>
            <p:ph idx="1"/>
          </p:nvPr>
        </p:nvSpPr>
        <p:spPr>
          <a:xfrm>
            <a:off x="0" y="1590741"/>
            <a:ext cx="12191999" cy="5267259"/>
          </a:xfrm>
        </p:spPr>
        <p:txBody>
          <a:bodyPr anchor="ctr">
            <a:normAutofit/>
          </a:bodyPr>
          <a:lstStyle/>
          <a:p>
            <a:pPr marL="0" indent="0">
              <a:buNone/>
            </a:pPr>
            <a:r>
              <a:rPr lang="es-MX" dirty="0" err="1"/>
              <a:t>issubset</a:t>
            </a:r>
            <a:r>
              <a:rPr lang="es-MX" dirty="0"/>
              <a:t>(set) devuelve True si todos los elementos de B están presentes en A </a:t>
            </a:r>
          </a:p>
          <a:p>
            <a:pPr marL="0" indent="0">
              <a:buNone/>
            </a:pPr>
            <a:r>
              <a:rPr lang="es-MX" dirty="0"/>
              <a:t>	</a:t>
            </a:r>
            <a:r>
              <a:rPr lang="es-MX" dirty="0" err="1"/>
              <a:t>es_subset</a:t>
            </a:r>
            <a:r>
              <a:rPr lang="es-MX" dirty="0"/>
              <a:t> = </a:t>
            </a:r>
            <a:r>
              <a:rPr lang="es-MX" dirty="0" err="1"/>
              <a:t>mi_set_b.issubset</a:t>
            </a:r>
            <a:r>
              <a:rPr lang="es-MX" dirty="0"/>
              <a:t>(</a:t>
            </a:r>
            <a:r>
              <a:rPr lang="es-MX" dirty="0" err="1"/>
              <a:t>mi_set_a</a:t>
            </a:r>
            <a:r>
              <a:rPr lang="es-MX" dirty="0"/>
              <a:t>) </a:t>
            </a:r>
          </a:p>
          <a:p>
            <a:pPr marL="0" indent="0">
              <a:buNone/>
            </a:pPr>
            <a:r>
              <a:rPr lang="es-MX" dirty="0"/>
              <a:t>	</a:t>
            </a:r>
            <a:r>
              <a:rPr lang="es-MX" dirty="0" err="1"/>
              <a:t>print</a:t>
            </a:r>
            <a:r>
              <a:rPr lang="es-MX" dirty="0"/>
              <a:t>(</a:t>
            </a:r>
            <a:r>
              <a:rPr lang="es-MX" dirty="0" err="1"/>
              <a:t>es_subset</a:t>
            </a:r>
            <a:r>
              <a:rPr lang="es-MX" dirty="0"/>
              <a:t>) </a:t>
            </a:r>
          </a:p>
          <a:p>
            <a:pPr marL="0" indent="0">
              <a:buNone/>
            </a:pPr>
            <a:r>
              <a:rPr lang="es-MX" dirty="0"/>
              <a:t>	&gt;&gt; False</a:t>
            </a:r>
          </a:p>
          <a:p>
            <a:pPr marL="0" indent="0">
              <a:buNone/>
            </a:pPr>
            <a:r>
              <a:rPr lang="es-MX" dirty="0" err="1"/>
              <a:t>issuperset</a:t>
            </a:r>
            <a:r>
              <a:rPr lang="es-MX" dirty="0"/>
              <a:t>(set) devuelve True si A contiene todos los elementos de B </a:t>
            </a:r>
            <a:r>
              <a:rPr lang="es-MX" dirty="0" err="1"/>
              <a:t>es_superset</a:t>
            </a:r>
            <a:r>
              <a:rPr lang="es-MX" dirty="0"/>
              <a:t> = 	</a:t>
            </a:r>
            <a:r>
              <a:rPr lang="es-MX" dirty="0" err="1"/>
              <a:t>mi_set_a.issuperset</a:t>
            </a:r>
            <a:r>
              <a:rPr lang="es-MX" dirty="0"/>
              <a:t>(</a:t>
            </a:r>
            <a:r>
              <a:rPr lang="es-MX" dirty="0" err="1"/>
              <a:t>mi_set_b</a:t>
            </a:r>
            <a:r>
              <a:rPr lang="es-MX" dirty="0"/>
              <a:t>) </a:t>
            </a:r>
          </a:p>
          <a:p>
            <a:pPr marL="0" indent="0">
              <a:buNone/>
            </a:pPr>
            <a:r>
              <a:rPr lang="es-MX" dirty="0"/>
              <a:t>	</a:t>
            </a:r>
            <a:r>
              <a:rPr lang="es-MX" dirty="0" err="1"/>
              <a:t>print</a:t>
            </a:r>
            <a:r>
              <a:rPr lang="es-MX" dirty="0"/>
              <a:t>(</a:t>
            </a:r>
            <a:r>
              <a:rPr lang="es-MX" dirty="0" err="1"/>
              <a:t>es_superset</a:t>
            </a:r>
            <a:r>
              <a:rPr lang="es-MX" dirty="0"/>
              <a:t>) </a:t>
            </a:r>
          </a:p>
          <a:p>
            <a:pPr marL="0" indent="0">
              <a:buNone/>
            </a:pPr>
            <a:r>
              <a:rPr lang="es-MX" dirty="0"/>
              <a:t>	&gt;&gt; False</a:t>
            </a:r>
          </a:p>
        </p:txBody>
      </p:sp>
      <p:sp>
        <p:nvSpPr>
          <p:cNvPr id="5" name="Marcador de número de diapositiva 4">
            <a:extLst>
              <a:ext uri="{FF2B5EF4-FFF2-40B4-BE49-F238E27FC236}">
                <a16:creationId xmlns:a16="http://schemas.microsoft.com/office/drawing/2014/main" id="{F16BEFDF-869C-90F6-614E-B9DCCF6068EF}"/>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58</a:t>
            </a:fld>
            <a:endParaRPr lang="es-MX" sz="1100">
              <a:solidFill>
                <a:schemeClr val="tx1">
                  <a:lumMod val="50000"/>
                  <a:lumOff val="50000"/>
                </a:schemeClr>
              </a:solidFill>
            </a:endParaRPr>
          </a:p>
        </p:txBody>
      </p:sp>
    </p:spTree>
    <p:extLst>
      <p:ext uri="{BB962C8B-B14F-4D97-AF65-F5344CB8AC3E}">
        <p14:creationId xmlns:p14="http://schemas.microsoft.com/office/powerpoint/2010/main" val="39355291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DA8C20A-DAD5-0A7A-F734-2F73DEE557E9}"/>
              </a:ext>
            </a:extLst>
          </p:cNvPr>
          <p:cNvSpPr>
            <a:spLocks noGrp="1"/>
          </p:cNvSpPr>
          <p:nvPr>
            <p:ph type="title"/>
          </p:nvPr>
        </p:nvSpPr>
        <p:spPr>
          <a:xfrm>
            <a:off x="1371599" y="294538"/>
            <a:ext cx="9895951" cy="1033669"/>
          </a:xfrm>
        </p:spPr>
        <p:txBody>
          <a:bodyPr>
            <a:normAutofit/>
          </a:bodyPr>
          <a:lstStyle/>
          <a:p>
            <a:endParaRPr lang="es-MX" sz="4000">
              <a:solidFill>
                <a:srgbClr val="FFFFFF"/>
              </a:solidFill>
            </a:endParaRPr>
          </a:p>
        </p:txBody>
      </p:sp>
      <p:sp>
        <p:nvSpPr>
          <p:cNvPr id="4" name="Marcador de pie de página 3">
            <a:extLst>
              <a:ext uri="{FF2B5EF4-FFF2-40B4-BE49-F238E27FC236}">
                <a16:creationId xmlns:a16="http://schemas.microsoft.com/office/drawing/2014/main" id="{B8160C24-C12B-3122-A284-DEACDA610BFE}"/>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A4A29633-DB83-0E65-08B8-456C3999964A}"/>
              </a:ext>
            </a:extLst>
          </p:cNvPr>
          <p:cNvSpPr>
            <a:spLocks noGrp="1"/>
          </p:cNvSpPr>
          <p:nvPr>
            <p:ph idx="1"/>
          </p:nvPr>
        </p:nvSpPr>
        <p:spPr>
          <a:xfrm>
            <a:off x="0" y="1597432"/>
            <a:ext cx="12191995" cy="5260568"/>
          </a:xfrm>
        </p:spPr>
        <p:txBody>
          <a:bodyPr anchor="ctr">
            <a:normAutofit/>
          </a:bodyPr>
          <a:lstStyle/>
          <a:p>
            <a:pPr marL="0" indent="0">
              <a:buNone/>
            </a:pPr>
            <a:r>
              <a:rPr lang="es-MX" sz="2000" dirty="0" err="1"/>
              <a:t>mi_set_a</a:t>
            </a:r>
            <a:r>
              <a:rPr lang="es-MX" sz="2000" dirty="0"/>
              <a:t> = {1, 2, "tres"} </a:t>
            </a:r>
            <a:r>
              <a:rPr lang="es-MX" sz="2000" dirty="0" err="1"/>
              <a:t>mi_set_b</a:t>
            </a:r>
            <a:r>
              <a:rPr lang="es-MX" sz="2000" dirty="0"/>
              <a:t> = {3, "tres"}</a:t>
            </a:r>
          </a:p>
          <a:p>
            <a:pPr marL="0" indent="0">
              <a:buNone/>
            </a:pPr>
            <a:r>
              <a:rPr lang="es-MX" sz="2000" dirty="0"/>
              <a:t>pop( ) elimina y retorna un elemento al azar del set </a:t>
            </a:r>
          </a:p>
          <a:p>
            <a:pPr marL="0" indent="0">
              <a:buNone/>
            </a:pPr>
            <a:r>
              <a:rPr lang="es-MX" sz="2000" dirty="0"/>
              <a:t>	aleatorio = </a:t>
            </a:r>
            <a:r>
              <a:rPr lang="es-MX" sz="2000" dirty="0" err="1"/>
              <a:t>mi_set_a.pop</a:t>
            </a:r>
            <a:r>
              <a:rPr lang="es-MX" sz="2000" dirty="0"/>
              <a:t>() </a:t>
            </a:r>
          </a:p>
          <a:p>
            <a:pPr marL="0" indent="0">
              <a:buNone/>
            </a:pPr>
            <a:r>
              <a:rPr lang="es-MX" sz="2000" dirty="0"/>
              <a:t>	</a:t>
            </a:r>
            <a:r>
              <a:rPr lang="es-MX" sz="2000" dirty="0" err="1"/>
              <a:t>print</a:t>
            </a:r>
            <a:r>
              <a:rPr lang="es-MX" sz="2000" dirty="0"/>
              <a:t>(aleatorio) </a:t>
            </a:r>
          </a:p>
          <a:p>
            <a:pPr marL="0" indent="0">
              <a:buNone/>
            </a:pPr>
            <a:r>
              <a:rPr lang="es-MX" sz="2000" dirty="0"/>
              <a:t>	&gt;&gt; {2}</a:t>
            </a:r>
          </a:p>
          <a:p>
            <a:pPr marL="0" indent="0">
              <a:buNone/>
            </a:pPr>
            <a:r>
              <a:rPr lang="es-MX" sz="2000" dirty="0" err="1"/>
              <a:t>remove</a:t>
            </a:r>
            <a:r>
              <a:rPr lang="es-MX" sz="2000" dirty="0"/>
              <a:t>(</a:t>
            </a:r>
            <a:r>
              <a:rPr lang="es-MX" sz="2000" dirty="0" err="1"/>
              <a:t>item</a:t>
            </a:r>
            <a:r>
              <a:rPr lang="es-MX" sz="2000" dirty="0"/>
              <a:t>) elimina un </a:t>
            </a:r>
            <a:r>
              <a:rPr lang="es-MX" sz="2000" dirty="0" err="1"/>
              <a:t>item</a:t>
            </a:r>
            <a:r>
              <a:rPr lang="es-MX" sz="2000" dirty="0"/>
              <a:t> del set, y arroja error si no existe</a:t>
            </a:r>
          </a:p>
          <a:p>
            <a:pPr marL="0" indent="0">
              <a:buNone/>
            </a:pPr>
            <a:r>
              <a:rPr lang="es-MX" sz="2000" dirty="0"/>
              <a:t>	</a:t>
            </a:r>
            <a:r>
              <a:rPr lang="es-MX" sz="2000" dirty="0" err="1"/>
              <a:t>mi_set_a.remove</a:t>
            </a:r>
            <a:r>
              <a:rPr lang="es-MX" sz="2000" dirty="0"/>
              <a:t>("tres") </a:t>
            </a:r>
          </a:p>
          <a:p>
            <a:pPr marL="0" indent="0">
              <a:buNone/>
            </a:pPr>
            <a:r>
              <a:rPr lang="es-MX" sz="2000" dirty="0"/>
              <a:t>	</a:t>
            </a:r>
            <a:r>
              <a:rPr lang="es-MX" sz="2000" dirty="0" err="1"/>
              <a:t>print</a:t>
            </a:r>
            <a:r>
              <a:rPr lang="es-MX" sz="2000" dirty="0"/>
              <a:t>(</a:t>
            </a:r>
            <a:r>
              <a:rPr lang="es-MX" sz="2000" dirty="0" err="1"/>
              <a:t>mi_set_a</a:t>
            </a:r>
            <a:r>
              <a:rPr lang="es-MX" sz="2000" dirty="0"/>
              <a:t>) </a:t>
            </a:r>
          </a:p>
          <a:p>
            <a:pPr marL="0" indent="0">
              <a:buNone/>
            </a:pPr>
            <a:r>
              <a:rPr lang="es-MX" sz="2000" dirty="0"/>
              <a:t>	&gt;&gt; {1, 2}</a:t>
            </a:r>
          </a:p>
          <a:p>
            <a:pPr marL="0" indent="0">
              <a:buNone/>
            </a:pPr>
            <a:r>
              <a:rPr lang="es-MX" sz="2000" dirty="0" err="1"/>
              <a:t>symmetric_difference</a:t>
            </a:r>
            <a:r>
              <a:rPr lang="es-MX" sz="2000" dirty="0"/>
              <a:t>(set) retorna todos los elementos de A y B, excepto aquellos que son comunes a los dos</a:t>
            </a:r>
          </a:p>
          <a:p>
            <a:pPr marL="0" indent="0">
              <a:buNone/>
            </a:pPr>
            <a:r>
              <a:rPr lang="es-MX" sz="2000" dirty="0"/>
              <a:t> 	</a:t>
            </a:r>
            <a:r>
              <a:rPr lang="es-MX" sz="2000" dirty="0" err="1"/>
              <a:t>mi_set_c</a:t>
            </a:r>
            <a:r>
              <a:rPr lang="es-MX" sz="2000" dirty="0"/>
              <a:t> = </a:t>
            </a:r>
            <a:r>
              <a:rPr lang="es-MX" sz="2000" dirty="0" err="1"/>
              <a:t>mi_set_b.symmetric_difference</a:t>
            </a:r>
            <a:r>
              <a:rPr lang="es-MX" sz="2000" dirty="0"/>
              <a:t>(</a:t>
            </a:r>
            <a:r>
              <a:rPr lang="es-MX" sz="2000" dirty="0" err="1"/>
              <a:t>mi_set_a</a:t>
            </a:r>
            <a:r>
              <a:rPr lang="es-MX" sz="2000" dirty="0"/>
              <a:t>) </a:t>
            </a:r>
          </a:p>
          <a:p>
            <a:pPr marL="0" indent="0">
              <a:buNone/>
            </a:pPr>
            <a:r>
              <a:rPr lang="es-MX" sz="2000" dirty="0"/>
              <a:t>	</a:t>
            </a:r>
            <a:r>
              <a:rPr lang="es-MX" sz="2000" dirty="0" err="1"/>
              <a:t>print</a:t>
            </a:r>
            <a:r>
              <a:rPr lang="es-MX" sz="2000" dirty="0"/>
              <a:t>(</a:t>
            </a:r>
            <a:r>
              <a:rPr lang="es-MX" sz="2000" dirty="0" err="1"/>
              <a:t>mi_set_c</a:t>
            </a:r>
            <a:r>
              <a:rPr lang="es-MX" sz="2000" dirty="0"/>
              <a:t>) </a:t>
            </a:r>
          </a:p>
          <a:p>
            <a:pPr marL="0" indent="0">
              <a:buNone/>
            </a:pPr>
            <a:r>
              <a:rPr lang="es-MX" sz="2000" dirty="0"/>
              <a:t>	&gt;&gt; {1, 2, 3}</a:t>
            </a:r>
          </a:p>
        </p:txBody>
      </p:sp>
      <p:sp>
        <p:nvSpPr>
          <p:cNvPr id="5" name="Marcador de número de diapositiva 4">
            <a:extLst>
              <a:ext uri="{FF2B5EF4-FFF2-40B4-BE49-F238E27FC236}">
                <a16:creationId xmlns:a16="http://schemas.microsoft.com/office/drawing/2014/main" id="{BFC2F021-6007-3F06-994E-A29CA3B98C8F}"/>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59</a:t>
            </a:fld>
            <a:endParaRPr lang="es-MX" sz="1100">
              <a:solidFill>
                <a:schemeClr val="tx1">
                  <a:lumMod val="50000"/>
                  <a:lumOff val="50000"/>
                </a:schemeClr>
              </a:solidFill>
            </a:endParaRPr>
          </a:p>
        </p:txBody>
      </p:sp>
    </p:spTree>
    <p:extLst>
      <p:ext uri="{BB962C8B-B14F-4D97-AF65-F5344CB8AC3E}">
        <p14:creationId xmlns:p14="http://schemas.microsoft.com/office/powerpoint/2010/main" val="26197412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AD64405-29E0-98F8-AB60-A2351560ADDA}"/>
              </a:ext>
            </a:extLst>
          </p:cNvPr>
          <p:cNvSpPr>
            <a:spLocks noGrp="1"/>
          </p:cNvSpPr>
          <p:nvPr>
            <p:ph type="title"/>
          </p:nvPr>
        </p:nvSpPr>
        <p:spPr>
          <a:xfrm>
            <a:off x="1371599" y="294538"/>
            <a:ext cx="9895951" cy="1033669"/>
          </a:xfrm>
        </p:spPr>
        <p:txBody>
          <a:bodyPr>
            <a:normAutofit/>
          </a:bodyPr>
          <a:lstStyle/>
          <a:p>
            <a:endParaRPr lang="es-MX" sz="4000">
              <a:solidFill>
                <a:srgbClr val="FFFFFF"/>
              </a:solidFill>
            </a:endParaRPr>
          </a:p>
        </p:txBody>
      </p:sp>
      <p:sp>
        <p:nvSpPr>
          <p:cNvPr id="4" name="Marcador de pie de página 3">
            <a:extLst>
              <a:ext uri="{FF2B5EF4-FFF2-40B4-BE49-F238E27FC236}">
                <a16:creationId xmlns:a16="http://schemas.microsoft.com/office/drawing/2014/main" id="{DCF07CC1-D9B0-3C9E-8C60-0A0E04327283}"/>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8" name="Marcador de contenido 7">
            <a:extLst>
              <a:ext uri="{FF2B5EF4-FFF2-40B4-BE49-F238E27FC236}">
                <a16:creationId xmlns:a16="http://schemas.microsoft.com/office/drawing/2014/main" id="{B50EAF35-B29B-FE9D-8B7E-5121D50EFCA6}"/>
              </a:ext>
            </a:extLst>
          </p:cNvPr>
          <p:cNvSpPr txBox="1">
            <a:spLocks noGrp="1"/>
          </p:cNvSpPr>
          <p:nvPr>
            <p:ph idx="1"/>
          </p:nvPr>
        </p:nvSpPr>
        <p:spPr>
          <a:xfrm>
            <a:off x="-7" y="1590740"/>
            <a:ext cx="12192007" cy="5267259"/>
          </a:xfrm>
          <a:prstGeom prst="rect">
            <a:avLst/>
          </a:prstGeom>
        </p:spPr>
        <p:txBody>
          <a:bodyPr anchor="ctr">
            <a:normAutofit lnSpcReduction="10000"/>
          </a:bodyPr>
          <a:lstStyle/>
          <a:p>
            <a:pPr marL="0" indent="0">
              <a:buNone/>
            </a:pPr>
            <a:r>
              <a:rPr lang="es-MX" dirty="0" err="1"/>
              <a:t>symmetric_difference_update</a:t>
            </a:r>
            <a:r>
              <a:rPr lang="es-MX" dirty="0"/>
              <a:t>(set) elimina los elementos comunes a </a:t>
            </a:r>
            <a:r>
              <a:rPr lang="es-MX" dirty="0" err="1"/>
              <a:t>A</a:t>
            </a:r>
            <a:r>
              <a:rPr lang="es-MX" dirty="0"/>
              <a:t> y B, agregando los que no están presentes e ambos a la vez</a:t>
            </a:r>
          </a:p>
          <a:p>
            <a:pPr marL="0" indent="0">
              <a:buNone/>
            </a:pPr>
            <a:r>
              <a:rPr lang="es-MX" dirty="0"/>
              <a:t>	</a:t>
            </a:r>
            <a:r>
              <a:rPr lang="es-MX" dirty="0" err="1"/>
              <a:t>mi_set_b.symmetric_difference_update</a:t>
            </a:r>
            <a:r>
              <a:rPr lang="es-MX" dirty="0"/>
              <a:t>(</a:t>
            </a:r>
            <a:r>
              <a:rPr lang="es-MX" dirty="0" err="1"/>
              <a:t>mi_set_a</a:t>
            </a:r>
            <a:r>
              <a:rPr lang="es-MX" dirty="0"/>
              <a:t>) </a:t>
            </a:r>
          </a:p>
          <a:p>
            <a:pPr marL="0" indent="0">
              <a:buNone/>
            </a:pPr>
            <a:r>
              <a:rPr lang="es-MX" dirty="0"/>
              <a:t>	</a:t>
            </a:r>
            <a:r>
              <a:rPr lang="es-MX" dirty="0" err="1"/>
              <a:t>print</a:t>
            </a:r>
            <a:r>
              <a:rPr lang="es-MX" dirty="0"/>
              <a:t>(</a:t>
            </a:r>
            <a:r>
              <a:rPr lang="es-MX" dirty="0" err="1"/>
              <a:t>mi_set_b</a:t>
            </a:r>
            <a:r>
              <a:rPr lang="es-MX" dirty="0"/>
              <a:t>) </a:t>
            </a:r>
          </a:p>
          <a:p>
            <a:pPr marL="0" indent="0">
              <a:buNone/>
            </a:pPr>
            <a:r>
              <a:rPr lang="es-MX" dirty="0"/>
              <a:t>	&gt;&gt; {1, 2, 3}</a:t>
            </a:r>
          </a:p>
          <a:p>
            <a:pPr marL="0" indent="0">
              <a:buNone/>
            </a:pPr>
            <a:r>
              <a:rPr lang="es-MX" dirty="0"/>
              <a:t>	</a:t>
            </a:r>
            <a:r>
              <a:rPr lang="es-MX" dirty="0" err="1"/>
              <a:t>mi_set_a</a:t>
            </a:r>
            <a:r>
              <a:rPr lang="es-MX" dirty="0"/>
              <a:t> = {1, 2, "tres"} </a:t>
            </a:r>
            <a:r>
              <a:rPr lang="es-MX" dirty="0" err="1"/>
              <a:t>mi_set_b</a:t>
            </a:r>
            <a:r>
              <a:rPr lang="es-MX" dirty="0"/>
              <a:t> = {3, "tres"}</a:t>
            </a:r>
          </a:p>
          <a:p>
            <a:pPr marL="0" indent="0">
              <a:buNone/>
            </a:pPr>
            <a:r>
              <a:rPr lang="es-MX" dirty="0" err="1"/>
              <a:t>union</a:t>
            </a:r>
            <a:r>
              <a:rPr lang="es-MX" dirty="0"/>
              <a:t>(set) retorna un set resultado de combinar A y B (los datos duplicados se eliminan) </a:t>
            </a:r>
          </a:p>
          <a:p>
            <a:pPr marL="0" indent="0">
              <a:buNone/>
            </a:pPr>
            <a:r>
              <a:rPr lang="es-MX" dirty="0"/>
              <a:t>	</a:t>
            </a:r>
            <a:r>
              <a:rPr lang="es-MX" dirty="0" err="1"/>
              <a:t>mi_set_c</a:t>
            </a:r>
            <a:r>
              <a:rPr lang="es-MX" dirty="0"/>
              <a:t> = </a:t>
            </a:r>
            <a:r>
              <a:rPr lang="es-MX" dirty="0" err="1"/>
              <a:t>mi_set_a.union</a:t>
            </a:r>
            <a:r>
              <a:rPr lang="es-MX" dirty="0"/>
              <a:t>(</a:t>
            </a:r>
            <a:r>
              <a:rPr lang="es-MX" dirty="0" err="1"/>
              <a:t>mi_set_b</a:t>
            </a:r>
            <a:r>
              <a:rPr lang="es-MX" dirty="0"/>
              <a:t>) </a:t>
            </a:r>
          </a:p>
          <a:p>
            <a:pPr marL="0" indent="0">
              <a:buNone/>
            </a:pPr>
            <a:r>
              <a:rPr lang="es-MX" dirty="0"/>
              <a:t>	</a:t>
            </a:r>
            <a:r>
              <a:rPr lang="es-MX" dirty="0" err="1"/>
              <a:t>print</a:t>
            </a:r>
            <a:r>
              <a:rPr lang="es-MX" dirty="0"/>
              <a:t>(</a:t>
            </a:r>
            <a:r>
              <a:rPr lang="es-MX" dirty="0" err="1"/>
              <a:t>mi_set_c</a:t>
            </a:r>
            <a:r>
              <a:rPr lang="es-MX" dirty="0"/>
              <a:t>) </a:t>
            </a:r>
          </a:p>
          <a:p>
            <a:pPr marL="0" indent="0">
              <a:buNone/>
            </a:pPr>
            <a:r>
              <a:rPr lang="es-MX" dirty="0"/>
              <a:t>	&gt;&gt; {1, 2, 3, 'tres'} </a:t>
            </a:r>
          </a:p>
        </p:txBody>
      </p:sp>
      <p:sp>
        <p:nvSpPr>
          <p:cNvPr id="5" name="Marcador de número de diapositiva 4">
            <a:extLst>
              <a:ext uri="{FF2B5EF4-FFF2-40B4-BE49-F238E27FC236}">
                <a16:creationId xmlns:a16="http://schemas.microsoft.com/office/drawing/2014/main" id="{5D937E41-A2CD-EB61-7662-55ADE7A43C59}"/>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60</a:t>
            </a:fld>
            <a:endParaRPr lang="es-MX" sz="1100">
              <a:solidFill>
                <a:schemeClr val="tx1">
                  <a:lumMod val="50000"/>
                  <a:lumOff val="50000"/>
                </a:schemeClr>
              </a:solidFill>
            </a:endParaRPr>
          </a:p>
        </p:txBody>
      </p:sp>
    </p:spTree>
    <p:extLst>
      <p:ext uri="{BB962C8B-B14F-4D97-AF65-F5344CB8AC3E}">
        <p14:creationId xmlns:p14="http://schemas.microsoft.com/office/powerpoint/2010/main" val="5245986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B7E1775-0A38-8138-7134-D281FF5AA84B}"/>
              </a:ext>
            </a:extLst>
          </p:cNvPr>
          <p:cNvSpPr>
            <a:spLocks noGrp="1"/>
          </p:cNvSpPr>
          <p:nvPr>
            <p:ph type="title"/>
          </p:nvPr>
        </p:nvSpPr>
        <p:spPr>
          <a:xfrm>
            <a:off x="1371599" y="294538"/>
            <a:ext cx="9895951" cy="1033669"/>
          </a:xfrm>
        </p:spPr>
        <p:txBody>
          <a:bodyPr>
            <a:normAutofit/>
          </a:bodyPr>
          <a:lstStyle/>
          <a:p>
            <a:endParaRPr lang="es-MX" sz="4000">
              <a:solidFill>
                <a:srgbClr val="FFFFFF"/>
              </a:solidFill>
            </a:endParaRPr>
          </a:p>
        </p:txBody>
      </p:sp>
      <p:sp>
        <p:nvSpPr>
          <p:cNvPr id="4" name="Marcador de pie de página 3">
            <a:extLst>
              <a:ext uri="{FF2B5EF4-FFF2-40B4-BE49-F238E27FC236}">
                <a16:creationId xmlns:a16="http://schemas.microsoft.com/office/drawing/2014/main" id="{76CE0D2B-E53F-294C-3AA0-C3900AA5BC3C}"/>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D5C7C074-6671-F1CF-90AA-281CD7948F28}"/>
              </a:ext>
            </a:extLst>
          </p:cNvPr>
          <p:cNvSpPr>
            <a:spLocks noGrp="1"/>
          </p:cNvSpPr>
          <p:nvPr>
            <p:ph idx="1"/>
          </p:nvPr>
        </p:nvSpPr>
        <p:spPr>
          <a:xfrm>
            <a:off x="-83976" y="1590740"/>
            <a:ext cx="12275975" cy="5267259"/>
          </a:xfrm>
        </p:spPr>
        <p:txBody>
          <a:bodyPr anchor="ctr">
            <a:normAutofit/>
          </a:bodyPr>
          <a:lstStyle/>
          <a:p>
            <a:pPr marL="0" indent="0">
              <a:buNone/>
            </a:pPr>
            <a:r>
              <a:rPr lang="es-MX" dirty="0" err="1"/>
              <a:t>update</a:t>
            </a:r>
            <a:r>
              <a:rPr lang="es-MX" dirty="0"/>
              <a:t>(set) inserta en A los elementos de B </a:t>
            </a:r>
            <a:r>
              <a:rPr lang="es-MX" dirty="0" err="1"/>
              <a:t>mi_set_a.update</a:t>
            </a:r>
            <a:r>
              <a:rPr lang="es-MX" dirty="0"/>
              <a:t>(</a:t>
            </a:r>
            <a:r>
              <a:rPr lang="es-MX" dirty="0" err="1"/>
              <a:t>mi_set_b</a:t>
            </a:r>
            <a:r>
              <a:rPr lang="es-MX" dirty="0"/>
              <a:t>)  </a:t>
            </a:r>
          </a:p>
          <a:p>
            <a:pPr marL="0" indent="0">
              <a:buNone/>
            </a:pPr>
            <a:r>
              <a:rPr lang="es-MX" dirty="0"/>
              <a:t>	</a:t>
            </a:r>
            <a:r>
              <a:rPr lang="es-MX" dirty="0" err="1"/>
              <a:t>print</a:t>
            </a:r>
            <a:r>
              <a:rPr lang="es-MX" dirty="0"/>
              <a:t>(</a:t>
            </a:r>
            <a:r>
              <a:rPr lang="es-MX" dirty="0" err="1"/>
              <a:t>mi_set_a</a:t>
            </a:r>
            <a:r>
              <a:rPr lang="es-MX" dirty="0"/>
              <a:t>) </a:t>
            </a:r>
          </a:p>
          <a:p>
            <a:pPr marL="0" indent="0">
              <a:buNone/>
            </a:pPr>
            <a:r>
              <a:rPr lang="es-MX" dirty="0"/>
              <a:t>	&gt;&gt; {1, 2, 3, 'tres'} </a:t>
            </a:r>
          </a:p>
        </p:txBody>
      </p:sp>
      <p:sp>
        <p:nvSpPr>
          <p:cNvPr id="5" name="Marcador de número de diapositiva 4">
            <a:extLst>
              <a:ext uri="{FF2B5EF4-FFF2-40B4-BE49-F238E27FC236}">
                <a16:creationId xmlns:a16="http://schemas.microsoft.com/office/drawing/2014/main" id="{4885D76C-F5DA-F914-D9A0-50E9BC655E4E}"/>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61</a:t>
            </a:fld>
            <a:endParaRPr lang="es-MX" sz="1100">
              <a:solidFill>
                <a:schemeClr val="tx1">
                  <a:lumMod val="50000"/>
                  <a:lumOff val="50000"/>
                </a:schemeClr>
              </a:solidFill>
            </a:endParaRPr>
          </a:p>
        </p:txBody>
      </p:sp>
    </p:spTree>
    <p:extLst>
      <p:ext uri="{BB962C8B-B14F-4D97-AF65-F5344CB8AC3E}">
        <p14:creationId xmlns:p14="http://schemas.microsoft.com/office/powerpoint/2010/main" val="22568792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3E67AA98-EA94-84F1-B017-16BAC013678E}"/>
              </a:ext>
            </a:extLst>
          </p:cNvPr>
          <p:cNvSpPr>
            <a:spLocks noGrp="1"/>
          </p:cNvSpPr>
          <p:nvPr>
            <p:ph type="title"/>
          </p:nvPr>
        </p:nvSpPr>
        <p:spPr>
          <a:xfrm>
            <a:off x="826396" y="586855"/>
            <a:ext cx="4230100" cy="3387497"/>
          </a:xfrm>
        </p:spPr>
        <p:txBody>
          <a:bodyPr vert="horz" lIns="91440" tIns="45720" rIns="91440" bIns="45720" rtlCol="0" anchor="b">
            <a:normAutofit/>
          </a:bodyPr>
          <a:lstStyle/>
          <a:p>
            <a:pPr algn="r"/>
            <a:r>
              <a:rPr lang="en-US" sz="4000" kern="1200">
                <a:solidFill>
                  <a:srgbClr val="FFFFFF"/>
                </a:solidFill>
                <a:latin typeface="+mj-lt"/>
                <a:ea typeface="+mj-ea"/>
                <a:cs typeface="+mj-cs"/>
              </a:rPr>
              <a:t>Ejercicio</a:t>
            </a:r>
          </a:p>
        </p:txBody>
      </p:sp>
      <p:sp>
        <p:nvSpPr>
          <p:cNvPr id="4" name="Marcador de pie de página 3">
            <a:extLst>
              <a:ext uri="{FF2B5EF4-FFF2-40B4-BE49-F238E27FC236}">
                <a16:creationId xmlns:a16="http://schemas.microsoft.com/office/drawing/2014/main" id="{BE641CFA-3552-C685-CB7D-49A0A36CF12E}"/>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10" name="Rectangle 5">
            <a:extLst>
              <a:ext uri="{FF2B5EF4-FFF2-40B4-BE49-F238E27FC236}">
                <a16:creationId xmlns:a16="http://schemas.microsoft.com/office/drawing/2014/main" id="{9D14CCBA-EA9C-3E37-7120-27D2784E5F35}"/>
              </a:ext>
            </a:extLst>
          </p:cNvPr>
          <p:cNvSpPr>
            <a:spLocks noChangeArrowheads="1"/>
          </p:cNvSpPr>
          <p:nvPr/>
        </p:nvSpPr>
        <p:spPr bwMode="auto">
          <a:xfrm>
            <a:off x="5625478" y="649480"/>
            <a:ext cx="6566522" cy="5546047"/>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228600" eaLnBrk="1" hangingPunct="1">
              <a:lnSpc>
                <a:spcPct val="90000"/>
              </a:lnSpc>
              <a:spcAft>
                <a:spcPts val="600"/>
              </a:spcAft>
              <a:buFont typeface="Arial" panose="020B0604020202020204" pitchFamily="34" charset="0"/>
              <a:buChar char="•"/>
            </a:pPr>
            <a:r>
              <a:rPr kumimoji="0" lang="en-US" altLang="es-MX" sz="1400" b="0" i="0" u="none" strike="noStrike" cap="none" normalizeH="0" baseline="0" dirty="0" err="1">
                <a:ln>
                  <a:noFill/>
                </a:ln>
                <a:effectLst/>
                <a:latin typeface="+mn-lt"/>
              </a:rPr>
              <a:t>Crea</a:t>
            </a:r>
            <a:r>
              <a:rPr kumimoji="0" lang="en-US" altLang="es-MX" sz="1400" b="0" i="0" u="none" strike="noStrike" cap="none" normalizeH="0" baseline="0" dirty="0">
                <a:ln>
                  <a:noFill/>
                </a:ln>
                <a:effectLst/>
                <a:latin typeface="+mn-lt"/>
              </a:rPr>
              <a:t> una </a:t>
            </a:r>
            <a:r>
              <a:rPr kumimoji="0" lang="en-US" altLang="es-MX" sz="1400" b="0" i="0" u="none" strike="noStrike" cap="none" normalizeH="0" baseline="0" dirty="0" err="1">
                <a:ln>
                  <a:noFill/>
                </a:ln>
                <a:effectLst/>
                <a:latin typeface="+mn-lt"/>
              </a:rPr>
              <a:t>lista</a:t>
            </a:r>
            <a:r>
              <a:rPr kumimoji="0" lang="en-US" altLang="es-MX" sz="1400" b="0" i="0" u="none" strike="noStrike" cap="none" normalizeH="0" baseline="0" dirty="0">
                <a:ln>
                  <a:noFill/>
                </a:ln>
                <a:effectLst/>
                <a:latin typeface="+mn-lt"/>
              </a:rPr>
              <a:t> con 5 </a:t>
            </a:r>
            <a:r>
              <a:rPr kumimoji="0" lang="en-US" altLang="es-MX" sz="1400" b="0" i="0" u="none" strike="noStrike" cap="none" normalizeH="0" baseline="0" dirty="0" err="1">
                <a:ln>
                  <a:noFill/>
                </a:ln>
                <a:effectLst/>
                <a:latin typeface="+mn-lt"/>
              </a:rPr>
              <a:t>elementos</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dentro</a:t>
            </a:r>
            <a:r>
              <a:rPr kumimoji="0" lang="en-US" altLang="es-MX" sz="1400" b="0" i="0" u="none" strike="noStrike" cap="none" normalizeH="0" baseline="0" dirty="0">
                <a:ln>
                  <a:noFill/>
                </a:ln>
                <a:effectLst/>
                <a:latin typeface="+mn-lt"/>
              </a:rPr>
              <a:t> de la variable </a:t>
            </a:r>
            <a:r>
              <a:rPr kumimoji="0" lang="en-US" altLang="es-MX" sz="1400" b="1" i="0" u="none" strike="noStrike" cap="none" normalizeH="0" baseline="0" dirty="0" err="1">
                <a:ln>
                  <a:noFill/>
                </a:ln>
                <a:effectLst/>
                <a:latin typeface="+mn-lt"/>
              </a:rPr>
              <a:t>mi_lista</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Puedes</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incluir</a:t>
            </a:r>
            <a:r>
              <a:rPr kumimoji="0" lang="en-US" altLang="es-MX" sz="1400" b="0" i="0" u="none" strike="noStrike" cap="none" normalizeH="0" baseline="0" dirty="0">
                <a:ln>
                  <a:noFill/>
                </a:ln>
                <a:effectLst/>
                <a:latin typeface="+mn-lt"/>
              </a:rPr>
              <a:t> strings, </a:t>
            </a:r>
            <a:r>
              <a:rPr kumimoji="0" lang="en-US" altLang="es-MX" sz="1400" b="0" i="0" u="none" strike="noStrike" cap="none" normalizeH="0" baseline="0" dirty="0" err="1">
                <a:ln>
                  <a:noFill/>
                </a:ln>
                <a:effectLst/>
                <a:latin typeface="+mn-lt"/>
              </a:rPr>
              <a:t>booleanos</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números</a:t>
            </a:r>
            <a:r>
              <a:rPr kumimoji="0" lang="en-US" altLang="es-MX" sz="1400" b="0" i="0" u="none" strike="noStrike" cap="none" normalizeH="0" baseline="0" dirty="0">
                <a:ln>
                  <a:noFill/>
                </a:ln>
                <a:effectLst/>
                <a:latin typeface="+mn-lt"/>
              </a:rPr>
              <a:t>, etc.</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MX" sz="1400" b="0"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MX" sz="1400" b="0"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err="1">
                <a:ln>
                  <a:noFill/>
                </a:ln>
                <a:effectLst/>
                <a:latin typeface="+mn-lt"/>
              </a:rPr>
              <a:t>Agrega</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el</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elemento</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motocicleta</a:t>
            </a:r>
            <a:r>
              <a:rPr kumimoji="0" lang="en-US" altLang="es-MX" sz="1400" b="0" i="0" u="none" strike="noStrike" cap="none" normalizeH="0" baseline="0" dirty="0">
                <a:ln>
                  <a:noFill/>
                </a:ln>
                <a:effectLst/>
                <a:latin typeface="+mn-lt"/>
              </a:rPr>
              <a:t>" a la </a:t>
            </a:r>
            <a:r>
              <a:rPr kumimoji="0" lang="en-US" altLang="es-MX" sz="1400" b="0" i="0" u="none" strike="noStrike" cap="none" normalizeH="0" baseline="0" dirty="0" err="1">
                <a:ln>
                  <a:noFill/>
                </a:ln>
                <a:effectLst/>
                <a:latin typeface="+mn-lt"/>
              </a:rPr>
              <a:t>siguiente</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lista</a:t>
            </a:r>
            <a:r>
              <a:rPr kumimoji="0" lang="en-US" altLang="es-MX" sz="1400" b="0" i="0" u="none" strike="noStrike" cap="none" normalizeH="0" baseline="0" dirty="0">
                <a:ln>
                  <a:noFill/>
                </a:ln>
                <a:effectLst/>
                <a:latin typeface="+mn-lt"/>
              </a:rPr>
              <a:t> de </a:t>
            </a:r>
            <a:r>
              <a:rPr kumimoji="0" lang="en-US" altLang="es-MX" sz="1400" b="0" i="0" u="none" strike="noStrike" cap="none" normalizeH="0" baseline="0" dirty="0" err="1">
                <a:ln>
                  <a:noFill/>
                </a:ln>
                <a:effectLst/>
                <a:latin typeface="+mn-lt"/>
              </a:rPr>
              <a:t>medios</a:t>
            </a:r>
            <a:r>
              <a:rPr kumimoji="0" lang="en-US" altLang="es-MX" sz="1400" b="0" i="0" u="none" strike="noStrike" cap="none" normalizeH="0" baseline="0" dirty="0">
                <a:ln>
                  <a:noFill/>
                </a:ln>
                <a:effectLst/>
                <a:latin typeface="+mn-lt"/>
              </a:rPr>
              <a:t> de </a:t>
            </a:r>
            <a:r>
              <a:rPr kumimoji="0" lang="en-US" altLang="es-MX" sz="1400" b="0" i="0" u="none" strike="noStrike" cap="none" normalizeH="0" baseline="0" dirty="0" err="1">
                <a:ln>
                  <a:noFill/>
                </a:ln>
                <a:effectLst/>
                <a:latin typeface="+mn-lt"/>
              </a:rPr>
              <a:t>transporte</a:t>
            </a:r>
            <a:r>
              <a:rPr kumimoji="0" lang="en-US" altLang="es-MX" sz="1400" b="0" i="0" u="none" strike="noStrike" cap="none" normalizeH="0" baseline="0" dirty="0">
                <a:ln>
                  <a:noFill/>
                </a:ln>
                <a:effectLst/>
                <a:latin typeface="+mn-lt"/>
              </a:rPr>
              <a:t>:</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err="1">
                <a:ln>
                  <a:noFill/>
                </a:ln>
                <a:effectLst/>
                <a:latin typeface="+mn-lt"/>
              </a:rPr>
              <a:t>medios_transporte</a:t>
            </a:r>
            <a:r>
              <a:rPr kumimoji="0" lang="en-US" altLang="es-MX" sz="1400" b="0" i="0" u="none" strike="noStrike" cap="none" normalizeH="0" baseline="0" dirty="0">
                <a:ln>
                  <a:noFill/>
                </a:ln>
                <a:effectLst/>
                <a:latin typeface="+mn-lt"/>
              </a:rPr>
              <a:t> = ["</a:t>
            </a:r>
            <a:r>
              <a:rPr kumimoji="0" lang="en-US" altLang="es-MX" sz="1400" b="0" i="0" u="none" strike="noStrike" cap="none" normalizeH="0" baseline="0" dirty="0" err="1">
                <a:ln>
                  <a:noFill/>
                </a:ln>
                <a:effectLst/>
                <a:latin typeface="+mn-lt"/>
              </a:rPr>
              <a:t>avión</a:t>
            </a:r>
            <a:r>
              <a:rPr kumimoji="0" lang="en-US" altLang="es-MX" sz="1400" b="0" i="0" u="none" strike="noStrike" cap="none" normalizeH="0" baseline="0" dirty="0">
                <a:ln>
                  <a:noFill/>
                </a:ln>
                <a:effectLst/>
                <a:latin typeface="+mn-lt"/>
              </a:rPr>
              <a:t>", "auto", "</a:t>
            </a:r>
            <a:r>
              <a:rPr kumimoji="0" lang="en-US" altLang="es-MX" sz="1400" b="0" i="0" u="none" strike="noStrike" cap="none" normalizeH="0" baseline="0" dirty="0" err="1">
                <a:ln>
                  <a:noFill/>
                </a:ln>
                <a:effectLst/>
                <a:latin typeface="+mn-lt"/>
              </a:rPr>
              <a:t>barco</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bicicleta</a:t>
            </a:r>
            <a:r>
              <a:rPr kumimoji="0" lang="en-US" altLang="es-MX" sz="1400" b="0" i="0" u="none" strike="noStrike" cap="none" normalizeH="0" baseline="0" dirty="0">
                <a:ln>
                  <a:noFill/>
                </a:ln>
                <a:effectLst/>
                <a:latin typeface="+mn-lt"/>
              </a:rPr>
              <a:t>"]</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MX" sz="1400" b="1" i="0" u="none" strike="noStrike" cap="none" normalizeH="0" baseline="0" dirty="0">
                <a:ln>
                  <a:noFill/>
                </a:ln>
                <a:effectLst/>
                <a:latin typeface="+mn-lt"/>
              </a:rPr>
              <a:t>No </a:t>
            </a:r>
            <a:r>
              <a:rPr kumimoji="0" lang="en-US" altLang="es-MX" sz="1400" b="1" i="0" u="none" strike="noStrike" cap="none" normalizeH="0" baseline="0" dirty="0" err="1">
                <a:ln>
                  <a:noFill/>
                </a:ln>
                <a:effectLst/>
                <a:latin typeface="+mn-lt"/>
              </a:rPr>
              <a:t>debes</a:t>
            </a:r>
            <a:r>
              <a:rPr kumimoji="0" lang="en-US" altLang="es-MX" sz="1400" b="1" i="0" u="none" strike="noStrike" cap="none" normalizeH="0" baseline="0" dirty="0">
                <a:ln>
                  <a:noFill/>
                </a:ln>
                <a:effectLst/>
                <a:latin typeface="+mn-lt"/>
              </a:rPr>
              <a:t> </a:t>
            </a:r>
            <a:r>
              <a:rPr kumimoji="0" lang="en-US" altLang="es-MX" sz="1400" b="1" i="0" u="none" strike="noStrike" cap="none" normalizeH="0" baseline="0" dirty="0" err="1">
                <a:ln>
                  <a:noFill/>
                </a:ln>
                <a:effectLst/>
                <a:latin typeface="+mn-lt"/>
              </a:rPr>
              <a:t>modificar</a:t>
            </a:r>
            <a:r>
              <a:rPr kumimoji="0" lang="en-US" altLang="es-MX" sz="1400" b="1" i="0" u="none" strike="noStrike" cap="none" normalizeH="0" baseline="0" dirty="0">
                <a:ln>
                  <a:noFill/>
                </a:ln>
                <a:effectLst/>
                <a:latin typeface="+mn-lt"/>
              </a:rPr>
              <a:t> la </a:t>
            </a:r>
            <a:r>
              <a:rPr kumimoji="0" lang="en-US" altLang="es-MX" sz="1400" b="1" i="0" u="none" strike="noStrike" cap="none" normalizeH="0" baseline="0" dirty="0" err="1">
                <a:ln>
                  <a:noFill/>
                </a:ln>
                <a:effectLst/>
                <a:latin typeface="+mn-lt"/>
              </a:rPr>
              <a:t>línea</a:t>
            </a:r>
            <a:r>
              <a:rPr kumimoji="0" lang="en-US" altLang="es-MX" sz="1400" b="1" i="0" u="none" strike="noStrike" cap="none" normalizeH="0" baseline="0" dirty="0">
                <a:ln>
                  <a:noFill/>
                </a:ln>
                <a:effectLst/>
                <a:latin typeface="+mn-lt"/>
              </a:rPr>
              <a:t> de </a:t>
            </a:r>
            <a:r>
              <a:rPr kumimoji="0" lang="en-US" altLang="es-MX" sz="1400" b="1" i="0" u="none" strike="noStrike" cap="none" normalizeH="0" baseline="0" dirty="0" err="1">
                <a:ln>
                  <a:noFill/>
                </a:ln>
                <a:effectLst/>
                <a:latin typeface="+mn-lt"/>
              </a:rPr>
              <a:t>código</a:t>
            </a:r>
            <a:r>
              <a:rPr kumimoji="0" lang="en-US" altLang="es-MX" sz="1400" b="1" i="0" u="none" strike="noStrike" cap="none" normalizeH="0" baseline="0" dirty="0">
                <a:ln>
                  <a:noFill/>
                </a:ln>
                <a:effectLst/>
                <a:latin typeface="+mn-lt"/>
              </a:rPr>
              <a:t> </a:t>
            </a:r>
            <a:r>
              <a:rPr kumimoji="0" lang="en-US" altLang="es-MX" sz="1400" b="1" i="0" u="none" strike="noStrike" cap="none" normalizeH="0" baseline="0" dirty="0" err="1">
                <a:ln>
                  <a:noFill/>
                </a:ln>
                <a:effectLst/>
                <a:latin typeface="+mn-lt"/>
              </a:rPr>
              <a:t>ya</a:t>
            </a:r>
            <a:r>
              <a:rPr kumimoji="0" lang="en-US" altLang="es-MX" sz="1400" b="1" i="0" u="none" strike="noStrike" cap="none" normalizeH="0" baseline="0" dirty="0">
                <a:ln>
                  <a:noFill/>
                </a:ln>
                <a:effectLst/>
                <a:latin typeface="+mn-lt"/>
              </a:rPr>
              <a:t> </a:t>
            </a:r>
            <a:r>
              <a:rPr kumimoji="0" lang="en-US" altLang="es-MX" sz="1400" b="1" i="0" u="none" strike="noStrike" cap="none" normalizeH="0" baseline="0" dirty="0" err="1">
                <a:ln>
                  <a:noFill/>
                </a:ln>
                <a:effectLst/>
                <a:latin typeface="+mn-lt"/>
              </a:rPr>
              <a:t>suministrada</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sino</a:t>
            </a:r>
            <a:r>
              <a:rPr kumimoji="0" lang="en-US" altLang="es-MX" sz="1400" b="0" i="0" u="none" strike="noStrike" cap="none" normalizeH="0" baseline="0" dirty="0">
                <a:ln>
                  <a:noFill/>
                </a:ln>
                <a:effectLst/>
                <a:latin typeface="+mn-lt"/>
              </a:rPr>
              <a:t> que </a:t>
            </a:r>
            <a:r>
              <a:rPr kumimoji="0" lang="en-US" altLang="es-MX" sz="1400" b="0" i="0" u="none" strike="noStrike" cap="none" normalizeH="0" baseline="0" dirty="0" err="1">
                <a:ln>
                  <a:noFill/>
                </a:ln>
                <a:effectLst/>
                <a:latin typeface="+mn-lt"/>
              </a:rPr>
              <a:t>debes</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emplear</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el</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método</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apropiado</a:t>
            </a:r>
            <a:r>
              <a:rPr kumimoji="0" lang="en-US" altLang="es-MX" sz="1400" b="0" i="0" u="none" strike="noStrike" cap="none" normalizeH="0" baseline="0" dirty="0">
                <a:ln>
                  <a:noFill/>
                </a:ln>
                <a:effectLst/>
                <a:latin typeface="+mn-lt"/>
              </a:rPr>
              <a:t> de </a:t>
            </a:r>
            <a:r>
              <a:rPr kumimoji="0" lang="en-US" altLang="es-MX" sz="1400" b="0" i="0" u="none" strike="noStrike" cap="none" normalizeH="0" baseline="0" dirty="0" err="1">
                <a:ln>
                  <a:noFill/>
                </a:ln>
                <a:effectLst/>
                <a:latin typeface="+mn-lt"/>
              </a:rPr>
              <a:t>listas</a:t>
            </a:r>
            <a:r>
              <a:rPr kumimoji="0" lang="en-US" altLang="es-MX" sz="1400" b="0" i="0" u="none" strike="noStrike" cap="none" normalizeH="0" baseline="0" dirty="0">
                <a:ln>
                  <a:noFill/>
                </a:ln>
                <a:effectLst/>
                <a:latin typeface="+mn-lt"/>
              </a:rPr>
              <a:t> para </a:t>
            </a:r>
            <a:r>
              <a:rPr kumimoji="0" lang="en-US" altLang="es-MX" sz="1400" b="0" i="0" u="none" strike="noStrike" cap="none" normalizeH="0" baseline="0" dirty="0" err="1">
                <a:ln>
                  <a:noFill/>
                </a:ln>
                <a:effectLst/>
                <a:latin typeface="+mn-lt"/>
              </a:rPr>
              <a:t>añadir</a:t>
            </a:r>
            <a:r>
              <a:rPr kumimoji="0" lang="en-US" altLang="es-MX" sz="1400" b="0" i="0" u="none" strike="noStrike" cap="none" normalizeH="0" baseline="0" dirty="0">
                <a:ln>
                  <a:noFill/>
                </a:ln>
                <a:effectLst/>
                <a:latin typeface="+mn-lt"/>
              </a:rPr>
              <a:t> un nuevo </a:t>
            </a:r>
            <a:r>
              <a:rPr kumimoji="0" lang="en-US" altLang="es-MX" sz="1400" b="0" i="0" u="none" strike="noStrike" cap="none" normalizeH="0" baseline="0" dirty="0" err="1">
                <a:ln>
                  <a:noFill/>
                </a:ln>
                <a:effectLst/>
                <a:latin typeface="+mn-lt"/>
              </a:rPr>
              <a:t>elemento</a:t>
            </a:r>
            <a:r>
              <a:rPr kumimoji="0" lang="en-US" altLang="es-MX" sz="1400" b="0" i="0" u="none" strike="noStrike" cap="none" normalizeH="0" baseline="0" dirty="0">
                <a:ln>
                  <a:noFill/>
                </a:ln>
                <a:effectLst/>
                <a:latin typeface="+mn-lt"/>
              </a:rPr>
              <a:t>.</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lang="en-US" altLang="es-MX" sz="1400" dirty="0">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err="1">
                <a:ln>
                  <a:noFill/>
                </a:ln>
                <a:effectLst/>
                <a:latin typeface="+mn-lt"/>
              </a:rPr>
              <a:t>Utiliza</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el</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método</a:t>
            </a:r>
            <a:r>
              <a:rPr kumimoji="0" lang="en-US" altLang="es-MX" sz="1400" b="0" i="0" u="none" strike="noStrike" cap="none" normalizeH="0" baseline="0" dirty="0">
                <a:ln>
                  <a:noFill/>
                </a:ln>
                <a:effectLst/>
                <a:latin typeface="+mn-lt"/>
              </a:rPr>
              <a:t> </a:t>
            </a:r>
            <a:r>
              <a:rPr kumimoji="0" lang="en-US" altLang="es-MX" sz="1400" b="1" i="0" u="none" strike="noStrike" cap="none" normalizeH="0" baseline="0" dirty="0">
                <a:ln>
                  <a:noFill/>
                </a:ln>
                <a:effectLst/>
                <a:latin typeface="+mn-lt"/>
              </a:rPr>
              <a:t>pop()</a:t>
            </a:r>
            <a:r>
              <a:rPr kumimoji="0" lang="en-US" altLang="es-MX" sz="1400" b="0" i="0" u="none" strike="noStrike" cap="none" normalizeH="0" baseline="0" dirty="0">
                <a:ln>
                  <a:noFill/>
                </a:ln>
                <a:effectLst/>
                <a:latin typeface="+mn-lt"/>
              </a:rPr>
              <a:t> para </a:t>
            </a:r>
            <a:r>
              <a:rPr kumimoji="0" lang="en-US" altLang="es-MX" sz="1400" b="0" i="0" u="none" strike="noStrike" cap="none" normalizeH="0" baseline="0" dirty="0" err="1">
                <a:ln>
                  <a:noFill/>
                </a:ln>
                <a:effectLst/>
                <a:latin typeface="+mn-lt"/>
              </a:rPr>
              <a:t>quitar</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el</a:t>
            </a:r>
            <a:r>
              <a:rPr kumimoji="0" lang="en-US" altLang="es-MX" sz="1400" b="0" i="0" u="none" strike="noStrike" cap="none" normalizeH="0" baseline="0" dirty="0">
                <a:ln>
                  <a:noFill/>
                </a:ln>
                <a:effectLst/>
                <a:latin typeface="+mn-lt"/>
              </a:rPr>
              <a:t> </a:t>
            </a:r>
            <a:r>
              <a:rPr kumimoji="0" lang="en-US" altLang="es-MX" sz="1400" b="1" i="0" u="none" strike="noStrike" cap="none" normalizeH="0" baseline="0" dirty="0" err="1">
                <a:ln>
                  <a:noFill/>
                </a:ln>
                <a:effectLst/>
                <a:latin typeface="+mn-lt"/>
              </a:rPr>
              <a:t>tercer</a:t>
            </a:r>
            <a:r>
              <a:rPr kumimoji="0" lang="en-US" altLang="es-MX" sz="1400" b="1"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elemento</a:t>
            </a:r>
            <a:r>
              <a:rPr kumimoji="0" lang="en-US" altLang="es-MX" sz="1400" b="0" i="0" u="none" strike="noStrike" cap="none" normalizeH="0" baseline="0" dirty="0">
                <a:ln>
                  <a:noFill/>
                </a:ln>
                <a:effectLst/>
                <a:latin typeface="+mn-lt"/>
              </a:rPr>
              <a:t> de la </a:t>
            </a:r>
            <a:r>
              <a:rPr kumimoji="0" lang="en-US" altLang="es-MX" sz="1400" b="0" i="0" u="none" strike="noStrike" cap="none" normalizeH="0" baseline="0" dirty="0" err="1">
                <a:ln>
                  <a:noFill/>
                </a:ln>
                <a:effectLst/>
                <a:latin typeface="+mn-lt"/>
              </a:rPr>
              <a:t>siguiente</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lista</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llamada</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frutas</a:t>
            </a:r>
            <a:r>
              <a:rPr kumimoji="0" lang="en-US" altLang="es-MX" sz="1400" b="0" i="0" u="none" strike="noStrike" cap="none" normalizeH="0" baseline="0" dirty="0">
                <a:ln>
                  <a:noFill/>
                </a:ln>
                <a:effectLst/>
                <a:latin typeface="+mn-lt"/>
              </a:rPr>
              <a:t>, y </a:t>
            </a:r>
            <a:r>
              <a:rPr kumimoji="0" lang="en-US" altLang="es-MX" sz="1400" b="0" i="0" u="none" strike="noStrike" cap="none" normalizeH="0" baseline="0" dirty="0" err="1">
                <a:ln>
                  <a:noFill/>
                </a:ln>
                <a:effectLst/>
                <a:latin typeface="+mn-lt"/>
              </a:rPr>
              <a:t>almacénalo</a:t>
            </a:r>
            <a:r>
              <a:rPr kumimoji="0" lang="en-US" altLang="es-MX" sz="1400" b="0" i="0" u="none" strike="noStrike" cap="none" normalizeH="0" baseline="0" dirty="0">
                <a:ln>
                  <a:noFill/>
                </a:ln>
                <a:effectLst/>
                <a:latin typeface="+mn-lt"/>
              </a:rPr>
              <a:t> en una variable </a:t>
            </a:r>
            <a:r>
              <a:rPr kumimoji="0" lang="en-US" altLang="es-MX" sz="1400" b="0" i="0" u="none" strike="noStrike" cap="none" normalizeH="0" baseline="0" dirty="0" err="1">
                <a:ln>
                  <a:noFill/>
                </a:ln>
                <a:effectLst/>
                <a:latin typeface="+mn-lt"/>
              </a:rPr>
              <a:t>llamada</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eliminado</a:t>
            </a:r>
            <a:r>
              <a:rPr kumimoji="0" lang="en-US" altLang="es-MX" sz="1400" b="0" i="0" u="none" strike="noStrike" cap="none" normalizeH="0" baseline="0" dirty="0">
                <a:ln>
                  <a:noFill/>
                </a:ln>
                <a:effectLst/>
                <a:latin typeface="+mn-lt"/>
              </a:rPr>
              <a:t>.</a:t>
            </a:r>
            <a:r>
              <a:rPr kumimoji="0" lang="en-US" altLang="es-MX" sz="1400" b="1" i="0" u="none" strike="noStrike" cap="none" normalizeH="0" baseline="0" dirty="0">
                <a:ln>
                  <a:noFill/>
                </a:ln>
                <a:effectLst/>
                <a:latin typeface="+mn-lt"/>
              </a:rPr>
              <a:t> </a:t>
            </a:r>
            <a:r>
              <a:rPr kumimoji="0" lang="en-US" altLang="es-MX" sz="1400" b="1" i="0" u="none" strike="noStrike" cap="none" normalizeH="0" baseline="0" dirty="0" err="1">
                <a:ln>
                  <a:noFill/>
                </a:ln>
                <a:effectLst/>
                <a:latin typeface="+mn-lt"/>
              </a:rPr>
              <a:t>Utiliza</a:t>
            </a:r>
            <a:r>
              <a:rPr kumimoji="0" lang="en-US" altLang="es-MX" sz="1400" b="1" i="0" u="none" strike="noStrike" cap="none" normalizeH="0" baseline="0" dirty="0">
                <a:ln>
                  <a:noFill/>
                </a:ln>
                <a:effectLst/>
                <a:latin typeface="+mn-lt"/>
              </a:rPr>
              <a:t> </a:t>
            </a:r>
            <a:r>
              <a:rPr kumimoji="0" lang="en-US" altLang="es-MX" sz="1400" b="1" i="0" u="none" strike="noStrike" cap="none" normalizeH="0" baseline="0" dirty="0" err="1">
                <a:ln>
                  <a:noFill/>
                </a:ln>
                <a:effectLst/>
                <a:latin typeface="+mn-lt"/>
              </a:rPr>
              <a:t>métodos</a:t>
            </a:r>
            <a:r>
              <a:rPr kumimoji="0" lang="en-US" altLang="es-MX" sz="1400" b="1" i="0" u="none" strike="noStrike" cap="none" normalizeH="0" baseline="0" dirty="0">
                <a:ln>
                  <a:noFill/>
                </a:ln>
                <a:effectLst/>
                <a:latin typeface="+mn-lt"/>
              </a:rPr>
              <a:t> de </a:t>
            </a:r>
            <a:r>
              <a:rPr kumimoji="0" lang="en-US" altLang="es-MX" sz="1400" b="1" i="0" u="none" strike="noStrike" cap="none" normalizeH="0" baseline="0" dirty="0" err="1">
                <a:ln>
                  <a:noFill/>
                </a:ln>
                <a:effectLst/>
                <a:latin typeface="+mn-lt"/>
              </a:rPr>
              <a:t>listas</a:t>
            </a:r>
            <a:r>
              <a:rPr kumimoji="0" lang="en-US" altLang="es-MX" sz="1400" b="1" i="0" u="none" strike="noStrike" cap="none" normalizeH="0" baseline="0" dirty="0">
                <a:ln>
                  <a:noFill/>
                </a:ln>
                <a:effectLst/>
                <a:latin typeface="+mn-lt"/>
              </a:rPr>
              <a:t> </a:t>
            </a:r>
            <a:r>
              <a:rPr kumimoji="0" lang="en-US" altLang="es-MX" sz="1400" b="0" i="0" u="none" strike="noStrike" cap="none" normalizeH="0" baseline="0" dirty="0">
                <a:ln>
                  <a:noFill/>
                </a:ln>
                <a:effectLst/>
                <a:latin typeface="+mn-lt"/>
              </a:rPr>
              <a:t>sin </a:t>
            </a:r>
            <a:r>
              <a:rPr kumimoji="0" lang="en-US" altLang="es-MX" sz="1400" b="0" i="0" u="none" strike="noStrike" cap="none" normalizeH="0" baseline="0" dirty="0" err="1">
                <a:ln>
                  <a:noFill/>
                </a:ln>
                <a:effectLst/>
                <a:latin typeface="+mn-lt"/>
              </a:rPr>
              <a:t>alterar</a:t>
            </a:r>
            <a:r>
              <a:rPr kumimoji="0" lang="en-US" altLang="es-MX" sz="1400" b="0" i="0" u="none" strike="noStrike" cap="none" normalizeH="0" baseline="0" dirty="0">
                <a:ln>
                  <a:noFill/>
                </a:ln>
                <a:effectLst/>
                <a:latin typeface="+mn-lt"/>
              </a:rPr>
              <a:t> la </a:t>
            </a:r>
            <a:r>
              <a:rPr kumimoji="0" lang="en-US" altLang="es-MX" sz="1400" b="0" i="0" u="none" strike="noStrike" cap="none" normalizeH="0" baseline="0" dirty="0" err="1">
                <a:ln>
                  <a:noFill/>
                </a:ln>
                <a:effectLst/>
                <a:latin typeface="+mn-lt"/>
              </a:rPr>
              <a:t>línea</a:t>
            </a:r>
            <a:r>
              <a:rPr kumimoji="0" lang="en-US" altLang="es-MX" sz="1400" b="0" i="0" u="none" strike="noStrike" cap="none" normalizeH="0" baseline="0" dirty="0">
                <a:ln>
                  <a:noFill/>
                </a:ln>
                <a:effectLst/>
                <a:latin typeface="+mn-lt"/>
              </a:rPr>
              <a:t> de </a:t>
            </a:r>
            <a:r>
              <a:rPr kumimoji="0" lang="en-US" altLang="es-MX" sz="1400" b="0" i="0" u="none" strike="noStrike" cap="none" normalizeH="0" baseline="0" dirty="0" err="1">
                <a:ln>
                  <a:noFill/>
                </a:ln>
                <a:effectLst/>
                <a:latin typeface="+mn-lt"/>
              </a:rPr>
              <a:t>código</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ya</a:t>
            </a:r>
            <a:r>
              <a:rPr kumimoji="0" lang="en-US" altLang="es-MX" sz="1400" b="0" i="0" u="none" strike="noStrike" cap="none" normalizeH="0" baseline="0" dirty="0">
                <a:ln>
                  <a:noFill/>
                </a:ln>
                <a:effectLst/>
                <a:latin typeface="+mn-lt"/>
              </a:rPr>
              <a:t> </a:t>
            </a:r>
            <a:r>
              <a:rPr kumimoji="0" lang="en-US" altLang="es-MX" sz="1400" b="0" i="0" u="none" strike="noStrike" cap="none" normalizeH="0" baseline="0" dirty="0" err="1">
                <a:ln>
                  <a:noFill/>
                </a:ln>
                <a:effectLst/>
                <a:latin typeface="+mn-lt"/>
              </a:rPr>
              <a:t>suministrada</a:t>
            </a:r>
            <a:r>
              <a:rPr kumimoji="0" lang="en-US" altLang="es-MX" sz="1400" b="0" i="0" u="none" strike="noStrike" cap="none" normalizeH="0" baseline="0" dirty="0">
                <a:ln>
                  <a:noFill/>
                </a:ln>
                <a:effectLst/>
                <a:latin typeface="+mn-lt"/>
              </a:rPr>
              <a:t>.</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a:ln>
                  <a:noFill/>
                </a:ln>
                <a:effectLst/>
                <a:latin typeface="+mn-lt"/>
              </a:rPr>
              <a:t>manzana</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a:ln>
                  <a:noFill/>
                </a:ln>
                <a:effectLst/>
                <a:latin typeface="+mn-lt"/>
              </a:rPr>
              <a:t>banana</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MX" sz="1400" b="0" i="1" u="none" strike="noStrike" cap="none" normalizeH="0" baseline="0" dirty="0">
                <a:ln>
                  <a:noFill/>
                </a:ln>
                <a:effectLst/>
                <a:latin typeface="+mn-lt"/>
              </a:rPr>
              <a:t>mango</a:t>
            </a:r>
            <a:endParaRPr kumimoji="0" lang="en-US" altLang="es-MX" sz="1400" b="0"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a:ln>
                  <a:noFill/>
                </a:ln>
                <a:effectLst/>
                <a:latin typeface="+mn-lt"/>
              </a:rPr>
              <a:t>cereza</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err="1">
                <a:ln>
                  <a:noFill/>
                </a:ln>
                <a:effectLst/>
                <a:latin typeface="+mn-lt"/>
              </a:rPr>
              <a:t>sandía</a:t>
            </a:r>
            <a:endParaRPr kumimoji="0" lang="en-US" altLang="es-MX" sz="1400" b="0" i="0" u="none" strike="noStrike" cap="none" normalizeH="0" baseline="0" dirty="0">
              <a:ln>
                <a:noFill/>
              </a:ln>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MX" sz="1400" b="0" i="0" u="none" strike="noStrike" cap="none" normalizeH="0" baseline="0" dirty="0">
              <a:ln>
                <a:noFill/>
              </a:ln>
              <a:effectLst/>
              <a:latin typeface="+mn-lt"/>
            </a:endParaRPr>
          </a:p>
        </p:txBody>
      </p:sp>
      <p:sp>
        <p:nvSpPr>
          <p:cNvPr id="5" name="Marcador de número de diapositiva 4">
            <a:extLst>
              <a:ext uri="{FF2B5EF4-FFF2-40B4-BE49-F238E27FC236}">
                <a16:creationId xmlns:a16="http://schemas.microsoft.com/office/drawing/2014/main" id="{301B95A2-85C2-66D7-1AAF-7638CDD07807}"/>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62</a:t>
            </a:fld>
            <a:endParaRPr lang="en-US" sz="1100">
              <a:solidFill>
                <a:schemeClr val="tx1">
                  <a:lumMod val="50000"/>
                  <a:lumOff val="50000"/>
                </a:schemeClr>
              </a:solidFill>
            </a:endParaRPr>
          </a:p>
        </p:txBody>
      </p:sp>
    </p:spTree>
    <p:extLst>
      <p:ext uri="{BB962C8B-B14F-4D97-AF65-F5344CB8AC3E}">
        <p14:creationId xmlns:p14="http://schemas.microsoft.com/office/powerpoint/2010/main" val="30097154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B3A5CD7-D64B-07FF-9D78-272EFD423FA2}"/>
              </a:ext>
            </a:extLst>
          </p:cNvPr>
          <p:cNvSpPr>
            <a:spLocks noGrp="1"/>
          </p:cNvSpPr>
          <p:nvPr>
            <p:ph type="title"/>
          </p:nvPr>
        </p:nvSpPr>
        <p:spPr>
          <a:xfrm>
            <a:off x="1371599" y="294538"/>
            <a:ext cx="9895951" cy="1033669"/>
          </a:xfrm>
        </p:spPr>
        <p:txBody>
          <a:bodyPr>
            <a:normAutofit/>
          </a:bodyPr>
          <a:lstStyle/>
          <a:p>
            <a:r>
              <a:rPr lang="es-MX" sz="4000" i="1">
                <a:solidFill>
                  <a:srgbClr val="FFFFFF"/>
                </a:solidFill>
              </a:rPr>
              <a:t>Diccionarios</a:t>
            </a:r>
          </a:p>
        </p:txBody>
      </p:sp>
      <p:sp>
        <p:nvSpPr>
          <p:cNvPr id="4" name="Marcador de pie de página 3">
            <a:extLst>
              <a:ext uri="{FF2B5EF4-FFF2-40B4-BE49-F238E27FC236}">
                <a16:creationId xmlns:a16="http://schemas.microsoft.com/office/drawing/2014/main" id="{638154E2-5C8B-5005-8F2B-4A7508A24464}"/>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9AA8E95D-642A-CA2F-F00F-F908FC24026F}"/>
              </a:ext>
            </a:extLst>
          </p:cNvPr>
          <p:cNvSpPr>
            <a:spLocks noGrp="1"/>
          </p:cNvSpPr>
          <p:nvPr>
            <p:ph idx="1"/>
          </p:nvPr>
        </p:nvSpPr>
        <p:spPr>
          <a:xfrm>
            <a:off x="-4" y="1590740"/>
            <a:ext cx="12192003" cy="5267259"/>
          </a:xfrm>
        </p:spPr>
        <p:txBody>
          <a:bodyPr anchor="ctr">
            <a:normAutofit/>
          </a:bodyPr>
          <a:lstStyle/>
          <a:p>
            <a:pPr marL="0" indent="0">
              <a:buNone/>
            </a:pPr>
            <a:r>
              <a:rPr lang="es-MX" sz="2000" dirty="0"/>
              <a:t>Los diccionarios son estructuras de datos que almacenan información en pares </a:t>
            </a:r>
            <a:r>
              <a:rPr lang="es-MX" sz="2000" dirty="0" err="1"/>
              <a:t>clave:valor</a:t>
            </a:r>
            <a:r>
              <a:rPr lang="es-MX" sz="2000" dirty="0"/>
              <a:t>. Son especialmente útiles para guardar y recuperar información a partir de los nombres de sus claves (no utilizan índices).</a:t>
            </a:r>
          </a:p>
          <a:p>
            <a:pPr marL="0" indent="0">
              <a:buNone/>
            </a:pPr>
            <a:endParaRPr lang="es-MX" sz="2000" dirty="0"/>
          </a:p>
          <a:p>
            <a:pPr marL="0" indent="0">
              <a:buNone/>
            </a:pPr>
            <a:r>
              <a:rPr lang="es-MX" sz="2000" dirty="0" err="1"/>
              <a:t>mi_diccionario</a:t>
            </a:r>
            <a:r>
              <a:rPr lang="es-MX" sz="2000" dirty="0"/>
              <a:t> = {"</a:t>
            </a:r>
            <a:r>
              <a:rPr lang="es-MX" sz="2000" dirty="0" err="1"/>
              <a:t>curso":"Python</a:t>
            </a:r>
            <a:r>
              <a:rPr lang="es-MX" sz="2000" dirty="0"/>
              <a:t> TOTAL" , "</a:t>
            </a:r>
            <a:r>
              <a:rPr lang="es-MX" sz="2000" dirty="0" err="1"/>
              <a:t>clase":"Diccionarios</a:t>
            </a:r>
            <a:r>
              <a:rPr lang="es-MX" sz="2000" dirty="0"/>
              <a:t>"} </a:t>
            </a:r>
          </a:p>
          <a:p>
            <a:pPr marL="0" indent="0">
              <a:buNone/>
            </a:pPr>
            <a:r>
              <a:rPr lang="es-MX" sz="2000" dirty="0"/>
              <a:t>agregar nuevos datos, o modificarlos</a:t>
            </a:r>
          </a:p>
          <a:p>
            <a:pPr marL="0" indent="0">
              <a:buNone/>
            </a:pPr>
            <a:endParaRPr lang="es-MX" sz="2000" dirty="0"/>
          </a:p>
          <a:p>
            <a:pPr marL="0" indent="0">
              <a:buNone/>
            </a:pPr>
            <a:r>
              <a:rPr lang="es-MX" sz="2000" dirty="0" err="1"/>
              <a:t>mi_diccionario</a:t>
            </a:r>
            <a:r>
              <a:rPr lang="es-MX" sz="2000" dirty="0"/>
              <a:t>["recursos"] = ["notas" , "ejercicios"]</a:t>
            </a:r>
          </a:p>
          <a:p>
            <a:pPr marL="0" indent="0">
              <a:buNone/>
            </a:pPr>
            <a:endParaRPr lang="es-MX" sz="2000" dirty="0"/>
          </a:p>
          <a:p>
            <a:pPr marL="0" indent="0">
              <a:buNone/>
            </a:pPr>
            <a:r>
              <a:rPr lang="es-MX" sz="2000" dirty="0"/>
              <a:t>acceso a valores a través del nombre de las claves</a:t>
            </a:r>
          </a:p>
          <a:p>
            <a:pPr marL="0" indent="0">
              <a:buNone/>
            </a:pPr>
            <a:r>
              <a:rPr lang="es-MX" sz="2000" dirty="0" err="1"/>
              <a:t>print</a:t>
            </a:r>
            <a:r>
              <a:rPr lang="es-MX" sz="2000" dirty="0"/>
              <a:t>(</a:t>
            </a:r>
            <a:r>
              <a:rPr lang="es-MX" sz="2000" dirty="0" err="1"/>
              <a:t>mi_diccionario</a:t>
            </a:r>
            <a:r>
              <a:rPr lang="es-MX" sz="2000" dirty="0"/>
              <a:t>["recursos"][1]) &gt;&gt; "ejercicios“</a:t>
            </a:r>
          </a:p>
          <a:p>
            <a:pPr marL="0" indent="0">
              <a:buNone/>
            </a:pPr>
            <a:endParaRPr lang="es-MX" sz="2000" dirty="0"/>
          </a:p>
          <a:p>
            <a:pPr marL="0" indent="0">
              <a:buNone/>
            </a:pPr>
            <a:r>
              <a:rPr lang="es-MX" sz="2000" dirty="0"/>
              <a:t>A partir de Python 3.7+, los diccionarios son tipos de datos ordenados, en el sentido que dicho orden se mantiene según su orden de inserción para aumentar la eficiencia en el uso de la memoria.</a:t>
            </a:r>
          </a:p>
        </p:txBody>
      </p:sp>
      <p:sp>
        <p:nvSpPr>
          <p:cNvPr id="5" name="Marcador de número de diapositiva 4">
            <a:extLst>
              <a:ext uri="{FF2B5EF4-FFF2-40B4-BE49-F238E27FC236}">
                <a16:creationId xmlns:a16="http://schemas.microsoft.com/office/drawing/2014/main" id="{5E7D074E-C3E2-06B0-9AB8-80CED08AB5C4}"/>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63</a:t>
            </a:fld>
            <a:endParaRPr lang="es-MX" sz="1100">
              <a:solidFill>
                <a:schemeClr val="tx1">
                  <a:lumMod val="50000"/>
                  <a:lumOff val="50000"/>
                </a:schemeClr>
              </a:solidFill>
            </a:endParaRPr>
          </a:p>
        </p:txBody>
      </p:sp>
    </p:spTree>
    <p:extLst>
      <p:ext uri="{BB962C8B-B14F-4D97-AF65-F5344CB8AC3E}">
        <p14:creationId xmlns:p14="http://schemas.microsoft.com/office/powerpoint/2010/main" val="4216444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C724F3-279C-BEC8-3229-6727D519EB4F}"/>
              </a:ext>
            </a:extLst>
          </p:cNvPr>
          <p:cNvSpPr>
            <a:spLocks noGrp="1"/>
          </p:cNvSpPr>
          <p:nvPr>
            <p:ph type="title"/>
          </p:nvPr>
        </p:nvSpPr>
        <p:spPr>
          <a:xfrm>
            <a:off x="0" y="0"/>
            <a:ext cx="10515600" cy="1325563"/>
          </a:xfrm>
        </p:spPr>
        <p:txBody>
          <a:bodyPr/>
          <a:lstStyle/>
          <a:p>
            <a:r>
              <a:rPr lang="es-MX" dirty="0"/>
              <a:t>Ejercicios</a:t>
            </a:r>
          </a:p>
        </p:txBody>
      </p:sp>
      <p:sp>
        <p:nvSpPr>
          <p:cNvPr id="4" name="Marcador de pie de página 3">
            <a:extLst>
              <a:ext uri="{FF2B5EF4-FFF2-40B4-BE49-F238E27FC236}">
                <a16:creationId xmlns:a16="http://schemas.microsoft.com/office/drawing/2014/main" id="{EA9C4F1F-B19B-59E1-97C2-3E8B225AC4ED}"/>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50E7082D-6446-8F42-55A3-173EA89DA3E1}"/>
              </a:ext>
            </a:extLst>
          </p:cNvPr>
          <p:cNvSpPr>
            <a:spLocks noGrp="1"/>
          </p:cNvSpPr>
          <p:nvPr>
            <p:ph type="sldNum" sz="quarter" idx="12"/>
          </p:nvPr>
        </p:nvSpPr>
        <p:spPr/>
        <p:txBody>
          <a:bodyPr/>
          <a:lstStyle/>
          <a:p>
            <a:fld id="{4EA4A3B0-B5DF-4E2B-B48F-E4B7B7872040}" type="slidenum">
              <a:rPr lang="es-MX" smtClean="0"/>
              <a:t>64</a:t>
            </a:fld>
            <a:endParaRPr lang="es-MX"/>
          </a:p>
        </p:txBody>
      </p:sp>
      <p:sp>
        <p:nvSpPr>
          <p:cNvPr id="6" name="Rectangle 1">
            <a:extLst>
              <a:ext uri="{FF2B5EF4-FFF2-40B4-BE49-F238E27FC236}">
                <a16:creationId xmlns:a16="http://schemas.microsoft.com/office/drawing/2014/main" id="{77DD6B6B-87E2-9F61-CF0F-90EB9552E092}"/>
              </a:ext>
            </a:extLst>
          </p:cNvPr>
          <p:cNvSpPr>
            <a:spLocks noGrp="1" noChangeArrowheads="1"/>
          </p:cNvSpPr>
          <p:nvPr>
            <p:ph idx="1"/>
          </p:nvPr>
        </p:nvSpPr>
        <p:spPr bwMode="auto">
          <a:xfrm>
            <a:off x="838200" y="3478074"/>
            <a:ext cx="65" cy="104644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000" dirty="0">
              <a:solidFill>
                <a:srgbClr val="1C1D1F"/>
              </a:solidFill>
              <a:latin typeface="udemy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000" b="0" i="0" u="none" strike="noStrike" cap="none" normalizeH="0" baseline="0" dirty="0">
              <a:ln>
                <a:noFill/>
              </a:ln>
              <a:solidFill>
                <a:srgbClr val="1C1D1F"/>
              </a:solidFill>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000" b="0" i="0" u="none" strike="noStrike" cap="none" normalizeH="0" baseline="0" dirty="0">
              <a:ln>
                <a:noFill/>
              </a:ln>
              <a:solidFill>
                <a:srgbClr val="1C1D1F"/>
              </a:solidFill>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000" dirty="0">
              <a:solidFill>
                <a:srgbClr val="1C1D1F"/>
              </a:solidFill>
              <a:latin typeface="udemy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000" b="0" i="0" u="none" strike="noStrike" cap="none" normalizeH="0" baseline="0" dirty="0">
              <a:ln>
                <a:noFill/>
              </a:ln>
              <a:solidFill>
                <a:srgbClr val="1C1D1F"/>
              </a:solidFill>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DB01FAF0-C971-E388-6DC2-B8F89CD4985C}"/>
              </a:ext>
            </a:extLst>
          </p:cNvPr>
          <p:cNvSpPr>
            <a:spLocks noChangeArrowheads="1"/>
          </p:cNvSpPr>
          <p:nvPr/>
        </p:nvSpPr>
        <p:spPr bwMode="auto">
          <a:xfrm>
            <a:off x="19050" y="1747063"/>
            <a:ext cx="12192000" cy="47397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s-MX" altLang="es-MX" sz="1400" b="0" i="0" u="none" strike="noStrike" cap="none" normalizeH="0" baseline="0" dirty="0">
                <a:ln>
                  <a:noFill/>
                </a:ln>
                <a:solidFill>
                  <a:srgbClr val="1C1D1F"/>
                </a:solidFill>
                <a:effectLst/>
                <a:latin typeface="udemy sans"/>
              </a:rPr>
              <a:t>Crea una función </a:t>
            </a:r>
            <a:r>
              <a:rPr kumimoji="0" lang="es-MX" altLang="es-MX" sz="1400" b="0" i="0" u="none" strike="noStrike" cap="none" normalizeH="0" baseline="0" dirty="0" err="1">
                <a:ln>
                  <a:noFill/>
                </a:ln>
                <a:solidFill>
                  <a:srgbClr val="1C1D1F"/>
                </a:solidFill>
                <a:effectLst/>
                <a:latin typeface="udemy sans"/>
              </a:rPr>
              <a:t>print</a:t>
            </a:r>
            <a:r>
              <a:rPr kumimoji="0" lang="es-MX" altLang="es-MX" sz="1400" b="0" i="0" u="none" strike="noStrike" cap="none" normalizeH="0" baseline="0" dirty="0">
                <a:ln>
                  <a:noFill/>
                </a:ln>
                <a:solidFill>
                  <a:srgbClr val="1C1D1F"/>
                </a:solidFill>
                <a:effectLst/>
                <a:latin typeface="udemy sans"/>
              </a:rPr>
              <a:t> que devuelva del segundo </a:t>
            </a:r>
            <a:r>
              <a:rPr kumimoji="0" lang="es-MX" altLang="es-MX" sz="1400" b="0" i="0" u="none" strike="noStrike" cap="none" normalizeH="0" baseline="0" dirty="0" err="1">
                <a:ln>
                  <a:noFill/>
                </a:ln>
                <a:solidFill>
                  <a:srgbClr val="1C1D1F"/>
                </a:solidFill>
                <a:effectLst/>
                <a:latin typeface="udemy sans"/>
              </a:rPr>
              <a:t>item</a:t>
            </a:r>
            <a:r>
              <a:rPr kumimoji="0" lang="es-MX" altLang="es-MX" sz="1400" b="0" i="0" u="none" strike="noStrike" cap="none" normalizeH="0" baseline="0" dirty="0">
                <a:ln>
                  <a:noFill/>
                </a:ln>
                <a:solidFill>
                  <a:srgbClr val="1C1D1F"/>
                </a:solidFill>
                <a:effectLst/>
                <a:latin typeface="udemy sans"/>
              </a:rPr>
              <a:t> de la lista llamada </a:t>
            </a:r>
            <a:r>
              <a:rPr kumimoji="0" lang="es-MX" altLang="es-MX" sz="1400" b="0" i="0" u="none" strike="noStrike" cap="none" normalizeH="0" baseline="0" dirty="0">
                <a:ln>
                  <a:noFill/>
                </a:ln>
                <a:solidFill>
                  <a:srgbClr val="B4690E"/>
                </a:solidFill>
                <a:effectLst/>
                <a:latin typeface="sfmono-regular"/>
              </a:rPr>
              <a:t>points2</a:t>
            </a:r>
            <a:r>
              <a:rPr kumimoji="0" lang="es-MX" altLang="es-MX" sz="1400" b="0" i="0" u="none" strike="noStrike" cap="none" normalizeH="0" baseline="0" dirty="0">
                <a:ln>
                  <a:noFill/>
                </a:ln>
                <a:solidFill>
                  <a:srgbClr val="1C1D1F"/>
                </a:solidFill>
                <a:effectLst/>
                <a:latin typeface="udemy sans"/>
              </a:rPr>
              <a:t>, dentro del siguiente diccionario.</a:t>
            </a:r>
            <a:endParaRPr kumimoji="0" lang="es-MX" altLang="es-MX"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400" b="0" i="0" u="none" strike="noStrike" cap="none" normalizeH="0" baseline="0" dirty="0">
                <a:ln>
                  <a:noFill/>
                </a:ln>
                <a:solidFill>
                  <a:srgbClr val="1C1D1F"/>
                </a:solidFill>
                <a:effectLst/>
                <a:latin typeface="udemy sans"/>
              </a:rPr>
              <a:t>Si el valor 300 cambiara en el futuro, el código debería funcionar igual para devolver el valor que se encuentre en esa misma posición. </a:t>
            </a:r>
            <a:r>
              <a:rPr kumimoji="0" lang="es-MX" altLang="es-MX" sz="1400" b="1" i="0" u="none" strike="noStrike" cap="none" normalizeH="0" baseline="0" dirty="0">
                <a:ln>
                  <a:noFill/>
                </a:ln>
                <a:solidFill>
                  <a:srgbClr val="1C1D1F"/>
                </a:solidFill>
                <a:effectLst/>
                <a:latin typeface="udemy sans"/>
              </a:rPr>
              <a:t>Para ello, deberás hacer referencia a los nombres de las claves y/o índices según corresponda.</a:t>
            </a:r>
            <a:endParaRPr lang="es-MX" altLang="es-MX" sz="1400" b="1" dirty="0">
              <a:solidFill>
                <a:srgbClr val="1C1D1F"/>
              </a:solidFill>
              <a:latin typeface="udemy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400" b="0" i="0" u="none" strike="noStrike" cap="none" normalizeH="0" baseline="0" dirty="0" err="1">
                <a:ln>
                  <a:noFill/>
                </a:ln>
                <a:solidFill>
                  <a:schemeClr val="tx1"/>
                </a:solidFill>
                <a:effectLst/>
              </a:rPr>
              <a:t>mi_dict</a:t>
            </a:r>
            <a:r>
              <a:rPr kumimoji="0" lang="es-MX" altLang="es-MX" sz="1400" b="0" i="0" u="none" strike="noStrike" cap="none" normalizeH="0" baseline="0" dirty="0">
                <a:ln>
                  <a:noFill/>
                </a:ln>
                <a:solidFill>
                  <a:schemeClr val="tx1"/>
                </a:solidFill>
                <a:effectLst/>
              </a:rPr>
              <a:t> = {"valores_1":{"v1":3,"v2":6},"puntos":{"points1":9,"points2":[10,300,15]}}</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s-MX" altLang="es-MX" sz="1400" b="0" i="0" u="none" strike="noStrike" cap="none" normalizeH="0" baseline="0" dirty="0">
                <a:ln>
                  <a:noFill/>
                </a:ln>
                <a:solidFill>
                  <a:srgbClr val="1C1D1F"/>
                </a:solidFill>
                <a:effectLst/>
                <a:latin typeface="udemy sans"/>
              </a:rPr>
              <a:t>Crea un diccionario llamado </a:t>
            </a:r>
            <a:r>
              <a:rPr kumimoji="0" lang="es-MX" altLang="es-MX" sz="1400" b="0" i="0" u="none" strike="noStrike" cap="none" normalizeH="0" baseline="0" dirty="0" err="1">
                <a:ln>
                  <a:noFill/>
                </a:ln>
                <a:solidFill>
                  <a:srgbClr val="B4690E"/>
                </a:solidFill>
                <a:effectLst/>
                <a:latin typeface="sfmono-regular"/>
              </a:rPr>
              <a:t>mi_dic</a:t>
            </a:r>
            <a:r>
              <a:rPr kumimoji="0" lang="es-MX" altLang="es-MX" sz="1400" b="0" i="0" u="none" strike="noStrike" cap="none" normalizeH="0" baseline="0" dirty="0">
                <a:ln>
                  <a:noFill/>
                </a:ln>
                <a:solidFill>
                  <a:srgbClr val="1C1D1F"/>
                </a:solidFill>
                <a:effectLst/>
                <a:latin typeface="udemy sans"/>
              </a:rPr>
              <a:t> que almacene la siguiente información de una persona:</a:t>
            </a:r>
            <a:endParaRPr kumimoji="0" lang="es-MX" altLang="es-MX"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400" b="0" i="0" u="none" strike="noStrike" cap="none" normalizeH="0" baseline="0" dirty="0">
                <a:ln>
                  <a:noFill/>
                </a:ln>
                <a:solidFill>
                  <a:srgbClr val="B4690E"/>
                </a:solidFill>
                <a:effectLst/>
                <a:latin typeface="sfmono-regular"/>
              </a:rPr>
              <a:t>nombre</a:t>
            </a:r>
            <a:r>
              <a:rPr kumimoji="0" lang="es-MX" altLang="es-MX" sz="1400" b="0" i="0" u="none" strike="noStrike" cap="none" normalizeH="0" baseline="0" dirty="0">
                <a:ln>
                  <a:noFill/>
                </a:ln>
                <a:solidFill>
                  <a:srgbClr val="1C1D1F"/>
                </a:solidFill>
                <a:effectLst/>
                <a:latin typeface="udemy sans"/>
              </a:rPr>
              <a:t>: Karen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400" b="0" i="0" u="none" strike="noStrike" cap="none" normalizeH="0" baseline="0" dirty="0">
                <a:ln>
                  <a:noFill/>
                </a:ln>
                <a:solidFill>
                  <a:srgbClr val="B4690E"/>
                </a:solidFill>
                <a:effectLst/>
                <a:latin typeface="sfmono-regular"/>
              </a:rPr>
              <a:t>apellido</a:t>
            </a:r>
            <a:r>
              <a:rPr kumimoji="0" lang="es-MX" altLang="es-MX" sz="1400" b="0" i="0" u="none" strike="noStrike" cap="none" normalizeH="0" baseline="0" dirty="0">
                <a:ln>
                  <a:noFill/>
                </a:ln>
                <a:solidFill>
                  <a:srgbClr val="1C1D1F"/>
                </a:solidFill>
                <a:effectLst/>
                <a:latin typeface="udemy sans"/>
              </a:rPr>
              <a:t>: </a:t>
            </a:r>
            <a:r>
              <a:rPr kumimoji="0" lang="es-MX" altLang="es-MX" sz="1400" b="0" i="0" u="none" strike="noStrike" cap="none" normalizeH="0" baseline="0" dirty="0" err="1">
                <a:ln>
                  <a:noFill/>
                </a:ln>
                <a:solidFill>
                  <a:srgbClr val="1C1D1F"/>
                </a:solidFill>
                <a:effectLst/>
                <a:latin typeface="udemy sans"/>
              </a:rPr>
              <a:t>Jurgens</a:t>
            </a:r>
            <a:endParaRPr kumimoji="0" lang="es-MX" altLang="es-MX" sz="1400" b="0" i="0" u="none" strike="noStrike" cap="none" normalizeH="0" baseline="0" dirty="0">
              <a:ln>
                <a:noFill/>
              </a:ln>
              <a:solidFill>
                <a:srgbClr val="1C1D1F"/>
              </a:solidFill>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400" b="0" i="0" u="none" strike="noStrike" cap="none" normalizeH="0" baseline="0" dirty="0">
                <a:ln>
                  <a:noFill/>
                </a:ln>
                <a:solidFill>
                  <a:srgbClr val="B4690E"/>
                </a:solidFill>
                <a:effectLst/>
                <a:latin typeface="sfmono-regular"/>
              </a:rPr>
              <a:t>edad</a:t>
            </a:r>
            <a:r>
              <a:rPr kumimoji="0" lang="es-MX" altLang="es-MX" sz="1400" b="0" i="0" u="none" strike="noStrike" cap="none" normalizeH="0" baseline="0" dirty="0">
                <a:ln>
                  <a:noFill/>
                </a:ln>
                <a:solidFill>
                  <a:srgbClr val="1C1D1F"/>
                </a:solidFill>
                <a:effectLst/>
                <a:latin typeface="udemy sans"/>
              </a:rPr>
              <a:t>: 35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400" b="0" i="0" u="none" strike="noStrike" cap="none" normalizeH="0" baseline="0" dirty="0" err="1">
                <a:ln>
                  <a:noFill/>
                </a:ln>
                <a:solidFill>
                  <a:srgbClr val="B4690E"/>
                </a:solidFill>
                <a:effectLst/>
                <a:latin typeface="sfmono-regular"/>
              </a:rPr>
              <a:t>ocupacion</a:t>
            </a:r>
            <a:r>
              <a:rPr kumimoji="0" lang="es-MX" altLang="es-MX" sz="1400" b="0" i="0" u="none" strike="noStrike" cap="none" normalizeH="0" baseline="0" dirty="0">
                <a:ln>
                  <a:noFill/>
                </a:ln>
                <a:solidFill>
                  <a:srgbClr val="1C1D1F"/>
                </a:solidFill>
                <a:effectLst/>
                <a:latin typeface="udemy sans"/>
              </a:rPr>
              <a:t>: Periodista</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400" b="0" i="0" u="none" strike="noStrike" cap="none" normalizeH="0" baseline="0" dirty="0">
                <a:ln>
                  <a:noFill/>
                </a:ln>
                <a:solidFill>
                  <a:srgbClr val="1C1D1F"/>
                </a:solidFill>
                <a:effectLst/>
                <a:latin typeface="udemy sans"/>
              </a:rPr>
              <a:t>Los nombres de las claves y valores deben ser iguales a la consigna.</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s-MX" altLang="es-MX" sz="1400" b="1" i="0" u="none" strike="noStrike" cap="none" normalizeH="0" baseline="0" dirty="0">
                <a:ln>
                  <a:noFill/>
                </a:ln>
                <a:solidFill>
                  <a:srgbClr val="1C1D1F"/>
                </a:solidFill>
                <a:effectLst/>
                <a:latin typeface="udemy sans"/>
              </a:rPr>
              <a:t>Actualiza </a:t>
            </a:r>
            <a:r>
              <a:rPr kumimoji="0" lang="es-MX" altLang="es-MX" sz="1400" b="0" i="0" u="none" strike="noStrike" cap="none" normalizeH="0" baseline="0" dirty="0">
                <a:ln>
                  <a:noFill/>
                </a:ln>
                <a:solidFill>
                  <a:srgbClr val="1C1D1F"/>
                </a:solidFill>
                <a:effectLst/>
                <a:latin typeface="udemy sans"/>
              </a:rPr>
              <a:t>la información de nuestro diccionario llamado </a:t>
            </a:r>
            <a:r>
              <a:rPr kumimoji="0" lang="es-MX" altLang="es-MX" sz="1400" b="0" i="0" u="none" strike="noStrike" cap="none" normalizeH="0" baseline="0" dirty="0" err="1">
                <a:ln>
                  <a:noFill/>
                </a:ln>
                <a:solidFill>
                  <a:srgbClr val="B4690E"/>
                </a:solidFill>
                <a:effectLst/>
                <a:latin typeface="sfmono-regular"/>
              </a:rPr>
              <a:t>mi_dic</a:t>
            </a:r>
            <a:r>
              <a:rPr kumimoji="0" lang="es-MX" altLang="es-MX" sz="1400" b="0" i="0" u="none" strike="noStrike" cap="none" normalizeH="0" baseline="0" dirty="0">
                <a:ln>
                  <a:noFill/>
                </a:ln>
                <a:solidFill>
                  <a:srgbClr val="1C1D1F"/>
                </a:solidFill>
                <a:effectLst/>
                <a:latin typeface="udemy sans"/>
              </a:rPr>
              <a:t>  </a:t>
            </a:r>
            <a:r>
              <a:rPr kumimoji="0" lang="es-MX" altLang="es-MX" sz="1400" b="1" i="0" u="none" strike="noStrike" cap="none" normalizeH="0" baseline="0" dirty="0">
                <a:ln>
                  <a:noFill/>
                </a:ln>
                <a:solidFill>
                  <a:srgbClr val="1C1D1F"/>
                </a:solidFill>
                <a:effectLst/>
                <a:latin typeface="udemy sans"/>
              </a:rPr>
              <a:t>(reasignando nuevos valores a las claves según corresponda)</a:t>
            </a:r>
            <a:r>
              <a:rPr kumimoji="0" lang="es-MX" altLang="es-MX" sz="1400" b="0" i="0" u="none" strike="noStrike" cap="none" normalizeH="0" baseline="0" dirty="0">
                <a:ln>
                  <a:noFill/>
                </a:ln>
                <a:solidFill>
                  <a:srgbClr val="1C1D1F"/>
                </a:solidFill>
                <a:effectLst/>
                <a:latin typeface="udemy sans"/>
              </a:rPr>
              <a:t>, y agrega una nueva clave llamada "</a:t>
            </a:r>
            <a:r>
              <a:rPr kumimoji="0" lang="es-MX" altLang="es-MX" sz="1400" b="0" i="0" u="none" strike="noStrike" cap="none" normalizeH="0" baseline="0" dirty="0" err="1">
                <a:ln>
                  <a:noFill/>
                </a:ln>
                <a:solidFill>
                  <a:srgbClr val="1C1D1F"/>
                </a:solidFill>
                <a:effectLst/>
                <a:latin typeface="udemy sans"/>
              </a:rPr>
              <a:t>pais</a:t>
            </a:r>
            <a:r>
              <a:rPr kumimoji="0" lang="es-MX" altLang="es-MX" sz="1400" b="0" i="0" u="none" strike="noStrike" cap="none" normalizeH="0" baseline="0" dirty="0">
                <a:ln>
                  <a:noFill/>
                </a:ln>
                <a:solidFill>
                  <a:srgbClr val="1C1D1F"/>
                </a:solidFill>
                <a:effectLst/>
                <a:latin typeface="udemy sans"/>
              </a:rPr>
              <a:t>" (sin tilde). Los nuevos datos son:</a:t>
            </a:r>
            <a:endParaRPr kumimoji="0" lang="es-MX" altLang="es-MX"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400" b="0" i="0" u="none" strike="noStrike" cap="none" normalizeH="0" baseline="0" dirty="0">
                <a:ln>
                  <a:noFill/>
                </a:ln>
                <a:solidFill>
                  <a:srgbClr val="B4690E"/>
                </a:solidFill>
                <a:effectLst/>
                <a:latin typeface="sfmono-regular"/>
              </a:rPr>
              <a:t>nombre</a:t>
            </a:r>
            <a:r>
              <a:rPr kumimoji="0" lang="es-MX" altLang="es-MX" sz="1400" b="0" i="0" u="none" strike="noStrike" cap="none" normalizeH="0" baseline="0" dirty="0">
                <a:ln>
                  <a:noFill/>
                </a:ln>
                <a:solidFill>
                  <a:srgbClr val="1C1D1F"/>
                </a:solidFill>
                <a:effectLst/>
                <a:latin typeface="udemy sans"/>
              </a:rPr>
              <a:t>: Karen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400" b="0" i="0" u="none" strike="noStrike" cap="none" normalizeH="0" baseline="0" dirty="0">
                <a:ln>
                  <a:noFill/>
                </a:ln>
                <a:solidFill>
                  <a:srgbClr val="B4690E"/>
                </a:solidFill>
                <a:effectLst/>
                <a:latin typeface="sfmono-regular"/>
              </a:rPr>
              <a:t>apellido</a:t>
            </a:r>
            <a:r>
              <a:rPr kumimoji="0" lang="es-MX" altLang="es-MX" sz="1400" b="0" i="0" u="none" strike="noStrike" cap="none" normalizeH="0" baseline="0" dirty="0">
                <a:ln>
                  <a:noFill/>
                </a:ln>
                <a:solidFill>
                  <a:srgbClr val="1C1D1F"/>
                </a:solidFill>
                <a:effectLst/>
                <a:latin typeface="udemy sans"/>
              </a:rPr>
              <a:t>: </a:t>
            </a:r>
            <a:r>
              <a:rPr kumimoji="0" lang="es-MX" altLang="es-MX" sz="1400" b="0" i="0" u="none" strike="noStrike" cap="none" normalizeH="0" baseline="0" dirty="0" err="1">
                <a:ln>
                  <a:noFill/>
                </a:ln>
                <a:solidFill>
                  <a:srgbClr val="1C1D1F"/>
                </a:solidFill>
                <a:effectLst/>
                <a:latin typeface="udemy sans"/>
              </a:rPr>
              <a:t>Jurgens</a:t>
            </a:r>
            <a:endParaRPr kumimoji="0" lang="es-MX" altLang="es-MX" sz="1400" b="0" i="0" u="none" strike="noStrike" cap="none" normalizeH="0" baseline="0" dirty="0">
              <a:ln>
                <a:noFill/>
              </a:ln>
              <a:solidFill>
                <a:srgbClr val="1C1D1F"/>
              </a:solidFill>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400" b="0" i="0" u="none" strike="noStrike" cap="none" normalizeH="0" baseline="0" dirty="0">
                <a:ln>
                  <a:noFill/>
                </a:ln>
                <a:solidFill>
                  <a:srgbClr val="B4690E"/>
                </a:solidFill>
                <a:effectLst/>
                <a:latin typeface="sfmono-regular"/>
              </a:rPr>
              <a:t>edad</a:t>
            </a:r>
            <a:r>
              <a:rPr kumimoji="0" lang="es-MX" altLang="es-MX" sz="1400" b="0" i="0" u="none" strike="noStrike" cap="none" normalizeH="0" baseline="0" dirty="0">
                <a:ln>
                  <a:noFill/>
                </a:ln>
                <a:solidFill>
                  <a:srgbClr val="1C1D1F"/>
                </a:solidFill>
                <a:effectLst/>
                <a:latin typeface="udemy sans"/>
              </a:rPr>
              <a:t>: 36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400" b="0" i="0" u="none" strike="noStrike" cap="none" normalizeH="0" baseline="0" dirty="0" err="1">
                <a:ln>
                  <a:noFill/>
                </a:ln>
                <a:solidFill>
                  <a:srgbClr val="B4690E"/>
                </a:solidFill>
                <a:effectLst/>
                <a:latin typeface="sfmono-regular"/>
              </a:rPr>
              <a:t>ocupacion</a:t>
            </a:r>
            <a:r>
              <a:rPr kumimoji="0" lang="es-MX" altLang="es-MX" sz="1400" b="0" i="0" u="none" strike="noStrike" cap="none" normalizeH="0" baseline="0" dirty="0">
                <a:ln>
                  <a:noFill/>
                </a:ln>
                <a:solidFill>
                  <a:srgbClr val="1C1D1F"/>
                </a:solidFill>
                <a:effectLst/>
                <a:latin typeface="udemy sans"/>
              </a:rPr>
              <a:t>: Editora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400" b="0" i="0" u="none" strike="noStrike" cap="none" normalizeH="0" baseline="0" dirty="0" err="1">
                <a:ln>
                  <a:noFill/>
                </a:ln>
                <a:solidFill>
                  <a:srgbClr val="B4690E"/>
                </a:solidFill>
                <a:effectLst/>
                <a:latin typeface="sfmono-regular"/>
              </a:rPr>
              <a:t>pais</a:t>
            </a:r>
            <a:r>
              <a:rPr kumimoji="0" lang="es-MX" altLang="es-MX" sz="1400" b="0" i="0" u="none" strike="noStrike" cap="none" normalizeH="0" baseline="0" dirty="0">
                <a:ln>
                  <a:noFill/>
                </a:ln>
                <a:solidFill>
                  <a:srgbClr val="1C1D1F"/>
                </a:solidFill>
                <a:effectLst/>
                <a:latin typeface="udemy sans"/>
              </a:rPr>
              <a:t>: Colombia</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400" b="0" i="0" u="none" strike="noStrike" cap="none" normalizeH="0" baseline="0" dirty="0">
                <a:ln>
                  <a:noFill/>
                </a:ln>
                <a:solidFill>
                  <a:srgbClr val="1C1D1F"/>
                </a:solidFill>
                <a:effectLst/>
                <a:latin typeface="udemy sans"/>
              </a:rPr>
              <a:t>para ello, </a:t>
            </a:r>
            <a:r>
              <a:rPr kumimoji="0" lang="es-MX" altLang="es-MX" sz="1400" b="1" i="1" u="none" strike="noStrike" cap="none" normalizeH="0" baseline="0" dirty="0">
                <a:ln>
                  <a:noFill/>
                </a:ln>
                <a:solidFill>
                  <a:srgbClr val="1C1D1F"/>
                </a:solidFill>
                <a:effectLst/>
                <a:latin typeface="udemy sans"/>
              </a:rPr>
              <a:t>no debes cambiar la línea de código ya escrita</a:t>
            </a:r>
            <a:r>
              <a:rPr kumimoji="0" lang="es-MX" altLang="es-MX" sz="1400" b="0" i="0" u="none" strike="noStrike" cap="none" normalizeH="0" baseline="0" dirty="0">
                <a:ln>
                  <a:noFill/>
                </a:ln>
                <a:solidFill>
                  <a:srgbClr val="1C1D1F"/>
                </a:solidFill>
                <a:effectLst/>
                <a:latin typeface="udemy sans"/>
              </a:rPr>
              <a:t>, sino actualizar los valores mediante métodos de diccionarios.</a:t>
            </a:r>
            <a:endParaRPr kumimoji="0" lang="es-MX" altLang="es-MX"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400" b="0" i="0" u="none" strike="noStrike" cap="none" normalizeH="0" baseline="0" dirty="0">
              <a:ln>
                <a:noFill/>
              </a:ln>
              <a:solidFill>
                <a:schemeClr val="tx1"/>
              </a:solidFill>
              <a:effectLst/>
            </a:endParaRPr>
          </a:p>
        </p:txBody>
      </p:sp>
      <p:sp>
        <p:nvSpPr>
          <p:cNvPr id="8" name="Rectangle 3">
            <a:extLst>
              <a:ext uri="{FF2B5EF4-FFF2-40B4-BE49-F238E27FC236}">
                <a16:creationId xmlns:a16="http://schemas.microsoft.com/office/drawing/2014/main" id="{13ED8BBA-787E-2CFC-E119-CD95BA839FF7}"/>
              </a:ext>
            </a:extLst>
          </p:cNvPr>
          <p:cNvSpPr>
            <a:spLocks noChangeArrowheads="1"/>
          </p:cNvSpPr>
          <p:nvPr/>
        </p:nvSpPr>
        <p:spPr bwMode="auto">
          <a:xfrm>
            <a:off x="0" y="1362342"/>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10091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CA6B759-7EEE-A9E9-C3FD-DF5B623D6DE4}"/>
              </a:ext>
            </a:extLst>
          </p:cNvPr>
          <p:cNvSpPr>
            <a:spLocks noGrp="1"/>
          </p:cNvSpPr>
          <p:nvPr>
            <p:ph type="title"/>
          </p:nvPr>
        </p:nvSpPr>
        <p:spPr>
          <a:xfrm>
            <a:off x="1371599" y="294538"/>
            <a:ext cx="9895951" cy="1033669"/>
          </a:xfrm>
        </p:spPr>
        <p:txBody>
          <a:bodyPr>
            <a:normAutofit fontScale="90000"/>
          </a:bodyPr>
          <a:lstStyle/>
          <a:p>
            <a:r>
              <a:rPr lang="es-MX" sz="2200" i="1" dirty="0" err="1">
                <a:solidFill>
                  <a:schemeClr val="bg1"/>
                </a:solidFill>
              </a:rPr>
              <a:t>Tuples</a:t>
            </a:r>
            <a:r>
              <a:rPr lang="es-MX" sz="2200" i="1" dirty="0">
                <a:solidFill>
                  <a:schemeClr val="bg1"/>
                </a:solidFill>
              </a:rPr>
              <a:t> </a:t>
            </a:r>
            <a:br>
              <a:rPr lang="es-MX" sz="2200" i="1" dirty="0">
                <a:solidFill>
                  <a:schemeClr val="bg1"/>
                </a:solidFill>
              </a:rPr>
            </a:br>
            <a:r>
              <a:rPr lang="es-MX" sz="2200" dirty="0">
                <a:solidFill>
                  <a:schemeClr val="bg1"/>
                </a:solidFill>
              </a:rPr>
              <a:t>Los </a:t>
            </a:r>
            <a:r>
              <a:rPr lang="es-MX" sz="2200" dirty="0" err="1">
                <a:solidFill>
                  <a:schemeClr val="bg1"/>
                </a:solidFill>
              </a:rPr>
              <a:t>tuples</a:t>
            </a:r>
            <a:r>
              <a:rPr lang="es-MX" sz="2200" dirty="0">
                <a:solidFill>
                  <a:schemeClr val="bg1"/>
                </a:solidFill>
              </a:rPr>
              <a:t> o tuplas, son estructuras de datos que almacenan múltiples elementos en una única variable. Se caracterizan por ser ordenadas e inmutables. Esta característica las hace más eficientes en memoria y a prueba de daños.</a:t>
            </a:r>
            <a:br>
              <a:rPr lang="es-MX" sz="4000" dirty="0"/>
            </a:br>
            <a:endParaRPr lang="es-MX" sz="4000" i="1" dirty="0">
              <a:solidFill>
                <a:srgbClr val="FFFFFF"/>
              </a:solidFill>
            </a:endParaRPr>
          </a:p>
        </p:txBody>
      </p:sp>
      <p:sp>
        <p:nvSpPr>
          <p:cNvPr id="4" name="Marcador de pie de página 3">
            <a:extLst>
              <a:ext uri="{FF2B5EF4-FFF2-40B4-BE49-F238E27FC236}">
                <a16:creationId xmlns:a16="http://schemas.microsoft.com/office/drawing/2014/main" id="{E5B8AEDC-56C4-E53A-C2CC-AE2FD9E8B1BA}"/>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03A72F4B-9404-6BD6-ED36-030500B7430B}"/>
              </a:ext>
            </a:extLst>
          </p:cNvPr>
          <p:cNvSpPr>
            <a:spLocks noGrp="1"/>
          </p:cNvSpPr>
          <p:nvPr>
            <p:ph idx="1"/>
          </p:nvPr>
        </p:nvSpPr>
        <p:spPr>
          <a:xfrm>
            <a:off x="-3" y="1597432"/>
            <a:ext cx="12191998" cy="5260568"/>
          </a:xfrm>
        </p:spPr>
        <p:txBody>
          <a:bodyPr anchor="ctr">
            <a:normAutofit lnSpcReduction="10000"/>
          </a:bodyPr>
          <a:lstStyle/>
          <a:p>
            <a:pPr marL="0" indent="0">
              <a:buNone/>
            </a:pPr>
            <a:endParaRPr lang="es-MX" sz="1700" dirty="0"/>
          </a:p>
          <a:p>
            <a:pPr marL="0" indent="0">
              <a:buNone/>
            </a:pPr>
            <a:r>
              <a:rPr lang="es-MX" sz="2000" dirty="0" err="1"/>
              <a:t>mi_tuple</a:t>
            </a:r>
            <a:r>
              <a:rPr lang="es-MX" sz="2000" dirty="0"/>
              <a:t> = (1, "dos" , [3.33, "cuatro"], (5.0, 6))</a:t>
            </a:r>
          </a:p>
          <a:p>
            <a:pPr marL="0" indent="0">
              <a:buNone/>
            </a:pPr>
            <a:r>
              <a:rPr lang="es-MX" sz="2000" dirty="0"/>
              <a:t>indexado (acceso a datos)</a:t>
            </a:r>
          </a:p>
          <a:p>
            <a:pPr marL="0" indent="0">
              <a:buNone/>
            </a:pPr>
            <a:r>
              <a:rPr lang="es-MX" sz="2000" dirty="0"/>
              <a:t>	</a:t>
            </a:r>
            <a:r>
              <a:rPr lang="es-MX" sz="2000" dirty="0" err="1"/>
              <a:t>print</a:t>
            </a:r>
            <a:r>
              <a:rPr lang="es-MX" sz="2000" dirty="0"/>
              <a:t>(</a:t>
            </a:r>
            <a:r>
              <a:rPr lang="es-MX" sz="2000" dirty="0" err="1"/>
              <a:t>mi_tuple</a:t>
            </a:r>
            <a:r>
              <a:rPr lang="es-MX" sz="2000" dirty="0"/>
              <a:t>[3][0]) </a:t>
            </a:r>
          </a:p>
          <a:p>
            <a:pPr marL="0" indent="0">
              <a:buNone/>
            </a:pPr>
            <a:r>
              <a:rPr lang="es-MX" sz="2000" dirty="0"/>
              <a:t>	&gt;&gt; 5.0</a:t>
            </a:r>
          </a:p>
          <a:p>
            <a:pPr marL="0" indent="0">
              <a:buNone/>
            </a:pPr>
            <a:r>
              <a:rPr lang="es-MX" sz="2000" dirty="0"/>
              <a:t>casting (conversión de tipos de datos)</a:t>
            </a:r>
          </a:p>
          <a:p>
            <a:pPr marL="0" indent="0">
              <a:buNone/>
            </a:pPr>
            <a:r>
              <a:rPr lang="es-MX" sz="2000" dirty="0"/>
              <a:t>	lista_1 = </a:t>
            </a:r>
            <a:r>
              <a:rPr lang="es-MX" sz="2000" dirty="0" err="1"/>
              <a:t>list</a:t>
            </a:r>
            <a:r>
              <a:rPr lang="es-MX" sz="2000" dirty="0"/>
              <a:t>(</a:t>
            </a:r>
            <a:r>
              <a:rPr lang="es-MX" sz="2000" dirty="0" err="1"/>
              <a:t>mi_tuple</a:t>
            </a:r>
            <a:r>
              <a:rPr lang="es-MX" sz="2000" dirty="0"/>
              <a:t>) </a:t>
            </a:r>
            <a:r>
              <a:rPr lang="es-MX" sz="2000" dirty="0" err="1"/>
              <a:t>print</a:t>
            </a:r>
            <a:r>
              <a:rPr lang="es-MX" sz="2000" dirty="0"/>
              <a:t>(lista_1)</a:t>
            </a:r>
          </a:p>
          <a:p>
            <a:pPr marL="0" indent="0">
              <a:buNone/>
            </a:pPr>
            <a:r>
              <a:rPr lang="es-MX" sz="2000" dirty="0"/>
              <a:t>	 &gt;&gt; [1, "dos" , [3.33, "cuatro"], (5.0, 6)]</a:t>
            </a:r>
          </a:p>
          <a:p>
            <a:pPr marL="0" indent="0">
              <a:buNone/>
            </a:pPr>
            <a:endParaRPr lang="es-MX" sz="2400" dirty="0"/>
          </a:p>
          <a:p>
            <a:pPr marL="0" indent="0">
              <a:buNone/>
            </a:pPr>
            <a:r>
              <a:rPr lang="es-MX" sz="2400" dirty="0" err="1"/>
              <a:t>unpacking</a:t>
            </a:r>
            <a:r>
              <a:rPr lang="es-MX" sz="2400" dirty="0"/>
              <a:t> (extracción de datos)</a:t>
            </a:r>
          </a:p>
          <a:p>
            <a:pPr marL="0" indent="0">
              <a:buNone/>
            </a:pPr>
            <a:r>
              <a:rPr lang="es-MX" sz="2400" dirty="0"/>
              <a:t>	a, b, c, d = </a:t>
            </a:r>
            <a:r>
              <a:rPr lang="es-MX" sz="2400" dirty="0" err="1"/>
              <a:t>mi_tuple</a:t>
            </a:r>
            <a:r>
              <a:rPr lang="es-MX" sz="2400" dirty="0"/>
              <a:t>  </a:t>
            </a:r>
          </a:p>
          <a:p>
            <a:pPr marL="0" indent="0">
              <a:buNone/>
            </a:pPr>
            <a:r>
              <a:rPr lang="es-MX" sz="2400" dirty="0"/>
              <a:t>	</a:t>
            </a:r>
            <a:r>
              <a:rPr lang="es-MX" sz="2400" dirty="0" err="1"/>
              <a:t>print</a:t>
            </a:r>
            <a:r>
              <a:rPr lang="es-MX" sz="2400" dirty="0"/>
              <a:t>(c) </a:t>
            </a:r>
          </a:p>
          <a:p>
            <a:pPr marL="0" indent="0">
              <a:buNone/>
            </a:pPr>
            <a:r>
              <a:rPr lang="es-MX" sz="2400" dirty="0"/>
              <a:t>	&gt;&gt; [3.33, "cuatro"]</a:t>
            </a:r>
          </a:p>
          <a:p>
            <a:pPr marL="0" indent="0">
              <a:buNone/>
            </a:pPr>
            <a:endParaRPr lang="es-MX" sz="1700" dirty="0"/>
          </a:p>
          <a:p>
            <a:pPr marL="0" indent="0">
              <a:buNone/>
            </a:pPr>
            <a:endParaRPr lang="es-MX" sz="1700" dirty="0"/>
          </a:p>
        </p:txBody>
      </p:sp>
      <p:sp>
        <p:nvSpPr>
          <p:cNvPr id="5" name="Marcador de número de diapositiva 4">
            <a:extLst>
              <a:ext uri="{FF2B5EF4-FFF2-40B4-BE49-F238E27FC236}">
                <a16:creationId xmlns:a16="http://schemas.microsoft.com/office/drawing/2014/main" id="{07BC495F-B6E6-3552-9BFB-35A6B605E0C8}"/>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65</a:t>
            </a:fld>
            <a:endParaRPr lang="es-MX" sz="1100">
              <a:solidFill>
                <a:schemeClr val="tx1">
                  <a:lumMod val="50000"/>
                  <a:lumOff val="50000"/>
                </a:schemeClr>
              </a:solidFill>
            </a:endParaRPr>
          </a:p>
        </p:txBody>
      </p:sp>
    </p:spTree>
    <p:extLst>
      <p:ext uri="{BB962C8B-B14F-4D97-AF65-F5344CB8AC3E}">
        <p14:creationId xmlns:p14="http://schemas.microsoft.com/office/powerpoint/2010/main" val="26551003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288521" y="381403"/>
            <a:ext cx="2200313" cy="3342508"/>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2">
            <a:extLst>
              <a:ext uri="{FF2B5EF4-FFF2-40B4-BE49-F238E27FC236}">
                <a16:creationId xmlns:a16="http://schemas.microsoft.com/office/drawing/2014/main" id="{32F1025D-04E3-0C94-FDC4-7D7F1285B254}"/>
              </a:ext>
            </a:extLst>
          </p:cNvPr>
          <p:cNvSpPr>
            <a:spLocks noChangeArrowheads="1"/>
          </p:cNvSpPr>
          <p:nvPr/>
        </p:nvSpPr>
        <p:spPr bwMode="auto">
          <a:xfrm>
            <a:off x="4662488" y="952500"/>
            <a:ext cx="6902450" cy="2413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2800" b="0" i="0" u="none" strike="noStrike" cap="none" normalizeH="0" baseline="0">
                <a:ln>
                  <a:noFill/>
                </a:ln>
                <a:solidFill>
                  <a:srgbClr val="1C1D1F"/>
                </a:solidFill>
                <a:effectLst/>
                <a:latin typeface="udemy sans"/>
              </a:rPr>
              <a:t>Utiliza un método de tuplas para contar la cantidad de veces que aparece el valor </a:t>
            </a:r>
            <a:r>
              <a:rPr kumimoji="0" lang="es-MX" altLang="es-MX" sz="2800" b="0" i="0" u="none" strike="noStrike" cap="none" normalizeH="0" baseline="0">
                <a:ln>
                  <a:noFill/>
                </a:ln>
                <a:solidFill>
                  <a:srgbClr val="B4690E"/>
                </a:solidFill>
                <a:effectLst/>
                <a:latin typeface="sfmono-regular"/>
              </a:rPr>
              <a:t>2</a:t>
            </a:r>
            <a:r>
              <a:rPr kumimoji="0" lang="es-MX" altLang="es-MX" sz="2800" b="0" i="0" u="none" strike="noStrike" cap="none" normalizeH="0" baseline="0">
                <a:ln>
                  <a:noFill/>
                </a:ln>
                <a:solidFill>
                  <a:srgbClr val="1C1D1F"/>
                </a:solidFill>
                <a:effectLst/>
                <a:latin typeface="udemy sans"/>
              </a:rPr>
              <a:t> en la siguiente tupla, y muestra el resultado (integer) en pantalla:</a:t>
            </a:r>
            <a:endParaRPr kumimoji="0" lang="es-MX" altLang="es-MX" sz="2800" b="0" i="0" u="none" strike="noStrike" cap="none" normalizeH="0" baseline="0">
              <a:ln>
                <a:noFill/>
              </a:ln>
              <a:solidFill>
                <a:schemeClr val="tx1"/>
              </a:solidFill>
              <a:effectLst/>
            </a:endParaRPr>
          </a:p>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2800" b="0" i="0" u="none" strike="noStrike" cap="none" normalizeH="0" baseline="0">
                <a:ln>
                  <a:noFill/>
                </a:ln>
                <a:solidFill>
                  <a:srgbClr val="B4690E"/>
                </a:solidFill>
                <a:effectLst/>
                <a:latin typeface="sfmono-regular"/>
              </a:rPr>
              <a:t>mi_tupla = (1, 2, 3, 2, 3, 1, 3, 2, 3, 3, 3, 1, 3, 2, 2, 1, 3, 2)</a:t>
            </a:r>
            <a:endParaRPr kumimoji="0" lang="es-MX" altLang="es-MX" sz="2800" b="0" i="0" u="none" strike="noStrike" cap="none" normalizeH="0" baseline="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95F3C320-266B-E77C-B691-BE5307697E04}"/>
              </a:ext>
            </a:extLst>
          </p:cNvPr>
          <p:cNvSpPr>
            <a:spLocks noChangeArrowheads="1"/>
          </p:cNvSpPr>
          <p:nvPr/>
        </p:nvSpPr>
        <p:spPr bwMode="auto">
          <a:xfrm>
            <a:off x="4662488" y="3424238"/>
            <a:ext cx="6902450" cy="12906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2800" b="0" i="0" u="none" strike="noStrike" cap="none" normalizeH="0" baseline="0">
                <a:ln>
                  <a:noFill/>
                </a:ln>
                <a:solidFill>
                  <a:srgbClr val="1C1D1F"/>
                </a:solidFill>
                <a:effectLst/>
                <a:latin typeface="udemy sans"/>
              </a:rPr>
              <a:t>Convierte a </a:t>
            </a:r>
            <a:r>
              <a:rPr kumimoji="0" lang="es-MX" altLang="es-MX" sz="2800" b="1" i="0" u="none" strike="noStrike" cap="none" normalizeH="0" baseline="0">
                <a:ln>
                  <a:noFill/>
                </a:ln>
                <a:solidFill>
                  <a:srgbClr val="1C1D1F"/>
                </a:solidFill>
                <a:effectLst/>
                <a:latin typeface="udemy sans"/>
              </a:rPr>
              <a:t>lista </a:t>
            </a:r>
            <a:r>
              <a:rPr kumimoji="0" lang="es-MX" altLang="es-MX" sz="2800" b="0" i="0" u="none" strike="noStrike" cap="none" normalizeH="0" baseline="0">
                <a:ln>
                  <a:noFill/>
                </a:ln>
                <a:solidFill>
                  <a:srgbClr val="1C1D1F"/>
                </a:solidFill>
                <a:effectLst/>
                <a:latin typeface="udemy sans"/>
              </a:rPr>
              <a:t>la siguiente </a:t>
            </a:r>
            <a:r>
              <a:rPr kumimoji="0" lang="es-MX" altLang="es-MX" sz="2800" b="1" i="0" u="none" strike="noStrike" cap="none" normalizeH="0" baseline="0">
                <a:ln>
                  <a:noFill/>
                </a:ln>
                <a:solidFill>
                  <a:srgbClr val="1C1D1F"/>
                </a:solidFill>
                <a:effectLst/>
                <a:latin typeface="udemy sans"/>
              </a:rPr>
              <a:t>tupla</a:t>
            </a:r>
            <a:r>
              <a:rPr kumimoji="0" lang="es-MX" altLang="es-MX" sz="2800" b="0" i="0" u="none" strike="noStrike" cap="none" normalizeH="0" baseline="0">
                <a:ln>
                  <a:noFill/>
                </a:ln>
                <a:solidFill>
                  <a:srgbClr val="1C1D1F"/>
                </a:solidFill>
                <a:effectLst/>
                <a:latin typeface="udemy sans"/>
              </a:rPr>
              <a:t>, y almacénala en una variable llamada </a:t>
            </a:r>
            <a:r>
              <a:rPr kumimoji="0" lang="es-MX" altLang="es-MX" sz="2800" b="1" i="0" u="none" strike="noStrike" cap="none" normalizeH="0" baseline="0">
                <a:ln>
                  <a:noFill/>
                </a:ln>
                <a:solidFill>
                  <a:srgbClr val="B4690E"/>
                </a:solidFill>
                <a:effectLst/>
                <a:latin typeface="sfmono-regular"/>
              </a:rPr>
              <a:t>mi_lista</a:t>
            </a:r>
            <a:r>
              <a:rPr kumimoji="0" lang="es-MX" altLang="es-MX" sz="2800" b="0" i="0" u="none" strike="noStrike" cap="none" normalizeH="0" baseline="0">
                <a:ln>
                  <a:noFill/>
                </a:ln>
                <a:solidFill>
                  <a:srgbClr val="1C1D1F"/>
                </a:solidFill>
                <a:effectLst/>
                <a:latin typeface="udemy sans"/>
              </a:rPr>
              <a:t>.</a:t>
            </a:r>
            <a:endParaRPr kumimoji="0" lang="es-MX" altLang="es-MX" sz="2800" b="0" i="0" u="none" strike="noStrike" cap="none" normalizeH="0" baseline="0">
              <a:ln>
                <a:noFill/>
              </a:ln>
              <a:solidFill>
                <a:schemeClr val="tx1"/>
              </a:solidFill>
              <a:effectLst/>
            </a:endParaRPr>
          </a:p>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2800" b="0" i="0" u="none" strike="noStrike" cap="none" normalizeH="0" baseline="0">
                <a:ln>
                  <a:noFill/>
                </a:ln>
                <a:solidFill>
                  <a:srgbClr val="B4690E"/>
                </a:solidFill>
                <a:effectLst/>
                <a:latin typeface="sfmono-regular"/>
              </a:rPr>
              <a:t>mi_tupla = (1, 2, 3, 2, 3, 1, 3, 2)</a:t>
            </a:r>
            <a:endParaRPr kumimoji="0" lang="es-MX" altLang="es-MX" sz="2800" b="0" i="0" u="none" strike="noStrike" cap="none" normalizeH="0" baseline="0">
              <a:ln>
                <a:noFill/>
              </a:ln>
              <a:solidFill>
                <a:schemeClr val="tx1"/>
              </a:solidFill>
              <a:effectLst/>
              <a:latin typeface="Arial" panose="020B0604020202020204" pitchFamily="34" charset="0"/>
            </a:endParaRPr>
          </a:p>
        </p:txBody>
      </p:sp>
      <p:sp>
        <p:nvSpPr>
          <p:cNvPr id="9" name="Rectangle 4">
            <a:extLst>
              <a:ext uri="{FF2B5EF4-FFF2-40B4-BE49-F238E27FC236}">
                <a16:creationId xmlns:a16="http://schemas.microsoft.com/office/drawing/2014/main" id="{B43631FE-3488-4A9A-82AB-64231D0B1753}"/>
              </a:ext>
            </a:extLst>
          </p:cNvPr>
          <p:cNvSpPr>
            <a:spLocks noChangeArrowheads="1"/>
          </p:cNvSpPr>
          <p:nvPr/>
        </p:nvSpPr>
        <p:spPr bwMode="auto">
          <a:xfrm>
            <a:off x="4662488" y="4772025"/>
            <a:ext cx="6902450" cy="10080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2200" b="0" i="0" u="none" strike="noStrike" cap="none" normalizeH="0" baseline="0">
                <a:ln>
                  <a:noFill/>
                </a:ln>
                <a:solidFill>
                  <a:srgbClr val="1C1D1F"/>
                </a:solidFill>
                <a:effectLst/>
                <a:latin typeface="udemy sans"/>
              </a:rPr>
              <a:t>Extrae los elementos de la siguiente tupla en cuatro variables: </a:t>
            </a:r>
            <a:r>
              <a:rPr kumimoji="0" lang="es-MX" altLang="es-MX" sz="2200" b="0" i="0" u="none" strike="noStrike" cap="none" normalizeH="0" baseline="0">
                <a:ln>
                  <a:noFill/>
                </a:ln>
                <a:solidFill>
                  <a:srgbClr val="B4690E"/>
                </a:solidFill>
                <a:effectLst/>
                <a:latin typeface="sfmono-regular"/>
              </a:rPr>
              <a:t>a</a:t>
            </a:r>
            <a:r>
              <a:rPr kumimoji="0" lang="es-MX" altLang="es-MX" sz="2200" b="0" i="0" u="none" strike="noStrike" cap="none" normalizeH="0" baseline="0">
                <a:ln>
                  <a:noFill/>
                </a:ln>
                <a:solidFill>
                  <a:srgbClr val="1C1D1F"/>
                </a:solidFill>
                <a:effectLst/>
                <a:latin typeface="udemy sans"/>
              </a:rPr>
              <a:t>, </a:t>
            </a:r>
            <a:r>
              <a:rPr kumimoji="0" lang="es-MX" altLang="es-MX" sz="2200" b="0" i="0" u="none" strike="noStrike" cap="none" normalizeH="0" baseline="0">
                <a:ln>
                  <a:noFill/>
                </a:ln>
                <a:solidFill>
                  <a:srgbClr val="B4690E"/>
                </a:solidFill>
                <a:effectLst/>
                <a:latin typeface="sfmono-regular"/>
              </a:rPr>
              <a:t>b</a:t>
            </a:r>
            <a:r>
              <a:rPr kumimoji="0" lang="es-MX" altLang="es-MX" sz="2200" b="0" i="0" u="none" strike="noStrike" cap="none" normalizeH="0" baseline="0">
                <a:ln>
                  <a:noFill/>
                </a:ln>
                <a:solidFill>
                  <a:srgbClr val="1C1D1F"/>
                </a:solidFill>
                <a:effectLst/>
                <a:latin typeface="udemy sans"/>
              </a:rPr>
              <a:t>, </a:t>
            </a:r>
            <a:r>
              <a:rPr kumimoji="0" lang="es-MX" altLang="es-MX" sz="2200" b="0" i="0" u="none" strike="noStrike" cap="none" normalizeH="0" baseline="0">
                <a:ln>
                  <a:noFill/>
                </a:ln>
                <a:solidFill>
                  <a:srgbClr val="B4690E"/>
                </a:solidFill>
                <a:effectLst/>
                <a:latin typeface="sfmono-regular"/>
              </a:rPr>
              <a:t>c</a:t>
            </a:r>
            <a:r>
              <a:rPr kumimoji="0" lang="es-MX" altLang="es-MX" sz="2200" b="0" i="0" u="none" strike="noStrike" cap="none" normalizeH="0" baseline="0">
                <a:ln>
                  <a:noFill/>
                </a:ln>
                <a:solidFill>
                  <a:srgbClr val="1C1D1F"/>
                </a:solidFill>
                <a:effectLst/>
                <a:latin typeface="udemy sans"/>
              </a:rPr>
              <a:t>, </a:t>
            </a:r>
            <a:r>
              <a:rPr kumimoji="0" lang="es-MX" altLang="es-MX" sz="2200" b="0" i="0" u="none" strike="noStrike" cap="none" normalizeH="0" baseline="0">
                <a:ln>
                  <a:noFill/>
                </a:ln>
                <a:solidFill>
                  <a:srgbClr val="B4690E"/>
                </a:solidFill>
                <a:effectLst/>
                <a:latin typeface="sfmono-regular"/>
              </a:rPr>
              <a:t>d</a:t>
            </a:r>
            <a:endParaRPr kumimoji="0" lang="es-MX" altLang="es-MX" sz="2200" b="0" i="0" u="none" strike="noStrike" cap="none" normalizeH="0" baseline="0">
              <a:ln>
                <a:noFill/>
              </a:ln>
              <a:solidFill>
                <a:schemeClr val="tx1"/>
              </a:solidFill>
              <a:effectLst/>
            </a:endParaRPr>
          </a:p>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2200" b="0" i="0" u="none" strike="noStrike" cap="none" normalizeH="0" baseline="0">
                <a:ln>
                  <a:noFill/>
                </a:ln>
                <a:solidFill>
                  <a:srgbClr val="B4690E"/>
                </a:solidFill>
                <a:effectLst/>
                <a:latin typeface="sfmono-regular"/>
              </a:rPr>
              <a:t>mi_tupla = (1, 2, 3, 4)</a:t>
            </a:r>
            <a:endParaRPr kumimoji="0" lang="es-MX" altLang="es-MX" sz="22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7A1CCD7E-EBB9-A0EB-5F8D-FA557C3E87E4}"/>
              </a:ext>
            </a:extLst>
          </p:cNvPr>
          <p:cNvSpPr>
            <a:spLocks noGrp="1"/>
          </p:cNvSpPr>
          <p:nvPr>
            <p:ph type="title"/>
          </p:nvPr>
        </p:nvSpPr>
        <p:spPr>
          <a:xfrm>
            <a:off x="966952" y="1204108"/>
            <a:ext cx="2669406" cy="1781175"/>
          </a:xfrm>
        </p:spPr>
        <p:txBody>
          <a:bodyPr vert="horz" lIns="91440" tIns="45720" rIns="91440" bIns="45720" rtlCol="0" anchor="ctr">
            <a:normAutofit/>
          </a:bodyPr>
          <a:lstStyle/>
          <a:p>
            <a:r>
              <a:rPr lang="en-US" sz="3200" kern="1200">
                <a:solidFill>
                  <a:srgbClr val="FFFFFF"/>
                </a:solidFill>
                <a:latin typeface="+mj-lt"/>
                <a:ea typeface="+mj-ea"/>
                <a:cs typeface="+mj-cs"/>
              </a:rPr>
              <a:t>Ejercicios</a:t>
            </a:r>
          </a:p>
        </p:txBody>
      </p:sp>
      <p:sp>
        <p:nvSpPr>
          <p:cNvPr id="4" name="Marcador de pie de página 3">
            <a:extLst>
              <a:ext uri="{FF2B5EF4-FFF2-40B4-BE49-F238E27FC236}">
                <a16:creationId xmlns:a16="http://schemas.microsoft.com/office/drawing/2014/main" id="{ED698EC4-3EAD-4B56-AB32-93046A4A4D3A}"/>
              </a:ext>
            </a:extLst>
          </p:cNvPr>
          <p:cNvSpPr>
            <a:spLocks noGrp="1"/>
          </p:cNvSpPr>
          <p:nvPr>
            <p:ph type="ftr" sz="quarter" idx="11"/>
          </p:nvPr>
        </p:nvSpPr>
        <p:spPr>
          <a:xfrm>
            <a:off x="966952" y="6356350"/>
            <a:ext cx="5459798" cy="365125"/>
          </a:xfrm>
        </p:spPr>
        <p:txBody>
          <a:bodyPr vert="horz" lIns="91440" tIns="45720" rIns="91440" bIns="45720" rtlCol="0" anchor="ctr">
            <a:normAutofit/>
          </a:bodyPr>
          <a:lstStyle/>
          <a:p>
            <a:pPr algn="l">
              <a:spcAft>
                <a:spcPts val="600"/>
              </a:spcAft>
            </a:pPr>
            <a:r>
              <a:rPr lang="en-US" kern="1200">
                <a:solidFill>
                  <a:prstClr val="black">
                    <a:tint val="75000"/>
                  </a:prstClr>
                </a:solidFill>
                <a:latin typeface="+mn-lt"/>
                <a:ea typeface="+mn-ea"/>
                <a:cs typeface="+mn-cs"/>
              </a:rPr>
              <a:t>Arabots Robotics</a:t>
            </a:r>
          </a:p>
        </p:txBody>
      </p:sp>
      <p:sp>
        <p:nvSpPr>
          <p:cNvPr id="5" name="Marcador de número de diapositiva 4">
            <a:extLst>
              <a:ext uri="{FF2B5EF4-FFF2-40B4-BE49-F238E27FC236}">
                <a16:creationId xmlns:a16="http://schemas.microsoft.com/office/drawing/2014/main" id="{9F270EEA-D6E5-7680-7528-9365B6E1481C}"/>
              </a:ext>
            </a:extLst>
          </p:cNvPr>
          <p:cNvSpPr>
            <a:spLocks noGrp="1"/>
          </p:cNvSpPr>
          <p:nvPr>
            <p:ph type="sldNum" sz="quarter" idx="12"/>
          </p:nvPr>
        </p:nvSpPr>
        <p:spPr>
          <a:xfrm>
            <a:off x="10662024" y="6356350"/>
            <a:ext cx="691776" cy="365125"/>
          </a:xfrm>
        </p:spPr>
        <p:txBody>
          <a:bodyPr vert="horz" lIns="91440" tIns="45720" rIns="91440" bIns="45720" rtlCol="0" anchor="ctr">
            <a:normAutofit/>
          </a:bodyPr>
          <a:lstStyle/>
          <a:p>
            <a:pPr>
              <a:spcAft>
                <a:spcPts val="600"/>
              </a:spcAft>
            </a:pPr>
            <a:fld id="{4EA4A3B0-B5DF-4E2B-B48F-E4B7B7872040}" type="slidenum">
              <a:rPr lang="en-US">
                <a:solidFill>
                  <a:prstClr val="black">
                    <a:tint val="75000"/>
                  </a:prstClr>
                </a:solidFill>
              </a:rPr>
              <a:pPr>
                <a:spcAft>
                  <a:spcPts val="600"/>
                </a:spcAft>
              </a:pPr>
              <a:t>66</a:t>
            </a:fld>
            <a:endParaRPr lang="en-US">
              <a:solidFill>
                <a:prstClr val="black">
                  <a:tint val="75000"/>
                </a:prstClr>
              </a:solidFill>
            </a:endParaRPr>
          </a:p>
        </p:txBody>
      </p:sp>
    </p:spTree>
    <p:extLst>
      <p:ext uri="{BB962C8B-B14F-4D97-AF65-F5344CB8AC3E}">
        <p14:creationId xmlns:p14="http://schemas.microsoft.com/office/powerpoint/2010/main" val="33085420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67D98F9-ABD4-2C93-46F8-342E4E39DEF0}"/>
              </a:ext>
            </a:extLst>
          </p:cNvPr>
          <p:cNvSpPr>
            <a:spLocks noGrp="1"/>
          </p:cNvSpPr>
          <p:nvPr>
            <p:ph type="title"/>
          </p:nvPr>
        </p:nvSpPr>
        <p:spPr>
          <a:xfrm>
            <a:off x="1371599" y="294538"/>
            <a:ext cx="9895951" cy="1033669"/>
          </a:xfrm>
        </p:spPr>
        <p:txBody>
          <a:bodyPr>
            <a:normAutofit/>
          </a:bodyPr>
          <a:lstStyle/>
          <a:p>
            <a:r>
              <a:rPr lang="es-MX" sz="4000" i="1">
                <a:solidFill>
                  <a:srgbClr val="FFFFFF"/>
                </a:solidFill>
              </a:rPr>
              <a:t>Booleanos</a:t>
            </a:r>
          </a:p>
        </p:txBody>
      </p:sp>
      <p:sp>
        <p:nvSpPr>
          <p:cNvPr id="4" name="Marcador de pie de página 3">
            <a:extLst>
              <a:ext uri="{FF2B5EF4-FFF2-40B4-BE49-F238E27FC236}">
                <a16:creationId xmlns:a16="http://schemas.microsoft.com/office/drawing/2014/main" id="{511410CB-93FE-A0DE-78E8-9F03FD30E24B}"/>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42BBF83F-643D-B7EB-6562-FC82ABE27622}"/>
              </a:ext>
            </a:extLst>
          </p:cNvPr>
          <p:cNvSpPr>
            <a:spLocks noGrp="1"/>
          </p:cNvSpPr>
          <p:nvPr>
            <p:ph idx="1"/>
          </p:nvPr>
        </p:nvSpPr>
        <p:spPr>
          <a:xfrm>
            <a:off x="-3" y="1622744"/>
            <a:ext cx="12192003" cy="5235255"/>
          </a:xfrm>
        </p:spPr>
        <p:txBody>
          <a:bodyPr anchor="ctr">
            <a:normAutofit/>
          </a:bodyPr>
          <a:lstStyle/>
          <a:p>
            <a:pPr marL="0" indent="0">
              <a:buNone/>
            </a:pPr>
            <a:r>
              <a:rPr lang="es-MX" sz="2000" dirty="0"/>
              <a:t>Los booleanos son tipos de datos binarios (True/False), que surgen de operaciones lógicas, o pueden declararse explícitamente.</a:t>
            </a:r>
          </a:p>
          <a:p>
            <a:pPr marL="0" indent="0">
              <a:buNone/>
            </a:pPr>
            <a:r>
              <a:rPr lang="es-MX" sz="2000" dirty="0"/>
              <a:t>operadores lógicos</a:t>
            </a:r>
          </a:p>
          <a:p>
            <a:pPr marL="0" indent="0">
              <a:buNone/>
            </a:pPr>
            <a:r>
              <a:rPr lang="es-MX" sz="2000" dirty="0"/>
              <a:t>==  igual a </a:t>
            </a:r>
          </a:p>
          <a:p>
            <a:pPr marL="0" indent="0">
              <a:buNone/>
            </a:pPr>
            <a:r>
              <a:rPr lang="es-MX" sz="2000" dirty="0"/>
              <a:t>!= diferente a </a:t>
            </a:r>
          </a:p>
          <a:p>
            <a:pPr marL="0" indent="0">
              <a:buNone/>
            </a:pPr>
            <a:r>
              <a:rPr lang="es-MX" sz="2000" dirty="0"/>
              <a:t> &gt; mayor que </a:t>
            </a:r>
          </a:p>
          <a:p>
            <a:pPr marL="0" indent="0">
              <a:buNone/>
            </a:pPr>
            <a:r>
              <a:rPr lang="es-MX" sz="2000" dirty="0"/>
              <a:t>&lt; menor que </a:t>
            </a:r>
          </a:p>
          <a:p>
            <a:pPr marL="0" indent="0">
              <a:buNone/>
            </a:pPr>
            <a:r>
              <a:rPr lang="es-MX" sz="2000" dirty="0"/>
              <a:t> &gt;= mayor o igual que</a:t>
            </a:r>
          </a:p>
          <a:p>
            <a:pPr marL="0" indent="0">
              <a:buNone/>
            </a:pPr>
            <a:r>
              <a:rPr lang="es-MX" sz="2000" dirty="0"/>
              <a:t> &lt;= menor o igual que</a:t>
            </a:r>
          </a:p>
          <a:p>
            <a:pPr marL="0" indent="0">
              <a:buNone/>
            </a:pPr>
            <a:r>
              <a:rPr lang="es-MX" sz="2000" dirty="0"/>
              <a:t>and  -y (True si dos declaraciones son True)</a:t>
            </a:r>
          </a:p>
          <a:p>
            <a:pPr marL="0" indent="0">
              <a:buNone/>
            </a:pPr>
            <a:r>
              <a:rPr lang="es-MX" sz="2000" dirty="0" err="1"/>
              <a:t>Or</a:t>
            </a:r>
            <a:r>
              <a:rPr lang="es-MX" sz="2000" dirty="0"/>
              <a:t> - o (True si al menos una declaración es True) </a:t>
            </a:r>
          </a:p>
          <a:p>
            <a:pPr marL="0" indent="0">
              <a:buNone/>
            </a:pPr>
            <a:r>
              <a:rPr lang="es-MX" sz="2000" dirty="0" err="1"/>
              <a:t>Not</a:t>
            </a:r>
            <a:r>
              <a:rPr lang="es-MX" sz="2000" dirty="0"/>
              <a:t> - no (invierte el valor del booleano)</a:t>
            </a:r>
          </a:p>
          <a:p>
            <a:pPr marL="0" indent="0">
              <a:buNone/>
            </a:pPr>
            <a:endParaRPr lang="es-MX" sz="2000" dirty="0"/>
          </a:p>
        </p:txBody>
      </p:sp>
      <p:sp>
        <p:nvSpPr>
          <p:cNvPr id="5" name="Marcador de número de diapositiva 4">
            <a:extLst>
              <a:ext uri="{FF2B5EF4-FFF2-40B4-BE49-F238E27FC236}">
                <a16:creationId xmlns:a16="http://schemas.microsoft.com/office/drawing/2014/main" id="{06E98077-B8C5-DB24-2FE5-ACE2D42DF361}"/>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67</a:t>
            </a:fld>
            <a:endParaRPr lang="es-MX" sz="1100">
              <a:solidFill>
                <a:schemeClr val="tx1">
                  <a:lumMod val="50000"/>
                  <a:lumOff val="50000"/>
                </a:schemeClr>
              </a:solidFill>
            </a:endParaRPr>
          </a:p>
        </p:txBody>
      </p:sp>
    </p:spTree>
    <p:extLst>
      <p:ext uri="{BB962C8B-B14F-4D97-AF65-F5344CB8AC3E}">
        <p14:creationId xmlns:p14="http://schemas.microsoft.com/office/powerpoint/2010/main" val="52505565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C8EF7E0-BE2B-C541-89C7-7F007001D69C}"/>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a:solidFill>
                  <a:srgbClr val="FFFFFF"/>
                </a:solidFill>
                <a:latin typeface="+mj-lt"/>
                <a:ea typeface="+mj-ea"/>
                <a:cs typeface="+mj-cs"/>
              </a:rPr>
              <a:t>Ejercicios</a:t>
            </a:r>
          </a:p>
        </p:txBody>
      </p:sp>
      <p:sp>
        <p:nvSpPr>
          <p:cNvPr id="4" name="Marcador de pie de página 3">
            <a:extLst>
              <a:ext uri="{FF2B5EF4-FFF2-40B4-BE49-F238E27FC236}">
                <a16:creationId xmlns:a16="http://schemas.microsoft.com/office/drawing/2014/main" id="{A531C557-9521-3AFA-BCCB-4D34E08F0E7E}"/>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10" name="CuadroTexto 9">
            <a:extLst>
              <a:ext uri="{FF2B5EF4-FFF2-40B4-BE49-F238E27FC236}">
                <a16:creationId xmlns:a16="http://schemas.microsoft.com/office/drawing/2014/main" id="{A90234C9-D2E9-644F-B989-9F30721609A0}"/>
              </a:ext>
            </a:extLst>
          </p:cNvPr>
          <p:cNvSpPr txBox="1"/>
          <p:nvPr/>
        </p:nvSpPr>
        <p:spPr>
          <a:xfrm>
            <a:off x="1371599" y="2318197"/>
            <a:ext cx="9724031" cy="3683358"/>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kumimoji="0" lang="en-US" altLang="es-MX" sz="2000" b="0" i="0" u="none" strike="noStrike" cap="none" normalizeH="0" baseline="0" dirty="0" err="1">
                <a:ln>
                  <a:noFill/>
                </a:ln>
                <a:effectLst/>
              </a:rPr>
              <a:t>Realiza</a:t>
            </a:r>
            <a:r>
              <a:rPr kumimoji="0" lang="en-US" altLang="es-MX" sz="2000" b="0" i="0" u="none" strike="noStrike" cap="none" normalizeH="0" baseline="0" dirty="0">
                <a:ln>
                  <a:noFill/>
                </a:ln>
                <a:effectLst/>
              </a:rPr>
              <a:t> una </a:t>
            </a:r>
            <a:r>
              <a:rPr kumimoji="0" lang="en-US" altLang="es-MX" sz="2000" b="0" i="0" u="none" strike="noStrike" cap="none" normalizeH="0" baseline="0" dirty="0" err="1">
                <a:ln>
                  <a:noFill/>
                </a:ln>
                <a:effectLst/>
              </a:rPr>
              <a:t>comparación</a:t>
            </a:r>
            <a:r>
              <a:rPr kumimoji="0" lang="en-US" altLang="es-MX" sz="2000" b="0" i="0" u="none" strike="noStrike" cap="none" normalizeH="0" baseline="0" dirty="0">
                <a:ln>
                  <a:noFill/>
                </a:ln>
                <a:effectLst/>
              </a:rPr>
              <a:t> que </a:t>
            </a:r>
            <a:r>
              <a:rPr kumimoji="0" lang="en-US" altLang="es-MX" sz="2000" b="0" i="0" u="none" strike="noStrike" cap="none" normalizeH="0" baseline="0" dirty="0" err="1">
                <a:ln>
                  <a:noFill/>
                </a:ln>
                <a:effectLst/>
              </a:rPr>
              <a:t>arroje</a:t>
            </a:r>
            <a:r>
              <a:rPr kumimoji="0" lang="en-US" altLang="es-MX" sz="2000" b="0" i="0" u="none" strike="noStrike" cap="none" normalizeH="0" baseline="0" dirty="0">
                <a:ln>
                  <a:noFill/>
                </a:ln>
                <a:effectLst/>
              </a:rPr>
              <a:t> como </a:t>
            </a:r>
            <a:r>
              <a:rPr kumimoji="0" lang="en-US" altLang="es-MX" sz="2000" b="0" i="0" u="none" strike="noStrike" cap="none" normalizeH="0" baseline="0" dirty="0" err="1">
                <a:ln>
                  <a:noFill/>
                </a:ln>
                <a:effectLst/>
              </a:rPr>
              <a:t>resultado</a:t>
            </a:r>
            <a:r>
              <a:rPr kumimoji="0" lang="en-US" altLang="es-MX" sz="2000" b="0" i="0" u="none" strike="noStrike" cap="none" normalizeH="0" baseline="0" dirty="0">
                <a:ln>
                  <a:noFill/>
                </a:ln>
                <a:effectLst/>
              </a:rPr>
              <a:t> un </a:t>
            </a:r>
            <a:r>
              <a:rPr kumimoji="0" lang="en-US" altLang="es-MX" sz="2000" b="1" i="0" u="none" strike="noStrike" cap="none" normalizeH="0" baseline="0" dirty="0" err="1">
                <a:ln>
                  <a:noFill/>
                </a:ln>
                <a:effectLst/>
              </a:rPr>
              <a:t>booleano</a:t>
            </a:r>
            <a:r>
              <a:rPr kumimoji="0" lang="en-US" altLang="es-MX" sz="2000" b="1" i="0" u="none" strike="noStrike" cap="none" normalizeH="0" baseline="0" dirty="0">
                <a:ln>
                  <a:noFill/>
                </a:ln>
                <a:effectLst/>
              </a:rPr>
              <a:t> </a:t>
            </a:r>
            <a:r>
              <a:rPr kumimoji="0" lang="en-US" altLang="es-MX" sz="2000" b="0" i="0" u="none" strike="noStrike" cap="none" normalizeH="0" baseline="0" dirty="0">
                <a:ln>
                  <a:noFill/>
                </a:ln>
                <a:effectLst/>
              </a:rPr>
              <a:t>y </a:t>
            </a:r>
            <a:r>
              <a:rPr kumimoji="0" lang="en-US" altLang="es-MX" sz="2000" b="0" i="0" u="none" strike="noStrike" cap="none" normalizeH="0" baseline="0" dirty="0" err="1">
                <a:ln>
                  <a:noFill/>
                </a:ln>
                <a:effectLst/>
              </a:rPr>
              <a:t>almacena</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el</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resultado</a:t>
            </a:r>
            <a:r>
              <a:rPr kumimoji="0" lang="en-US" altLang="es-MX" sz="2000" b="0" i="0" u="none" strike="noStrike" cap="none" normalizeH="0" baseline="0" dirty="0">
                <a:ln>
                  <a:noFill/>
                </a:ln>
                <a:effectLst/>
              </a:rPr>
              <a:t> (True/False) en una variable </a:t>
            </a:r>
            <a:r>
              <a:rPr kumimoji="0" lang="en-US" altLang="es-MX" sz="2000" b="0" i="0" u="none" strike="noStrike" cap="none" normalizeH="0" baseline="0" dirty="0" err="1">
                <a:ln>
                  <a:noFill/>
                </a:ln>
                <a:effectLst/>
              </a:rPr>
              <a:t>llamada</a:t>
            </a:r>
            <a:r>
              <a:rPr kumimoji="0" lang="en-US" altLang="es-MX" sz="2000" b="0" i="0" u="none" strike="noStrike" cap="none" normalizeH="0" baseline="0" dirty="0">
                <a:ln>
                  <a:noFill/>
                </a:ln>
                <a:effectLst/>
              </a:rPr>
              <a:t> </a:t>
            </a:r>
            <a:r>
              <a:rPr kumimoji="0" lang="en-US" altLang="es-MX" sz="2000" b="1" i="0" u="none" strike="noStrike" cap="none" normalizeH="0" baseline="0" dirty="0" err="1">
                <a:ln>
                  <a:noFill/>
                </a:ln>
                <a:effectLst/>
              </a:rPr>
              <a:t>prueba</a:t>
            </a:r>
            <a:r>
              <a:rPr kumimoji="0" lang="en-US" altLang="es-MX" sz="2000" b="0" i="0" u="none" strike="noStrike" cap="none" normalizeH="0" baseline="0" dirty="0">
                <a:ln>
                  <a:noFill/>
                </a:ln>
                <a:effectLst/>
              </a:rPr>
              <a:t> </a:t>
            </a:r>
          </a:p>
          <a:p>
            <a:pPr indent="-228600">
              <a:lnSpc>
                <a:spcPct val="90000"/>
              </a:lnSpc>
              <a:spcAft>
                <a:spcPts val="600"/>
              </a:spcAft>
              <a:buFont typeface="Arial" panose="020B0604020202020204" pitchFamily="34" charset="0"/>
              <a:buChar char="•"/>
            </a:pPr>
            <a:endParaRPr kumimoji="0" lang="en-US" altLang="es-MX" sz="2000" b="0" i="0" u="none" strike="noStrike" cap="none" normalizeH="0" baseline="0" dirty="0">
              <a:ln>
                <a:noFill/>
              </a:ln>
              <a:effectLst/>
            </a:endParaRPr>
          </a:p>
          <a:p>
            <a:pPr indent="-228600">
              <a:lnSpc>
                <a:spcPct val="90000"/>
              </a:lnSpc>
              <a:spcAft>
                <a:spcPts val="600"/>
              </a:spcAft>
              <a:buFont typeface="Arial" panose="020B0604020202020204" pitchFamily="34" charset="0"/>
              <a:buChar char="•"/>
            </a:pPr>
            <a:r>
              <a:rPr kumimoji="0" lang="en-US" altLang="es-MX" sz="2000" b="0" i="0" u="none" strike="noStrike" cap="none" normalizeH="0" baseline="0" dirty="0" err="1">
                <a:ln>
                  <a:noFill/>
                </a:ln>
                <a:effectLst/>
              </a:rPr>
              <a:t>Verifica</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si</a:t>
            </a:r>
            <a:r>
              <a:rPr kumimoji="0" lang="en-US" altLang="es-MX" sz="2000" b="0" i="0" u="none" strike="noStrike" cap="none" normalizeH="0" baseline="0" dirty="0">
                <a:ln>
                  <a:noFill/>
                </a:ln>
                <a:effectLst/>
              </a:rPr>
              <a:t> 17834/34 es mayor que 87*56 y </a:t>
            </a:r>
            <a:r>
              <a:rPr kumimoji="0" lang="en-US" altLang="es-MX" sz="2000" b="0" i="0" u="none" strike="noStrike" cap="none" normalizeH="0" baseline="0" dirty="0" err="1">
                <a:ln>
                  <a:noFill/>
                </a:ln>
                <a:effectLst/>
              </a:rPr>
              <a:t>muestra</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el</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resultado</a:t>
            </a:r>
            <a:r>
              <a:rPr kumimoji="0" lang="en-US" altLang="es-MX" sz="2000" b="0" i="0" u="none" strike="noStrike" cap="none" normalizeH="0" baseline="0" dirty="0">
                <a:ln>
                  <a:noFill/>
                </a:ln>
                <a:effectLst/>
              </a:rPr>
              <a:t> (</a:t>
            </a:r>
            <a:r>
              <a:rPr kumimoji="0" lang="en-US" altLang="es-MX" sz="2000" b="1" i="0" u="none" strike="noStrike" cap="none" normalizeH="0" baseline="0" dirty="0" err="1">
                <a:ln>
                  <a:noFill/>
                </a:ln>
                <a:effectLst/>
              </a:rPr>
              <a:t>booleano</a:t>
            </a:r>
            <a:r>
              <a:rPr kumimoji="0" lang="en-US" altLang="es-MX" sz="2000" b="0" i="0" u="none" strike="noStrike" cap="none" normalizeH="0" baseline="0" dirty="0">
                <a:ln>
                  <a:noFill/>
                </a:ln>
                <a:effectLst/>
              </a:rPr>
              <a:t>) en </a:t>
            </a:r>
            <a:r>
              <a:rPr kumimoji="0" lang="en-US" altLang="es-MX" sz="2000" b="0" i="0" u="none" strike="noStrike" cap="none" normalizeH="0" baseline="0" dirty="0" err="1">
                <a:ln>
                  <a:noFill/>
                </a:ln>
                <a:effectLst/>
              </a:rPr>
              <a:t>pantalla</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utilizando</a:t>
            </a:r>
            <a:r>
              <a:rPr kumimoji="0" lang="en-US" altLang="es-MX" sz="2000" b="0" i="0" u="none" strike="noStrike" cap="none" normalizeH="0" baseline="0" dirty="0">
                <a:ln>
                  <a:noFill/>
                </a:ln>
                <a:effectLst/>
              </a:rPr>
              <a:t> </a:t>
            </a:r>
            <a:r>
              <a:rPr kumimoji="0" lang="en-US" altLang="es-MX" sz="2000" b="1" i="0" u="none" strike="noStrike" cap="none" normalizeH="0" baseline="0" dirty="0">
                <a:ln>
                  <a:noFill/>
                </a:ln>
                <a:effectLst/>
              </a:rPr>
              <a:t>print()</a:t>
            </a:r>
            <a:r>
              <a:rPr kumimoji="0" lang="en-US" altLang="es-MX" sz="2000" b="0" i="0" u="none" strike="noStrike" cap="none" normalizeH="0" baseline="0" dirty="0">
                <a:ln>
                  <a:noFill/>
                </a:ln>
                <a:effectLst/>
              </a:rPr>
              <a:t> </a:t>
            </a:r>
          </a:p>
          <a:p>
            <a:pPr indent="-228600">
              <a:lnSpc>
                <a:spcPct val="90000"/>
              </a:lnSpc>
              <a:spcAft>
                <a:spcPts val="600"/>
              </a:spcAft>
              <a:buFont typeface="Arial" panose="020B0604020202020204" pitchFamily="34" charset="0"/>
              <a:buChar char="•"/>
            </a:pPr>
            <a:endParaRPr kumimoji="0" lang="en-US" altLang="es-MX" sz="2000" b="0" i="0" u="none" strike="noStrike" cap="none" normalizeH="0" baseline="0" dirty="0">
              <a:ln>
                <a:noFill/>
              </a:ln>
              <a:effectLst/>
            </a:endParaRPr>
          </a:p>
          <a:p>
            <a:pPr indent="-228600">
              <a:lnSpc>
                <a:spcPct val="90000"/>
              </a:lnSpc>
              <a:spcAft>
                <a:spcPts val="600"/>
              </a:spcAft>
              <a:buFont typeface="Arial" panose="020B0604020202020204" pitchFamily="34" charset="0"/>
              <a:buChar char="•"/>
            </a:pPr>
            <a:r>
              <a:rPr kumimoji="0" lang="en-US" altLang="es-MX" sz="2000" b="0" i="0" u="none" strike="noStrike" cap="none" normalizeH="0" baseline="0" dirty="0" err="1">
                <a:ln>
                  <a:noFill/>
                </a:ln>
                <a:effectLst/>
              </a:rPr>
              <a:t>Verifica</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si</a:t>
            </a:r>
            <a:r>
              <a:rPr kumimoji="0" lang="en-US" altLang="es-MX" sz="2000" b="0" i="0" u="none" strike="noStrike" cap="none" normalizeH="0" baseline="0" dirty="0">
                <a:ln>
                  <a:noFill/>
                </a:ln>
                <a:effectLst/>
              </a:rPr>
              <a:t> la </a:t>
            </a:r>
            <a:r>
              <a:rPr kumimoji="0" lang="en-US" altLang="es-MX" sz="2000" b="0" i="0" u="none" strike="noStrike" cap="none" normalizeH="0" baseline="0" dirty="0" err="1">
                <a:ln>
                  <a:noFill/>
                </a:ln>
                <a:effectLst/>
              </a:rPr>
              <a:t>raíz</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cuadrada</a:t>
            </a:r>
            <a:r>
              <a:rPr kumimoji="0" lang="en-US" altLang="es-MX" sz="2000" b="0" i="0" u="none" strike="noStrike" cap="none" normalizeH="0" baseline="0" dirty="0">
                <a:ln>
                  <a:noFill/>
                </a:ln>
                <a:effectLst/>
              </a:rPr>
              <a:t> de 25 es </a:t>
            </a:r>
            <a:r>
              <a:rPr kumimoji="0" lang="en-US" altLang="es-MX" sz="2000" b="0" i="0" u="none" strike="noStrike" cap="none" normalizeH="0" baseline="0" dirty="0" err="1">
                <a:ln>
                  <a:noFill/>
                </a:ln>
                <a:effectLst/>
              </a:rPr>
              <a:t>igual</a:t>
            </a:r>
            <a:r>
              <a:rPr kumimoji="0" lang="en-US" altLang="es-MX" sz="2000" b="0" i="0" u="none" strike="noStrike" cap="none" normalizeH="0" baseline="0" dirty="0">
                <a:ln>
                  <a:noFill/>
                </a:ln>
                <a:effectLst/>
              </a:rPr>
              <a:t> a 5 y </a:t>
            </a:r>
            <a:r>
              <a:rPr kumimoji="0" lang="en-US" altLang="es-MX" sz="2000" b="0" i="0" u="none" strike="noStrike" cap="none" normalizeH="0" baseline="0" dirty="0" err="1">
                <a:ln>
                  <a:noFill/>
                </a:ln>
                <a:effectLst/>
              </a:rPr>
              <a:t>muestra</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el</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resultado</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booleano</a:t>
            </a:r>
            <a:r>
              <a:rPr kumimoji="0" lang="en-US" altLang="es-MX" sz="2000" b="0" i="0" u="none" strike="noStrike" cap="none" normalizeH="0" baseline="0" dirty="0">
                <a:ln>
                  <a:noFill/>
                </a:ln>
                <a:effectLst/>
              </a:rPr>
              <a:t>) en </a:t>
            </a:r>
            <a:r>
              <a:rPr kumimoji="0" lang="en-US" altLang="es-MX" sz="2000" b="0" i="0" u="none" strike="noStrike" cap="none" normalizeH="0" baseline="0" dirty="0" err="1">
                <a:ln>
                  <a:noFill/>
                </a:ln>
                <a:effectLst/>
              </a:rPr>
              <a:t>pantalla</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utilizando</a:t>
            </a:r>
            <a:r>
              <a:rPr kumimoji="0" lang="en-US" altLang="es-MX" sz="2000" b="0" i="0" u="none" strike="noStrike" cap="none" normalizeH="0" baseline="0" dirty="0">
                <a:ln>
                  <a:noFill/>
                </a:ln>
                <a:effectLst/>
              </a:rPr>
              <a:t> print() </a:t>
            </a:r>
          </a:p>
          <a:p>
            <a:pPr indent="-228600">
              <a:lnSpc>
                <a:spcPct val="90000"/>
              </a:lnSpc>
              <a:spcAft>
                <a:spcPts val="600"/>
              </a:spcAft>
              <a:buFont typeface="Arial" panose="020B0604020202020204" pitchFamily="34" charset="0"/>
              <a:buChar char="•"/>
            </a:pPr>
            <a:endParaRPr kumimoji="0" lang="en-US" altLang="es-MX" sz="2000" b="0" i="0" u="none" strike="noStrike" cap="none" normalizeH="0" baseline="0" dirty="0">
              <a:ln>
                <a:noFill/>
              </a:ln>
              <a:effectLst/>
            </a:endParaRPr>
          </a:p>
          <a:p>
            <a:pPr indent="-228600">
              <a:lnSpc>
                <a:spcPct val="90000"/>
              </a:lnSpc>
              <a:spcAft>
                <a:spcPts val="600"/>
              </a:spcAft>
              <a:buFont typeface="Arial" panose="020B0604020202020204" pitchFamily="34" charset="0"/>
              <a:buChar char="•"/>
            </a:pPr>
            <a:endParaRPr kumimoji="0" lang="en-US" altLang="es-MX" sz="2000" b="0" i="0" u="none" strike="noStrike" cap="none" normalizeH="0" baseline="0" dirty="0">
              <a:ln>
                <a:noFill/>
              </a:ln>
              <a:effectLst/>
            </a:endParaRPr>
          </a:p>
          <a:p>
            <a:pPr indent="-228600">
              <a:lnSpc>
                <a:spcPct val="90000"/>
              </a:lnSpc>
              <a:spcAft>
                <a:spcPts val="600"/>
              </a:spcAft>
              <a:buFont typeface="Arial" panose="020B0604020202020204" pitchFamily="34" charset="0"/>
              <a:buChar char="•"/>
            </a:pPr>
            <a:endParaRPr lang="en-US" sz="2000" dirty="0"/>
          </a:p>
        </p:txBody>
      </p:sp>
      <p:sp>
        <p:nvSpPr>
          <p:cNvPr id="5" name="Marcador de número de diapositiva 4">
            <a:extLst>
              <a:ext uri="{FF2B5EF4-FFF2-40B4-BE49-F238E27FC236}">
                <a16:creationId xmlns:a16="http://schemas.microsoft.com/office/drawing/2014/main" id="{22D55742-709E-06CF-6306-027B1C295563}"/>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68</a:t>
            </a:fld>
            <a:endParaRPr lang="en-US" sz="1100">
              <a:solidFill>
                <a:schemeClr val="tx1">
                  <a:lumMod val="50000"/>
                  <a:lumOff val="50000"/>
                </a:schemeClr>
              </a:solidFill>
            </a:endParaRPr>
          </a:p>
        </p:txBody>
      </p:sp>
    </p:spTree>
    <p:extLst>
      <p:ext uri="{BB962C8B-B14F-4D97-AF65-F5344CB8AC3E}">
        <p14:creationId xmlns:p14="http://schemas.microsoft.com/office/powerpoint/2010/main" val="20863414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3043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49E649CF-8414-AB14-E774-44AA2213B33E}"/>
              </a:ext>
            </a:extLst>
          </p:cNvPr>
          <p:cNvSpPr txBox="1"/>
          <p:nvPr/>
        </p:nvSpPr>
        <p:spPr>
          <a:xfrm>
            <a:off x="642938" y="363538"/>
            <a:ext cx="4949825" cy="2444750"/>
          </a:xfrm>
          <a:prstGeom prst="rect">
            <a:avLst/>
          </a:prstGeom>
          <a:noFill/>
        </p:spPr>
        <p:txBody>
          <a:bodyPr wrap="square" anchor="t">
            <a:normAutofit/>
          </a:bodyPr>
          <a:lstStyle/>
          <a:p>
            <a:pPr>
              <a:spcAft>
                <a:spcPts val="600"/>
              </a:spcAft>
            </a:pPr>
            <a:r>
              <a:rPr lang="es-MX" sz="2800" dirty="0"/>
              <a:t>¿Qué método debo usar para hallar el quinto carácter dentro del </a:t>
            </a:r>
            <a:r>
              <a:rPr lang="es-MX" sz="2800" dirty="0" err="1"/>
              <a:t>string</a:t>
            </a:r>
            <a:r>
              <a:rPr lang="es-MX" sz="2800" dirty="0"/>
              <a:t> “éxito”, almacenada en la variable palabra?</a:t>
            </a:r>
          </a:p>
        </p:txBody>
      </p:sp>
      <p:sp>
        <p:nvSpPr>
          <p:cNvPr id="15" name="CuadroTexto 14">
            <a:extLst>
              <a:ext uri="{FF2B5EF4-FFF2-40B4-BE49-F238E27FC236}">
                <a16:creationId xmlns:a16="http://schemas.microsoft.com/office/drawing/2014/main" id="{49D818CF-01B4-7031-7E84-BCAFA027EF99}"/>
              </a:ext>
            </a:extLst>
          </p:cNvPr>
          <p:cNvSpPr txBox="1"/>
          <p:nvPr/>
        </p:nvSpPr>
        <p:spPr>
          <a:xfrm>
            <a:off x="5668963" y="363538"/>
            <a:ext cx="5880100" cy="2444750"/>
          </a:xfrm>
          <a:prstGeom prst="rect">
            <a:avLst/>
          </a:prstGeom>
          <a:noFill/>
        </p:spPr>
        <p:txBody>
          <a:bodyPr wrap="square" anchor="t">
            <a:normAutofit/>
          </a:bodyPr>
          <a:lstStyle/>
          <a:p>
            <a:pPr>
              <a:spcAft>
                <a:spcPts val="600"/>
              </a:spcAft>
            </a:pPr>
            <a:r>
              <a:rPr lang="es-MX" sz="2600"/>
              <a:t>¿Qué parámetro de indexado debo manipular al extraer un </a:t>
            </a:r>
            <a:r>
              <a:rPr lang="es-MX" sz="2600" err="1"/>
              <a:t>substring</a:t>
            </a:r>
            <a:r>
              <a:rPr lang="es-MX" sz="2600"/>
              <a:t> si deseo recorrer un </a:t>
            </a:r>
            <a:r>
              <a:rPr lang="es-MX" sz="2600" err="1"/>
              <a:t>string</a:t>
            </a:r>
            <a:r>
              <a:rPr lang="es-MX" sz="2600"/>
              <a:t> en sentido inverso?</a:t>
            </a:r>
          </a:p>
          <a:p>
            <a:pPr>
              <a:spcAft>
                <a:spcPts val="600"/>
              </a:spcAft>
            </a:pPr>
            <a:endParaRPr lang="es-MX" sz="2600"/>
          </a:p>
          <a:p>
            <a:pPr>
              <a:spcAft>
                <a:spcPts val="600"/>
              </a:spcAft>
            </a:pPr>
            <a:r>
              <a:rPr lang="es-MX" sz="2600" err="1"/>
              <a:t>string</a:t>
            </a:r>
            <a:r>
              <a:rPr lang="es-MX" sz="2600"/>
              <a:t>[</a:t>
            </a:r>
            <a:r>
              <a:rPr lang="es-MX" sz="2600" err="1"/>
              <a:t>start:end:step</a:t>
            </a:r>
            <a:r>
              <a:rPr lang="es-MX" sz="2600"/>
              <a:t>]</a:t>
            </a:r>
          </a:p>
        </p:txBody>
      </p:sp>
      <p:sp>
        <p:nvSpPr>
          <p:cNvPr id="21" name="CuadroTexto 20">
            <a:extLst>
              <a:ext uri="{FF2B5EF4-FFF2-40B4-BE49-F238E27FC236}">
                <a16:creationId xmlns:a16="http://schemas.microsoft.com/office/drawing/2014/main" id="{AC4A7F02-8BEA-7FF4-3DD9-42C5F670D262}"/>
              </a:ext>
            </a:extLst>
          </p:cNvPr>
          <p:cNvSpPr txBox="1"/>
          <p:nvPr/>
        </p:nvSpPr>
        <p:spPr>
          <a:xfrm>
            <a:off x="642938" y="2862263"/>
            <a:ext cx="10904538" cy="549275"/>
          </a:xfrm>
          <a:prstGeom prst="rect">
            <a:avLst/>
          </a:prstGeom>
          <a:noFill/>
        </p:spPr>
        <p:txBody>
          <a:bodyPr wrap="square" anchor="t">
            <a:normAutofit/>
          </a:bodyPr>
          <a:lstStyle/>
          <a:p>
            <a:pPr>
              <a:spcAft>
                <a:spcPts val="600"/>
              </a:spcAft>
            </a:pPr>
            <a:r>
              <a:rPr lang="es-MX" sz="2800" dirty="0"/>
              <a:t>¿Qué significa que un método actúe “en el lugar” (</a:t>
            </a:r>
            <a:r>
              <a:rPr lang="es-MX" sz="2800" dirty="0" err="1"/>
              <a:t>in-place</a:t>
            </a:r>
            <a:r>
              <a:rPr lang="es-MX" sz="2800" dirty="0"/>
              <a:t>)?</a:t>
            </a:r>
          </a:p>
        </p:txBody>
      </p:sp>
      <p:sp>
        <p:nvSpPr>
          <p:cNvPr id="26" name="CuadroTexto 25">
            <a:extLst>
              <a:ext uri="{FF2B5EF4-FFF2-40B4-BE49-F238E27FC236}">
                <a16:creationId xmlns:a16="http://schemas.microsoft.com/office/drawing/2014/main" id="{24854366-DF78-35DF-8D6C-BBA709196902}"/>
              </a:ext>
            </a:extLst>
          </p:cNvPr>
          <p:cNvSpPr txBox="1"/>
          <p:nvPr/>
        </p:nvSpPr>
        <p:spPr>
          <a:xfrm>
            <a:off x="642938" y="3463925"/>
            <a:ext cx="10904538" cy="1292225"/>
          </a:xfrm>
          <a:prstGeom prst="rect">
            <a:avLst/>
          </a:prstGeom>
          <a:noFill/>
        </p:spPr>
        <p:txBody>
          <a:bodyPr wrap="square" anchor="t">
            <a:normAutofit/>
          </a:bodyPr>
          <a:lstStyle/>
          <a:p>
            <a:pPr>
              <a:lnSpc>
                <a:spcPct val="90000"/>
              </a:lnSpc>
              <a:spcAft>
                <a:spcPts val="600"/>
              </a:spcAft>
            </a:pPr>
            <a:r>
              <a:rPr lang="es-MX" sz="1600" dirty="0"/>
              <a:t>Los booleanos pueden asumir los siguientes valores:</a:t>
            </a:r>
          </a:p>
          <a:p>
            <a:pPr>
              <a:lnSpc>
                <a:spcPct val="90000"/>
              </a:lnSpc>
              <a:spcAft>
                <a:spcPts val="600"/>
              </a:spcAft>
            </a:pPr>
            <a:r>
              <a:rPr lang="es-MX" sz="1600" dirty="0"/>
              <a:t>- True (Verdadero)</a:t>
            </a:r>
          </a:p>
          <a:p>
            <a:pPr>
              <a:lnSpc>
                <a:spcPct val="90000"/>
              </a:lnSpc>
              <a:spcAft>
                <a:spcPts val="600"/>
              </a:spcAft>
            </a:pPr>
            <a:r>
              <a:rPr lang="es-MX" sz="1600" dirty="0"/>
              <a:t>- False (Falso)</a:t>
            </a:r>
          </a:p>
          <a:p>
            <a:pPr>
              <a:lnSpc>
                <a:spcPct val="90000"/>
              </a:lnSpc>
              <a:spcAft>
                <a:spcPts val="600"/>
              </a:spcAft>
            </a:pPr>
            <a:r>
              <a:rPr lang="es-MX" sz="1600" dirty="0"/>
              <a:t>- </a:t>
            </a:r>
            <a:r>
              <a:rPr lang="es-MX" sz="1600" dirty="0" err="1"/>
              <a:t>None</a:t>
            </a:r>
            <a:r>
              <a:rPr lang="es-MX" sz="1600" dirty="0"/>
              <a:t> (si no se puede establecer una comparación</a:t>
            </a:r>
            <a:r>
              <a:rPr lang="es-MX" sz="1050" dirty="0"/>
              <a:t>)</a:t>
            </a:r>
          </a:p>
        </p:txBody>
      </p:sp>
      <p:sp>
        <p:nvSpPr>
          <p:cNvPr id="2" name="Título 1">
            <a:extLst>
              <a:ext uri="{FF2B5EF4-FFF2-40B4-BE49-F238E27FC236}">
                <a16:creationId xmlns:a16="http://schemas.microsoft.com/office/drawing/2014/main" id="{018988E4-BFC0-C436-F7C9-24DD64362F95}"/>
              </a:ext>
            </a:extLst>
          </p:cNvPr>
          <p:cNvSpPr>
            <a:spLocks noGrp="1"/>
          </p:cNvSpPr>
          <p:nvPr>
            <p:ph type="title"/>
          </p:nvPr>
        </p:nvSpPr>
        <p:spPr>
          <a:xfrm>
            <a:off x="556532" y="532214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Questionario</a:t>
            </a:r>
          </a:p>
        </p:txBody>
      </p:sp>
      <p:sp>
        <p:nvSpPr>
          <p:cNvPr id="4" name="Marcador de pie de página 3">
            <a:extLst>
              <a:ext uri="{FF2B5EF4-FFF2-40B4-BE49-F238E27FC236}">
                <a16:creationId xmlns:a16="http://schemas.microsoft.com/office/drawing/2014/main" id="{AB0BB273-DC3E-AC5E-BF49-9318BC892F2C}"/>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Arabots Robotics</a:t>
            </a:r>
          </a:p>
        </p:txBody>
      </p:sp>
      <p:sp>
        <p:nvSpPr>
          <p:cNvPr id="5" name="Marcador de número de diapositiva 4">
            <a:extLst>
              <a:ext uri="{FF2B5EF4-FFF2-40B4-BE49-F238E27FC236}">
                <a16:creationId xmlns:a16="http://schemas.microsoft.com/office/drawing/2014/main" id="{7EE3CD9D-70B3-DEA7-66A2-F7DFA6837C2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4EA4A3B0-B5DF-4E2B-B48F-E4B7B7872040}" type="slidenum">
              <a:rPr lang="en-US" smtClean="0"/>
              <a:pPr>
                <a:spcAft>
                  <a:spcPts val="600"/>
                </a:spcAft>
              </a:pPr>
              <a:t>69</a:t>
            </a:fld>
            <a:endParaRPr lang="en-US"/>
          </a:p>
        </p:txBody>
      </p:sp>
    </p:spTree>
    <p:extLst>
      <p:ext uri="{BB962C8B-B14F-4D97-AF65-F5344CB8AC3E}">
        <p14:creationId xmlns:p14="http://schemas.microsoft.com/office/powerpoint/2010/main" val="1625814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9" name="Rectangle 18">
            <a:extLst>
              <a:ext uri="{FF2B5EF4-FFF2-40B4-BE49-F238E27FC236}">
                <a16:creationId xmlns:a16="http://schemas.microsoft.com/office/drawing/2014/main" id="{0D614406-135F-4875-9C87-53822CB1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0" name="Straight Connector 20">
            <a:extLst>
              <a:ext uri="{FF2B5EF4-FFF2-40B4-BE49-F238E27FC236}">
                <a16:creationId xmlns:a16="http://schemas.microsoft.com/office/drawing/2014/main" id="{C6C21149-7D17-44C2-AFB6-4D931DC55FB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676579"/>
            <a:ext cx="8129873" cy="602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81F85D69-7BE2-5F53-F8CB-A1A72D30D287}"/>
              </a:ext>
            </a:extLst>
          </p:cNvPr>
          <p:cNvSpPr txBox="1"/>
          <p:nvPr/>
        </p:nvSpPr>
        <p:spPr>
          <a:xfrm>
            <a:off x="958850" y="2916238"/>
            <a:ext cx="3830638" cy="2986088"/>
          </a:xfrm>
          <a:prstGeom prst="rect">
            <a:avLst/>
          </a:prstGeom>
          <a:noFill/>
        </p:spPr>
        <p:txBody>
          <a:bodyPr wrap="square" anchor="t">
            <a:normAutofit/>
          </a:bodyPr>
          <a:lstStyle/>
          <a:p>
            <a:pPr>
              <a:lnSpc>
                <a:spcPct val="90000"/>
              </a:lnSpc>
              <a:spcAft>
                <a:spcPts val="600"/>
              </a:spcAft>
            </a:pPr>
            <a:r>
              <a:rPr lang="es-MX" sz="2200" b="0" i="0" dirty="0">
                <a:solidFill>
                  <a:srgbClr val="1C1D1F"/>
                </a:solidFill>
                <a:effectLst/>
                <a:latin typeface="udemy sans"/>
              </a:rPr>
              <a:t>¿Cuál de los siguientes objetos no serían admitidos por un set?</a:t>
            </a:r>
          </a:p>
          <a:p>
            <a:pPr>
              <a:lnSpc>
                <a:spcPct val="90000"/>
              </a:lnSpc>
              <a:spcAft>
                <a:spcPts val="600"/>
              </a:spcAft>
            </a:pPr>
            <a:r>
              <a:rPr lang="es-MX" sz="2200" dirty="0">
                <a:solidFill>
                  <a:srgbClr val="1C1D1F"/>
                </a:solidFill>
                <a:latin typeface="udemy sans"/>
              </a:rPr>
              <a:t>	Lista </a:t>
            </a:r>
          </a:p>
          <a:p>
            <a:pPr>
              <a:lnSpc>
                <a:spcPct val="90000"/>
              </a:lnSpc>
              <a:spcAft>
                <a:spcPts val="600"/>
              </a:spcAft>
            </a:pPr>
            <a:r>
              <a:rPr lang="es-MX" sz="2200" dirty="0">
                <a:solidFill>
                  <a:srgbClr val="1C1D1F"/>
                </a:solidFill>
                <a:latin typeface="udemy sans"/>
              </a:rPr>
              <a:t>	Strings</a:t>
            </a:r>
          </a:p>
          <a:p>
            <a:pPr>
              <a:lnSpc>
                <a:spcPct val="90000"/>
              </a:lnSpc>
              <a:spcAft>
                <a:spcPts val="600"/>
              </a:spcAft>
            </a:pPr>
            <a:r>
              <a:rPr lang="es-MX" sz="2200" dirty="0">
                <a:solidFill>
                  <a:srgbClr val="1C1D1F"/>
                </a:solidFill>
                <a:latin typeface="udemy sans"/>
              </a:rPr>
              <a:t>	tuplas</a:t>
            </a:r>
          </a:p>
          <a:p>
            <a:pPr>
              <a:lnSpc>
                <a:spcPct val="90000"/>
              </a:lnSpc>
              <a:spcAft>
                <a:spcPts val="600"/>
              </a:spcAft>
            </a:pPr>
            <a:r>
              <a:rPr lang="es-MX" sz="2200" dirty="0">
                <a:solidFill>
                  <a:srgbClr val="1C1D1F"/>
                </a:solidFill>
                <a:latin typeface="udemy sans"/>
              </a:rPr>
              <a:t>	</a:t>
            </a:r>
            <a:r>
              <a:rPr lang="es-MX" sz="2200" dirty="0" err="1">
                <a:solidFill>
                  <a:srgbClr val="1C1D1F"/>
                </a:solidFill>
                <a:latin typeface="udemy sans"/>
              </a:rPr>
              <a:t>boleanos</a:t>
            </a:r>
            <a:endParaRPr lang="es-MX" sz="2200" dirty="0">
              <a:solidFill>
                <a:srgbClr val="1C1D1F"/>
              </a:solidFill>
              <a:latin typeface="udemy sans"/>
            </a:endParaRPr>
          </a:p>
          <a:p>
            <a:pPr>
              <a:lnSpc>
                <a:spcPct val="90000"/>
              </a:lnSpc>
              <a:spcAft>
                <a:spcPts val="600"/>
              </a:spcAft>
            </a:pPr>
            <a:r>
              <a:rPr lang="es-MX" sz="2200" dirty="0">
                <a:solidFill>
                  <a:srgbClr val="1C1D1F"/>
                </a:solidFill>
                <a:latin typeface="udemy sans"/>
              </a:rPr>
              <a:t>	</a:t>
            </a:r>
            <a:r>
              <a:rPr lang="es-MX" sz="2200" dirty="0" err="1">
                <a:solidFill>
                  <a:srgbClr val="1C1D1F"/>
                </a:solidFill>
                <a:latin typeface="udemy sans"/>
              </a:rPr>
              <a:t>floats</a:t>
            </a:r>
            <a:endParaRPr lang="es-MX" sz="2200" dirty="0"/>
          </a:p>
        </p:txBody>
      </p:sp>
      <p:sp>
        <p:nvSpPr>
          <p:cNvPr id="10" name="CuadroTexto 9">
            <a:extLst>
              <a:ext uri="{FF2B5EF4-FFF2-40B4-BE49-F238E27FC236}">
                <a16:creationId xmlns:a16="http://schemas.microsoft.com/office/drawing/2014/main" id="{A686E26B-6A33-669E-E968-C232297A71CC}"/>
              </a:ext>
            </a:extLst>
          </p:cNvPr>
          <p:cNvSpPr txBox="1"/>
          <p:nvPr/>
        </p:nvSpPr>
        <p:spPr>
          <a:xfrm>
            <a:off x="4859338" y="2916238"/>
            <a:ext cx="4078288" cy="2986088"/>
          </a:xfrm>
          <a:prstGeom prst="rect">
            <a:avLst/>
          </a:prstGeom>
          <a:noFill/>
        </p:spPr>
        <p:txBody>
          <a:bodyPr wrap="square" anchor="t">
            <a:normAutofit/>
          </a:bodyPr>
          <a:lstStyle/>
          <a:p>
            <a:pPr>
              <a:spcAft>
                <a:spcPts val="600"/>
              </a:spcAft>
            </a:pPr>
            <a:r>
              <a:rPr lang="es-MX" sz="2800"/>
              <a:t>¿Qué devuelve la función </a:t>
            </a:r>
            <a:r>
              <a:rPr lang="es-MX" sz="2800" err="1"/>
              <a:t>sort</a:t>
            </a:r>
            <a:r>
              <a:rPr lang="es-MX" sz="2800"/>
              <a:t>() para la lista redes = [“YouTube”, “Facebook”, “Twitter”, “</a:t>
            </a:r>
            <a:r>
              <a:rPr lang="es-MX" sz="2800" err="1"/>
              <a:t>Whatsapp</a:t>
            </a:r>
            <a:r>
              <a:rPr lang="es-MX" sz="2800"/>
              <a:t>”]?</a:t>
            </a:r>
          </a:p>
        </p:txBody>
      </p:sp>
      <p:sp>
        <p:nvSpPr>
          <p:cNvPr id="14" name="CuadroTexto 13">
            <a:extLst>
              <a:ext uri="{FF2B5EF4-FFF2-40B4-BE49-F238E27FC236}">
                <a16:creationId xmlns:a16="http://schemas.microsoft.com/office/drawing/2014/main" id="{3F1F4FD5-F13E-CA0D-743D-FDD690047B76}"/>
              </a:ext>
            </a:extLst>
          </p:cNvPr>
          <p:cNvSpPr txBox="1"/>
          <p:nvPr/>
        </p:nvSpPr>
        <p:spPr>
          <a:xfrm>
            <a:off x="9007475" y="2916238"/>
            <a:ext cx="2230438" cy="2986088"/>
          </a:xfrm>
          <a:prstGeom prst="rect">
            <a:avLst/>
          </a:prstGeom>
          <a:noFill/>
        </p:spPr>
        <p:txBody>
          <a:bodyPr wrap="square" anchor="t">
            <a:normAutofit/>
          </a:bodyPr>
          <a:lstStyle/>
          <a:p>
            <a:pPr>
              <a:spcAft>
                <a:spcPts val="600"/>
              </a:spcAft>
            </a:pPr>
            <a:r>
              <a:rPr lang="es-MX" sz="2800"/>
              <a:t>¿Cuál de los operadores lógicos significa “diferente a”?</a:t>
            </a:r>
          </a:p>
        </p:txBody>
      </p:sp>
      <p:sp>
        <p:nvSpPr>
          <p:cNvPr id="2" name="Título 1">
            <a:extLst>
              <a:ext uri="{FF2B5EF4-FFF2-40B4-BE49-F238E27FC236}">
                <a16:creationId xmlns:a16="http://schemas.microsoft.com/office/drawing/2014/main" id="{DBA0E7D0-1D5F-DDAE-51F1-8AE92E0EEEC1}"/>
              </a:ext>
            </a:extLst>
          </p:cNvPr>
          <p:cNvSpPr>
            <a:spLocks noGrp="1"/>
          </p:cNvSpPr>
          <p:nvPr>
            <p:ph type="title"/>
          </p:nvPr>
        </p:nvSpPr>
        <p:spPr>
          <a:xfrm>
            <a:off x="960120" y="434101"/>
            <a:ext cx="7169753" cy="1232750"/>
          </a:xfrm>
        </p:spPr>
        <p:txBody>
          <a:bodyPr vert="horz" lIns="91440" tIns="45720" rIns="91440" bIns="45720" rtlCol="0" anchor="b">
            <a:normAutofit/>
          </a:bodyPr>
          <a:lstStyle/>
          <a:p>
            <a:endParaRPr lang="en-US" sz="4400" kern="1200">
              <a:solidFill>
                <a:schemeClr val="bg1"/>
              </a:solidFill>
              <a:latin typeface="+mj-lt"/>
              <a:ea typeface="+mj-ea"/>
              <a:cs typeface="+mj-cs"/>
            </a:endParaRPr>
          </a:p>
        </p:txBody>
      </p:sp>
      <p:sp>
        <p:nvSpPr>
          <p:cNvPr id="4" name="Marcador de pie de página 3">
            <a:extLst>
              <a:ext uri="{FF2B5EF4-FFF2-40B4-BE49-F238E27FC236}">
                <a16:creationId xmlns:a16="http://schemas.microsoft.com/office/drawing/2014/main" id="{8A0D5DAA-592E-9B90-062D-DEDDA86D0E69}"/>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alpha val="80000"/>
                  </a:schemeClr>
                </a:solidFill>
                <a:latin typeface="+mn-lt"/>
                <a:ea typeface="+mn-ea"/>
                <a:cs typeface="+mn-cs"/>
              </a:rPr>
              <a:t>Arabots Robotics</a:t>
            </a:r>
          </a:p>
        </p:txBody>
      </p:sp>
      <p:sp>
        <p:nvSpPr>
          <p:cNvPr id="5" name="Marcador de número de diapositiva 4">
            <a:extLst>
              <a:ext uri="{FF2B5EF4-FFF2-40B4-BE49-F238E27FC236}">
                <a16:creationId xmlns:a16="http://schemas.microsoft.com/office/drawing/2014/main" id="{4E2A1131-45F4-2D70-0033-7475F656099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4EA4A3B0-B5DF-4E2B-B48F-E4B7B7872040}" type="slidenum">
              <a:rPr lang="en-US">
                <a:solidFill>
                  <a:schemeClr val="tx1">
                    <a:alpha val="80000"/>
                  </a:schemeClr>
                </a:solidFill>
              </a:rPr>
              <a:pPr>
                <a:spcAft>
                  <a:spcPts val="600"/>
                </a:spcAft>
              </a:pPr>
              <a:t>70</a:t>
            </a:fld>
            <a:endParaRPr lang="en-US">
              <a:solidFill>
                <a:schemeClr val="tx1">
                  <a:alpha val="80000"/>
                </a:schemeClr>
              </a:solidFill>
            </a:endParaRPr>
          </a:p>
        </p:txBody>
      </p:sp>
    </p:spTree>
    <p:extLst>
      <p:ext uri="{BB962C8B-B14F-4D97-AF65-F5344CB8AC3E}">
        <p14:creationId xmlns:p14="http://schemas.microsoft.com/office/powerpoint/2010/main" val="21644462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FBEE476-4F0C-A3E8-8F0D-B8458496870D}"/>
              </a:ext>
            </a:extLst>
          </p:cNvPr>
          <p:cNvSpPr>
            <a:spLocks noGrp="1"/>
          </p:cNvSpPr>
          <p:nvPr>
            <p:ph type="title"/>
          </p:nvPr>
        </p:nvSpPr>
        <p:spPr>
          <a:xfrm>
            <a:off x="1371599" y="294538"/>
            <a:ext cx="9895951" cy="1033669"/>
          </a:xfrm>
        </p:spPr>
        <p:txBody>
          <a:bodyPr>
            <a:normAutofit/>
          </a:bodyPr>
          <a:lstStyle/>
          <a:p>
            <a:r>
              <a:rPr lang="es-MX" sz="4000" i="1">
                <a:solidFill>
                  <a:srgbClr val="FFFFFF"/>
                </a:solidFill>
              </a:rPr>
              <a:t>Proyecto 3</a:t>
            </a:r>
          </a:p>
        </p:txBody>
      </p:sp>
      <p:sp>
        <p:nvSpPr>
          <p:cNvPr id="4" name="Marcador de pie de página 3">
            <a:extLst>
              <a:ext uri="{FF2B5EF4-FFF2-40B4-BE49-F238E27FC236}">
                <a16:creationId xmlns:a16="http://schemas.microsoft.com/office/drawing/2014/main" id="{05F54A1E-2888-945C-3CF1-CF9E9EE42BBC}"/>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1C2394F4-E242-9E0A-11E9-E19CEB455713}"/>
              </a:ext>
            </a:extLst>
          </p:cNvPr>
          <p:cNvSpPr>
            <a:spLocks noGrp="1"/>
          </p:cNvSpPr>
          <p:nvPr>
            <p:ph idx="1"/>
          </p:nvPr>
        </p:nvSpPr>
        <p:spPr>
          <a:xfrm>
            <a:off x="-3" y="1622746"/>
            <a:ext cx="12192003" cy="5197810"/>
          </a:xfrm>
        </p:spPr>
        <p:txBody>
          <a:bodyPr anchor="ctr">
            <a:normAutofit lnSpcReduction="10000"/>
          </a:bodyPr>
          <a:lstStyle/>
          <a:p>
            <a:pPr marL="0" indent="0">
              <a:buNone/>
            </a:pPr>
            <a:r>
              <a:rPr lang="es-MX" sz="1600" dirty="0"/>
              <a:t>La Tarea es la siguiente: vas a crear un programa que primero le pida al usuario que ingrese un texto. Puede ser un texto cualquiera: un artículo entero, un párrafo, una frase, un poema, lo que quiera. Luego, el programa le va a pedir al usuario que también ingrese tres letras a su elección y a partir de ese momento nuestro código va a procesar esa información para hacer cinco tipos de análisis y devolverle al usuario la siguiente información: </a:t>
            </a:r>
          </a:p>
          <a:p>
            <a:pPr marL="514350" indent="-514350">
              <a:buAutoNum type="arabicPeriod"/>
            </a:pPr>
            <a:r>
              <a:rPr lang="es-MX" sz="1600" dirty="0"/>
              <a:t>Primero: ¿cuántas veces aparece cada una de las letras que eligió? Para lograr esto, te recomiendo almacenar esas letras en una lista y luego usar algún método propio de </a:t>
            </a:r>
            <a:r>
              <a:rPr lang="es-MX" sz="1600" dirty="0" err="1"/>
              <a:t>string</a:t>
            </a:r>
            <a:r>
              <a:rPr lang="es-MX" sz="1600" dirty="0"/>
              <a:t> que nos permita contar cuantas veces aparece un sub </a:t>
            </a:r>
            <a:r>
              <a:rPr lang="es-MX" sz="1600" dirty="0" err="1"/>
              <a:t>string</a:t>
            </a:r>
            <a:r>
              <a:rPr lang="es-MX" sz="1600" dirty="0"/>
              <a:t> dentro del </a:t>
            </a:r>
            <a:r>
              <a:rPr lang="es-MX" sz="1600" dirty="0" err="1"/>
              <a:t>string</a:t>
            </a:r>
            <a:r>
              <a:rPr lang="es-MX" sz="1600" dirty="0"/>
              <a:t>. </a:t>
            </a:r>
          </a:p>
          <a:p>
            <a:pPr marL="0" indent="0">
              <a:buNone/>
            </a:pPr>
            <a:r>
              <a:rPr lang="es-MX" sz="1600" dirty="0"/>
              <a:t>*Algo que debes tener en cuenta es que al buscar las letras pueden haber mayúsculas y minúsculas y esto va a afectar el resultado. Lo que deberías hacer para asegurarte de que se encuentren absolutamente todas las letras es pasar, tanto el texto original como las letras a buscar, a minúsculas. </a:t>
            </a:r>
          </a:p>
          <a:p>
            <a:pPr marL="0" indent="0">
              <a:buNone/>
            </a:pPr>
            <a:r>
              <a:rPr lang="es-MX" sz="1600" dirty="0"/>
              <a:t>2. Segundo: le vas a decir al usuario cuántas palabras hay a lo largo de todo el texto. </a:t>
            </a:r>
          </a:p>
          <a:p>
            <a:pPr marL="0" indent="0">
              <a:buNone/>
            </a:pPr>
            <a:r>
              <a:rPr lang="es-MX" sz="1600" dirty="0"/>
              <a:t>*Para lograr esta parte, recuerda que hay un método de </a:t>
            </a:r>
            <a:r>
              <a:rPr lang="es-MX" sz="1600" dirty="0" err="1"/>
              <a:t>string</a:t>
            </a:r>
            <a:r>
              <a:rPr lang="es-MX" sz="1600" dirty="0"/>
              <a:t> que permite transformarlo en una lista y que luego hay una función que permite averiguar el largo de una lista. </a:t>
            </a:r>
          </a:p>
          <a:p>
            <a:pPr marL="0" indent="0">
              <a:buNone/>
            </a:pPr>
            <a:r>
              <a:rPr lang="es-MX" sz="1600" dirty="0"/>
              <a:t>3. Tercero: nos va a informar cuál es la primera letra del texto y cuál es la última. </a:t>
            </a:r>
          </a:p>
          <a:p>
            <a:pPr marL="0" indent="0">
              <a:buNone/>
            </a:pPr>
            <a:r>
              <a:rPr lang="es-MX" sz="1600" dirty="0"/>
              <a:t>*Aquí claramente echaremos mano de la indexación. </a:t>
            </a:r>
          </a:p>
          <a:p>
            <a:pPr marL="0" indent="0">
              <a:buNone/>
            </a:pPr>
            <a:r>
              <a:rPr lang="es-MX" sz="1600" dirty="0"/>
              <a:t>4. Cuarto: el sistema nos va a mostrar cómo quedaría el texto si invirtiéramos el orden de las palabras. ¿Acaso hay algún método que permita invertir el orden de una lista, y otro que permita unir esos elementos con espacios intermedios? Piénsalo. </a:t>
            </a:r>
          </a:p>
          <a:p>
            <a:pPr marL="0" indent="0">
              <a:buNone/>
            </a:pPr>
            <a:r>
              <a:rPr lang="es-MX" sz="1600" dirty="0"/>
              <a:t>5. Y por último: el sistema nos va a decir si la palabra “Python” se encuentra dentro del texto. Esta parte puede ser algo complicada de imaginársela</a:t>
            </a:r>
          </a:p>
          <a:p>
            <a:pPr marL="0" indent="0">
              <a:buNone/>
            </a:pPr>
            <a:r>
              <a:rPr lang="es-MX" sz="1600" dirty="0"/>
              <a:t>*Pista: puedes usar booleanos para hacer tu averiguación y un diccionario para encontrar la manera de expresarle al usuario tu respuesta. </a:t>
            </a:r>
          </a:p>
        </p:txBody>
      </p:sp>
      <p:sp>
        <p:nvSpPr>
          <p:cNvPr id="5" name="Marcador de número de diapositiva 4">
            <a:extLst>
              <a:ext uri="{FF2B5EF4-FFF2-40B4-BE49-F238E27FC236}">
                <a16:creationId xmlns:a16="http://schemas.microsoft.com/office/drawing/2014/main" id="{0446C56F-55EE-F24E-EF80-5D7821B8CA88}"/>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71</a:t>
            </a:fld>
            <a:endParaRPr lang="es-MX" sz="1100">
              <a:solidFill>
                <a:schemeClr val="tx1">
                  <a:lumMod val="50000"/>
                  <a:lumOff val="50000"/>
                </a:schemeClr>
              </a:solidFill>
            </a:endParaRPr>
          </a:p>
        </p:txBody>
      </p:sp>
    </p:spTree>
    <p:extLst>
      <p:ext uri="{BB962C8B-B14F-4D97-AF65-F5344CB8AC3E}">
        <p14:creationId xmlns:p14="http://schemas.microsoft.com/office/powerpoint/2010/main" val="38532179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Título 5">
            <a:extLst>
              <a:ext uri="{FF2B5EF4-FFF2-40B4-BE49-F238E27FC236}">
                <a16:creationId xmlns:a16="http://schemas.microsoft.com/office/drawing/2014/main" id="{6B2E5155-9AD7-6508-5B2D-3A76D0C59951}"/>
              </a:ext>
            </a:extLst>
          </p:cNvPr>
          <p:cNvSpPr>
            <a:spLocks noGrp="1"/>
          </p:cNvSpPr>
          <p:nvPr>
            <p:ph type="ctrTitle"/>
          </p:nvPr>
        </p:nvSpPr>
        <p:spPr>
          <a:xfrm>
            <a:off x="1314824" y="735106"/>
            <a:ext cx="10053763" cy="2928470"/>
          </a:xfrm>
        </p:spPr>
        <p:txBody>
          <a:bodyPr anchor="b">
            <a:normAutofit/>
          </a:bodyPr>
          <a:lstStyle/>
          <a:p>
            <a:pPr algn="l"/>
            <a:r>
              <a:rPr lang="es-MX" sz="4800">
                <a:solidFill>
                  <a:srgbClr val="FFFFFF"/>
                </a:solidFill>
              </a:rPr>
              <a:t>Semana 4</a:t>
            </a:r>
          </a:p>
        </p:txBody>
      </p:sp>
      <p:sp>
        <p:nvSpPr>
          <p:cNvPr id="4" name="Marcador de pie de página 3">
            <a:extLst>
              <a:ext uri="{FF2B5EF4-FFF2-40B4-BE49-F238E27FC236}">
                <a16:creationId xmlns:a16="http://schemas.microsoft.com/office/drawing/2014/main" id="{26F00797-D42D-8B76-8DE2-EC2E68CA1198}"/>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5" name="Marcador de número de diapositiva 4">
            <a:extLst>
              <a:ext uri="{FF2B5EF4-FFF2-40B4-BE49-F238E27FC236}">
                <a16:creationId xmlns:a16="http://schemas.microsoft.com/office/drawing/2014/main" id="{EAA4B7A8-481A-FA66-D902-8E8F5BE6928C}"/>
              </a:ext>
            </a:extLst>
          </p:cNvPr>
          <p:cNvSpPr>
            <a:spLocks noGrp="1"/>
          </p:cNvSpPr>
          <p:nvPr>
            <p:ph type="sldNum" sz="quarter" idx="12"/>
          </p:nvPr>
        </p:nvSpPr>
        <p:spPr>
          <a:xfrm>
            <a:off x="11704320" y="6446837"/>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72</a:t>
            </a:fld>
            <a:endParaRPr lang="es-MX" sz="1100">
              <a:solidFill>
                <a:schemeClr val="tx1">
                  <a:lumMod val="50000"/>
                  <a:lumOff val="50000"/>
                </a:schemeClr>
              </a:solidFill>
            </a:endParaRPr>
          </a:p>
        </p:txBody>
      </p:sp>
    </p:spTree>
    <p:extLst>
      <p:ext uri="{BB962C8B-B14F-4D97-AF65-F5344CB8AC3E}">
        <p14:creationId xmlns:p14="http://schemas.microsoft.com/office/powerpoint/2010/main" val="25483433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8D1AEAF-8707-9152-1B88-A41F432EB251}"/>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Operados de comparación </a:t>
            </a:r>
          </a:p>
        </p:txBody>
      </p:sp>
      <p:sp>
        <p:nvSpPr>
          <p:cNvPr id="4" name="Marcador de pie de página 3">
            <a:extLst>
              <a:ext uri="{FF2B5EF4-FFF2-40B4-BE49-F238E27FC236}">
                <a16:creationId xmlns:a16="http://schemas.microsoft.com/office/drawing/2014/main" id="{4079335D-5B3E-357A-7723-FB506977B2C1}"/>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8FCA417E-3FFC-8EDD-9495-9E46F889F0F4}"/>
              </a:ext>
            </a:extLst>
          </p:cNvPr>
          <p:cNvSpPr>
            <a:spLocks noGrp="1"/>
          </p:cNvSpPr>
          <p:nvPr>
            <p:ph idx="1"/>
          </p:nvPr>
        </p:nvSpPr>
        <p:spPr>
          <a:xfrm>
            <a:off x="1371599" y="2318197"/>
            <a:ext cx="9724031" cy="3683358"/>
          </a:xfrm>
        </p:spPr>
        <p:txBody>
          <a:bodyPr anchor="ctr">
            <a:normAutofit/>
          </a:bodyPr>
          <a:lstStyle/>
          <a:p>
            <a:pPr marL="0" indent="0">
              <a:buNone/>
            </a:pPr>
            <a:r>
              <a:rPr lang="es-MX" sz="2000"/>
              <a:t>Como su nombre lo indica, sirven para comparar dos o más valores. El resultado de esta comparación es un booleano (True/False) </a:t>
            </a:r>
          </a:p>
          <a:p>
            <a:pPr marL="0" indent="0">
              <a:buNone/>
            </a:pPr>
            <a:r>
              <a:rPr lang="es-MX" sz="2000"/>
              <a:t>==       igual a</a:t>
            </a:r>
          </a:p>
          <a:p>
            <a:pPr marL="0" indent="0">
              <a:buNone/>
            </a:pPr>
            <a:r>
              <a:rPr lang="es-MX" sz="2000"/>
              <a:t>!=       diferente a</a:t>
            </a:r>
          </a:p>
          <a:p>
            <a:pPr marL="0" indent="0">
              <a:buNone/>
            </a:pPr>
            <a:r>
              <a:rPr lang="es-MX" sz="2000"/>
              <a:t> &gt;       mayor que                                      </a:t>
            </a:r>
          </a:p>
          <a:p>
            <a:pPr marL="0" indent="0">
              <a:buNone/>
            </a:pPr>
            <a:r>
              <a:rPr lang="es-MX" sz="2000"/>
              <a:t> &lt;        menor que</a:t>
            </a:r>
          </a:p>
          <a:p>
            <a:pPr marL="0" indent="0">
              <a:buNone/>
            </a:pPr>
            <a:r>
              <a:rPr lang="es-MX" sz="2000"/>
              <a:t>&gt;=     mayor o igual que </a:t>
            </a:r>
          </a:p>
          <a:p>
            <a:pPr marL="0" indent="0">
              <a:buNone/>
            </a:pPr>
            <a:r>
              <a:rPr lang="es-MX" sz="2000"/>
              <a:t>&lt;=      menor o igual que</a:t>
            </a:r>
          </a:p>
        </p:txBody>
      </p:sp>
      <p:sp>
        <p:nvSpPr>
          <p:cNvPr id="5" name="Marcador de número de diapositiva 4">
            <a:extLst>
              <a:ext uri="{FF2B5EF4-FFF2-40B4-BE49-F238E27FC236}">
                <a16:creationId xmlns:a16="http://schemas.microsoft.com/office/drawing/2014/main" id="{3BFF93CC-B816-0CF6-EB20-0A5E3BA8B0CA}"/>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73</a:t>
            </a:fld>
            <a:endParaRPr lang="es-MX" sz="1100">
              <a:solidFill>
                <a:schemeClr val="tx1">
                  <a:lumMod val="50000"/>
                  <a:lumOff val="50000"/>
                </a:schemeClr>
              </a:solidFill>
            </a:endParaRPr>
          </a:p>
        </p:txBody>
      </p:sp>
    </p:spTree>
    <p:extLst>
      <p:ext uri="{BB962C8B-B14F-4D97-AF65-F5344CB8AC3E}">
        <p14:creationId xmlns:p14="http://schemas.microsoft.com/office/powerpoint/2010/main" val="9847488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A5107CC-48E8-7B49-A78B-067F7F272AFF}"/>
              </a:ext>
            </a:extLst>
          </p:cNvPr>
          <p:cNvSpPr>
            <a:spLocks noGrp="1"/>
          </p:cNvSpPr>
          <p:nvPr>
            <p:ph type="title"/>
          </p:nvPr>
        </p:nvSpPr>
        <p:spPr>
          <a:xfrm>
            <a:off x="1371599" y="294538"/>
            <a:ext cx="9895951" cy="1033669"/>
          </a:xfrm>
        </p:spPr>
        <p:txBody>
          <a:bodyPr>
            <a:normAutofit/>
          </a:bodyPr>
          <a:lstStyle/>
          <a:p>
            <a:r>
              <a:rPr lang="es-MX" sz="4000" dirty="0">
                <a:solidFill>
                  <a:srgbClr val="FFFFFF"/>
                </a:solidFill>
              </a:rPr>
              <a:t>Ejercicio</a:t>
            </a:r>
          </a:p>
        </p:txBody>
      </p:sp>
      <p:sp>
        <p:nvSpPr>
          <p:cNvPr id="4" name="Marcador de pie de página 3">
            <a:extLst>
              <a:ext uri="{FF2B5EF4-FFF2-40B4-BE49-F238E27FC236}">
                <a16:creationId xmlns:a16="http://schemas.microsoft.com/office/drawing/2014/main" id="{4F4F8E85-2AF7-1E8F-591B-168025F46F6E}"/>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5A964742-92BE-0E87-B579-14E29DD364E1}"/>
              </a:ext>
            </a:extLst>
          </p:cNvPr>
          <p:cNvSpPr>
            <a:spLocks noGrp="1"/>
          </p:cNvSpPr>
          <p:nvPr>
            <p:ph idx="1"/>
          </p:nvPr>
        </p:nvSpPr>
        <p:spPr>
          <a:xfrm>
            <a:off x="1371599" y="2318197"/>
            <a:ext cx="9724031" cy="3683358"/>
          </a:xfrm>
        </p:spPr>
        <p:txBody>
          <a:bodyPr anchor="ctr">
            <a:normAutofit/>
          </a:bodyPr>
          <a:lstStyle/>
          <a:p>
            <a:pPr marL="0" indent="0">
              <a:buNone/>
            </a:pPr>
            <a:r>
              <a:rPr lang="es-MX" sz="2000"/>
              <a:t>Si la comparación resulta verdadera, devuelve el resultado True </a:t>
            </a:r>
          </a:p>
          <a:p>
            <a:pPr marL="0" indent="0">
              <a:buNone/>
            </a:pPr>
            <a:r>
              <a:rPr lang="es-MX" sz="2000"/>
              <a:t>Si dicha comparación es falsa, el resultado es False</a:t>
            </a:r>
          </a:p>
          <a:p>
            <a:pPr marL="0" indent="0">
              <a:buNone/>
            </a:pPr>
            <a:r>
              <a:rPr lang="it-IT" sz="2000"/>
              <a:t>mi_bool  = 5 &gt; = 6</a:t>
            </a:r>
          </a:p>
          <a:p>
            <a:pPr marL="0" indent="0">
              <a:buNone/>
            </a:pPr>
            <a:r>
              <a:rPr lang="it-IT" sz="2000"/>
              <a:t>print(mi_bool) </a:t>
            </a:r>
          </a:p>
          <a:p>
            <a:pPr marL="0" indent="0">
              <a:buNone/>
            </a:pPr>
            <a:r>
              <a:rPr lang="it-IT" sz="2000"/>
              <a:t>&gt;&gt; False</a:t>
            </a:r>
          </a:p>
          <a:p>
            <a:pPr marL="0" indent="0">
              <a:buNone/>
            </a:pPr>
            <a:endParaRPr lang="es-MX" sz="2000"/>
          </a:p>
          <a:p>
            <a:pPr marL="0" indent="0">
              <a:buNone/>
            </a:pPr>
            <a:r>
              <a:rPr lang="es-MX" sz="2000"/>
              <a:t>mi_bool = 10 == 2*5 </a:t>
            </a:r>
          </a:p>
          <a:p>
            <a:pPr marL="0" indent="0">
              <a:buNone/>
            </a:pPr>
            <a:r>
              <a:rPr lang="es-MX" sz="2000"/>
              <a:t>print(mi_bool) </a:t>
            </a:r>
          </a:p>
          <a:p>
            <a:pPr marL="0" indent="0">
              <a:buNone/>
            </a:pPr>
            <a:r>
              <a:rPr lang="es-MX" sz="2000"/>
              <a:t>&gt; True</a:t>
            </a:r>
          </a:p>
        </p:txBody>
      </p:sp>
      <p:sp>
        <p:nvSpPr>
          <p:cNvPr id="5" name="Marcador de número de diapositiva 4">
            <a:extLst>
              <a:ext uri="{FF2B5EF4-FFF2-40B4-BE49-F238E27FC236}">
                <a16:creationId xmlns:a16="http://schemas.microsoft.com/office/drawing/2014/main" id="{480E37CB-344D-EEE0-B119-2AAD404B6334}"/>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74</a:t>
            </a:fld>
            <a:endParaRPr lang="es-MX" sz="1100">
              <a:solidFill>
                <a:schemeClr val="tx1">
                  <a:lumMod val="50000"/>
                  <a:lumOff val="50000"/>
                </a:schemeClr>
              </a:solidFill>
            </a:endParaRPr>
          </a:p>
        </p:txBody>
      </p:sp>
    </p:spTree>
    <p:extLst>
      <p:ext uri="{BB962C8B-B14F-4D97-AF65-F5344CB8AC3E}">
        <p14:creationId xmlns:p14="http://schemas.microsoft.com/office/powerpoint/2010/main" val="32529356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2CAA866-4781-E390-1E6A-0B3AB9960257}"/>
              </a:ext>
            </a:extLst>
          </p:cNvPr>
          <p:cNvSpPr>
            <a:spLocks noGrp="1"/>
          </p:cNvSpPr>
          <p:nvPr>
            <p:ph type="title"/>
          </p:nvPr>
        </p:nvSpPr>
        <p:spPr>
          <a:xfrm>
            <a:off x="1371599" y="294538"/>
            <a:ext cx="9895951" cy="1033669"/>
          </a:xfrm>
        </p:spPr>
        <p:txBody>
          <a:bodyPr>
            <a:normAutofit/>
          </a:bodyPr>
          <a:lstStyle/>
          <a:p>
            <a:r>
              <a:rPr lang="es-MX" sz="4000" dirty="0">
                <a:solidFill>
                  <a:srgbClr val="FFFFFF"/>
                </a:solidFill>
              </a:rPr>
              <a:t>Ejercicio</a:t>
            </a:r>
          </a:p>
        </p:txBody>
      </p:sp>
      <p:sp>
        <p:nvSpPr>
          <p:cNvPr id="4" name="Marcador de pie de página 3">
            <a:extLst>
              <a:ext uri="{FF2B5EF4-FFF2-40B4-BE49-F238E27FC236}">
                <a16:creationId xmlns:a16="http://schemas.microsoft.com/office/drawing/2014/main" id="{17C9BFF0-88CF-2308-A319-3DB052580A35}"/>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29CACC31-5C00-5FD9-3F30-6376A7FAB1E9}"/>
              </a:ext>
            </a:extLst>
          </p:cNvPr>
          <p:cNvSpPr>
            <a:spLocks noGrp="1"/>
          </p:cNvSpPr>
          <p:nvPr>
            <p:ph idx="1"/>
          </p:nvPr>
        </p:nvSpPr>
        <p:spPr>
          <a:xfrm>
            <a:off x="1371599" y="2318197"/>
            <a:ext cx="9724031" cy="3683358"/>
          </a:xfrm>
        </p:spPr>
        <p:txBody>
          <a:bodyPr anchor="ctr">
            <a:normAutofit/>
          </a:bodyPr>
          <a:lstStyle/>
          <a:p>
            <a:pPr marL="0" indent="0">
              <a:buNone/>
            </a:pPr>
            <a:r>
              <a:rPr lang="es-MX" sz="2000"/>
              <a:t>mi_bool = 5 != 6 </a:t>
            </a:r>
          </a:p>
          <a:p>
            <a:pPr marL="0" indent="0">
              <a:buNone/>
            </a:pPr>
            <a:r>
              <a:rPr lang="es-MX" sz="2000"/>
              <a:t>print(mi_bool) </a:t>
            </a:r>
          </a:p>
          <a:p>
            <a:pPr marL="0" indent="0">
              <a:buNone/>
            </a:pPr>
            <a:r>
              <a:rPr lang="es-MX" sz="2000"/>
              <a:t>&gt;&gt; True</a:t>
            </a:r>
          </a:p>
          <a:p>
            <a:pPr marL="0" indent="0">
              <a:buNone/>
            </a:pPr>
            <a:endParaRPr lang="es-MX" sz="2000"/>
          </a:p>
          <a:p>
            <a:pPr marL="0" indent="0">
              <a:buNone/>
            </a:pPr>
            <a:r>
              <a:rPr lang="es-MX" sz="2000"/>
              <a:t>mi_bool = 5 &lt; 6 </a:t>
            </a:r>
          </a:p>
          <a:p>
            <a:pPr marL="0" indent="0">
              <a:buNone/>
            </a:pPr>
            <a:r>
              <a:rPr lang="es-MX" sz="2000"/>
              <a:t>print(mi_bool) </a:t>
            </a:r>
          </a:p>
          <a:p>
            <a:pPr marL="0" indent="0">
              <a:buNone/>
            </a:pPr>
            <a:r>
              <a:rPr lang="es-MX" sz="2000"/>
              <a:t>&gt;&gt; True</a:t>
            </a:r>
          </a:p>
          <a:p>
            <a:pPr marL="0" indent="0">
              <a:buNone/>
            </a:pPr>
            <a:endParaRPr lang="es-MX" sz="2000"/>
          </a:p>
        </p:txBody>
      </p:sp>
      <p:sp>
        <p:nvSpPr>
          <p:cNvPr id="5" name="Marcador de número de diapositiva 4">
            <a:extLst>
              <a:ext uri="{FF2B5EF4-FFF2-40B4-BE49-F238E27FC236}">
                <a16:creationId xmlns:a16="http://schemas.microsoft.com/office/drawing/2014/main" id="{A3634C42-0163-39F1-8CA9-088206ECAE0B}"/>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75</a:t>
            </a:fld>
            <a:endParaRPr lang="es-MX" sz="1100">
              <a:solidFill>
                <a:schemeClr val="tx1">
                  <a:lumMod val="50000"/>
                  <a:lumOff val="50000"/>
                </a:schemeClr>
              </a:solidFill>
            </a:endParaRPr>
          </a:p>
        </p:txBody>
      </p:sp>
    </p:spTree>
    <p:extLst>
      <p:ext uri="{BB962C8B-B14F-4D97-AF65-F5344CB8AC3E}">
        <p14:creationId xmlns:p14="http://schemas.microsoft.com/office/powerpoint/2010/main" val="10885172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pie de página 3">
            <a:extLst>
              <a:ext uri="{FF2B5EF4-FFF2-40B4-BE49-F238E27FC236}">
                <a16:creationId xmlns:a16="http://schemas.microsoft.com/office/drawing/2014/main" id="{17C9BFF0-88CF-2308-A319-3DB052580A35}"/>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5" name="Marcador de número de diapositiva 4">
            <a:extLst>
              <a:ext uri="{FF2B5EF4-FFF2-40B4-BE49-F238E27FC236}">
                <a16:creationId xmlns:a16="http://schemas.microsoft.com/office/drawing/2014/main" id="{A3634C42-0163-39F1-8CA9-088206ECAE0B}"/>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76</a:t>
            </a:fld>
            <a:endParaRPr lang="es-MX" sz="1100">
              <a:solidFill>
                <a:schemeClr val="tx1">
                  <a:lumMod val="50000"/>
                  <a:lumOff val="50000"/>
                </a:schemeClr>
              </a:solidFill>
            </a:endParaRPr>
          </a:p>
        </p:txBody>
      </p:sp>
      <p:sp>
        <p:nvSpPr>
          <p:cNvPr id="8" name="Título 1">
            <a:extLst>
              <a:ext uri="{FF2B5EF4-FFF2-40B4-BE49-F238E27FC236}">
                <a16:creationId xmlns:a16="http://schemas.microsoft.com/office/drawing/2014/main" id="{1E1E7B60-618F-BE08-73C8-3768CA7EFCC2}"/>
              </a:ext>
            </a:extLst>
          </p:cNvPr>
          <p:cNvSpPr>
            <a:spLocks noGrp="1"/>
          </p:cNvSpPr>
          <p:nvPr>
            <p:ph type="title"/>
          </p:nvPr>
        </p:nvSpPr>
        <p:spPr>
          <a:xfrm>
            <a:off x="1371600" y="295275"/>
            <a:ext cx="9896475" cy="1033463"/>
          </a:xfrm>
        </p:spPr>
        <p:txBody>
          <a:bodyPr/>
          <a:lstStyle/>
          <a:p>
            <a:r>
              <a:rPr lang="es-MX" dirty="0">
                <a:solidFill>
                  <a:schemeClr val="bg1"/>
                </a:solidFill>
              </a:rPr>
              <a:t>Ejercicios</a:t>
            </a:r>
          </a:p>
        </p:txBody>
      </p:sp>
      <p:sp>
        <p:nvSpPr>
          <p:cNvPr id="9" name="Marcador de contenido 8">
            <a:extLst>
              <a:ext uri="{FF2B5EF4-FFF2-40B4-BE49-F238E27FC236}">
                <a16:creationId xmlns:a16="http://schemas.microsoft.com/office/drawing/2014/main" id="{9803D997-1BD5-DB42-9AE2-58D51F56D172}"/>
              </a:ext>
            </a:extLst>
          </p:cNvPr>
          <p:cNvSpPr txBox="1">
            <a:spLocks noGrp="1"/>
          </p:cNvSpPr>
          <p:nvPr>
            <p:ph idx="1"/>
          </p:nvPr>
        </p:nvSpPr>
        <p:spPr>
          <a:xfrm>
            <a:off x="838200" y="1825625"/>
            <a:ext cx="10515600" cy="435133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800" b="0" i="0" u="none" strike="noStrike" cap="none" normalizeH="0" baseline="0" dirty="0">
                <a:ln>
                  <a:noFill/>
                </a:ln>
                <a:effectLst/>
                <a:latin typeface="udemy sans"/>
              </a:rPr>
              <a:t>Crea dos variables (</a:t>
            </a:r>
            <a:r>
              <a:rPr kumimoji="0" lang="es-MX" altLang="es-MX" sz="1600" b="0" i="0" u="none" strike="noStrike" cap="none" normalizeH="0" baseline="0" dirty="0">
                <a:ln>
                  <a:noFill/>
                </a:ln>
                <a:effectLst/>
                <a:latin typeface="sfmono-regular"/>
              </a:rPr>
              <a:t>num1</a:t>
            </a:r>
            <a:r>
              <a:rPr kumimoji="0" lang="es-MX" altLang="es-MX" sz="1800" b="0" i="0" u="none" strike="noStrike" cap="none" normalizeH="0" baseline="0" dirty="0">
                <a:ln>
                  <a:noFill/>
                </a:ln>
                <a:effectLst/>
                <a:latin typeface="udemy sans"/>
              </a:rPr>
              <a:t> y  </a:t>
            </a:r>
            <a:r>
              <a:rPr kumimoji="0" lang="es-MX" altLang="es-MX" sz="1600" b="0" i="0" u="none" strike="noStrike" cap="none" normalizeH="0" baseline="0" dirty="0">
                <a:ln>
                  <a:noFill/>
                </a:ln>
                <a:effectLst/>
                <a:latin typeface="sfmono-regular"/>
              </a:rPr>
              <a:t>num2</a:t>
            </a:r>
            <a:r>
              <a:rPr kumimoji="0" lang="es-MX" altLang="es-MX" sz="1800" b="0" i="0" u="none" strike="noStrike" cap="none" normalizeH="0" baseline="0" dirty="0">
                <a:ln>
                  <a:noFill/>
                </a:ln>
                <a:effectLst/>
                <a:latin typeface="udemy sans"/>
              </a:rPr>
              <a:t>) con los valores 36 y 17 respectivamente. Verifica si </a:t>
            </a:r>
            <a:r>
              <a:rPr kumimoji="0" lang="es-MX" altLang="es-MX" sz="1600" b="1" i="0" u="none" strike="noStrike" cap="none" normalizeH="0" baseline="0" dirty="0">
                <a:ln>
                  <a:noFill/>
                </a:ln>
                <a:effectLst/>
                <a:latin typeface="sfmono-regular"/>
              </a:rPr>
              <a:t>num1</a:t>
            </a:r>
            <a:r>
              <a:rPr kumimoji="0" lang="es-MX" altLang="es-MX" sz="1800" b="1" i="0" u="none" strike="noStrike" cap="none" normalizeH="0" baseline="0" dirty="0">
                <a:ln>
                  <a:noFill/>
                </a:ln>
                <a:effectLst/>
                <a:latin typeface="udemy sans"/>
              </a:rPr>
              <a:t> </a:t>
            </a:r>
            <a:r>
              <a:rPr kumimoji="0" lang="es-MX" altLang="es-MX" sz="1800" b="0" i="0" u="none" strike="noStrike" cap="none" normalizeH="0" baseline="0" dirty="0">
                <a:ln>
                  <a:noFill/>
                </a:ln>
                <a:effectLst/>
                <a:latin typeface="udemy sans"/>
              </a:rPr>
              <a:t>es </a:t>
            </a:r>
            <a:r>
              <a:rPr kumimoji="0" lang="es-MX" altLang="es-MX" sz="1800" b="1" i="0" u="none" strike="noStrike" cap="none" normalizeH="0" baseline="0" dirty="0">
                <a:ln>
                  <a:noFill/>
                </a:ln>
                <a:effectLst/>
                <a:latin typeface="udemy sans"/>
              </a:rPr>
              <a:t>mayor o igual</a:t>
            </a:r>
            <a:r>
              <a:rPr kumimoji="0" lang="es-MX" altLang="es-MX" sz="1800" b="0" i="0" u="none" strike="noStrike" cap="none" normalizeH="0" baseline="0" dirty="0">
                <a:ln>
                  <a:noFill/>
                </a:ln>
                <a:effectLst/>
                <a:latin typeface="udemy sans"/>
              </a:rPr>
              <a:t> que </a:t>
            </a:r>
            <a:r>
              <a:rPr kumimoji="0" lang="es-MX" altLang="es-MX" sz="1600" b="1" i="0" u="none" strike="noStrike" cap="none" normalizeH="0" baseline="0" dirty="0">
                <a:ln>
                  <a:noFill/>
                </a:ln>
                <a:effectLst/>
                <a:latin typeface="sfmono-regular"/>
              </a:rPr>
              <a:t>num2</a:t>
            </a:r>
            <a:r>
              <a:rPr kumimoji="0" lang="es-MX" altLang="es-MX" sz="1800" b="1" i="0" u="none" strike="noStrike" cap="none" normalizeH="0" baseline="0" dirty="0">
                <a:ln>
                  <a:noFill/>
                </a:ln>
                <a:effectLst/>
                <a:latin typeface="udemy sans"/>
              </a:rPr>
              <a:t> </a:t>
            </a:r>
            <a:r>
              <a:rPr kumimoji="0" lang="es-MX" altLang="es-MX" sz="1800" b="0" i="0" u="none" strike="noStrike" cap="none" normalizeH="0" baseline="0" dirty="0">
                <a:ln>
                  <a:noFill/>
                </a:ln>
                <a:effectLst/>
                <a:latin typeface="udemy sans"/>
              </a:rPr>
              <a:t>y almacena el resultado de dicha comparación en una variable llamada </a:t>
            </a:r>
            <a:r>
              <a:rPr kumimoji="0" lang="es-MX" altLang="es-MX" sz="1600" b="1" i="0" u="none" strike="noStrike" cap="none" normalizeH="0" baseline="0" dirty="0" err="1">
                <a:ln>
                  <a:noFill/>
                </a:ln>
                <a:effectLst/>
                <a:latin typeface="sfmono-regular"/>
              </a:rPr>
              <a:t>mi_bool</a:t>
            </a:r>
            <a:r>
              <a:rPr kumimoji="0" lang="es-MX" altLang="es-MX" sz="1400" b="0" i="0" u="none" strike="noStrike" cap="none" normalizeH="0" baseline="0" dirty="0">
                <a:ln>
                  <a:noFill/>
                </a:ln>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2000" b="0" i="0" u="none" strike="noStrike" cap="none" normalizeH="0" baseline="0" dirty="0">
              <a:ln>
                <a:noFill/>
              </a:ln>
              <a:solidFill>
                <a:srgbClr val="1C1D1F"/>
              </a:solidFill>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a:ln>
                  <a:noFill/>
                </a:ln>
                <a:effectLst/>
                <a:latin typeface="udemy sans"/>
              </a:rPr>
              <a:t>Dentro de </a:t>
            </a:r>
            <a:r>
              <a:rPr kumimoji="0" lang="es-MX" altLang="es-MX" sz="2000" b="0" i="0" u="none" strike="noStrike" cap="none" normalizeH="0" baseline="0" dirty="0">
                <a:ln>
                  <a:noFill/>
                </a:ln>
                <a:effectLst/>
                <a:latin typeface="sfmono-regular"/>
              </a:rPr>
              <a:t>num1</a:t>
            </a:r>
            <a:r>
              <a:rPr kumimoji="0" lang="es-MX" altLang="es-MX" sz="2000" b="0" i="0" u="none" strike="noStrike" cap="none" normalizeH="0" baseline="0" dirty="0">
                <a:ln>
                  <a:noFill/>
                </a:ln>
                <a:effectLst/>
                <a:latin typeface="udemy sans"/>
              </a:rPr>
              <a:t>, almacena el resultado de la operación </a:t>
            </a:r>
            <a:r>
              <a:rPr kumimoji="0" lang="es-MX" altLang="es-MX" sz="2000" b="0" i="1" u="none" strike="noStrike" cap="none" normalizeH="0" baseline="0" dirty="0">
                <a:ln>
                  <a:noFill/>
                </a:ln>
                <a:effectLst/>
                <a:latin typeface="udemy sans"/>
              </a:rPr>
              <a:t>raíz cuadrada</a:t>
            </a:r>
            <a:r>
              <a:rPr kumimoji="0" lang="es-MX" altLang="es-MX" sz="2000" b="0" i="0" u="none" strike="noStrike" cap="none" normalizeH="0" baseline="0" dirty="0">
                <a:ln>
                  <a:noFill/>
                </a:ln>
                <a:effectLst/>
                <a:latin typeface="udemy sans"/>
              </a:rPr>
              <a:t> de 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a:ln>
                  <a:noFill/>
                </a:ln>
                <a:effectLst/>
                <a:latin typeface="udemy sans"/>
              </a:rPr>
              <a:t>Dentro de </a:t>
            </a:r>
            <a:r>
              <a:rPr kumimoji="0" lang="es-MX" altLang="es-MX" sz="2000" b="0" i="0" u="none" strike="noStrike" cap="none" normalizeH="0" baseline="0" dirty="0">
                <a:ln>
                  <a:noFill/>
                </a:ln>
                <a:effectLst/>
                <a:latin typeface="sfmono-regular"/>
              </a:rPr>
              <a:t>num2</a:t>
            </a:r>
            <a:r>
              <a:rPr kumimoji="0" lang="es-MX" altLang="es-MX" sz="2000" b="0" i="0" u="none" strike="noStrike" cap="none" normalizeH="0" baseline="0" dirty="0">
                <a:ln>
                  <a:noFill/>
                </a:ln>
                <a:effectLst/>
                <a:latin typeface="udemy sans"/>
              </a:rPr>
              <a:t>, almacena el </a:t>
            </a:r>
            <a:r>
              <a:rPr kumimoji="0" lang="es-MX" altLang="es-MX" sz="2000" b="0" i="1" u="none" strike="noStrike" cap="none" normalizeH="0" baseline="0" dirty="0">
                <a:ln>
                  <a:noFill/>
                </a:ln>
                <a:effectLst/>
                <a:latin typeface="udemy sans"/>
              </a:rPr>
              <a:t>número </a:t>
            </a:r>
            <a:r>
              <a:rPr kumimoji="0" lang="es-MX" altLang="es-MX" sz="2000" b="0" i="0" u="none" strike="noStrike" cap="none" normalizeH="0" baseline="0" dirty="0">
                <a:ln>
                  <a:noFill/>
                </a:ln>
                <a:effectLst/>
                <a:latin typeface="udemy sans"/>
              </a:rPr>
              <a:t>5.</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effectLst/>
                <a:latin typeface="udemy sans"/>
              </a:rPr>
              <a:t>Verifica si </a:t>
            </a:r>
            <a:r>
              <a:rPr kumimoji="0" lang="es-MX" altLang="es-MX" sz="2000" b="1" i="0" u="none" strike="noStrike" cap="none" normalizeH="0" baseline="0" dirty="0">
                <a:ln>
                  <a:noFill/>
                </a:ln>
                <a:effectLst/>
                <a:latin typeface="sfmono-regular"/>
              </a:rPr>
              <a:t>num1</a:t>
            </a:r>
            <a:r>
              <a:rPr kumimoji="0" lang="es-MX" altLang="es-MX" sz="2000" b="1" i="0" u="none" strike="noStrike" cap="none" normalizeH="0" baseline="0" dirty="0">
                <a:ln>
                  <a:noFill/>
                </a:ln>
                <a:effectLst/>
                <a:latin typeface="udemy sans"/>
              </a:rPr>
              <a:t> </a:t>
            </a:r>
            <a:r>
              <a:rPr kumimoji="0" lang="es-MX" altLang="es-MX" sz="2000" b="0" i="0" u="none" strike="noStrike" cap="none" normalizeH="0" baseline="0" dirty="0">
                <a:ln>
                  <a:noFill/>
                </a:ln>
                <a:effectLst/>
                <a:latin typeface="udemy sans"/>
              </a:rPr>
              <a:t>es</a:t>
            </a:r>
            <a:r>
              <a:rPr kumimoji="0" lang="es-MX" altLang="es-MX" sz="2000" b="1" i="0" u="none" strike="noStrike" cap="none" normalizeH="0" baseline="0" dirty="0">
                <a:ln>
                  <a:noFill/>
                </a:ln>
                <a:effectLst/>
                <a:latin typeface="udemy sans"/>
              </a:rPr>
              <a:t> igual</a:t>
            </a:r>
            <a:r>
              <a:rPr kumimoji="0" lang="es-MX" altLang="es-MX" sz="2000" b="0" i="0" u="none" strike="noStrike" cap="none" normalizeH="0" baseline="0" dirty="0">
                <a:ln>
                  <a:noFill/>
                </a:ln>
                <a:effectLst/>
                <a:latin typeface="udemy sans"/>
              </a:rPr>
              <a:t> a </a:t>
            </a:r>
            <a:r>
              <a:rPr kumimoji="0" lang="es-MX" altLang="es-MX" sz="2000" b="1" i="0" u="none" strike="noStrike" cap="none" normalizeH="0" baseline="0" dirty="0">
                <a:ln>
                  <a:noFill/>
                </a:ln>
                <a:effectLst/>
                <a:latin typeface="sfmono-regular"/>
              </a:rPr>
              <a:t>num2</a:t>
            </a:r>
            <a:r>
              <a:rPr kumimoji="0" lang="es-MX" altLang="es-MX" sz="2000" b="1" i="0" u="none" strike="noStrike" cap="none" normalizeH="0" baseline="0" dirty="0">
                <a:ln>
                  <a:noFill/>
                </a:ln>
                <a:effectLst/>
                <a:latin typeface="udemy sans"/>
              </a:rPr>
              <a:t> </a:t>
            </a:r>
            <a:r>
              <a:rPr kumimoji="0" lang="es-MX" altLang="es-MX" sz="2000" b="0" i="0" u="none" strike="noStrike" cap="none" normalizeH="0" baseline="0" dirty="0">
                <a:ln>
                  <a:noFill/>
                </a:ln>
                <a:effectLst/>
                <a:latin typeface="udemy sans"/>
              </a:rPr>
              <a:t>y almacena el resultado de dicha comparación en una variable llamada </a:t>
            </a:r>
            <a:r>
              <a:rPr kumimoji="0" lang="es-MX" altLang="es-MX" sz="2000" b="1" i="0" u="none" strike="noStrike" cap="none" normalizeH="0" baseline="0" dirty="0" err="1">
                <a:ln>
                  <a:noFill/>
                </a:ln>
                <a:effectLst/>
                <a:latin typeface="sfmono-regular"/>
              </a:rPr>
              <a:t>mi_bool</a:t>
            </a:r>
            <a:r>
              <a:rPr kumimoji="0" lang="es-MX" altLang="es-MX" sz="2000" b="1" i="0" u="none" strike="noStrike" cap="none" normalizeH="0" baseline="0" dirty="0">
                <a:ln>
                  <a:noFill/>
                </a:ln>
                <a:effectLst/>
                <a:latin typeface="udemy sans"/>
              </a:rPr>
              <a:t>.</a:t>
            </a:r>
            <a:endParaRPr kumimoji="0" lang="es-MX" altLang="es-MX" sz="20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2400" b="0" i="0" u="none" strike="noStrike" cap="none" normalizeH="0" baseline="0" dirty="0">
              <a:ln>
                <a:noFill/>
              </a:ln>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400" b="0" i="0" u="none" strike="noStrike" cap="none" normalizeH="0" baseline="0" dirty="0">
                <a:ln>
                  <a:noFill/>
                </a:ln>
                <a:effectLst/>
                <a:latin typeface="udemy sans"/>
              </a:rPr>
              <a:t>Crea dos variables (</a:t>
            </a:r>
            <a:r>
              <a:rPr kumimoji="0" lang="es-MX" altLang="es-MX" sz="2400" b="0" i="0" u="none" strike="noStrike" cap="none" normalizeH="0" baseline="0" dirty="0">
                <a:ln>
                  <a:noFill/>
                </a:ln>
                <a:effectLst/>
                <a:latin typeface="sfmono-regular"/>
              </a:rPr>
              <a:t>num1</a:t>
            </a:r>
            <a:r>
              <a:rPr kumimoji="0" lang="es-MX" altLang="es-MX" sz="2400" b="0" i="0" u="none" strike="noStrike" cap="none" normalizeH="0" baseline="0" dirty="0">
                <a:ln>
                  <a:noFill/>
                </a:ln>
                <a:effectLst/>
                <a:latin typeface="udemy sans"/>
              </a:rPr>
              <a:t> y  </a:t>
            </a:r>
            <a:r>
              <a:rPr kumimoji="0" lang="es-MX" altLang="es-MX" sz="2400" b="0" i="0" u="none" strike="noStrike" cap="none" normalizeH="0" baseline="0" dirty="0">
                <a:ln>
                  <a:noFill/>
                </a:ln>
                <a:effectLst/>
                <a:latin typeface="sfmono-regular"/>
              </a:rPr>
              <a:t>num2</a:t>
            </a:r>
            <a:r>
              <a:rPr kumimoji="0" lang="es-MX" altLang="es-MX" sz="2400" b="0" i="0" u="none" strike="noStrike" cap="none" normalizeH="0" baseline="0" dirty="0">
                <a:ln>
                  <a:noFill/>
                </a:ln>
                <a:effectLst/>
                <a:latin typeface="udemy sans"/>
              </a:rPr>
              <a:t>):</a:t>
            </a:r>
            <a:endParaRPr kumimoji="0" lang="es-MX" altLang="es-MX" sz="24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0" i="0" u="none" strike="noStrike" cap="none" normalizeH="0" baseline="0" dirty="0">
                <a:ln>
                  <a:noFill/>
                </a:ln>
                <a:effectLst/>
                <a:latin typeface="udemy sans"/>
              </a:rPr>
              <a:t>Dentro de </a:t>
            </a:r>
            <a:r>
              <a:rPr kumimoji="0" lang="es-MX" altLang="es-MX" sz="2400" b="0" i="0" u="none" strike="noStrike" cap="none" normalizeH="0" baseline="0" dirty="0">
                <a:ln>
                  <a:noFill/>
                </a:ln>
                <a:effectLst/>
                <a:latin typeface="sfmono-regular"/>
              </a:rPr>
              <a:t>num1</a:t>
            </a:r>
            <a:r>
              <a:rPr kumimoji="0" lang="es-MX" altLang="es-MX" sz="2400" b="0" i="0" u="none" strike="noStrike" cap="none" normalizeH="0" baseline="0" dirty="0">
                <a:ln>
                  <a:noFill/>
                </a:ln>
                <a:effectLst/>
                <a:latin typeface="udemy sans"/>
              </a:rPr>
              <a:t>, almacena el resultado de la operación </a:t>
            </a:r>
            <a:r>
              <a:rPr kumimoji="0" lang="es-MX" altLang="es-MX" sz="2400" b="1" i="0" u="none" strike="noStrike" cap="none" normalizeH="0" baseline="0" dirty="0">
                <a:ln>
                  <a:noFill/>
                </a:ln>
                <a:effectLst/>
                <a:latin typeface="udemy sans"/>
              </a:rPr>
              <a:t>64 x 3</a:t>
            </a:r>
            <a:endParaRPr kumimoji="0" lang="es-MX" altLang="es-MX" sz="2400" b="0" i="0" u="none" strike="noStrike" cap="none" normalizeH="0" baseline="0" dirty="0">
              <a:ln>
                <a:noFill/>
              </a:ln>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0" i="0" u="none" strike="noStrike" cap="none" normalizeH="0" baseline="0" dirty="0">
                <a:ln>
                  <a:noFill/>
                </a:ln>
                <a:effectLst/>
                <a:latin typeface="udemy sans"/>
              </a:rPr>
              <a:t>Dentro de </a:t>
            </a:r>
            <a:r>
              <a:rPr kumimoji="0" lang="es-MX" altLang="es-MX" sz="2400" b="0" i="0" u="none" strike="noStrike" cap="none" normalizeH="0" baseline="0" dirty="0">
                <a:ln>
                  <a:noFill/>
                </a:ln>
                <a:effectLst/>
                <a:latin typeface="sfmono-regular"/>
              </a:rPr>
              <a:t>num2</a:t>
            </a:r>
            <a:r>
              <a:rPr kumimoji="0" lang="es-MX" altLang="es-MX" sz="2400" b="0" i="0" u="none" strike="noStrike" cap="none" normalizeH="0" baseline="0" dirty="0">
                <a:ln>
                  <a:noFill/>
                </a:ln>
                <a:effectLst/>
                <a:latin typeface="udemy sans"/>
              </a:rPr>
              <a:t>, almacena el resultado de la operación </a:t>
            </a:r>
            <a:r>
              <a:rPr kumimoji="0" lang="es-MX" altLang="es-MX" sz="2400" b="1" i="0" u="none" strike="noStrike" cap="none" normalizeH="0" baseline="0" dirty="0">
                <a:ln>
                  <a:noFill/>
                </a:ln>
                <a:effectLst/>
                <a:latin typeface="udemy sans"/>
              </a:rPr>
              <a:t>24 x 8</a:t>
            </a:r>
            <a:endParaRPr kumimoji="0" lang="es-MX" altLang="es-MX" sz="2400" b="0" i="0" u="none" strike="noStrike" cap="none" normalizeH="0" baseline="0" dirty="0">
              <a:ln>
                <a:noFill/>
              </a:ln>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400" b="0" i="0" u="none" strike="noStrike" cap="none" normalizeH="0" baseline="0" dirty="0">
                <a:ln>
                  <a:noFill/>
                </a:ln>
                <a:effectLst/>
                <a:latin typeface="udemy sans"/>
              </a:rPr>
              <a:t>Verifica si </a:t>
            </a:r>
            <a:r>
              <a:rPr kumimoji="0" lang="es-MX" altLang="es-MX" sz="2400" b="1" i="0" u="none" strike="noStrike" cap="none" normalizeH="0" baseline="0" dirty="0">
                <a:ln>
                  <a:noFill/>
                </a:ln>
                <a:effectLst/>
                <a:latin typeface="sfmono-regular"/>
              </a:rPr>
              <a:t>num1</a:t>
            </a:r>
            <a:r>
              <a:rPr kumimoji="0" lang="es-MX" altLang="es-MX" sz="2400" b="1" i="0" u="none" strike="noStrike" cap="none" normalizeH="0" baseline="0" dirty="0">
                <a:ln>
                  <a:noFill/>
                </a:ln>
                <a:effectLst/>
                <a:latin typeface="udemy sans"/>
              </a:rPr>
              <a:t> </a:t>
            </a:r>
            <a:r>
              <a:rPr kumimoji="0" lang="es-MX" altLang="es-MX" sz="2400" b="0" i="0" u="none" strike="noStrike" cap="none" normalizeH="0" baseline="0" dirty="0">
                <a:ln>
                  <a:noFill/>
                </a:ln>
                <a:effectLst/>
                <a:latin typeface="udemy sans"/>
              </a:rPr>
              <a:t>es</a:t>
            </a:r>
            <a:r>
              <a:rPr kumimoji="0" lang="es-MX" altLang="es-MX" sz="2400" b="1" i="0" u="none" strike="noStrike" cap="none" normalizeH="0" baseline="0" dirty="0">
                <a:ln>
                  <a:noFill/>
                </a:ln>
                <a:effectLst/>
                <a:latin typeface="udemy sans"/>
              </a:rPr>
              <a:t> diferente </a:t>
            </a:r>
            <a:r>
              <a:rPr kumimoji="0" lang="es-MX" altLang="es-MX" sz="2400" b="0" i="0" u="none" strike="noStrike" cap="none" normalizeH="0" baseline="0" dirty="0">
                <a:ln>
                  <a:noFill/>
                </a:ln>
                <a:effectLst/>
                <a:latin typeface="udemy sans"/>
              </a:rPr>
              <a:t>a </a:t>
            </a:r>
            <a:r>
              <a:rPr kumimoji="0" lang="es-MX" altLang="es-MX" sz="2400" b="1" i="0" u="none" strike="noStrike" cap="none" normalizeH="0" baseline="0" dirty="0">
                <a:ln>
                  <a:noFill/>
                </a:ln>
                <a:effectLst/>
                <a:latin typeface="sfmono-regular"/>
              </a:rPr>
              <a:t>num2</a:t>
            </a:r>
            <a:r>
              <a:rPr kumimoji="0" lang="es-MX" altLang="es-MX" sz="2400" b="1" i="0" u="none" strike="noStrike" cap="none" normalizeH="0" baseline="0" dirty="0">
                <a:ln>
                  <a:noFill/>
                </a:ln>
                <a:effectLst/>
                <a:latin typeface="udemy sans"/>
              </a:rPr>
              <a:t> </a:t>
            </a:r>
            <a:r>
              <a:rPr kumimoji="0" lang="es-MX" altLang="es-MX" sz="2400" b="0" i="0" u="none" strike="noStrike" cap="none" normalizeH="0" baseline="0" dirty="0">
                <a:ln>
                  <a:noFill/>
                </a:ln>
                <a:effectLst/>
                <a:latin typeface="udemy sans"/>
              </a:rPr>
              <a:t>y almacena el resultado de dicha comparación en una variable llamada </a:t>
            </a:r>
            <a:r>
              <a:rPr kumimoji="0" lang="es-MX" altLang="es-MX" sz="2400" b="1" i="0" u="none" strike="noStrike" cap="none" normalizeH="0" baseline="0" dirty="0" err="1">
                <a:ln>
                  <a:noFill/>
                </a:ln>
                <a:effectLst/>
                <a:latin typeface="sfmono-regular"/>
              </a:rPr>
              <a:t>mi_bool</a:t>
            </a:r>
            <a:endParaRPr kumimoji="0" lang="es-MX" altLang="es-MX" sz="24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8760019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1E646618-0938-D595-7175-550EFAF33791}"/>
              </a:ext>
            </a:extLst>
          </p:cNvPr>
          <p:cNvSpPr>
            <a:spLocks noGrp="1"/>
          </p:cNvSpPr>
          <p:nvPr>
            <p:ph type="title"/>
          </p:nvPr>
        </p:nvSpPr>
        <p:spPr>
          <a:xfrm>
            <a:off x="1371597" y="348865"/>
            <a:ext cx="10044023" cy="877729"/>
          </a:xfrm>
        </p:spPr>
        <p:txBody>
          <a:bodyPr anchor="ctr">
            <a:normAutofit/>
          </a:bodyPr>
          <a:lstStyle/>
          <a:p>
            <a:r>
              <a:rPr lang="es-MX" sz="4000">
                <a:solidFill>
                  <a:srgbClr val="FFFFFF"/>
                </a:solidFill>
              </a:rPr>
              <a:t>Operadores lógicos</a:t>
            </a:r>
          </a:p>
        </p:txBody>
      </p:sp>
      <p:sp>
        <p:nvSpPr>
          <p:cNvPr id="4" name="Marcador de pie de página 3">
            <a:extLst>
              <a:ext uri="{FF2B5EF4-FFF2-40B4-BE49-F238E27FC236}">
                <a16:creationId xmlns:a16="http://schemas.microsoft.com/office/drawing/2014/main" id="{56591F19-9320-00F5-9F90-EEFBC6AF0119}"/>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5" name="Marcador de número de diapositiva 4">
            <a:extLst>
              <a:ext uri="{FF2B5EF4-FFF2-40B4-BE49-F238E27FC236}">
                <a16:creationId xmlns:a16="http://schemas.microsoft.com/office/drawing/2014/main" id="{EDB7E0AE-BABA-A753-49EC-EAAF957CED17}"/>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77</a:t>
            </a:fld>
            <a:endParaRPr lang="es-MX" sz="1100">
              <a:solidFill>
                <a:schemeClr val="tx1">
                  <a:lumMod val="50000"/>
                  <a:lumOff val="50000"/>
                </a:schemeClr>
              </a:solidFill>
            </a:endParaRPr>
          </a:p>
        </p:txBody>
      </p:sp>
      <p:graphicFrame>
        <p:nvGraphicFramePr>
          <p:cNvPr id="23" name="Marcador de contenido 2">
            <a:extLst>
              <a:ext uri="{FF2B5EF4-FFF2-40B4-BE49-F238E27FC236}">
                <a16:creationId xmlns:a16="http://schemas.microsoft.com/office/drawing/2014/main" id="{6B67D622-4E6C-3940-307E-411B05F00D7E}"/>
              </a:ext>
            </a:extLst>
          </p:cNvPr>
          <p:cNvGraphicFramePr>
            <a:graphicFrameLocks noGrp="1"/>
          </p:cNvGraphicFramePr>
          <p:nvPr>
            <p:ph idx="1"/>
            <p:extLst>
              <p:ext uri="{D42A27DB-BD31-4B8C-83A1-F6EECF244321}">
                <p14:modId xmlns:p14="http://schemas.microsoft.com/office/powerpoint/2010/main" val="393466085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311653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72A2E99-C28A-6F26-ED10-3AEBFB758A1B}"/>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dirty="0" err="1">
                <a:solidFill>
                  <a:srgbClr val="FFFFFF"/>
                </a:solidFill>
                <a:latin typeface="+mj-lt"/>
                <a:ea typeface="+mj-ea"/>
                <a:cs typeface="+mj-cs"/>
              </a:rPr>
              <a:t>Ejercicio</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3BA310C0-7BA9-9230-1FE7-C7D26D0B0518}"/>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27470CCD-01E0-8598-683F-A14FE330B9CB}"/>
              </a:ext>
            </a:extLst>
          </p:cNvPr>
          <p:cNvSpPr txBox="1"/>
          <p:nvPr/>
        </p:nvSpPr>
        <p:spPr>
          <a:xfrm>
            <a:off x="1371599" y="2319852"/>
            <a:ext cx="9724031" cy="4832686"/>
          </a:xfrm>
          <a:prstGeom prst="rect">
            <a:avLst/>
          </a:prstGeom>
        </p:spPr>
        <p:txBody>
          <a:bodyPr vert="horz" lIns="91440" tIns="45720" rIns="91440" bIns="45720" rtlCol="0" anchor="ctr">
            <a:normAutofit lnSpcReduction="10000"/>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300" b="0" i="0" u="none" strike="noStrike" cap="none" normalizeH="0" baseline="0" dirty="0" err="1">
                <a:ln>
                  <a:noFill/>
                </a:ln>
                <a:effectLst/>
              </a:rPr>
              <a:t>Crea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tres</a:t>
            </a:r>
            <a:r>
              <a:rPr kumimoji="0" lang="en-US" altLang="es-MX" sz="1300" b="0" i="0" u="none" strike="noStrike" cap="none" normalizeH="0" baseline="0" dirty="0">
                <a:ln>
                  <a:noFill/>
                </a:ln>
                <a:effectLst/>
              </a:rPr>
              <a:t> variables (num1 ,  num2 y num3):</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300" b="0" i="0" u="none" strike="noStrike" cap="none" normalizeH="0" baseline="0" dirty="0" err="1">
                <a:ln>
                  <a:noFill/>
                </a:ln>
                <a:effectLst/>
              </a:rPr>
              <a:t>Dentro</a:t>
            </a:r>
            <a:r>
              <a:rPr kumimoji="0" lang="en-US" altLang="es-MX" sz="1300" b="0" i="0" u="none" strike="noStrike" cap="none" normalizeH="0" baseline="0" dirty="0">
                <a:ln>
                  <a:noFill/>
                </a:ln>
                <a:effectLst/>
              </a:rPr>
              <a:t> de num1, </a:t>
            </a:r>
            <a:r>
              <a:rPr kumimoji="0" lang="en-US" altLang="es-MX" sz="1300" b="0" i="0" u="none" strike="noStrike" cap="none" normalizeH="0" baseline="0" dirty="0" err="1">
                <a:ln>
                  <a:noFill/>
                </a:ln>
                <a:effectLst/>
              </a:rPr>
              <a:t>almacena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el</a:t>
            </a:r>
            <a:r>
              <a:rPr kumimoji="0" lang="en-US" altLang="es-MX" sz="1300" b="0" i="0" u="none" strike="noStrike" cap="none" normalizeH="0" baseline="0" dirty="0">
                <a:ln>
                  <a:noFill/>
                </a:ln>
                <a:effectLst/>
              </a:rPr>
              <a:t> valor 36</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300" b="0" i="0" u="none" strike="noStrike" cap="none" normalizeH="0" baseline="0" dirty="0" err="1">
                <a:ln>
                  <a:noFill/>
                </a:ln>
                <a:effectLst/>
              </a:rPr>
              <a:t>Dentro</a:t>
            </a:r>
            <a:r>
              <a:rPr kumimoji="0" lang="en-US" altLang="es-MX" sz="1300" b="0" i="0" u="none" strike="noStrike" cap="none" normalizeH="0" baseline="0" dirty="0">
                <a:ln>
                  <a:noFill/>
                </a:ln>
                <a:effectLst/>
              </a:rPr>
              <a:t> de num2, </a:t>
            </a:r>
            <a:r>
              <a:rPr kumimoji="0" lang="en-US" altLang="es-MX" sz="1300" b="0" i="0" u="none" strike="noStrike" cap="none" normalizeH="0" baseline="0" dirty="0" err="1">
                <a:ln>
                  <a:noFill/>
                </a:ln>
                <a:effectLst/>
              </a:rPr>
              <a:t>almacena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el</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resultado</a:t>
            </a:r>
            <a:r>
              <a:rPr kumimoji="0" lang="en-US" altLang="es-MX" sz="1300" b="0" i="0" u="none" strike="noStrike" cap="none" normalizeH="0" baseline="0" dirty="0">
                <a:ln>
                  <a:noFill/>
                </a:ln>
                <a:effectLst/>
              </a:rPr>
              <a:t> de la </a:t>
            </a:r>
            <a:r>
              <a:rPr kumimoji="0" lang="en-US" altLang="es-MX" sz="1300" b="0" i="0" u="none" strike="noStrike" cap="none" normalizeH="0" baseline="0" dirty="0" err="1">
                <a:ln>
                  <a:noFill/>
                </a:ln>
                <a:effectLst/>
              </a:rPr>
              <a:t>operación</a:t>
            </a:r>
            <a:r>
              <a:rPr kumimoji="0" lang="en-US" altLang="es-MX" sz="1300" b="0" i="0" u="none" strike="noStrike" cap="none" normalizeH="0" baseline="0" dirty="0">
                <a:ln>
                  <a:noFill/>
                </a:ln>
                <a:effectLst/>
              </a:rPr>
              <a:t> </a:t>
            </a:r>
            <a:r>
              <a:rPr kumimoji="0" lang="en-US" altLang="es-MX" sz="1300" b="1" i="0" u="none" strike="noStrike" cap="none" normalizeH="0" baseline="0" dirty="0">
                <a:ln>
                  <a:noFill/>
                </a:ln>
                <a:effectLst/>
              </a:rPr>
              <a:t>72/2</a:t>
            </a:r>
            <a:endParaRPr kumimoji="0" lang="en-US" altLang="es-MX" sz="13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300" b="0" i="0" u="none" strike="noStrike" cap="none" normalizeH="0" baseline="0" dirty="0" err="1">
                <a:ln>
                  <a:noFill/>
                </a:ln>
                <a:effectLst/>
              </a:rPr>
              <a:t>Dentro</a:t>
            </a:r>
            <a:r>
              <a:rPr kumimoji="0" lang="en-US" altLang="es-MX" sz="1300" b="0" i="0" u="none" strike="noStrike" cap="none" normalizeH="0" baseline="0" dirty="0">
                <a:ln>
                  <a:noFill/>
                </a:ln>
                <a:effectLst/>
              </a:rPr>
              <a:t> de num3, </a:t>
            </a:r>
            <a:r>
              <a:rPr kumimoji="0" lang="en-US" altLang="es-MX" sz="1300" b="0" i="0" u="none" strike="noStrike" cap="none" normalizeH="0" baseline="0" dirty="0" err="1">
                <a:ln>
                  <a:noFill/>
                </a:ln>
                <a:effectLst/>
              </a:rPr>
              <a:t>almacena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el</a:t>
            </a:r>
            <a:r>
              <a:rPr kumimoji="0" lang="en-US" altLang="es-MX" sz="1300" b="0" i="0" u="none" strike="noStrike" cap="none" normalizeH="0" baseline="0" dirty="0">
                <a:ln>
                  <a:noFill/>
                </a:ln>
                <a:effectLst/>
              </a:rPr>
              <a:t> valor 48</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300" b="0" i="0" u="none" strike="noStrike" cap="none" normalizeH="0" baseline="0" dirty="0" err="1">
                <a:ln>
                  <a:noFill/>
                </a:ln>
                <a:effectLst/>
              </a:rPr>
              <a:t>Verifica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si</a:t>
            </a:r>
            <a:r>
              <a:rPr kumimoji="0" lang="en-US" altLang="es-MX" sz="1300" b="0" i="0" u="none" strike="noStrike" cap="none" normalizeH="0" baseline="0" dirty="0">
                <a:ln>
                  <a:noFill/>
                </a:ln>
                <a:effectLst/>
              </a:rPr>
              <a:t> </a:t>
            </a:r>
            <a:r>
              <a:rPr kumimoji="0" lang="en-US" altLang="es-MX" sz="1300" b="1" i="0" u="none" strike="noStrike" cap="none" normalizeH="0" baseline="0" dirty="0">
                <a:ln>
                  <a:noFill/>
                </a:ln>
                <a:effectLst/>
              </a:rPr>
              <a:t>num1 </a:t>
            </a:r>
            <a:r>
              <a:rPr kumimoji="0" lang="en-US" altLang="es-MX" sz="1300" b="0" i="0" u="none" strike="noStrike" cap="none" normalizeH="0" baseline="0" dirty="0">
                <a:ln>
                  <a:noFill/>
                </a:ln>
                <a:effectLst/>
              </a:rPr>
              <a:t>es</a:t>
            </a:r>
            <a:r>
              <a:rPr kumimoji="0" lang="en-US" altLang="es-MX" sz="1300" b="1" i="0" u="none" strike="noStrike" cap="none" normalizeH="0" baseline="0" dirty="0">
                <a:ln>
                  <a:noFill/>
                </a:ln>
                <a:effectLst/>
              </a:rPr>
              <a:t> mayor que</a:t>
            </a:r>
            <a:r>
              <a:rPr kumimoji="0" lang="en-US" altLang="es-MX" sz="1300" b="0" i="0" u="none" strike="noStrike" cap="none" normalizeH="0" baseline="0" dirty="0">
                <a:ln>
                  <a:noFill/>
                </a:ln>
                <a:effectLst/>
              </a:rPr>
              <a:t> </a:t>
            </a:r>
            <a:r>
              <a:rPr kumimoji="0" lang="en-US" altLang="es-MX" sz="1300" b="1" i="0" u="none" strike="noStrike" cap="none" normalizeH="0" baseline="0" dirty="0">
                <a:ln>
                  <a:noFill/>
                </a:ln>
                <a:effectLst/>
              </a:rPr>
              <a:t>num2</a:t>
            </a:r>
            <a:r>
              <a:rPr kumimoji="0" lang="en-US" altLang="es-MX" sz="1300" b="0" i="0" u="none" strike="noStrike" cap="none" normalizeH="0" baseline="0" dirty="0">
                <a:ln>
                  <a:noFill/>
                </a:ln>
                <a:effectLst/>
              </a:rPr>
              <a:t>, </a:t>
            </a:r>
            <a:r>
              <a:rPr kumimoji="0" lang="en-US" altLang="es-MX" sz="1300" b="1" i="1" u="none" strike="noStrike" cap="none" normalizeH="0" baseline="0" dirty="0">
                <a:ln>
                  <a:noFill/>
                </a:ln>
                <a:effectLst/>
              </a:rPr>
              <a:t>y</a:t>
            </a:r>
            <a:r>
              <a:rPr kumimoji="0" lang="en-US" altLang="es-MX" sz="1300" b="0" i="0" u="none" strike="noStrike" cap="none" normalizeH="0" baseline="0" dirty="0">
                <a:ln>
                  <a:noFill/>
                </a:ln>
                <a:effectLst/>
              </a:rPr>
              <a:t> </a:t>
            </a:r>
            <a:r>
              <a:rPr kumimoji="0" lang="en-US" altLang="es-MX" sz="1300" b="1" i="0" u="none" strike="noStrike" cap="none" normalizeH="0" baseline="0" dirty="0" err="1">
                <a:ln>
                  <a:noFill/>
                </a:ln>
                <a:effectLst/>
              </a:rPr>
              <a:t>menor</a:t>
            </a:r>
            <a:r>
              <a:rPr kumimoji="0" lang="en-US" altLang="es-MX" sz="1300" b="1" i="0" u="none" strike="noStrike" cap="none" normalizeH="0" baseline="0" dirty="0">
                <a:ln>
                  <a:noFill/>
                </a:ln>
                <a:effectLst/>
              </a:rPr>
              <a:t> que num3.</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Almacena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el</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resultado</a:t>
            </a:r>
            <a:r>
              <a:rPr kumimoji="0" lang="en-US" altLang="es-MX" sz="1300" b="0" i="0" u="none" strike="noStrike" cap="none" normalizeH="0" baseline="0" dirty="0">
                <a:ln>
                  <a:noFill/>
                </a:ln>
                <a:effectLst/>
              </a:rPr>
              <a:t> de </a:t>
            </a:r>
            <a:r>
              <a:rPr kumimoji="0" lang="en-US" altLang="es-MX" sz="1300" b="0" i="0" u="none" strike="noStrike" cap="none" normalizeH="0" baseline="0" dirty="0" err="1">
                <a:ln>
                  <a:noFill/>
                </a:ln>
                <a:effectLst/>
              </a:rPr>
              <a:t>dicha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comparación</a:t>
            </a:r>
            <a:r>
              <a:rPr kumimoji="0" lang="en-US" altLang="es-MX" sz="1300" b="0" i="0" u="none" strike="noStrike" cap="none" normalizeH="0" baseline="0" dirty="0">
                <a:ln>
                  <a:noFill/>
                </a:ln>
                <a:effectLst/>
              </a:rPr>
              <a:t> en una variable </a:t>
            </a:r>
            <a:r>
              <a:rPr kumimoji="0" lang="en-US" altLang="es-MX" sz="1300" b="0" i="0" u="none" strike="noStrike" cap="none" normalizeH="0" baseline="0" dirty="0" err="1">
                <a:ln>
                  <a:noFill/>
                </a:ln>
                <a:effectLst/>
              </a:rPr>
              <a:t>llamada</a:t>
            </a:r>
            <a:r>
              <a:rPr kumimoji="0" lang="en-US" altLang="es-MX" sz="1300" b="0" i="0" u="none" strike="noStrike" cap="none" normalizeH="0" baseline="0" dirty="0">
                <a:ln>
                  <a:noFill/>
                </a:ln>
                <a:effectLst/>
              </a:rPr>
              <a:t> </a:t>
            </a:r>
            <a:r>
              <a:rPr kumimoji="0" lang="en-US" altLang="es-MX" sz="1300" b="1" i="0" u="none" strike="noStrike" cap="none" normalizeH="0" baseline="0" dirty="0" err="1">
                <a:ln>
                  <a:noFill/>
                </a:ln>
                <a:effectLst/>
              </a:rPr>
              <a:t>mi_bool</a:t>
            </a:r>
            <a:r>
              <a:rPr kumimoji="0" lang="en-US" altLang="es-MX" sz="1300" b="1" i="0" u="none" strike="noStrike" cap="none" normalizeH="0" baseline="0" dirty="0">
                <a:ln>
                  <a:noFill/>
                </a:ln>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s-MX" sz="1300" b="1" dirty="0"/>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300" b="0" i="0" u="none" strike="noStrike" cap="none" normalizeH="0" baseline="0" dirty="0" err="1">
                <a:ln>
                  <a:noFill/>
                </a:ln>
                <a:effectLst/>
              </a:rPr>
              <a:t>Crea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tres</a:t>
            </a:r>
            <a:r>
              <a:rPr kumimoji="0" lang="en-US" altLang="es-MX" sz="1300" b="0" i="0" u="none" strike="noStrike" cap="none" normalizeH="0" baseline="0" dirty="0">
                <a:ln>
                  <a:noFill/>
                </a:ln>
                <a:effectLst/>
              </a:rPr>
              <a:t> variables (num1 ,  num2 y num3):</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300" b="0" i="0" u="none" strike="noStrike" cap="none" normalizeH="0" baseline="0" dirty="0" err="1">
                <a:ln>
                  <a:noFill/>
                </a:ln>
                <a:effectLst/>
              </a:rPr>
              <a:t>Dentro</a:t>
            </a:r>
            <a:r>
              <a:rPr kumimoji="0" lang="en-US" altLang="es-MX" sz="1300" b="0" i="0" u="none" strike="noStrike" cap="none" normalizeH="0" baseline="0" dirty="0">
                <a:ln>
                  <a:noFill/>
                </a:ln>
                <a:effectLst/>
              </a:rPr>
              <a:t> de num1, </a:t>
            </a:r>
            <a:r>
              <a:rPr kumimoji="0" lang="en-US" altLang="es-MX" sz="1300" b="0" i="0" u="none" strike="noStrike" cap="none" normalizeH="0" baseline="0" dirty="0" err="1">
                <a:ln>
                  <a:noFill/>
                </a:ln>
                <a:effectLst/>
              </a:rPr>
              <a:t>almacena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el</a:t>
            </a:r>
            <a:r>
              <a:rPr kumimoji="0" lang="en-US" altLang="es-MX" sz="1300" b="0" i="0" u="none" strike="noStrike" cap="none" normalizeH="0" baseline="0" dirty="0">
                <a:ln>
                  <a:noFill/>
                </a:ln>
                <a:effectLst/>
              </a:rPr>
              <a:t> valor 36</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300" b="0" i="0" u="none" strike="noStrike" cap="none" normalizeH="0" baseline="0" dirty="0" err="1">
                <a:ln>
                  <a:noFill/>
                </a:ln>
                <a:effectLst/>
              </a:rPr>
              <a:t>Dentro</a:t>
            </a:r>
            <a:r>
              <a:rPr kumimoji="0" lang="en-US" altLang="es-MX" sz="1300" b="0" i="0" u="none" strike="noStrike" cap="none" normalizeH="0" baseline="0" dirty="0">
                <a:ln>
                  <a:noFill/>
                </a:ln>
                <a:effectLst/>
              </a:rPr>
              <a:t> de num2, </a:t>
            </a:r>
            <a:r>
              <a:rPr kumimoji="0" lang="en-US" altLang="es-MX" sz="1300" b="0" i="0" u="none" strike="noStrike" cap="none" normalizeH="0" baseline="0" dirty="0" err="1">
                <a:ln>
                  <a:noFill/>
                </a:ln>
                <a:effectLst/>
              </a:rPr>
              <a:t>almacena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el</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resultado</a:t>
            </a:r>
            <a:r>
              <a:rPr kumimoji="0" lang="en-US" altLang="es-MX" sz="1300" b="0" i="0" u="none" strike="noStrike" cap="none" normalizeH="0" baseline="0" dirty="0">
                <a:ln>
                  <a:noFill/>
                </a:ln>
                <a:effectLst/>
              </a:rPr>
              <a:t> de la </a:t>
            </a:r>
            <a:r>
              <a:rPr kumimoji="0" lang="en-US" altLang="es-MX" sz="1300" b="0" i="0" u="none" strike="noStrike" cap="none" normalizeH="0" baseline="0" dirty="0" err="1">
                <a:ln>
                  <a:noFill/>
                </a:ln>
                <a:effectLst/>
              </a:rPr>
              <a:t>operación</a:t>
            </a:r>
            <a:r>
              <a:rPr kumimoji="0" lang="en-US" altLang="es-MX" sz="1300" b="0" i="0" u="none" strike="noStrike" cap="none" normalizeH="0" baseline="0" dirty="0">
                <a:ln>
                  <a:noFill/>
                </a:ln>
                <a:effectLst/>
              </a:rPr>
              <a:t> </a:t>
            </a:r>
            <a:r>
              <a:rPr kumimoji="0" lang="en-US" altLang="es-MX" sz="1300" b="1" i="0" u="none" strike="noStrike" cap="none" normalizeH="0" baseline="0" dirty="0">
                <a:ln>
                  <a:noFill/>
                </a:ln>
                <a:effectLst/>
              </a:rPr>
              <a:t>72/2</a:t>
            </a:r>
            <a:endParaRPr kumimoji="0" lang="en-US" altLang="es-MX" sz="13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300" b="0" i="0" u="none" strike="noStrike" cap="none" normalizeH="0" baseline="0" dirty="0" err="1">
                <a:ln>
                  <a:noFill/>
                </a:ln>
                <a:effectLst/>
              </a:rPr>
              <a:t>Dentro</a:t>
            </a:r>
            <a:r>
              <a:rPr kumimoji="0" lang="en-US" altLang="es-MX" sz="1300" b="0" i="0" u="none" strike="noStrike" cap="none" normalizeH="0" baseline="0" dirty="0">
                <a:ln>
                  <a:noFill/>
                </a:ln>
                <a:effectLst/>
              </a:rPr>
              <a:t> de num3, </a:t>
            </a:r>
            <a:r>
              <a:rPr kumimoji="0" lang="en-US" altLang="es-MX" sz="1300" b="0" i="0" u="none" strike="noStrike" cap="none" normalizeH="0" baseline="0" dirty="0" err="1">
                <a:ln>
                  <a:noFill/>
                </a:ln>
                <a:effectLst/>
              </a:rPr>
              <a:t>almacena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el</a:t>
            </a:r>
            <a:r>
              <a:rPr kumimoji="0" lang="en-US" altLang="es-MX" sz="1300" b="0" i="0" u="none" strike="noStrike" cap="none" normalizeH="0" baseline="0" dirty="0">
                <a:ln>
                  <a:noFill/>
                </a:ln>
                <a:effectLst/>
              </a:rPr>
              <a:t> valor 48</a:t>
            </a:r>
          </a:p>
          <a:p>
            <a:pPr indent="-228600" fontAlgn="base">
              <a:lnSpc>
                <a:spcPct val="90000"/>
              </a:lnSpc>
              <a:spcBef>
                <a:spcPct val="0"/>
              </a:spcBef>
              <a:spcAft>
                <a:spcPts val="600"/>
              </a:spcAft>
              <a:buFont typeface="Arial" panose="020B0604020202020204" pitchFamily="34" charset="0"/>
              <a:buChar char="•"/>
            </a:pPr>
            <a:r>
              <a:rPr kumimoji="0" lang="en-US" altLang="es-MX" sz="1300" b="0" i="0" u="none" strike="noStrike" cap="none" normalizeH="0" baseline="0" dirty="0" err="1">
                <a:ln>
                  <a:noFill/>
                </a:ln>
                <a:effectLst/>
              </a:rPr>
              <a:t>Verifica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si</a:t>
            </a:r>
            <a:r>
              <a:rPr kumimoji="0" lang="en-US" altLang="es-MX" sz="1300" b="0" i="0" u="none" strike="noStrike" cap="none" normalizeH="0" baseline="0" dirty="0">
                <a:ln>
                  <a:noFill/>
                </a:ln>
                <a:effectLst/>
              </a:rPr>
              <a:t> </a:t>
            </a:r>
            <a:r>
              <a:rPr kumimoji="0" lang="en-US" altLang="es-MX" sz="1300" b="1" i="0" u="none" strike="noStrike" cap="none" normalizeH="0" baseline="0" dirty="0">
                <a:ln>
                  <a:noFill/>
                </a:ln>
                <a:effectLst/>
              </a:rPr>
              <a:t>num1 </a:t>
            </a:r>
            <a:r>
              <a:rPr kumimoji="0" lang="en-US" altLang="es-MX" sz="1300" b="0" i="0" u="none" strike="noStrike" cap="none" normalizeH="0" baseline="0" dirty="0">
                <a:ln>
                  <a:noFill/>
                </a:ln>
                <a:effectLst/>
              </a:rPr>
              <a:t>es</a:t>
            </a:r>
            <a:r>
              <a:rPr kumimoji="0" lang="en-US" altLang="es-MX" sz="1300" b="1" i="0" u="none" strike="noStrike" cap="none" normalizeH="0" baseline="0" dirty="0">
                <a:ln>
                  <a:noFill/>
                </a:ln>
                <a:effectLst/>
              </a:rPr>
              <a:t> mayor que</a:t>
            </a:r>
            <a:r>
              <a:rPr kumimoji="0" lang="en-US" altLang="es-MX" sz="1300" b="0" i="0" u="none" strike="noStrike" cap="none" normalizeH="0" baseline="0" dirty="0">
                <a:ln>
                  <a:noFill/>
                </a:ln>
                <a:effectLst/>
              </a:rPr>
              <a:t> </a:t>
            </a:r>
            <a:r>
              <a:rPr kumimoji="0" lang="en-US" altLang="es-MX" sz="1300" b="1" i="0" u="none" strike="noStrike" cap="none" normalizeH="0" baseline="0" dirty="0">
                <a:ln>
                  <a:noFill/>
                </a:ln>
                <a:effectLst/>
              </a:rPr>
              <a:t>num2</a:t>
            </a:r>
            <a:r>
              <a:rPr kumimoji="0" lang="en-US" altLang="es-MX" sz="1300" b="0" i="0" u="none" strike="noStrike" cap="none" normalizeH="0" baseline="0" dirty="0">
                <a:ln>
                  <a:noFill/>
                </a:ln>
                <a:effectLst/>
              </a:rPr>
              <a:t>, </a:t>
            </a:r>
            <a:r>
              <a:rPr kumimoji="0" lang="en-US" altLang="es-MX" sz="1300" b="1" i="1" u="none" strike="noStrike" cap="none" normalizeH="0" baseline="0" dirty="0">
                <a:ln>
                  <a:noFill/>
                </a:ln>
                <a:effectLst/>
              </a:rPr>
              <a:t>o</a:t>
            </a:r>
            <a:r>
              <a:rPr kumimoji="0" lang="en-US" altLang="es-MX" sz="1300" b="0" i="0" u="none" strike="noStrike" cap="none" normalizeH="0" baseline="0" dirty="0">
                <a:ln>
                  <a:noFill/>
                </a:ln>
                <a:effectLst/>
              </a:rPr>
              <a:t> </a:t>
            </a:r>
            <a:r>
              <a:rPr kumimoji="0" lang="en-US" altLang="es-MX" sz="1300" b="1" i="0" u="none" strike="noStrike" cap="none" normalizeH="0" baseline="0" dirty="0" err="1">
                <a:ln>
                  <a:noFill/>
                </a:ln>
                <a:effectLst/>
              </a:rPr>
              <a:t>menor</a:t>
            </a:r>
            <a:r>
              <a:rPr kumimoji="0" lang="en-US" altLang="es-MX" sz="1300" b="1" i="0" u="none" strike="noStrike" cap="none" normalizeH="0" baseline="0" dirty="0">
                <a:ln>
                  <a:noFill/>
                </a:ln>
                <a:effectLst/>
              </a:rPr>
              <a:t> que num3.</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Almacena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el</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resultado</a:t>
            </a:r>
            <a:r>
              <a:rPr kumimoji="0" lang="en-US" altLang="es-MX" sz="1300" b="0" i="0" u="none" strike="noStrike" cap="none" normalizeH="0" baseline="0" dirty="0">
                <a:ln>
                  <a:noFill/>
                </a:ln>
                <a:effectLst/>
              </a:rPr>
              <a:t> de </a:t>
            </a:r>
            <a:r>
              <a:rPr kumimoji="0" lang="en-US" altLang="es-MX" sz="1300" b="0" i="0" u="none" strike="noStrike" cap="none" normalizeH="0" baseline="0" dirty="0" err="1">
                <a:ln>
                  <a:noFill/>
                </a:ln>
                <a:effectLst/>
              </a:rPr>
              <a:t>dicha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comparación</a:t>
            </a:r>
            <a:r>
              <a:rPr kumimoji="0" lang="en-US" altLang="es-MX" sz="1300" b="0" i="0" u="none" strike="noStrike" cap="none" normalizeH="0" baseline="0" dirty="0">
                <a:ln>
                  <a:noFill/>
                </a:ln>
                <a:effectLst/>
              </a:rPr>
              <a:t> en una variable </a:t>
            </a:r>
            <a:r>
              <a:rPr kumimoji="0" lang="en-US" altLang="es-MX" sz="1300" b="0" i="0" u="none" strike="noStrike" cap="none" normalizeH="0" baseline="0" dirty="0" err="1">
                <a:ln>
                  <a:noFill/>
                </a:ln>
                <a:effectLst/>
              </a:rPr>
              <a:t>llamada</a:t>
            </a:r>
            <a:r>
              <a:rPr kumimoji="0" lang="en-US" altLang="es-MX" sz="1300" b="0" i="0" u="none" strike="noStrike" cap="none" normalizeH="0" baseline="0" dirty="0">
                <a:ln>
                  <a:noFill/>
                </a:ln>
                <a:effectLst/>
              </a:rPr>
              <a:t> </a:t>
            </a:r>
            <a:r>
              <a:rPr kumimoji="0" lang="en-US" altLang="es-MX" sz="1300" b="1" i="0" u="none" strike="noStrike" cap="none" normalizeH="0" baseline="0" dirty="0" err="1">
                <a:ln>
                  <a:noFill/>
                </a:ln>
                <a:effectLst/>
              </a:rPr>
              <a:t>mi_bool</a:t>
            </a:r>
            <a:r>
              <a:rPr kumimoji="0" lang="en-US" altLang="es-MX" sz="1300" b="1" i="0" u="none" strike="noStrike" cap="none" normalizeH="0" baseline="0" dirty="0">
                <a:ln>
                  <a:noFill/>
                </a:ln>
                <a:effectLst/>
              </a:rPr>
              <a:t>.</a:t>
            </a:r>
            <a:endParaRPr kumimoji="0" lang="en-US" altLang="es-MX" sz="13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s-MX" sz="13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300" b="0" i="0" u="none" strike="noStrike" cap="none" normalizeH="0" baseline="0" dirty="0" err="1">
                <a:ln>
                  <a:noFill/>
                </a:ln>
                <a:effectLst/>
              </a:rPr>
              <a:t>Verifica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si</a:t>
            </a:r>
            <a:r>
              <a:rPr kumimoji="0" lang="en-US" altLang="es-MX" sz="1300" b="0" i="0" u="none" strike="noStrike" cap="none" normalizeH="0" baseline="0" dirty="0">
                <a:ln>
                  <a:noFill/>
                </a:ln>
                <a:effectLst/>
              </a:rPr>
              <a:t> las palabras: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300" b="0" i="0" u="none" strike="noStrike" cap="none" normalizeH="0" baseline="0" dirty="0">
                <a:ln>
                  <a:noFill/>
                </a:ln>
                <a:effectLst/>
              </a:rPr>
              <a:t>palabra1 = "</a:t>
            </a:r>
            <a:r>
              <a:rPr kumimoji="0" lang="en-US" altLang="es-MX" sz="1300" b="1" i="0" u="none" strike="noStrike" cap="none" normalizeH="0" baseline="0" dirty="0" err="1">
                <a:ln>
                  <a:noFill/>
                </a:ln>
                <a:effectLst/>
              </a:rPr>
              <a:t>éxito</a:t>
            </a:r>
            <a:r>
              <a:rPr kumimoji="0" lang="en-US" altLang="es-MX" sz="1300" b="0" i="0" u="none" strike="noStrike" cap="none" normalizeH="0" baseline="0" dirty="0">
                <a:ln>
                  <a:noFill/>
                </a:ln>
                <a:effectLst/>
              </a:rPr>
              <a:t>", </a:t>
            </a:r>
            <a:r>
              <a:rPr kumimoji="0" lang="en-US" altLang="es-MX" sz="1300" b="1" i="0" u="none" strike="noStrike" cap="none" normalizeH="0" baseline="0" dirty="0">
                <a:ln>
                  <a:noFill/>
                </a:ln>
                <a:effectLst/>
              </a:rPr>
              <a:t>y</a:t>
            </a:r>
            <a:endParaRPr kumimoji="0" lang="en-US" altLang="es-MX" sz="13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300" b="0" i="0" u="none" strike="noStrike" cap="none" normalizeH="0" baseline="0" dirty="0">
                <a:ln>
                  <a:noFill/>
                </a:ln>
                <a:effectLst/>
              </a:rPr>
              <a:t>palabra2 = "</a:t>
            </a:r>
            <a:r>
              <a:rPr kumimoji="0" lang="en-US" altLang="es-MX" sz="1300" b="1" i="0" u="none" strike="noStrike" cap="none" normalizeH="0" baseline="0" dirty="0" err="1">
                <a:ln>
                  <a:noFill/>
                </a:ln>
                <a:effectLst/>
              </a:rPr>
              <a:t>tecnología</a:t>
            </a:r>
            <a:r>
              <a:rPr kumimoji="0" lang="en-US" altLang="es-MX" sz="1300" b="0" i="0" u="none" strike="noStrike" cap="none" normalizeH="0" baseline="0" dirty="0">
                <a:ln>
                  <a:noFill/>
                </a:ln>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300" b="1" i="0" u="none" strike="noStrike" cap="none" normalizeH="0" baseline="0" dirty="0">
                <a:ln>
                  <a:noFill/>
                </a:ln>
                <a:effectLst/>
              </a:rPr>
              <a:t>no </a:t>
            </a:r>
            <a:r>
              <a:rPr kumimoji="0" lang="en-US" altLang="es-MX" sz="1300" b="0" i="0" u="none" strike="noStrike" cap="none" normalizeH="0" baseline="0" dirty="0">
                <a:ln>
                  <a:noFill/>
                </a:ln>
                <a:effectLst/>
              </a:rPr>
              <a:t>se </a:t>
            </a:r>
            <a:r>
              <a:rPr kumimoji="0" lang="en-US" altLang="es-MX" sz="1300" b="0" i="0" u="none" strike="noStrike" cap="none" normalizeH="0" baseline="0" dirty="0" err="1">
                <a:ln>
                  <a:noFill/>
                </a:ln>
                <a:effectLst/>
              </a:rPr>
              <a:t>encuentran</a:t>
            </a:r>
            <a:r>
              <a:rPr kumimoji="0" lang="en-US" altLang="es-MX" sz="1300" b="0" i="0" u="none" strike="noStrike" cap="none" normalizeH="0" baseline="0" dirty="0">
                <a:ln>
                  <a:noFill/>
                </a:ln>
                <a:effectLst/>
              </a:rPr>
              <a:t> en la </a:t>
            </a:r>
            <a:r>
              <a:rPr kumimoji="0" lang="en-US" altLang="es-MX" sz="1300" b="1" i="0" u="none" strike="noStrike" cap="none" normalizeH="0" baseline="0" dirty="0" err="1">
                <a:ln>
                  <a:noFill/>
                </a:ln>
                <a:effectLst/>
              </a:rPr>
              <a:t>frase</a:t>
            </a:r>
            <a:r>
              <a:rPr kumimoji="0" lang="en-US" altLang="es-MX" sz="1300" b="1" i="0" u="none" strike="noStrike" cap="none" normalizeH="0" baseline="0" dirty="0">
                <a:ln>
                  <a:noFill/>
                </a:ln>
                <a:effectLst/>
              </a:rPr>
              <a:t> </a:t>
            </a:r>
            <a:r>
              <a:rPr kumimoji="0" lang="en-US" altLang="es-MX" sz="1300" b="0" i="0" u="none" strike="noStrike" cap="none" normalizeH="0" baseline="0" dirty="0">
                <a:ln>
                  <a:noFill/>
                </a:ln>
                <a:effectLst/>
              </a:rPr>
              <a:t>a </a:t>
            </a:r>
            <a:r>
              <a:rPr kumimoji="0" lang="en-US" altLang="es-MX" sz="1300" b="0" i="0" u="none" strike="noStrike" cap="none" normalizeH="0" baseline="0" dirty="0" err="1">
                <a:ln>
                  <a:noFill/>
                </a:ln>
                <a:effectLst/>
              </a:rPr>
              <a:t>continuación</a:t>
            </a:r>
            <a:r>
              <a:rPr kumimoji="0" lang="en-US" altLang="es-MX" sz="1300" b="0" i="0" u="none" strike="noStrike" cap="none" normalizeH="0" baseline="0" dirty="0">
                <a:ln>
                  <a:noFill/>
                </a:ln>
                <a:effectLst/>
              </a:rPr>
              <a:t>, y </a:t>
            </a:r>
            <a:r>
              <a:rPr kumimoji="0" lang="en-US" altLang="es-MX" sz="1300" b="0" i="0" u="none" strike="noStrike" cap="none" normalizeH="0" baseline="0" dirty="0" err="1">
                <a:ln>
                  <a:noFill/>
                </a:ln>
                <a:effectLst/>
              </a:rPr>
              <a:t>almacena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el</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resultado</a:t>
            </a:r>
            <a:r>
              <a:rPr kumimoji="0" lang="en-US" altLang="es-MX" sz="1300" b="0" i="0" u="none" strike="noStrike" cap="none" normalizeH="0" baseline="0" dirty="0">
                <a:ln>
                  <a:noFill/>
                </a:ln>
                <a:effectLst/>
              </a:rPr>
              <a:t> de </a:t>
            </a:r>
            <a:r>
              <a:rPr kumimoji="0" lang="en-US" altLang="es-MX" sz="1300" b="0" i="0" u="none" strike="noStrike" cap="none" normalizeH="0" baseline="0" dirty="0" err="1">
                <a:ln>
                  <a:noFill/>
                </a:ln>
                <a:effectLst/>
              </a:rPr>
              <a:t>esta</a:t>
            </a:r>
            <a:r>
              <a:rPr kumimoji="0" lang="en-US" altLang="es-MX" sz="1300" b="0" i="0" u="none" strike="noStrike" cap="none" normalizeH="0" baseline="0" dirty="0">
                <a:ln>
                  <a:noFill/>
                </a:ln>
                <a:effectLst/>
              </a:rPr>
              <a:t> </a:t>
            </a:r>
            <a:r>
              <a:rPr kumimoji="0" lang="en-US" altLang="es-MX" sz="1300" b="0" i="0" u="none" strike="noStrike" cap="none" normalizeH="0" baseline="0" dirty="0" err="1">
                <a:ln>
                  <a:noFill/>
                </a:ln>
                <a:effectLst/>
              </a:rPr>
              <a:t>comprobación</a:t>
            </a:r>
            <a:r>
              <a:rPr kumimoji="0" lang="en-US" altLang="es-MX" sz="1300" b="0" i="0" u="none" strike="noStrike" cap="none" normalizeH="0" baseline="0" dirty="0">
                <a:ln>
                  <a:noFill/>
                </a:ln>
                <a:effectLst/>
              </a:rPr>
              <a:t> (un </a:t>
            </a:r>
            <a:r>
              <a:rPr kumimoji="0" lang="en-US" altLang="es-MX" sz="1300" b="0" i="0" u="none" strike="noStrike" cap="none" normalizeH="0" baseline="0" dirty="0" err="1">
                <a:ln>
                  <a:noFill/>
                </a:ln>
                <a:effectLst/>
              </a:rPr>
              <a:t>booleano</a:t>
            </a:r>
            <a:r>
              <a:rPr kumimoji="0" lang="en-US" altLang="es-MX" sz="1300" b="0" i="0" u="none" strike="noStrike" cap="none" normalizeH="0" baseline="0" dirty="0">
                <a:ln>
                  <a:noFill/>
                </a:ln>
                <a:effectLst/>
              </a:rPr>
              <a:t>) en una variable </a:t>
            </a:r>
            <a:r>
              <a:rPr kumimoji="0" lang="en-US" altLang="es-MX" sz="1300" b="0" i="0" u="none" strike="noStrike" cap="none" normalizeH="0" baseline="0" dirty="0" err="1">
                <a:ln>
                  <a:noFill/>
                </a:ln>
                <a:effectLst/>
              </a:rPr>
              <a:t>llamada</a:t>
            </a:r>
            <a:r>
              <a:rPr kumimoji="0" lang="en-US" altLang="es-MX" sz="1300" b="1" i="0" u="none" strike="noStrike" cap="none" normalizeH="0" baseline="0" dirty="0">
                <a:ln>
                  <a:noFill/>
                </a:ln>
                <a:effectLst/>
              </a:rPr>
              <a:t> </a:t>
            </a:r>
            <a:r>
              <a:rPr kumimoji="0" lang="en-US" altLang="es-MX" sz="1300" b="1" i="0" u="none" strike="noStrike" cap="none" normalizeH="0" baseline="0" dirty="0" err="1">
                <a:ln>
                  <a:noFill/>
                </a:ln>
                <a:effectLst/>
              </a:rPr>
              <a:t>mi_bool</a:t>
            </a:r>
            <a:r>
              <a:rPr kumimoji="0" lang="en-US" altLang="es-MX" sz="1300" b="1" i="0" u="none" strike="noStrike" cap="none" normalizeH="0" baseline="0" dirty="0">
                <a:ln>
                  <a:noFill/>
                </a:ln>
                <a:effectLst/>
              </a:rPr>
              <a:t>:</a:t>
            </a:r>
            <a:endParaRPr kumimoji="0" lang="en-US" altLang="es-MX" sz="13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300" b="0" i="1" u="none" strike="noStrike" cap="none" normalizeH="0" baseline="0" dirty="0">
                <a:ln>
                  <a:noFill/>
                </a:ln>
                <a:effectLst/>
              </a:rPr>
              <a:t>"</a:t>
            </a:r>
            <a:r>
              <a:rPr kumimoji="0" lang="en-US" altLang="es-MX" sz="1300" b="0" i="1" u="none" strike="noStrike" cap="none" normalizeH="0" baseline="0" dirty="0" err="1">
                <a:ln>
                  <a:noFill/>
                </a:ln>
                <a:effectLst/>
              </a:rPr>
              <a:t>Cuando</a:t>
            </a:r>
            <a:r>
              <a:rPr kumimoji="0" lang="en-US" altLang="es-MX" sz="1300" b="0" i="1" u="none" strike="noStrike" cap="none" normalizeH="0" baseline="0" dirty="0">
                <a:ln>
                  <a:noFill/>
                </a:ln>
                <a:effectLst/>
              </a:rPr>
              <a:t> algo es lo </a:t>
            </a:r>
            <a:r>
              <a:rPr kumimoji="0" lang="en-US" altLang="es-MX" sz="1300" b="0" i="1" u="none" strike="noStrike" cap="none" normalizeH="0" baseline="0" dirty="0" err="1">
                <a:ln>
                  <a:noFill/>
                </a:ln>
                <a:effectLst/>
              </a:rPr>
              <a:t>suficientemente</a:t>
            </a:r>
            <a:r>
              <a:rPr kumimoji="0" lang="en-US" altLang="es-MX" sz="1300" b="0" i="1" u="none" strike="noStrike" cap="none" normalizeH="0" baseline="0" dirty="0">
                <a:ln>
                  <a:noFill/>
                </a:ln>
                <a:effectLst/>
              </a:rPr>
              <a:t> </a:t>
            </a:r>
            <a:r>
              <a:rPr kumimoji="0" lang="en-US" altLang="es-MX" sz="1300" b="0" i="1" u="none" strike="noStrike" cap="none" normalizeH="0" baseline="0" dirty="0" err="1">
                <a:ln>
                  <a:noFill/>
                </a:ln>
                <a:effectLst/>
              </a:rPr>
              <a:t>importante</a:t>
            </a:r>
            <a:r>
              <a:rPr kumimoji="0" lang="en-US" altLang="es-MX" sz="1300" b="0" i="1" u="none" strike="noStrike" cap="none" normalizeH="0" baseline="0" dirty="0">
                <a:ln>
                  <a:noFill/>
                </a:ln>
                <a:effectLst/>
              </a:rPr>
              <a:t>, lo </a:t>
            </a:r>
            <a:r>
              <a:rPr kumimoji="0" lang="en-US" altLang="es-MX" sz="1300" b="0" i="1" u="none" strike="noStrike" cap="none" normalizeH="0" baseline="0" dirty="0" err="1">
                <a:ln>
                  <a:noFill/>
                </a:ln>
                <a:effectLst/>
              </a:rPr>
              <a:t>haces</a:t>
            </a:r>
            <a:r>
              <a:rPr kumimoji="0" lang="en-US" altLang="es-MX" sz="1300" b="0" i="1" u="none" strike="noStrike" cap="none" normalizeH="0" baseline="0" dirty="0">
                <a:ln>
                  <a:noFill/>
                </a:ln>
                <a:effectLst/>
              </a:rPr>
              <a:t> </a:t>
            </a:r>
            <a:r>
              <a:rPr kumimoji="0" lang="en-US" altLang="es-MX" sz="1300" b="0" i="1" u="none" strike="noStrike" cap="none" normalizeH="0" baseline="0" dirty="0" err="1">
                <a:ln>
                  <a:noFill/>
                </a:ln>
                <a:effectLst/>
              </a:rPr>
              <a:t>incluso</a:t>
            </a:r>
            <a:r>
              <a:rPr kumimoji="0" lang="en-US" altLang="es-MX" sz="1300" b="0" i="1" u="none" strike="noStrike" cap="none" normalizeH="0" baseline="0" dirty="0">
                <a:ln>
                  <a:noFill/>
                </a:ln>
                <a:effectLst/>
              </a:rPr>
              <a:t> </a:t>
            </a:r>
            <a:r>
              <a:rPr kumimoji="0" lang="en-US" altLang="es-MX" sz="1300" b="0" i="1" u="none" strike="noStrike" cap="none" normalizeH="0" baseline="0" dirty="0" err="1">
                <a:ln>
                  <a:noFill/>
                </a:ln>
                <a:effectLst/>
              </a:rPr>
              <a:t>si</a:t>
            </a:r>
            <a:r>
              <a:rPr kumimoji="0" lang="en-US" altLang="es-MX" sz="1300" b="0" i="1" u="none" strike="noStrike" cap="none" normalizeH="0" baseline="0" dirty="0">
                <a:ln>
                  <a:noFill/>
                </a:ln>
                <a:effectLst/>
              </a:rPr>
              <a:t> las </a:t>
            </a:r>
            <a:r>
              <a:rPr kumimoji="0" lang="en-US" altLang="es-MX" sz="1300" b="0" i="1" u="none" strike="noStrike" cap="none" normalizeH="0" baseline="0" dirty="0" err="1">
                <a:ln>
                  <a:noFill/>
                </a:ln>
                <a:effectLst/>
              </a:rPr>
              <a:t>probabilidades</a:t>
            </a:r>
            <a:r>
              <a:rPr kumimoji="0" lang="en-US" altLang="es-MX" sz="1300" b="0" i="1" u="none" strike="noStrike" cap="none" normalizeH="0" baseline="0" dirty="0">
                <a:ln>
                  <a:noFill/>
                </a:ln>
                <a:effectLst/>
              </a:rPr>
              <a:t> de que </a:t>
            </a:r>
            <a:r>
              <a:rPr kumimoji="0" lang="en-US" altLang="es-MX" sz="1300" b="0" i="1" u="none" strike="noStrike" cap="none" normalizeH="0" baseline="0" dirty="0" err="1">
                <a:ln>
                  <a:noFill/>
                </a:ln>
                <a:effectLst/>
              </a:rPr>
              <a:t>salga</a:t>
            </a:r>
            <a:r>
              <a:rPr kumimoji="0" lang="en-US" altLang="es-MX" sz="1300" b="0" i="1" u="none" strike="noStrike" cap="none" normalizeH="0" baseline="0" dirty="0">
                <a:ln>
                  <a:noFill/>
                </a:ln>
                <a:effectLst/>
              </a:rPr>
              <a:t> bien no te </a:t>
            </a:r>
            <a:r>
              <a:rPr kumimoji="0" lang="en-US" altLang="es-MX" sz="1300" b="0" i="1" u="none" strike="noStrike" cap="none" normalizeH="0" baseline="0" dirty="0" err="1">
                <a:ln>
                  <a:noFill/>
                </a:ln>
                <a:effectLst/>
              </a:rPr>
              <a:t>acompañan</a:t>
            </a:r>
            <a:r>
              <a:rPr kumimoji="0" lang="en-US" altLang="es-MX" sz="1300" b="0" i="1" u="none" strike="noStrike" cap="none" normalizeH="0" baseline="0" dirty="0">
                <a:ln>
                  <a:noFill/>
                </a:ln>
                <a:effectLst/>
              </a:rPr>
              <a:t>"</a:t>
            </a:r>
            <a:endParaRPr kumimoji="0" lang="en-US" altLang="es-MX" sz="13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300" b="0" i="1" u="none" strike="noStrike" cap="none" normalizeH="0" baseline="0" dirty="0">
                <a:ln>
                  <a:noFill/>
                </a:ln>
                <a:effectLst/>
              </a:rPr>
              <a:t>Elon Musk</a:t>
            </a:r>
            <a:endParaRPr kumimoji="0" lang="en-US" altLang="es-MX" sz="13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s-MX" sz="8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s-MX" sz="8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s-MX" sz="800" b="1" dirty="0"/>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s-MX" sz="800" b="1" dirty="0"/>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s-MX" sz="800" b="1" dirty="0"/>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s-MX" sz="800" b="1" dirty="0"/>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s-MX" sz="800" b="1" dirty="0"/>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s-MX" sz="800" b="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53C90004-B238-45D0-1828-5A57C78CEB68}"/>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78</a:t>
            </a:fld>
            <a:endParaRPr lang="en-US" sz="1100">
              <a:solidFill>
                <a:schemeClr val="tx1">
                  <a:lumMod val="50000"/>
                  <a:lumOff val="50000"/>
                </a:schemeClr>
              </a:solidFill>
            </a:endParaRPr>
          </a:p>
        </p:txBody>
      </p:sp>
      <p:sp>
        <p:nvSpPr>
          <p:cNvPr id="11" name="Rectangle 3">
            <a:extLst>
              <a:ext uri="{FF2B5EF4-FFF2-40B4-BE49-F238E27FC236}">
                <a16:creationId xmlns:a16="http://schemas.microsoft.com/office/drawing/2014/main" id="{5A88DB1B-ADBE-1865-15FB-D172FCA18B25}"/>
              </a:ext>
            </a:extLst>
          </p:cNvPr>
          <p:cNvSpPr>
            <a:spLocks noChangeArrowheads="1"/>
          </p:cNvSpPr>
          <p:nvPr/>
        </p:nvSpPr>
        <p:spPr bwMode="auto">
          <a:xfrm>
            <a:off x="0" y="90101"/>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985005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3ECE316-654A-9F98-46E5-0257550C13A1}"/>
              </a:ext>
            </a:extLst>
          </p:cNvPr>
          <p:cNvSpPr>
            <a:spLocks noGrp="1"/>
          </p:cNvSpPr>
          <p:nvPr>
            <p:ph type="title"/>
          </p:nvPr>
        </p:nvSpPr>
        <p:spPr>
          <a:xfrm>
            <a:off x="1136397" y="502021"/>
            <a:ext cx="4959603" cy="1642969"/>
          </a:xfrm>
        </p:spPr>
        <p:txBody>
          <a:bodyPr anchor="b">
            <a:normAutofit/>
          </a:bodyPr>
          <a:lstStyle/>
          <a:p>
            <a:r>
              <a:rPr lang="es-MX" sz="4000"/>
              <a:t>control de flujo</a:t>
            </a:r>
          </a:p>
        </p:txBody>
      </p:sp>
      <p:sp>
        <p:nvSpPr>
          <p:cNvPr id="4" name="Marcador de pie de página 3">
            <a:extLst>
              <a:ext uri="{FF2B5EF4-FFF2-40B4-BE49-F238E27FC236}">
                <a16:creationId xmlns:a16="http://schemas.microsoft.com/office/drawing/2014/main" id="{B569A4A9-73F2-07B4-93A3-C88482A5D2A8}"/>
              </a:ext>
            </a:extLst>
          </p:cNvPr>
          <p:cNvSpPr>
            <a:spLocks noGrp="1"/>
          </p:cNvSpPr>
          <p:nvPr>
            <p:ph type="ftr" sz="quarter" idx="11"/>
          </p:nvPr>
        </p:nvSpPr>
        <p:spPr>
          <a:xfrm rot="5400000">
            <a:off x="-1827726" y="1983972"/>
            <a:ext cx="4114800" cy="365125"/>
          </a:xfrm>
        </p:spPr>
        <p:txBody>
          <a:bodyPr>
            <a:normAutofit/>
          </a:bodyPr>
          <a:lstStyle/>
          <a:p>
            <a:pPr algn="l">
              <a:spcAft>
                <a:spcPts val="600"/>
              </a:spcAft>
            </a:pPr>
            <a:r>
              <a:rPr lang="es-MX" sz="1100">
                <a:solidFill>
                  <a:schemeClr val="tx1">
                    <a:lumMod val="50000"/>
                    <a:lumOff val="50000"/>
                  </a:schemeClr>
                </a:solidFill>
              </a:rPr>
              <a:t>Arabots Robotics</a:t>
            </a:r>
          </a:p>
        </p:txBody>
      </p:sp>
      <p:sp>
        <p:nvSpPr>
          <p:cNvPr id="3" name="Marcador de contenido 2">
            <a:extLst>
              <a:ext uri="{FF2B5EF4-FFF2-40B4-BE49-F238E27FC236}">
                <a16:creationId xmlns:a16="http://schemas.microsoft.com/office/drawing/2014/main" id="{990A0BAF-0070-CA38-C817-332EE2D7C72B}"/>
              </a:ext>
            </a:extLst>
          </p:cNvPr>
          <p:cNvSpPr>
            <a:spLocks noGrp="1"/>
          </p:cNvSpPr>
          <p:nvPr>
            <p:ph idx="1"/>
          </p:nvPr>
        </p:nvSpPr>
        <p:spPr>
          <a:xfrm>
            <a:off x="1136397" y="2418408"/>
            <a:ext cx="4959603" cy="3522569"/>
          </a:xfrm>
        </p:spPr>
        <p:txBody>
          <a:bodyPr anchor="t">
            <a:normAutofit/>
          </a:bodyPr>
          <a:lstStyle/>
          <a:p>
            <a:pPr marL="0" indent="0">
              <a:buNone/>
            </a:pPr>
            <a:r>
              <a:rPr lang="es-MX" sz="2000" dirty="0"/>
              <a:t>El control de flujo determina el orden en que el código de un programa se va ejecutando. En Python, el flujo está controlado por estructuras condicionales</a:t>
            </a:r>
            <a:r>
              <a:rPr lang="es-MX" sz="2000"/>
              <a:t>, loops </a:t>
            </a:r>
            <a:r>
              <a:rPr lang="es-MX" sz="2000" dirty="0"/>
              <a:t>y funciones. </a:t>
            </a:r>
          </a:p>
          <a:p>
            <a:pPr marL="0" indent="0">
              <a:buNone/>
            </a:pPr>
            <a:r>
              <a:rPr lang="es-MX" sz="2000" dirty="0"/>
              <a:t>estructuras </a:t>
            </a:r>
            <a:r>
              <a:rPr lang="es-MX" sz="2000"/>
              <a:t>condicionales (if)</a:t>
            </a:r>
            <a:endParaRPr lang="es-MX" sz="2000" dirty="0"/>
          </a:p>
          <a:p>
            <a:pPr marL="0" indent="0">
              <a:buNone/>
            </a:pPr>
            <a:endParaRPr lang="es-MX" sz="2000" dirty="0"/>
          </a:p>
        </p:txBody>
      </p:sp>
      <p:pic>
        <p:nvPicPr>
          <p:cNvPr id="7" name="Imagen 6">
            <a:extLst>
              <a:ext uri="{FF2B5EF4-FFF2-40B4-BE49-F238E27FC236}">
                <a16:creationId xmlns:a16="http://schemas.microsoft.com/office/drawing/2014/main" id="{05FC3773-1A9E-FA61-1E49-D27C2C30AEC4}"/>
              </a:ext>
            </a:extLst>
          </p:cNvPr>
          <p:cNvPicPr>
            <a:picLocks noChangeAspect="1"/>
          </p:cNvPicPr>
          <p:nvPr/>
        </p:nvPicPr>
        <p:blipFill rotWithShape="1">
          <a:blip r:embed="rId2"/>
          <a:srcRect l="22694" t="14325" r="3241" b="12312"/>
          <a:stretch/>
        </p:blipFill>
        <p:spPr>
          <a:xfrm>
            <a:off x="6512442" y="1773198"/>
            <a:ext cx="5201023" cy="2897846"/>
          </a:xfrm>
          <a:prstGeom prst="rect">
            <a:avLst/>
          </a:prstGeom>
        </p:spPr>
      </p:pic>
      <p:sp>
        <p:nvSpPr>
          <p:cNvPr id="23" name="Rectangle 1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arcador de número de diapositiva 4">
            <a:extLst>
              <a:ext uri="{FF2B5EF4-FFF2-40B4-BE49-F238E27FC236}">
                <a16:creationId xmlns:a16="http://schemas.microsoft.com/office/drawing/2014/main" id="{48500DF2-5894-333F-2789-01FC85A3A4EC}"/>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rgbClr val="FFFFFF"/>
                </a:solidFill>
              </a:rPr>
              <a:pPr>
                <a:spcAft>
                  <a:spcPts val="600"/>
                </a:spcAft>
              </a:pPr>
              <a:t>79</a:t>
            </a:fld>
            <a:endParaRPr lang="es-MX" sz="1100">
              <a:solidFill>
                <a:srgbClr val="FFFFFF"/>
              </a:solidFill>
            </a:endParaRPr>
          </a:p>
        </p:txBody>
      </p:sp>
    </p:spTree>
    <p:extLst>
      <p:ext uri="{BB962C8B-B14F-4D97-AF65-F5344CB8AC3E}">
        <p14:creationId xmlns:p14="http://schemas.microsoft.com/office/powerpoint/2010/main" val="32381878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EF16E38-D699-4CAB-C28D-B6CB90C348E1}"/>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a:solidFill>
                  <a:srgbClr val="FFFFFF"/>
                </a:solidFill>
                <a:latin typeface="+mj-lt"/>
                <a:ea typeface="+mj-ea"/>
                <a:cs typeface="+mj-cs"/>
              </a:rPr>
              <a:t>Ejercicios </a:t>
            </a:r>
          </a:p>
        </p:txBody>
      </p:sp>
      <p:sp>
        <p:nvSpPr>
          <p:cNvPr id="4" name="Marcador de pie de página 3">
            <a:extLst>
              <a:ext uri="{FF2B5EF4-FFF2-40B4-BE49-F238E27FC236}">
                <a16:creationId xmlns:a16="http://schemas.microsoft.com/office/drawing/2014/main" id="{F93598E5-BFC4-A8F0-3B6B-C072BE6E0ADF}"/>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08B29905-12AC-19E5-C7B6-643E670AC4CD}"/>
              </a:ext>
            </a:extLst>
          </p:cNvPr>
          <p:cNvSpPr txBox="1"/>
          <p:nvPr/>
        </p:nvSpPr>
        <p:spPr>
          <a:xfrm>
            <a:off x="1233982" y="2232531"/>
            <a:ext cx="9724031" cy="4920007"/>
          </a:xfrm>
          <a:prstGeom prst="rect">
            <a:avLst/>
          </a:prstGeom>
        </p:spPr>
        <p:txBody>
          <a:bodyPr vert="horz" lIns="91440" tIns="45720" rIns="91440" bIns="45720" rtlCol="0" anchor="ctr">
            <a:normAutofit lnSpcReduction="10000"/>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400" b="1" i="0" u="none" strike="noStrike" cap="none" normalizeH="0" baseline="0" dirty="0" err="1">
                <a:ln>
                  <a:noFill/>
                </a:ln>
                <a:effectLst/>
              </a:rPr>
              <a:t>Práctica</a:t>
            </a:r>
            <a:r>
              <a:rPr kumimoji="0" lang="en-US" altLang="es-MX" sz="1400" b="1" i="0" u="none" strike="noStrike" cap="none" normalizeH="0" baseline="0" dirty="0">
                <a:ln>
                  <a:noFill/>
                </a:ln>
                <a:effectLst/>
              </a:rPr>
              <a:t> Control de </a:t>
            </a:r>
            <a:r>
              <a:rPr kumimoji="0" lang="en-US" altLang="es-MX" sz="1400" b="1" i="0" u="none" strike="noStrike" cap="none" normalizeH="0" baseline="0" dirty="0" err="1">
                <a:ln>
                  <a:noFill/>
                </a:ln>
                <a:effectLst/>
              </a:rPr>
              <a:t>Flujo</a:t>
            </a:r>
            <a:r>
              <a:rPr kumimoji="0" lang="en-US" altLang="es-MX" sz="1400" b="1" i="0" u="none" strike="noStrike" cap="none" normalizeH="0" baseline="0" dirty="0">
                <a:ln>
                  <a:noFill/>
                </a:ln>
                <a:effectLst/>
              </a:rPr>
              <a:t> 1</a:t>
            </a:r>
            <a:endParaRPr kumimoji="0" lang="en-US" altLang="es-MX" sz="14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err="1">
                <a:ln>
                  <a:noFill/>
                </a:ln>
                <a:effectLst/>
              </a:rPr>
              <a:t>Utilizando</a:t>
            </a:r>
            <a:r>
              <a:rPr kumimoji="0" lang="en-US" altLang="es-MX" sz="1400" b="0" i="0" u="none" strike="noStrike" cap="none" normalizeH="0" baseline="0" dirty="0">
                <a:ln>
                  <a:noFill/>
                </a:ln>
                <a:effectLst/>
              </a:rPr>
              <a:t> las variables num1 y num2, que se </a:t>
            </a:r>
            <a:r>
              <a:rPr kumimoji="0" lang="en-US" altLang="es-MX" sz="1400" b="0" i="0" u="none" strike="noStrike" cap="none" normalizeH="0" baseline="0" dirty="0" err="1">
                <a:ln>
                  <a:noFill/>
                </a:ln>
                <a:effectLst/>
              </a:rPr>
              <a:t>alimentan</a:t>
            </a:r>
            <a:r>
              <a:rPr kumimoji="0" lang="en-US" altLang="es-MX" sz="1400" b="0" i="0" u="none" strike="noStrike" cap="none" normalizeH="0" baseline="0" dirty="0">
                <a:ln>
                  <a:noFill/>
                </a:ln>
                <a:effectLst/>
              </a:rPr>
              <a:t> con </a:t>
            </a:r>
            <a:r>
              <a:rPr kumimoji="0" lang="en-US" altLang="es-MX" sz="1400" b="0" i="0" u="none" strike="noStrike" cap="none" normalizeH="0" baseline="0" dirty="0" err="1">
                <a:ln>
                  <a:noFill/>
                </a:ln>
                <a:effectLst/>
              </a:rPr>
              <a:t>el</a:t>
            </a:r>
            <a:r>
              <a:rPr kumimoji="0" lang="en-US" altLang="es-MX" sz="1400" b="0" i="0" u="none" strike="noStrike" cap="none" normalizeH="0" baseline="0" dirty="0">
                <a:ln>
                  <a:noFill/>
                </a:ln>
                <a:effectLst/>
              </a:rPr>
              <a:t> </a:t>
            </a:r>
            <a:r>
              <a:rPr kumimoji="0" lang="en-US" altLang="es-MX" sz="1400" b="1" i="0" u="none" strike="noStrike" cap="none" normalizeH="0" baseline="0" dirty="0">
                <a:ln>
                  <a:noFill/>
                </a:ln>
                <a:effectLst/>
              </a:rPr>
              <a:t>input </a:t>
            </a:r>
            <a:r>
              <a:rPr kumimoji="0" lang="en-US" altLang="es-MX" sz="1400" b="0" i="0" u="none" strike="noStrike" cap="none" normalizeH="0" baseline="0" dirty="0">
                <a:ln>
                  <a:noFill/>
                </a:ln>
                <a:effectLst/>
              </a:rPr>
              <a:t>del </a:t>
            </a:r>
            <a:r>
              <a:rPr kumimoji="0" lang="en-US" altLang="es-MX" sz="1400" b="0" i="0" u="none" strike="noStrike" cap="none" normalizeH="0" baseline="0" dirty="0" err="1">
                <a:ln>
                  <a:noFill/>
                </a:ln>
                <a:effectLst/>
              </a:rPr>
              <a:t>usuario</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tal</a:t>
            </a:r>
            <a:r>
              <a:rPr kumimoji="0" lang="en-US" altLang="es-MX" sz="1400" b="0" i="0" u="none" strike="noStrike" cap="none" normalizeH="0" baseline="0" dirty="0">
                <a:ln>
                  <a:noFill/>
                </a:ln>
                <a:effectLst/>
              </a:rPr>
              <a:t> como en </a:t>
            </a:r>
            <a:r>
              <a:rPr kumimoji="0" lang="en-US" altLang="es-MX" sz="1400" b="0" i="0" u="none" strike="noStrike" cap="none" normalizeH="0" baseline="0" dirty="0" err="1">
                <a:ln>
                  <a:noFill/>
                </a:ln>
                <a:effectLst/>
              </a:rPr>
              <a:t>el</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código</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ya</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proporcionado</a:t>
            </a:r>
            <a:r>
              <a:rPr kumimoji="0" lang="en-US" altLang="es-MX" sz="1400" b="0" i="0" u="none" strike="noStrike" cap="none" normalizeH="0" baseline="0" dirty="0">
                <a:ln>
                  <a:noFill/>
                </a:ln>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err="1">
                <a:ln>
                  <a:noFill/>
                </a:ln>
                <a:effectLst/>
              </a:rPr>
              <a:t>Crea</a:t>
            </a:r>
            <a:r>
              <a:rPr kumimoji="0" lang="en-US" altLang="es-MX" sz="1400" b="0" i="0" u="none" strike="noStrike" cap="none" normalizeH="0" baseline="0" dirty="0">
                <a:ln>
                  <a:noFill/>
                </a:ln>
                <a:effectLst/>
              </a:rPr>
              <a:t> una </a:t>
            </a:r>
            <a:r>
              <a:rPr kumimoji="0" lang="en-US" altLang="es-MX" sz="1400" b="0" i="0" u="none" strike="noStrike" cap="none" normalizeH="0" baseline="0" dirty="0" err="1">
                <a:ln>
                  <a:noFill/>
                </a:ln>
                <a:effectLst/>
              </a:rPr>
              <a:t>estructura</a:t>
            </a:r>
            <a:r>
              <a:rPr kumimoji="0" lang="en-US" altLang="es-MX" sz="1400" b="0" i="0" u="none" strike="noStrike" cap="none" normalizeH="0" baseline="0" dirty="0">
                <a:ln>
                  <a:noFill/>
                </a:ln>
                <a:effectLst/>
              </a:rPr>
              <a:t> de control de </a:t>
            </a:r>
            <a:r>
              <a:rPr kumimoji="0" lang="en-US" altLang="es-MX" sz="1400" b="0" i="0" u="none" strike="noStrike" cap="none" normalizeH="0" baseline="0" dirty="0" err="1">
                <a:ln>
                  <a:noFill/>
                </a:ln>
                <a:effectLst/>
              </a:rPr>
              <a:t>flujo</a:t>
            </a:r>
            <a:r>
              <a:rPr kumimoji="0" lang="en-US" altLang="es-MX" sz="1400" b="0" i="0" u="none" strike="noStrike" cap="none" normalizeH="0" baseline="0" dirty="0">
                <a:ln>
                  <a:noFill/>
                </a:ln>
                <a:effectLst/>
              </a:rPr>
              <a:t> que compare </a:t>
            </a:r>
            <a:r>
              <a:rPr kumimoji="0" lang="en-US" altLang="es-MX" sz="1400" b="0" i="0" u="none" strike="noStrike" cap="none" normalizeH="0" baseline="0" dirty="0" err="1">
                <a:ln>
                  <a:noFill/>
                </a:ln>
                <a:effectLst/>
              </a:rPr>
              <a:t>los</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valores</a:t>
            </a:r>
            <a:r>
              <a:rPr kumimoji="0" lang="en-US" altLang="es-MX" sz="1400" b="0" i="0" u="none" strike="noStrike" cap="none" normalizeH="0" baseline="0" dirty="0">
                <a:ln>
                  <a:noFill/>
                </a:ln>
                <a:effectLst/>
              </a:rPr>
              <a:t> de las variables, y </a:t>
            </a:r>
            <a:r>
              <a:rPr kumimoji="0" lang="en-US" altLang="es-MX" sz="1400" b="0" i="0" u="none" strike="noStrike" cap="none" normalizeH="0" baseline="0" dirty="0" err="1">
                <a:ln>
                  <a:noFill/>
                </a:ln>
                <a:effectLst/>
              </a:rPr>
              <a:t>arroje</a:t>
            </a:r>
            <a:r>
              <a:rPr kumimoji="0" lang="en-US" altLang="es-MX" sz="1400" b="0" i="0" u="none" strike="noStrike" cap="none" normalizeH="0" baseline="0" dirty="0">
                <a:ln>
                  <a:noFill/>
                </a:ln>
                <a:effectLst/>
              </a:rPr>
              <a:t> un </a:t>
            </a:r>
            <a:r>
              <a:rPr kumimoji="0" lang="en-US" altLang="es-MX" sz="1400" b="0" i="0" u="none" strike="noStrike" cap="none" normalizeH="0" baseline="0" dirty="0" err="1">
                <a:ln>
                  <a:noFill/>
                </a:ln>
                <a:effectLst/>
              </a:rPr>
              <a:t>resultado</a:t>
            </a:r>
            <a:r>
              <a:rPr kumimoji="0" lang="en-US" altLang="es-MX" sz="1400" b="0" i="0" u="none" strike="noStrike" cap="none" normalizeH="0" baseline="0" dirty="0">
                <a:ln>
                  <a:noFill/>
                </a:ln>
                <a:effectLst/>
              </a:rPr>
              <a:t> de </a:t>
            </a:r>
            <a:r>
              <a:rPr kumimoji="0" lang="en-US" altLang="es-MX" sz="1400" b="0" i="0" u="none" strike="noStrike" cap="none" normalizeH="0" baseline="0" dirty="0" err="1">
                <a:ln>
                  <a:noFill/>
                </a:ln>
                <a:effectLst/>
              </a:rPr>
              <a:t>acuerdo</a:t>
            </a:r>
            <a:r>
              <a:rPr kumimoji="0" lang="en-US" altLang="es-MX" sz="1400" b="0" i="0" u="none" strike="noStrike" cap="none" normalizeH="0" baseline="0" dirty="0">
                <a:ln>
                  <a:noFill/>
                </a:ln>
                <a:effectLst/>
              </a:rPr>
              <a:t> al </a:t>
            </a:r>
            <a:r>
              <a:rPr kumimoji="0" lang="en-US" altLang="es-MX" sz="1400" b="0" i="0" u="none" strike="noStrike" cap="none" normalizeH="0" baseline="0" dirty="0" err="1">
                <a:ln>
                  <a:noFill/>
                </a:ln>
                <a:effectLst/>
              </a:rPr>
              <a:t>caso</a:t>
            </a:r>
            <a:r>
              <a:rPr kumimoji="0" lang="en-US" altLang="es-MX" sz="1400" b="0" i="0" u="none" strike="noStrike" cap="none" normalizeH="0" baseline="0" dirty="0">
                <a:ln>
                  <a:noFill/>
                </a:ln>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a:ln>
                  <a:noFill/>
                </a:ln>
                <a:effectLst/>
              </a:rPr>
              <a:t>"num1 es mayor que num2"</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a:ln>
                  <a:noFill/>
                </a:ln>
                <a:effectLst/>
              </a:rPr>
              <a:t>"num2 es mayor que num1"</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a:ln>
                  <a:noFill/>
                </a:ln>
                <a:effectLst/>
              </a:rPr>
              <a:t>"num1 y num2 son </a:t>
            </a:r>
            <a:r>
              <a:rPr kumimoji="0" lang="en-US" altLang="es-MX" sz="1400" b="0" i="0" u="none" strike="noStrike" cap="none" normalizeH="0" baseline="0" dirty="0" err="1">
                <a:ln>
                  <a:noFill/>
                </a:ln>
                <a:effectLst/>
              </a:rPr>
              <a:t>iguales</a:t>
            </a:r>
            <a:r>
              <a:rPr kumimoji="0" lang="en-US" altLang="es-MX" sz="1400" b="0" i="0" u="none" strike="noStrike" cap="none" normalizeH="0" baseline="0" dirty="0">
                <a:ln>
                  <a:noFill/>
                </a:ln>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err="1">
                <a:ln>
                  <a:noFill/>
                </a:ln>
                <a:effectLst/>
              </a:rPr>
              <a:t>Debes</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mostrar</a:t>
            </a:r>
            <a:r>
              <a:rPr kumimoji="0" lang="en-US" altLang="es-MX" sz="1400" b="0" i="0" u="none" strike="noStrike" cap="none" normalizeH="0" baseline="0" dirty="0">
                <a:ln>
                  <a:noFill/>
                </a:ln>
                <a:effectLst/>
              </a:rPr>
              <a:t> en </a:t>
            </a:r>
            <a:r>
              <a:rPr kumimoji="0" lang="en-US" altLang="es-MX" sz="1400" b="0" i="0" u="none" strike="noStrike" cap="none" normalizeH="0" baseline="0" dirty="0" err="1">
                <a:ln>
                  <a:noFill/>
                </a:ln>
                <a:effectLst/>
              </a:rPr>
              <a:t>pantalla</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el</a:t>
            </a:r>
            <a:r>
              <a:rPr kumimoji="0" lang="en-US" altLang="es-MX" sz="1400" b="0" i="0" u="none" strike="noStrike" cap="none" normalizeH="0" baseline="0" dirty="0">
                <a:ln>
                  <a:noFill/>
                </a:ln>
                <a:effectLst/>
              </a:rPr>
              <a:t> valor de las variables </a:t>
            </a:r>
            <a:r>
              <a:rPr kumimoji="0" lang="en-US" altLang="es-MX" sz="1400" b="0" i="0" u="none" strike="noStrike" cap="none" normalizeH="0" baseline="0" dirty="0" err="1">
                <a:ln>
                  <a:noFill/>
                </a:ln>
                <a:effectLst/>
              </a:rPr>
              <a:t>ingresadas</a:t>
            </a:r>
            <a:r>
              <a:rPr kumimoji="0" lang="en-US" altLang="es-MX" sz="1400" b="0" i="0" u="none" strike="noStrike" cap="none" normalizeH="0" baseline="0" dirty="0">
                <a:ln>
                  <a:noFill/>
                </a:ln>
                <a:effectLst/>
              </a:rPr>
              <a:t> en </a:t>
            </a:r>
            <a:r>
              <a:rPr kumimoji="0" lang="en-US" altLang="es-MX" sz="1400" b="0" i="0" u="none" strike="noStrike" cap="none" normalizeH="0" baseline="0" dirty="0" err="1">
                <a:ln>
                  <a:noFill/>
                </a:ln>
                <a:effectLst/>
              </a:rPr>
              <a:t>lugar</a:t>
            </a:r>
            <a:r>
              <a:rPr kumimoji="0" lang="en-US" altLang="es-MX" sz="1400" b="0" i="0" u="none" strike="noStrike" cap="none" normalizeH="0" baseline="0" dirty="0">
                <a:ln>
                  <a:noFill/>
                </a:ln>
                <a:effectLst/>
              </a:rPr>
              <a:t> de num1 y num2.</a:t>
            </a: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s-MX" sz="1400" dirty="0"/>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s-MX" sz="14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s-MX" sz="1400" dirty="0"/>
          </a:p>
          <a:p>
            <a:pPr>
              <a:lnSpc>
                <a:spcPct val="90000"/>
              </a:lnSpc>
              <a:spcAft>
                <a:spcPts val="600"/>
              </a:spcAft>
            </a:pPr>
            <a:r>
              <a:rPr kumimoji="0" lang="en-US" altLang="es-MX" sz="1400" b="0" i="0" u="none" strike="noStrike" cap="none" normalizeH="0" baseline="0" dirty="0">
                <a:ln>
                  <a:noFill/>
                </a:ln>
                <a:effectLst/>
              </a:rPr>
              <a:t>2_ </a:t>
            </a:r>
            <a:r>
              <a:rPr lang="en-US" sz="1400" b="0" i="0" dirty="0">
                <a:effectLst/>
              </a:rPr>
              <a:t>Las </a:t>
            </a:r>
            <a:r>
              <a:rPr lang="en-US" sz="1400" b="0" i="0" dirty="0" err="1">
                <a:effectLst/>
              </a:rPr>
              <a:t>leyes</a:t>
            </a:r>
            <a:r>
              <a:rPr lang="en-US" sz="1400" b="0" i="0" dirty="0">
                <a:effectLst/>
              </a:rPr>
              <a:t> de un </a:t>
            </a:r>
            <a:r>
              <a:rPr lang="en-US" sz="1400" b="0" i="0" dirty="0" err="1">
                <a:effectLst/>
              </a:rPr>
              <a:t>país</a:t>
            </a:r>
            <a:r>
              <a:rPr lang="en-US" sz="1400" b="0" i="0" dirty="0">
                <a:effectLst/>
              </a:rPr>
              <a:t> </a:t>
            </a:r>
            <a:r>
              <a:rPr lang="en-US" sz="1400" b="0" i="0" dirty="0" err="1">
                <a:effectLst/>
              </a:rPr>
              <a:t>establecen</a:t>
            </a:r>
            <a:r>
              <a:rPr lang="en-US" sz="1400" b="0" i="0" dirty="0">
                <a:effectLst/>
              </a:rPr>
              <a:t> que un </a:t>
            </a:r>
            <a:r>
              <a:rPr lang="en-US" sz="1400" b="0" i="0" dirty="0" err="1">
                <a:effectLst/>
              </a:rPr>
              <a:t>adulto</a:t>
            </a:r>
            <a:r>
              <a:rPr lang="en-US" sz="1400" b="0" i="0" dirty="0">
                <a:effectLst/>
              </a:rPr>
              <a:t> </a:t>
            </a:r>
            <a:r>
              <a:rPr lang="en-US" sz="1400" b="0" i="0" dirty="0" err="1">
                <a:effectLst/>
              </a:rPr>
              <a:t>puede</a:t>
            </a:r>
            <a:r>
              <a:rPr lang="en-US" sz="1400" b="0" i="0" dirty="0">
                <a:effectLst/>
              </a:rPr>
              <a:t> </a:t>
            </a:r>
            <a:r>
              <a:rPr lang="en-US" sz="1400" b="0" i="0" dirty="0" err="1">
                <a:effectLst/>
              </a:rPr>
              <a:t>conducir</a:t>
            </a:r>
            <a:r>
              <a:rPr lang="en-US" sz="1400" b="0" i="0" dirty="0">
                <a:effectLst/>
              </a:rPr>
              <a:t> </a:t>
            </a:r>
            <a:r>
              <a:rPr lang="en-US" sz="1400" b="0" i="0" dirty="0" err="1">
                <a:effectLst/>
              </a:rPr>
              <a:t>si</a:t>
            </a:r>
            <a:r>
              <a:rPr lang="en-US" sz="1400" b="0" i="0" dirty="0">
                <a:effectLst/>
              </a:rPr>
              <a:t> </a:t>
            </a:r>
            <a:r>
              <a:rPr lang="en-US" sz="1400" b="0" i="0" dirty="0" err="1">
                <a:effectLst/>
              </a:rPr>
              <a:t>tiene</a:t>
            </a:r>
            <a:r>
              <a:rPr lang="en-US" sz="1400" b="0" i="0" dirty="0">
                <a:effectLst/>
              </a:rPr>
              <a:t> </a:t>
            </a:r>
            <a:r>
              <a:rPr lang="en-US" sz="1400" b="0" i="0" dirty="0" err="1">
                <a:effectLst/>
              </a:rPr>
              <a:t>licencia</a:t>
            </a:r>
            <a:r>
              <a:rPr lang="en-US" sz="1400" b="0" i="0" dirty="0">
                <a:effectLst/>
              </a:rPr>
              <a:t> para </a:t>
            </a:r>
            <a:r>
              <a:rPr lang="en-US" sz="1400" b="0" i="0" dirty="0" err="1">
                <a:effectLst/>
              </a:rPr>
              <a:t>hacerlo</a:t>
            </a:r>
            <a:r>
              <a:rPr lang="en-US" sz="1400" b="0" i="0" dirty="0">
                <a:effectLst/>
              </a:rPr>
              <a:t>, y para </a:t>
            </a:r>
            <a:r>
              <a:rPr lang="en-US" sz="1400" b="0" i="0" dirty="0" err="1">
                <a:effectLst/>
              </a:rPr>
              <a:t>optar</a:t>
            </a:r>
            <a:r>
              <a:rPr lang="en-US" sz="1400" b="0" i="0" dirty="0">
                <a:effectLst/>
              </a:rPr>
              <a:t> </a:t>
            </a:r>
            <a:r>
              <a:rPr lang="en-US" sz="1400" b="0" i="0" dirty="0" err="1">
                <a:effectLst/>
              </a:rPr>
              <a:t>por</a:t>
            </a:r>
            <a:r>
              <a:rPr lang="en-US" sz="1400" b="0" i="0" dirty="0">
                <a:effectLst/>
              </a:rPr>
              <a:t> una </a:t>
            </a:r>
            <a:r>
              <a:rPr lang="en-US" sz="1400" b="0" i="0" dirty="0" err="1">
                <a:effectLst/>
              </a:rPr>
              <a:t>licencia</a:t>
            </a:r>
            <a:r>
              <a:rPr lang="en-US" sz="1400" b="0" i="0" dirty="0">
                <a:effectLst/>
              </a:rPr>
              <a:t> para </a:t>
            </a:r>
            <a:r>
              <a:rPr lang="en-US" sz="1400" b="0" i="0" dirty="0" err="1">
                <a:effectLst/>
              </a:rPr>
              <a:t>conducir</a:t>
            </a:r>
            <a:r>
              <a:rPr lang="en-US" sz="1400" b="0" i="0" dirty="0">
                <a:effectLst/>
              </a:rPr>
              <a:t>, </a:t>
            </a:r>
            <a:r>
              <a:rPr lang="en-US" sz="1400" b="0" i="0" dirty="0" err="1">
                <a:effectLst/>
              </a:rPr>
              <a:t>debe</a:t>
            </a:r>
            <a:r>
              <a:rPr lang="en-US" sz="1400" b="0" i="0" dirty="0">
                <a:effectLst/>
              </a:rPr>
              <a:t> de </a:t>
            </a:r>
            <a:r>
              <a:rPr lang="en-US" sz="1400" b="0" i="0" dirty="0" err="1">
                <a:effectLst/>
              </a:rPr>
              <a:t>tener</a:t>
            </a:r>
            <a:r>
              <a:rPr lang="en-US" sz="1400" b="0" i="0" dirty="0">
                <a:effectLst/>
              </a:rPr>
              <a:t> 18 </a:t>
            </a:r>
            <a:r>
              <a:rPr lang="en-US" sz="1400" b="0" i="0" dirty="0" err="1">
                <a:effectLst/>
              </a:rPr>
              <a:t>años</a:t>
            </a:r>
            <a:r>
              <a:rPr lang="en-US" sz="1400" b="0" i="0" dirty="0">
                <a:effectLst/>
              </a:rPr>
              <a:t> o </a:t>
            </a:r>
            <a:r>
              <a:rPr lang="en-US" sz="1400" b="0" i="0" dirty="0" err="1">
                <a:effectLst/>
              </a:rPr>
              <a:t>más</a:t>
            </a:r>
            <a:r>
              <a:rPr lang="en-US" sz="1400" b="0" i="0" dirty="0">
                <a:effectLst/>
              </a:rPr>
              <a:t>.</a:t>
            </a:r>
          </a:p>
          <a:p>
            <a:pPr indent="-228600">
              <a:lnSpc>
                <a:spcPct val="90000"/>
              </a:lnSpc>
              <a:spcAft>
                <a:spcPts val="600"/>
              </a:spcAft>
              <a:buFont typeface="Arial" panose="020B0604020202020204" pitchFamily="34" charset="0"/>
              <a:buChar char="•"/>
            </a:pPr>
            <a:r>
              <a:rPr lang="en-US" sz="1400" b="1" i="0" dirty="0" err="1">
                <a:effectLst/>
              </a:rPr>
              <a:t>Crea</a:t>
            </a:r>
            <a:r>
              <a:rPr lang="en-US" sz="1400" b="1" i="0" dirty="0">
                <a:effectLst/>
              </a:rPr>
              <a:t> una </a:t>
            </a:r>
            <a:r>
              <a:rPr lang="en-US" sz="1400" b="1" i="0" dirty="0" err="1">
                <a:effectLst/>
              </a:rPr>
              <a:t>estructura</a:t>
            </a:r>
            <a:r>
              <a:rPr lang="en-US" sz="1400" b="1" i="0" dirty="0">
                <a:effectLst/>
              </a:rPr>
              <a:t> </a:t>
            </a:r>
            <a:r>
              <a:rPr lang="en-US" sz="1400" b="1" i="0" dirty="0" err="1">
                <a:effectLst/>
              </a:rPr>
              <a:t>condicional</a:t>
            </a:r>
            <a:r>
              <a:rPr lang="en-US" sz="1400" b="0" i="0" dirty="0">
                <a:effectLst/>
              </a:rPr>
              <a:t> para </a:t>
            </a:r>
            <a:r>
              <a:rPr lang="en-US" sz="1400" b="0" i="0" dirty="0" err="1">
                <a:effectLst/>
              </a:rPr>
              <a:t>verificar</a:t>
            </a:r>
            <a:r>
              <a:rPr lang="en-US" sz="1400" b="0" i="0" dirty="0">
                <a:effectLst/>
              </a:rPr>
              <a:t> </a:t>
            </a:r>
            <a:r>
              <a:rPr lang="en-US" sz="1400" b="0" i="0" dirty="0" err="1">
                <a:effectLst/>
              </a:rPr>
              <a:t>si</a:t>
            </a:r>
            <a:r>
              <a:rPr lang="en-US" sz="1400" b="0" i="0" dirty="0">
                <a:effectLst/>
              </a:rPr>
              <a:t> una persona de </a:t>
            </a:r>
            <a:r>
              <a:rPr lang="en-US" sz="1400" b="1" i="0" dirty="0">
                <a:effectLst/>
              </a:rPr>
              <a:t>16 </a:t>
            </a:r>
            <a:r>
              <a:rPr lang="en-US" sz="1400" b="1" i="0" dirty="0" err="1">
                <a:effectLst/>
              </a:rPr>
              <a:t>años</a:t>
            </a:r>
            <a:r>
              <a:rPr lang="en-US" sz="1400" b="1" i="0" dirty="0">
                <a:effectLst/>
              </a:rPr>
              <a:t> sin </a:t>
            </a:r>
            <a:r>
              <a:rPr lang="en-US" sz="1400" b="1" i="0" dirty="0" err="1">
                <a:effectLst/>
              </a:rPr>
              <a:t>licencia</a:t>
            </a:r>
            <a:r>
              <a:rPr lang="en-US" sz="1400" b="0" i="0" dirty="0">
                <a:effectLst/>
              </a:rPr>
              <a:t> </a:t>
            </a:r>
            <a:r>
              <a:rPr lang="en-US" sz="1400" b="0" i="0" dirty="0" err="1">
                <a:effectLst/>
              </a:rPr>
              <a:t>puede</a:t>
            </a:r>
            <a:r>
              <a:rPr lang="en-US" sz="1400" b="0" i="0" dirty="0">
                <a:effectLst/>
              </a:rPr>
              <a:t> </a:t>
            </a:r>
            <a:r>
              <a:rPr lang="en-US" sz="1400" b="0" i="0" dirty="0" err="1">
                <a:effectLst/>
              </a:rPr>
              <a:t>conducir</a:t>
            </a:r>
            <a:r>
              <a:rPr lang="en-US" sz="1400" b="0" i="0" dirty="0">
                <a:effectLst/>
              </a:rPr>
              <a:t>, y </a:t>
            </a:r>
            <a:r>
              <a:rPr lang="en-US" sz="1400" b="1" i="0" dirty="0" err="1">
                <a:effectLst/>
              </a:rPr>
              <a:t>muestra</a:t>
            </a:r>
            <a:r>
              <a:rPr lang="en-US" sz="1400" b="1" i="0" dirty="0">
                <a:effectLst/>
              </a:rPr>
              <a:t> </a:t>
            </a:r>
            <a:r>
              <a:rPr lang="en-US" sz="1400" b="1" i="0" dirty="0" err="1">
                <a:effectLst/>
              </a:rPr>
              <a:t>el</a:t>
            </a:r>
            <a:r>
              <a:rPr lang="en-US" sz="1400" b="1" i="0" dirty="0">
                <a:effectLst/>
              </a:rPr>
              <a:t> </a:t>
            </a:r>
            <a:r>
              <a:rPr lang="en-US" sz="1400" b="1" i="0" dirty="0" err="1">
                <a:effectLst/>
              </a:rPr>
              <a:t>resultado</a:t>
            </a:r>
            <a:r>
              <a:rPr lang="en-US" sz="1400" b="1" i="0" dirty="0">
                <a:effectLst/>
              </a:rPr>
              <a:t> que </a:t>
            </a:r>
            <a:r>
              <a:rPr lang="en-US" sz="1400" b="1" i="0" dirty="0" err="1">
                <a:effectLst/>
              </a:rPr>
              <a:t>corresponda</a:t>
            </a:r>
            <a:r>
              <a:rPr lang="en-US" sz="1400" b="1" i="0" dirty="0">
                <a:effectLst/>
              </a:rPr>
              <a:t> en </a:t>
            </a:r>
            <a:r>
              <a:rPr lang="en-US" sz="1400" b="1" i="0" dirty="0" err="1">
                <a:effectLst/>
              </a:rPr>
              <a:t>pantalla</a:t>
            </a:r>
            <a:r>
              <a:rPr lang="en-US" sz="1400" b="0" i="0" dirty="0">
                <a:effectLst/>
              </a:rPr>
              <a:t>:</a:t>
            </a:r>
          </a:p>
          <a:p>
            <a:pPr lvl="1" indent="-228600">
              <a:lnSpc>
                <a:spcPct val="90000"/>
              </a:lnSpc>
              <a:spcAft>
                <a:spcPts val="600"/>
              </a:spcAft>
              <a:buFont typeface="Arial" panose="020B0604020202020204" pitchFamily="34" charset="0"/>
              <a:buChar char="•"/>
            </a:pPr>
            <a:r>
              <a:rPr lang="en-US" sz="1400" b="0" i="0" dirty="0">
                <a:effectLst/>
              </a:rPr>
              <a:t>"</a:t>
            </a:r>
            <a:r>
              <a:rPr lang="en-US" sz="1400" b="0" i="0" dirty="0" err="1">
                <a:effectLst/>
              </a:rPr>
              <a:t>Puedes</a:t>
            </a:r>
            <a:r>
              <a:rPr lang="en-US" sz="1400" b="0" i="0" dirty="0">
                <a:effectLst/>
              </a:rPr>
              <a:t> </a:t>
            </a:r>
            <a:r>
              <a:rPr lang="en-US" sz="1400" b="0" i="0" dirty="0" err="1">
                <a:effectLst/>
              </a:rPr>
              <a:t>conducir</a:t>
            </a:r>
            <a:r>
              <a:rPr lang="en-US" sz="1400" b="0" i="0" dirty="0">
                <a:effectLst/>
              </a:rPr>
              <a:t>"</a:t>
            </a:r>
          </a:p>
          <a:p>
            <a:pPr lvl="1" indent="-228600">
              <a:lnSpc>
                <a:spcPct val="90000"/>
              </a:lnSpc>
              <a:spcAft>
                <a:spcPts val="600"/>
              </a:spcAft>
              <a:buFont typeface="Arial" panose="020B0604020202020204" pitchFamily="34" charset="0"/>
              <a:buChar char="•"/>
            </a:pPr>
            <a:r>
              <a:rPr lang="en-US" sz="1400" b="0" i="0" dirty="0">
                <a:effectLst/>
              </a:rPr>
              <a:t>"No </a:t>
            </a:r>
            <a:r>
              <a:rPr lang="en-US" sz="1400" b="0" i="0" dirty="0" err="1">
                <a:effectLst/>
              </a:rPr>
              <a:t>puedes</a:t>
            </a:r>
            <a:r>
              <a:rPr lang="en-US" sz="1400" b="0" i="0" dirty="0">
                <a:effectLst/>
              </a:rPr>
              <a:t> </a:t>
            </a:r>
            <a:r>
              <a:rPr lang="en-US" sz="1400" b="0" i="0" dirty="0" err="1">
                <a:effectLst/>
              </a:rPr>
              <a:t>conducir</a:t>
            </a:r>
            <a:r>
              <a:rPr lang="en-US" sz="1400" b="0" i="0" dirty="0">
                <a:effectLst/>
              </a:rPr>
              <a:t> </a:t>
            </a:r>
            <a:r>
              <a:rPr lang="en-US" sz="1400" b="0" i="0" dirty="0" err="1">
                <a:effectLst/>
              </a:rPr>
              <a:t>aún</a:t>
            </a:r>
            <a:r>
              <a:rPr lang="en-US" sz="1400" b="0" i="0" dirty="0">
                <a:effectLst/>
              </a:rPr>
              <a:t>. </a:t>
            </a:r>
            <a:r>
              <a:rPr lang="en-US" sz="1400" b="0" i="0" dirty="0" err="1">
                <a:effectLst/>
              </a:rPr>
              <a:t>Debes</a:t>
            </a:r>
            <a:r>
              <a:rPr lang="en-US" sz="1400" b="0" i="0" dirty="0">
                <a:effectLst/>
              </a:rPr>
              <a:t> </a:t>
            </a:r>
            <a:r>
              <a:rPr lang="en-US" sz="1400" b="0" i="0" dirty="0" err="1">
                <a:effectLst/>
              </a:rPr>
              <a:t>tener</a:t>
            </a:r>
            <a:r>
              <a:rPr lang="en-US" sz="1400" b="0" i="0" dirty="0">
                <a:effectLst/>
              </a:rPr>
              <a:t> 18 </a:t>
            </a:r>
            <a:r>
              <a:rPr lang="en-US" sz="1400" b="0" i="0" dirty="0" err="1">
                <a:effectLst/>
              </a:rPr>
              <a:t>años</a:t>
            </a:r>
            <a:r>
              <a:rPr lang="en-US" sz="1400" b="0" i="0" dirty="0">
                <a:effectLst/>
              </a:rPr>
              <a:t> y </a:t>
            </a:r>
            <a:r>
              <a:rPr lang="en-US" sz="1400" b="0" i="0" dirty="0" err="1">
                <a:effectLst/>
              </a:rPr>
              <a:t>contar</a:t>
            </a:r>
            <a:r>
              <a:rPr lang="en-US" sz="1400" b="0" i="0" dirty="0">
                <a:effectLst/>
              </a:rPr>
              <a:t> con una </a:t>
            </a:r>
            <a:r>
              <a:rPr lang="en-US" sz="1400" b="0" i="0" dirty="0" err="1">
                <a:effectLst/>
              </a:rPr>
              <a:t>licencia</a:t>
            </a:r>
            <a:r>
              <a:rPr lang="en-US" sz="1400" b="0" i="0" dirty="0">
                <a:effectLst/>
              </a:rPr>
              <a:t>"</a:t>
            </a:r>
          </a:p>
          <a:p>
            <a:pPr lvl="1" indent="-228600">
              <a:lnSpc>
                <a:spcPct val="90000"/>
              </a:lnSpc>
              <a:spcAft>
                <a:spcPts val="600"/>
              </a:spcAft>
              <a:buFont typeface="Arial" panose="020B0604020202020204" pitchFamily="34" charset="0"/>
              <a:buChar char="•"/>
            </a:pPr>
            <a:r>
              <a:rPr lang="en-US" sz="1400" b="0" i="0" dirty="0">
                <a:effectLst/>
              </a:rPr>
              <a:t>"No </a:t>
            </a:r>
            <a:r>
              <a:rPr lang="en-US" sz="1400" b="0" i="0" dirty="0" err="1">
                <a:effectLst/>
              </a:rPr>
              <a:t>puedes</a:t>
            </a:r>
            <a:r>
              <a:rPr lang="en-US" sz="1400" b="0" i="0" dirty="0">
                <a:effectLst/>
              </a:rPr>
              <a:t> </a:t>
            </a:r>
            <a:r>
              <a:rPr lang="en-US" sz="1400" b="0" i="0" dirty="0" err="1">
                <a:effectLst/>
              </a:rPr>
              <a:t>conducir</a:t>
            </a:r>
            <a:r>
              <a:rPr lang="en-US" sz="1400" b="0" i="0" dirty="0">
                <a:effectLst/>
              </a:rPr>
              <a:t>. </a:t>
            </a:r>
            <a:r>
              <a:rPr lang="en-US" sz="1400" b="0" i="0" dirty="0" err="1">
                <a:effectLst/>
              </a:rPr>
              <a:t>Necesitas</a:t>
            </a:r>
            <a:r>
              <a:rPr lang="en-US" sz="1400" b="0" i="0" dirty="0">
                <a:effectLst/>
              </a:rPr>
              <a:t> </a:t>
            </a:r>
            <a:r>
              <a:rPr lang="en-US" sz="1400" b="0" i="0" dirty="0" err="1">
                <a:effectLst/>
              </a:rPr>
              <a:t>contar</a:t>
            </a:r>
            <a:r>
              <a:rPr lang="en-US" sz="1400" b="0" i="0" dirty="0">
                <a:effectLst/>
              </a:rPr>
              <a:t> con una </a:t>
            </a:r>
            <a:r>
              <a:rPr lang="en-US" sz="1400" b="0" i="0" dirty="0" err="1">
                <a:effectLst/>
              </a:rPr>
              <a:t>licencia</a:t>
            </a:r>
            <a:r>
              <a:rPr lang="en-US" sz="1400" b="0" i="0" dirty="0">
                <a:effectLst/>
              </a:rPr>
              <a:t>"</a:t>
            </a:r>
          </a:p>
          <a:p>
            <a:pPr lvl="1" indent="-228600">
              <a:lnSpc>
                <a:spcPct val="90000"/>
              </a:lnSpc>
              <a:spcAft>
                <a:spcPts val="600"/>
              </a:spcAft>
              <a:buFont typeface="Arial" panose="020B0604020202020204" pitchFamily="34" charset="0"/>
              <a:buChar char="•"/>
            </a:pPr>
            <a:r>
              <a:rPr lang="en-US" sz="1400" b="0" i="0" dirty="0" err="1">
                <a:effectLst/>
              </a:rPr>
              <a:t>Utiliza</a:t>
            </a:r>
            <a:r>
              <a:rPr lang="en-US" sz="1400" b="0" i="0" dirty="0">
                <a:effectLst/>
              </a:rPr>
              <a:t> la base de </a:t>
            </a:r>
            <a:r>
              <a:rPr lang="en-US" sz="1400" b="0" i="0" dirty="0" err="1">
                <a:effectLst/>
              </a:rPr>
              <a:t>código</a:t>
            </a:r>
            <a:r>
              <a:rPr lang="en-US" sz="1400" b="0" i="0" dirty="0">
                <a:effectLst/>
              </a:rPr>
              <a:t> </a:t>
            </a:r>
            <a:r>
              <a:rPr lang="en-US" sz="1400" b="0" i="0" dirty="0" err="1">
                <a:effectLst/>
              </a:rPr>
              <a:t>ya</a:t>
            </a:r>
            <a:r>
              <a:rPr lang="en-US" sz="1400" b="0" i="0" dirty="0">
                <a:effectLst/>
              </a:rPr>
              <a:t> </a:t>
            </a:r>
            <a:r>
              <a:rPr lang="en-US" sz="1400" b="0" i="0" dirty="0" err="1">
                <a:effectLst/>
              </a:rPr>
              <a:t>proporcionada</a:t>
            </a:r>
            <a:r>
              <a:rPr lang="en-US" sz="1400" b="0" i="0" dirty="0">
                <a:effectLst/>
              </a:rPr>
              <a:t> para </a:t>
            </a:r>
            <a:r>
              <a:rPr lang="en-US" sz="1400" b="0" i="0" dirty="0" err="1">
                <a:effectLst/>
              </a:rPr>
              <a:t>plantear</a:t>
            </a:r>
            <a:r>
              <a:rPr lang="en-US" sz="1400" b="0" i="0" dirty="0">
                <a:effectLst/>
              </a:rPr>
              <a:t> la </a:t>
            </a:r>
            <a:r>
              <a:rPr lang="en-US" sz="1400" b="0" i="0" dirty="0" err="1">
                <a:effectLst/>
              </a:rPr>
              <a:t>estructura</a:t>
            </a:r>
            <a:r>
              <a:rPr lang="en-US" sz="1400" b="0" i="0" dirty="0">
                <a:effectLst/>
              </a:rPr>
              <a:t> de control de </a:t>
            </a:r>
            <a:r>
              <a:rPr lang="en-US" sz="1400" b="0" i="0" dirty="0" err="1">
                <a:effectLst/>
              </a:rPr>
              <a:t>flujo</a:t>
            </a:r>
            <a:r>
              <a:rPr lang="en-US" sz="1400" b="0" i="0" dirty="0">
                <a:effectLst/>
              </a:rPr>
              <a:t> </a:t>
            </a:r>
            <a:r>
              <a:rPr lang="en-US" sz="1400" b="0" i="0" dirty="0" err="1">
                <a:effectLst/>
              </a:rPr>
              <a:t>apropiada</a:t>
            </a:r>
            <a:r>
              <a:rPr lang="en-US" sz="1400" b="0" i="0" dirty="0">
                <a:effectLst/>
              </a:rPr>
              <a:t> y </a:t>
            </a:r>
            <a:r>
              <a:rPr lang="en-US" sz="1400" b="0" i="0" dirty="0" err="1">
                <a:effectLst/>
              </a:rPr>
              <a:t>verificar</a:t>
            </a:r>
            <a:r>
              <a:rPr lang="en-US" sz="1400" b="0" i="0" dirty="0">
                <a:effectLst/>
              </a:rPr>
              <a:t> </a:t>
            </a:r>
            <a:r>
              <a:rPr lang="en-US" sz="1400" b="0" i="0" dirty="0" err="1">
                <a:effectLst/>
              </a:rPr>
              <a:t>dichas</a:t>
            </a:r>
            <a:r>
              <a:rPr lang="en-US" sz="1400" b="0" i="0" dirty="0">
                <a:effectLst/>
              </a:rPr>
              <a:t> </a:t>
            </a:r>
            <a:r>
              <a:rPr lang="en-US" sz="1400" b="0" i="0" dirty="0" err="1">
                <a:effectLst/>
              </a:rPr>
              <a:t>condiciones</a:t>
            </a:r>
            <a:r>
              <a:rPr lang="en-US" sz="1400" b="0" i="0" dirty="0">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s-MX" sz="10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s-MX" sz="1000" dirty="0"/>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s-MX" sz="10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s-MX" sz="1000" dirty="0"/>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s-MX" sz="10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s-MX" sz="1000" b="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4F8E5ACE-495D-0F1D-A89D-20E8D2E81573}"/>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80</a:t>
            </a:fld>
            <a:endParaRPr lang="en-US" sz="1100">
              <a:solidFill>
                <a:schemeClr val="tx1">
                  <a:lumMod val="50000"/>
                  <a:lumOff val="50000"/>
                </a:schemeClr>
              </a:solidFill>
            </a:endParaRPr>
          </a:p>
        </p:txBody>
      </p:sp>
      <p:sp>
        <p:nvSpPr>
          <p:cNvPr id="9" name="Rectangle 2">
            <a:extLst>
              <a:ext uri="{FF2B5EF4-FFF2-40B4-BE49-F238E27FC236}">
                <a16:creationId xmlns:a16="http://schemas.microsoft.com/office/drawing/2014/main" id="{67F72863-DAAD-EE19-AF7F-699BB868981F}"/>
              </a:ext>
            </a:extLst>
          </p:cNvPr>
          <p:cNvSpPr>
            <a:spLocks noChangeArrowheads="1"/>
          </p:cNvSpPr>
          <p:nvPr/>
        </p:nvSpPr>
        <p:spPr bwMode="auto">
          <a:xfrm>
            <a:off x="0" y="90101"/>
            <a:ext cx="65" cy="276999"/>
          </a:xfrm>
          <a:prstGeom prst="rect">
            <a:avLst/>
          </a:prstGeom>
          <a:solidFill>
            <a:srgbClr val="F7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F9AD22F9-D0E6-24BF-5221-BC9EE45592CE}"/>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3937587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D31E398-8935-8A0B-8B8A-DD15E21B762A}"/>
              </a:ext>
            </a:extLst>
          </p:cNvPr>
          <p:cNvSpPr>
            <a:spLocks noGrp="1"/>
          </p:cNvSpPr>
          <p:nvPr>
            <p:ph type="title"/>
          </p:nvPr>
        </p:nvSpPr>
        <p:spPr>
          <a:xfrm>
            <a:off x="1371599" y="294538"/>
            <a:ext cx="9895951" cy="1033669"/>
          </a:xfrm>
        </p:spPr>
        <p:txBody>
          <a:bodyPr>
            <a:normAutofit/>
          </a:bodyPr>
          <a:lstStyle/>
          <a:p>
            <a:r>
              <a:rPr lang="es-MX" sz="4000" dirty="0">
                <a:solidFill>
                  <a:schemeClr val="bg1"/>
                </a:solidFill>
              </a:rPr>
              <a:t>Ejercicio</a:t>
            </a:r>
          </a:p>
        </p:txBody>
      </p:sp>
      <p:sp>
        <p:nvSpPr>
          <p:cNvPr id="4" name="Marcador de pie de página 3">
            <a:extLst>
              <a:ext uri="{FF2B5EF4-FFF2-40B4-BE49-F238E27FC236}">
                <a16:creationId xmlns:a16="http://schemas.microsoft.com/office/drawing/2014/main" id="{54F55FB5-DB5D-EB02-41BE-B00C98C01778}"/>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4C9DB505-3BF4-693B-D67A-12C2D5EAF1A3}"/>
              </a:ext>
            </a:extLst>
          </p:cNvPr>
          <p:cNvSpPr>
            <a:spLocks noGrp="1"/>
          </p:cNvSpPr>
          <p:nvPr>
            <p:ph idx="1"/>
          </p:nvPr>
        </p:nvSpPr>
        <p:spPr>
          <a:xfrm>
            <a:off x="1371599" y="2318197"/>
            <a:ext cx="9724031" cy="3683358"/>
          </a:xfrm>
        </p:spPr>
        <p:txBody>
          <a:bodyPr anchor="ctr">
            <a:normAutofit/>
          </a:bodyPr>
          <a:lstStyle/>
          <a:p>
            <a:pPr marL="0" indent="0">
              <a:buNone/>
            </a:pPr>
            <a:r>
              <a:rPr lang="es-MX" sz="1700" b="0" i="0">
                <a:effectLst/>
                <a:latin typeface="udemy sans"/>
              </a:rPr>
              <a:t>Para acceder a un determinado puesto de trabajo, el candidato debe ser capaz de programar en Python y tener conocimientos de inglés.</a:t>
            </a:r>
          </a:p>
          <a:p>
            <a:pPr marL="0" indent="0">
              <a:buNone/>
            </a:pPr>
            <a:r>
              <a:rPr lang="es-MX" sz="1700" b="0" i="0">
                <a:effectLst/>
                <a:latin typeface="udemy sans"/>
              </a:rPr>
              <a:t>Crea una estructura condicional para evaluar a un candidato dadas estas condiciones, y muestra el mensaje correspondiente en pantalla:</a:t>
            </a:r>
          </a:p>
          <a:p>
            <a:pPr>
              <a:buFont typeface="Arial" panose="020B0604020202020204" pitchFamily="34" charset="0"/>
              <a:buChar char="•"/>
            </a:pPr>
            <a:r>
              <a:rPr lang="es-MX" sz="1700" b="0" i="0">
                <a:effectLst/>
                <a:latin typeface="udemy sans"/>
              </a:rPr>
              <a:t>"Cumples con los requisitos para postularte"</a:t>
            </a:r>
          </a:p>
          <a:p>
            <a:pPr>
              <a:buFont typeface="Arial" panose="020B0604020202020204" pitchFamily="34" charset="0"/>
              <a:buChar char="•"/>
            </a:pPr>
            <a:r>
              <a:rPr lang="es-MX" sz="1700" b="0" i="0">
                <a:effectLst/>
                <a:latin typeface="udemy sans"/>
              </a:rPr>
              <a:t>"Para postularte, necesitas saber programar en Python y tener conocimientos de inglés"</a:t>
            </a:r>
          </a:p>
          <a:p>
            <a:pPr>
              <a:buFont typeface="Arial" panose="020B0604020202020204" pitchFamily="34" charset="0"/>
              <a:buChar char="•"/>
            </a:pPr>
            <a:r>
              <a:rPr lang="es-MX" sz="1700" b="0" i="0">
                <a:effectLst/>
                <a:latin typeface="udemy sans"/>
              </a:rPr>
              <a:t>"Para postularte, necesitas tener conocimientos de inglés"</a:t>
            </a:r>
          </a:p>
          <a:p>
            <a:pPr>
              <a:buFont typeface="Arial" panose="020B0604020202020204" pitchFamily="34" charset="0"/>
              <a:buChar char="•"/>
            </a:pPr>
            <a:r>
              <a:rPr lang="es-MX" sz="1700" b="0" i="0">
                <a:effectLst/>
                <a:latin typeface="udemy sans"/>
              </a:rPr>
              <a:t>"Para postularte, necesitas saber programar en Python"</a:t>
            </a:r>
          </a:p>
          <a:p>
            <a:pPr marL="0" indent="0">
              <a:buNone/>
            </a:pPr>
            <a:r>
              <a:rPr lang="es-MX" sz="1700" b="0" i="0">
                <a:effectLst/>
                <a:latin typeface="udemy sans"/>
              </a:rPr>
              <a:t>Utiliza la base de código ya proporcionada para plantear la estructura de control de flujo apropiada y verificar dichas condiciones. Evalúa a un candidato que sabe inglés, pero no programa en Python</a:t>
            </a:r>
          </a:p>
          <a:p>
            <a:pPr marL="0" indent="0">
              <a:buNone/>
            </a:pPr>
            <a:endParaRPr lang="es-MX" sz="1700"/>
          </a:p>
        </p:txBody>
      </p:sp>
      <p:sp>
        <p:nvSpPr>
          <p:cNvPr id="5" name="Marcador de número de diapositiva 4">
            <a:extLst>
              <a:ext uri="{FF2B5EF4-FFF2-40B4-BE49-F238E27FC236}">
                <a16:creationId xmlns:a16="http://schemas.microsoft.com/office/drawing/2014/main" id="{48C56BAB-647E-E698-933A-CA9139C72285}"/>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81</a:t>
            </a:fld>
            <a:endParaRPr lang="es-MX" sz="1100">
              <a:solidFill>
                <a:schemeClr val="tx1">
                  <a:lumMod val="50000"/>
                  <a:lumOff val="50000"/>
                </a:schemeClr>
              </a:solidFill>
            </a:endParaRPr>
          </a:p>
        </p:txBody>
      </p:sp>
    </p:spTree>
    <p:extLst>
      <p:ext uri="{BB962C8B-B14F-4D97-AF65-F5344CB8AC3E}">
        <p14:creationId xmlns:p14="http://schemas.microsoft.com/office/powerpoint/2010/main" val="25437465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FE11A90-25B8-F95D-864A-F908E493C5E6}"/>
              </a:ext>
            </a:extLst>
          </p:cNvPr>
          <p:cNvSpPr>
            <a:spLocks noGrp="1"/>
          </p:cNvSpPr>
          <p:nvPr>
            <p:ph type="title"/>
          </p:nvPr>
        </p:nvSpPr>
        <p:spPr>
          <a:xfrm>
            <a:off x="1371599" y="294538"/>
            <a:ext cx="9895951" cy="1033669"/>
          </a:xfrm>
        </p:spPr>
        <p:txBody>
          <a:bodyPr>
            <a:normAutofit/>
          </a:bodyPr>
          <a:lstStyle/>
          <a:p>
            <a:r>
              <a:rPr lang="es-MX" sz="4000" dirty="0" err="1">
                <a:solidFill>
                  <a:srgbClr val="FFFFFF"/>
                </a:solidFill>
              </a:rPr>
              <a:t>Loops</a:t>
            </a:r>
            <a:r>
              <a:rPr lang="es-MX" sz="4000" dirty="0">
                <a:solidFill>
                  <a:srgbClr val="FFFFFF"/>
                </a:solidFill>
              </a:rPr>
              <a:t> </a:t>
            </a:r>
            <a:r>
              <a:rPr lang="es-MX" sz="4000" dirty="0" err="1">
                <a:solidFill>
                  <a:srgbClr val="FFFFFF"/>
                </a:solidFill>
              </a:rPr>
              <a:t>for</a:t>
            </a:r>
            <a:endParaRPr lang="es-MX" sz="4000" dirty="0">
              <a:solidFill>
                <a:srgbClr val="FFFFFF"/>
              </a:solidFill>
            </a:endParaRPr>
          </a:p>
        </p:txBody>
      </p:sp>
      <p:sp>
        <p:nvSpPr>
          <p:cNvPr id="4" name="Marcador de pie de página 3">
            <a:extLst>
              <a:ext uri="{FF2B5EF4-FFF2-40B4-BE49-F238E27FC236}">
                <a16:creationId xmlns:a16="http://schemas.microsoft.com/office/drawing/2014/main" id="{66C4BD4F-F539-C1CE-7958-2E1E395C2C9F}"/>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D23614EE-BEA2-F197-78E3-495294BC4F62}"/>
              </a:ext>
            </a:extLst>
          </p:cNvPr>
          <p:cNvSpPr>
            <a:spLocks noGrp="1"/>
          </p:cNvSpPr>
          <p:nvPr>
            <p:ph idx="1"/>
          </p:nvPr>
        </p:nvSpPr>
        <p:spPr>
          <a:xfrm>
            <a:off x="1371599" y="2318197"/>
            <a:ext cx="9724031" cy="3683358"/>
          </a:xfrm>
        </p:spPr>
        <p:txBody>
          <a:bodyPr anchor="ctr">
            <a:normAutofit/>
          </a:bodyPr>
          <a:lstStyle/>
          <a:p>
            <a:pPr marL="0" indent="0">
              <a:buNone/>
            </a:pPr>
            <a:r>
              <a:rPr lang="es-MX" sz="2000" dirty="0"/>
              <a:t>A diferencia de otros lenguajes de programación, los </a:t>
            </a:r>
            <a:r>
              <a:rPr lang="es-MX" sz="2000" dirty="0" err="1"/>
              <a:t>loops</a:t>
            </a:r>
            <a:r>
              <a:rPr lang="es-MX" sz="2000" dirty="0"/>
              <a:t> </a:t>
            </a:r>
            <a:r>
              <a:rPr lang="es-MX" sz="2000" dirty="0" err="1"/>
              <a:t>for</a:t>
            </a:r>
            <a:r>
              <a:rPr lang="es-MX" sz="2000" dirty="0"/>
              <a:t> en Python tienen la capacidad de iterar a lo largo de los elementos de cualquier secuencia (listas, strings, entre otros), en el orden en que dichos elementos aparecen</a:t>
            </a:r>
          </a:p>
          <a:p>
            <a:pPr marL="0" indent="0">
              <a:buNone/>
            </a:pPr>
            <a:r>
              <a:rPr lang="es-MX" sz="2000" dirty="0"/>
              <a:t>CONCEPTOS:</a:t>
            </a:r>
          </a:p>
          <a:p>
            <a:pPr marL="0" indent="0">
              <a:buNone/>
            </a:pPr>
            <a:r>
              <a:rPr lang="es-MX" sz="2000" dirty="0" err="1"/>
              <a:t>Loops</a:t>
            </a:r>
            <a:r>
              <a:rPr lang="es-MX" sz="2000" dirty="0"/>
              <a:t>/bucles: son secuencias de instrucciones de código que se ejecutan repetidas veces Iterables: son objetos en Python que se pueden recorrer (o iterar) a lo largo de sus elementos </a:t>
            </a:r>
          </a:p>
        </p:txBody>
      </p:sp>
      <p:sp>
        <p:nvSpPr>
          <p:cNvPr id="5" name="Marcador de número de diapositiva 4">
            <a:extLst>
              <a:ext uri="{FF2B5EF4-FFF2-40B4-BE49-F238E27FC236}">
                <a16:creationId xmlns:a16="http://schemas.microsoft.com/office/drawing/2014/main" id="{2DD36F5D-9E6B-BAAA-1AE0-EE4EA283CAD3}"/>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82</a:t>
            </a:fld>
            <a:endParaRPr lang="es-MX" sz="1100">
              <a:solidFill>
                <a:schemeClr val="tx1">
                  <a:lumMod val="50000"/>
                  <a:lumOff val="50000"/>
                </a:schemeClr>
              </a:solidFill>
            </a:endParaRPr>
          </a:p>
        </p:txBody>
      </p:sp>
    </p:spTree>
    <p:extLst>
      <p:ext uri="{BB962C8B-B14F-4D97-AF65-F5344CB8AC3E}">
        <p14:creationId xmlns:p14="http://schemas.microsoft.com/office/powerpoint/2010/main" val="14783468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FE11A90-25B8-F95D-864A-F908E493C5E6}"/>
              </a:ext>
            </a:extLst>
          </p:cNvPr>
          <p:cNvSpPr>
            <a:spLocks noGrp="1"/>
          </p:cNvSpPr>
          <p:nvPr>
            <p:ph type="title"/>
          </p:nvPr>
        </p:nvSpPr>
        <p:spPr>
          <a:xfrm>
            <a:off x="1371599" y="294538"/>
            <a:ext cx="9895951" cy="1033669"/>
          </a:xfrm>
        </p:spPr>
        <p:txBody>
          <a:bodyPr>
            <a:normAutofit/>
          </a:bodyPr>
          <a:lstStyle/>
          <a:p>
            <a:r>
              <a:rPr lang="es-MX" sz="4000" dirty="0" err="1">
                <a:solidFill>
                  <a:srgbClr val="FFFFFF"/>
                </a:solidFill>
              </a:rPr>
              <a:t>Loops</a:t>
            </a:r>
            <a:r>
              <a:rPr lang="es-MX" sz="4000" dirty="0">
                <a:solidFill>
                  <a:srgbClr val="FFFFFF"/>
                </a:solidFill>
              </a:rPr>
              <a:t> </a:t>
            </a:r>
            <a:r>
              <a:rPr lang="es-MX" sz="4000" dirty="0" err="1">
                <a:solidFill>
                  <a:srgbClr val="FFFFFF"/>
                </a:solidFill>
              </a:rPr>
              <a:t>for</a:t>
            </a:r>
            <a:endParaRPr lang="es-MX" sz="4000" dirty="0">
              <a:solidFill>
                <a:srgbClr val="FFFFFF"/>
              </a:solidFill>
            </a:endParaRPr>
          </a:p>
        </p:txBody>
      </p:sp>
      <p:sp>
        <p:nvSpPr>
          <p:cNvPr id="4" name="Marcador de pie de página 3">
            <a:extLst>
              <a:ext uri="{FF2B5EF4-FFF2-40B4-BE49-F238E27FC236}">
                <a16:creationId xmlns:a16="http://schemas.microsoft.com/office/drawing/2014/main" id="{66C4BD4F-F539-C1CE-7958-2E1E395C2C9F}"/>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5" name="Marcador de número de diapositiva 4">
            <a:extLst>
              <a:ext uri="{FF2B5EF4-FFF2-40B4-BE49-F238E27FC236}">
                <a16:creationId xmlns:a16="http://schemas.microsoft.com/office/drawing/2014/main" id="{2DD36F5D-9E6B-BAAA-1AE0-EE4EA283CAD3}"/>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83</a:t>
            </a:fld>
            <a:endParaRPr lang="es-MX" sz="1100">
              <a:solidFill>
                <a:schemeClr val="tx1">
                  <a:lumMod val="50000"/>
                  <a:lumOff val="50000"/>
                </a:schemeClr>
              </a:solidFill>
            </a:endParaRPr>
          </a:p>
        </p:txBody>
      </p:sp>
      <p:sp>
        <p:nvSpPr>
          <p:cNvPr id="9" name="Marcador de contenido 2">
            <a:extLst>
              <a:ext uri="{FF2B5EF4-FFF2-40B4-BE49-F238E27FC236}">
                <a16:creationId xmlns:a16="http://schemas.microsoft.com/office/drawing/2014/main" id="{D33A05CE-0C3C-DD7C-D297-2F4EDC7B3D70}"/>
              </a:ext>
            </a:extLst>
          </p:cNvPr>
          <p:cNvSpPr>
            <a:spLocks noGrp="1"/>
          </p:cNvSpPr>
          <p:nvPr>
            <p:ph idx="1"/>
          </p:nvPr>
        </p:nvSpPr>
        <p:spPr>
          <a:xfrm>
            <a:off x="838200" y="1825625"/>
            <a:ext cx="10515600" cy="4351338"/>
          </a:xfrm>
        </p:spPr>
        <p:txBody>
          <a:bodyPr>
            <a:normAutofit fontScale="92500" lnSpcReduction="20000"/>
          </a:bodyPr>
          <a:lstStyle/>
          <a:p>
            <a:pPr marL="0" indent="0">
              <a:buNone/>
            </a:pPr>
            <a:r>
              <a:rPr lang="en-US" dirty="0"/>
              <a:t>       </a:t>
            </a:r>
            <a:r>
              <a:rPr lang="es-MX" sz="1600" dirty="0"/>
              <a:t>Cada uno de los elementos que compone el iterable</a:t>
            </a:r>
            <a:r>
              <a:rPr lang="en-US" sz="1600" dirty="0"/>
              <a:t>                                            </a:t>
            </a:r>
            <a:r>
              <a:rPr lang="es-MX" sz="1100" dirty="0"/>
              <a:t>Strings, listas, tuplas, diccionarios, sets, rangos...</a:t>
            </a:r>
            <a:r>
              <a:rPr lang="en-US" sz="1600" dirty="0"/>
              <a:t>             </a:t>
            </a:r>
          </a:p>
          <a:p>
            <a:pPr marL="0" indent="0">
              <a:buNone/>
            </a:pPr>
            <a:r>
              <a:rPr lang="en-US" dirty="0"/>
              <a:t>                                   </a:t>
            </a:r>
          </a:p>
          <a:p>
            <a:pPr marL="0" indent="0">
              <a:buNone/>
            </a:pPr>
            <a:endParaRPr lang="en-US" dirty="0"/>
          </a:p>
          <a:p>
            <a:pPr marL="0" indent="0">
              <a:buNone/>
            </a:pPr>
            <a:endParaRPr lang="en-US" dirty="0"/>
          </a:p>
          <a:p>
            <a:pPr marL="0" indent="0">
              <a:buNone/>
            </a:pPr>
            <a:r>
              <a:rPr lang="en-US" sz="1700" dirty="0"/>
              <a:t>          </a:t>
            </a:r>
            <a:r>
              <a:rPr lang="es-MX" sz="1200" dirty="0"/>
              <a:t>la </a:t>
            </a:r>
            <a:r>
              <a:rPr lang="es-MX" sz="1200" dirty="0" err="1"/>
              <a:t>indentación</a:t>
            </a:r>
            <a:r>
              <a:rPr lang="es-MX" sz="1200" dirty="0"/>
              <a:t> es obligatoria en Python</a:t>
            </a:r>
            <a:r>
              <a:rPr lang="en-US" sz="1700" dirty="0"/>
              <a:t>                            for item in </a:t>
            </a:r>
            <a:r>
              <a:rPr lang="en-US" sz="1700" dirty="0" err="1"/>
              <a:t>Iterable</a:t>
            </a:r>
            <a:r>
              <a:rPr lang="en-US" sz="1700" dirty="0"/>
              <a:t>: expression                                 </a:t>
            </a:r>
            <a:r>
              <a:rPr lang="es-MX" sz="1800" dirty="0"/>
              <a:t>dos puntos (:) </a:t>
            </a:r>
            <a:endParaRPr lang="en-US" sz="1700" dirty="0"/>
          </a:p>
          <a:p>
            <a:pPr marL="0" indent="0">
              <a:buNone/>
            </a:pPr>
            <a:endParaRPr lang="en-US" dirty="0"/>
          </a:p>
          <a:p>
            <a:pPr marL="0" indent="0">
              <a:buNone/>
            </a:pPr>
            <a:endParaRPr lang="en-US" dirty="0"/>
          </a:p>
          <a:p>
            <a:pPr marL="0" indent="0">
              <a:buNone/>
            </a:pPr>
            <a:r>
              <a:rPr lang="es-MX" dirty="0"/>
              <a:t>                             Código que se ejecuta con cada iteración</a:t>
            </a:r>
          </a:p>
          <a:p>
            <a:pPr marL="0" indent="0">
              <a:buNone/>
            </a:pPr>
            <a:endParaRPr lang="es-MX" dirty="0"/>
          </a:p>
          <a:p>
            <a:pPr marL="0" indent="0">
              <a:buNone/>
            </a:pPr>
            <a:r>
              <a:rPr lang="es-MX" dirty="0"/>
              <a:t> Podemos llamar al elemento que está siendo iterado o sus atributos a través del nombre definido en </a:t>
            </a:r>
            <a:r>
              <a:rPr lang="es-MX" dirty="0" err="1"/>
              <a:t>item</a:t>
            </a:r>
            <a:r>
              <a:rPr lang="es-MX" dirty="0"/>
              <a:t>, para utilizarlo en la expresión</a:t>
            </a:r>
          </a:p>
        </p:txBody>
      </p:sp>
      <p:cxnSp>
        <p:nvCxnSpPr>
          <p:cNvPr id="11" name="Conector recto de flecha 10">
            <a:extLst>
              <a:ext uri="{FF2B5EF4-FFF2-40B4-BE49-F238E27FC236}">
                <a16:creationId xmlns:a16="http://schemas.microsoft.com/office/drawing/2014/main" id="{353EFA8B-FA7F-EE37-E55C-7A29ACE83A15}"/>
              </a:ext>
            </a:extLst>
          </p:cNvPr>
          <p:cNvCxnSpPr/>
          <p:nvPr/>
        </p:nvCxnSpPr>
        <p:spPr>
          <a:xfrm>
            <a:off x="4038600" y="2344366"/>
            <a:ext cx="747409" cy="94358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Conector recto de flecha 12">
            <a:extLst>
              <a:ext uri="{FF2B5EF4-FFF2-40B4-BE49-F238E27FC236}">
                <a16:creationId xmlns:a16="http://schemas.microsoft.com/office/drawing/2014/main" id="{9DF915FD-AF37-61D0-BEB2-E6BB148E3C04}"/>
              </a:ext>
            </a:extLst>
          </p:cNvPr>
          <p:cNvCxnSpPr/>
          <p:nvPr/>
        </p:nvCxnSpPr>
        <p:spPr>
          <a:xfrm flipH="1">
            <a:off x="7130374" y="2412460"/>
            <a:ext cx="1023026" cy="101654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5" name="Conector recto de flecha 14">
            <a:extLst>
              <a:ext uri="{FF2B5EF4-FFF2-40B4-BE49-F238E27FC236}">
                <a16:creationId xmlns:a16="http://schemas.microsoft.com/office/drawing/2014/main" id="{B41688DC-BE5B-50F4-2CED-295F7FB5B8AE}"/>
              </a:ext>
            </a:extLst>
          </p:cNvPr>
          <p:cNvCxnSpPr/>
          <p:nvPr/>
        </p:nvCxnSpPr>
        <p:spPr>
          <a:xfrm>
            <a:off x="3822970" y="3784060"/>
            <a:ext cx="80739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Conector recto de flecha 16">
            <a:extLst>
              <a:ext uri="{FF2B5EF4-FFF2-40B4-BE49-F238E27FC236}">
                <a16:creationId xmlns:a16="http://schemas.microsoft.com/office/drawing/2014/main" id="{F5E83C1A-015A-4412-0BF9-D6A5A0C73125}"/>
              </a:ext>
            </a:extLst>
          </p:cNvPr>
          <p:cNvCxnSpPr/>
          <p:nvPr/>
        </p:nvCxnSpPr>
        <p:spPr>
          <a:xfrm>
            <a:off x="6096000" y="4041058"/>
            <a:ext cx="0" cy="55060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9" name="Conector recto de flecha 18">
            <a:extLst>
              <a:ext uri="{FF2B5EF4-FFF2-40B4-BE49-F238E27FC236}">
                <a16:creationId xmlns:a16="http://schemas.microsoft.com/office/drawing/2014/main" id="{0514BC79-EC72-E173-2C39-41886F6DDB5A}"/>
              </a:ext>
            </a:extLst>
          </p:cNvPr>
          <p:cNvCxnSpPr/>
          <p:nvPr/>
        </p:nvCxnSpPr>
        <p:spPr>
          <a:xfrm>
            <a:off x="6096000" y="4906297"/>
            <a:ext cx="0" cy="33429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0" name="Conector recto de flecha 19">
            <a:extLst>
              <a:ext uri="{FF2B5EF4-FFF2-40B4-BE49-F238E27FC236}">
                <a16:creationId xmlns:a16="http://schemas.microsoft.com/office/drawing/2014/main" id="{2BE38E95-30F9-8AD8-3AFF-7DE0A13BD608}"/>
              </a:ext>
            </a:extLst>
          </p:cNvPr>
          <p:cNvCxnSpPr/>
          <p:nvPr/>
        </p:nvCxnSpPr>
        <p:spPr>
          <a:xfrm flipH="1" flipV="1">
            <a:off x="7551174" y="3746090"/>
            <a:ext cx="1150374" cy="8849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2982827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pie de página 3">
            <a:extLst>
              <a:ext uri="{FF2B5EF4-FFF2-40B4-BE49-F238E27FC236}">
                <a16:creationId xmlns:a16="http://schemas.microsoft.com/office/drawing/2014/main" id="{66C4BD4F-F539-C1CE-7958-2E1E395C2C9F}"/>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5" name="Marcador de número de diapositiva 4">
            <a:extLst>
              <a:ext uri="{FF2B5EF4-FFF2-40B4-BE49-F238E27FC236}">
                <a16:creationId xmlns:a16="http://schemas.microsoft.com/office/drawing/2014/main" id="{2DD36F5D-9E6B-BAAA-1AE0-EE4EA283CAD3}"/>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84</a:t>
            </a:fld>
            <a:endParaRPr lang="es-MX" sz="1100">
              <a:solidFill>
                <a:schemeClr val="tx1">
                  <a:lumMod val="50000"/>
                  <a:lumOff val="50000"/>
                </a:schemeClr>
              </a:solidFill>
            </a:endParaRPr>
          </a:p>
        </p:txBody>
      </p:sp>
      <p:sp>
        <p:nvSpPr>
          <p:cNvPr id="9" name="Título 8">
            <a:extLst>
              <a:ext uri="{FF2B5EF4-FFF2-40B4-BE49-F238E27FC236}">
                <a16:creationId xmlns:a16="http://schemas.microsoft.com/office/drawing/2014/main" id="{3F946382-FC35-0039-EFD6-26F3AC51B75A}"/>
              </a:ext>
            </a:extLst>
          </p:cNvPr>
          <p:cNvSpPr>
            <a:spLocks noGrp="1"/>
          </p:cNvSpPr>
          <p:nvPr>
            <p:ph type="title"/>
          </p:nvPr>
        </p:nvSpPr>
        <p:spPr/>
        <p:txBody>
          <a:bodyPr/>
          <a:lstStyle/>
          <a:p>
            <a:r>
              <a:rPr lang="es-MX" dirty="0">
                <a:solidFill>
                  <a:schemeClr val="bg1"/>
                </a:solidFill>
              </a:rPr>
              <a:t>Ejercicio</a:t>
            </a:r>
          </a:p>
        </p:txBody>
      </p:sp>
      <p:sp>
        <p:nvSpPr>
          <p:cNvPr id="11" name="CuadroTexto 10">
            <a:extLst>
              <a:ext uri="{FF2B5EF4-FFF2-40B4-BE49-F238E27FC236}">
                <a16:creationId xmlns:a16="http://schemas.microsoft.com/office/drawing/2014/main" id="{ADB5134C-D583-4CF7-7940-371886BA4F0E}"/>
              </a:ext>
            </a:extLst>
          </p:cNvPr>
          <p:cNvSpPr txBox="1"/>
          <p:nvPr/>
        </p:nvSpPr>
        <p:spPr>
          <a:xfrm>
            <a:off x="958850" y="2916238"/>
            <a:ext cx="2414588" cy="2986088"/>
          </a:xfrm>
          <a:prstGeom prst="rect">
            <a:avLst/>
          </a:prstGeom>
          <a:noFill/>
        </p:spPr>
        <p:txBody>
          <a:bodyPr wrap="square" anchor="t">
            <a:normAutofit/>
          </a:bodyPr>
          <a:lstStyle/>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1500" b="0" i="0" u="none" strike="noStrike" cap="none" normalizeH="0" baseline="0" dirty="0">
                <a:ln>
                  <a:noFill/>
                </a:ln>
                <a:effectLst/>
                <a:latin typeface="udemy sans"/>
              </a:rPr>
              <a:t>Utilizando </a:t>
            </a:r>
            <a:r>
              <a:rPr kumimoji="0" lang="es-MX" altLang="es-MX" sz="1500" b="1" i="0" u="none" strike="noStrike" cap="none" normalizeH="0" baseline="0" dirty="0" err="1">
                <a:ln>
                  <a:noFill/>
                </a:ln>
                <a:effectLst/>
                <a:latin typeface="udemy sans"/>
              </a:rPr>
              <a:t>loops</a:t>
            </a:r>
            <a:r>
              <a:rPr kumimoji="0" lang="es-MX" altLang="es-MX" sz="1500" b="1" i="0" u="none" strike="noStrike" cap="none" normalizeH="0" baseline="0" dirty="0">
                <a:ln>
                  <a:noFill/>
                </a:ln>
                <a:effectLst/>
                <a:latin typeface="udemy sans"/>
              </a:rPr>
              <a:t> </a:t>
            </a:r>
            <a:r>
              <a:rPr kumimoji="0" lang="es-MX" altLang="es-MX" sz="1500" b="1" i="0" u="none" strike="noStrike" cap="none" normalizeH="0" baseline="0" dirty="0" err="1">
                <a:ln>
                  <a:noFill/>
                </a:ln>
                <a:effectLst/>
                <a:latin typeface="udemy sans"/>
              </a:rPr>
              <a:t>For</a:t>
            </a:r>
            <a:r>
              <a:rPr kumimoji="0" lang="es-MX" altLang="es-MX" sz="1500" b="0" i="0" u="none" strike="noStrike" cap="none" normalizeH="0" baseline="0" dirty="0">
                <a:ln>
                  <a:noFill/>
                </a:ln>
                <a:effectLst/>
                <a:latin typeface="udemy sans"/>
              </a:rPr>
              <a:t> saluda a todos los miembros de una clase, imprimiendo </a:t>
            </a:r>
            <a:r>
              <a:rPr kumimoji="0" lang="es-MX" altLang="es-MX" sz="1500" b="1" i="0" u="none" strike="noStrike" cap="none" normalizeH="0" baseline="0" dirty="0">
                <a:ln>
                  <a:noFill/>
                </a:ln>
                <a:effectLst/>
                <a:latin typeface="udemy sans"/>
              </a:rPr>
              <a:t>"Hola" + su nombre</a:t>
            </a:r>
            <a:r>
              <a:rPr kumimoji="0" lang="es-MX" altLang="es-MX" sz="1500" b="0" i="0" u="none" strike="noStrike" cap="none" normalizeH="0" baseline="0" dirty="0">
                <a:ln>
                  <a:noFill/>
                </a:ln>
                <a:effectLst/>
                <a:latin typeface="udemy sans"/>
              </a:rPr>
              <a:t>.</a:t>
            </a:r>
            <a:endParaRPr kumimoji="0" lang="es-MX" altLang="es-MX" sz="1500" b="0" i="0" u="none" strike="noStrike" cap="none" normalizeH="0" baseline="0" dirty="0">
              <a:ln>
                <a:noFill/>
              </a:ln>
              <a:effectLst/>
            </a:endParaRPr>
          </a:p>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1500" b="0" i="0" u="none" strike="noStrike" cap="none" normalizeH="0" baseline="0" dirty="0">
                <a:ln>
                  <a:noFill/>
                </a:ln>
                <a:effectLst/>
                <a:latin typeface="udemy sans"/>
              </a:rPr>
              <a:t>Por ejemplo: </a:t>
            </a:r>
            <a:r>
              <a:rPr kumimoji="0" lang="es-MX" altLang="es-MX" sz="1500" b="0" i="1" u="none" strike="noStrike" cap="none" normalizeH="0" baseline="0" dirty="0">
                <a:ln>
                  <a:noFill/>
                </a:ln>
                <a:effectLst/>
                <a:latin typeface="sfmono-regular"/>
              </a:rPr>
              <a:t>"Hola María"</a:t>
            </a:r>
            <a:endParaRPr kumimoji="0" lang="es-MX" altLang="es-MX" sz="1500" b="0" i="0" u="none" strike="noStrike" cap="none" normalizeH="0" baseline="0" dirty="0">
              <a:ln>
                <a:noFill/>
              </a:ln>
              <a:effectLst/>
            </a:endParaRPr>
          </a:p>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1500" b="1" i="0" u="none" strike="noStrike" cap="none" normalizeH="0" baseline="0" dirty="0" err="1">
                <a:ln>
                  <a:noFill/>
                </a:ln>
                <a:effectLst/>
                <a:latin typeface="sfmono-regular"/>
              </a:rPr>
              <a:t>alumnos_clase</a:t>
            </a:r>
            <a:r>
              <a:rPr kumimoji="0" lang="es-MX" altLang="es-MX" sz="1500" b="1" i="0" u="none" strike="noStrike" cap="none" normalizeH="0" baseline="0" dirty="0">
                <a:ln>
                  <a:noFill/>
                </a:ln>
                <a:effectLst/>
                <a:latin typeface="sfmono-regular"/>
              </a:rPr>
              <a:t> = ["María", "José", "Carlos", "Martina", "Isabel", "Tomás", "Daniela"]</a:t>
            </a:r>
            <a:endParaRPr kumimoji="0" lang="es-MX" altLang="es-MX" sz="1500" b="0" i="0" u="none" strike="noStrike" cap="none" normalizeH="0" baseline="0" dirty="0">
              <a:ln>
                <a:noFill/>
              </a:ln>
              <a:effectLst/>
              <a:latin typeface="Arial" panose="020B0604020202020204" pitchFamily="34" charset="0"/>
            </a:endParaRPr>
          </a:p>
        </p:txBody>
      </p:sp>
      <p:sp>
        <p:nvSpPr>
          <p:cNvPr id="13" name="CuadroTexto 12">
            <a:extLst>
              <a:ext uri="{FF2B5EF4-FFF2-40B4-BE49-F238E27FC236}">
                <a16:creationId xmlns:a16="http://schemas.microsoft.com/office/drawing/2014/main" id="{CDA7DEAB-A32F-7720-0B70-C79EE3261136}"/>
              </a:ext>
            </a:extLst>
          </p:cNvPr>
          <p:cNvSpPr txBox="1"/>
          <p:nvPr/>
        </p:nvSpPr>
        <p:spPr>
          <a:xfrm>
            <a:off x="3443288" y="2916238"/>
            <a:ext cx="7794625" cy="2986088"/>
          </a:xfrm>
          <a:prstGeom prst="rect">
            <a:avLst/>
          </a:prstGeom>
          <a:noFill/>
        </p:spPr>
        <p:txBody>
          <a:bodyPr wrap="square" anchor="t">
            <a:normAutofit/>
          </a:bodyPr>
          <a:lstStyle/>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1500" b="0" i="0" u="none" strike="noStrike" cap="none" normalizeH="0" baseline="0" dirty="0">
                <a:ln>
                  <a:noFill/>
                </a:ln>
                <a:effectLst/>
                <a:latin typeface="udemy sans"/>
              </a:rPr>
              <a:t>Dada la siguiente lista de números, realiza la suma de todos los números utilizando </a:t>
            </a:r>
            <a:r>
              <a:rPr kumimoji="0" lang="es-MX" altLang="es-MX" sz="1500" b="0" i="0" u="none" strike="noStrike" cap="none" normalizeH="0" baseline="0" dirty="0" err="1">
                <a:ln>
                  <a:noFill/>
                </a:ln>
                <a:effectLst/>
                <a:latin typeface="udemy sans"/>
              </a:rPr>
              <a:t>loops</a:t>
            </a:r>
            <a:r>
              <a:rPr kumimoji="0" lang="es-MX" altLang="es-MX" sz="1500" b="0" i="0" u="none" strike="noStrike" cap="none" normalizeH="0" baseline="0" dirty="0">
                <a:ln>
                  <a:noFill/>
                </a:ln>
                <a:effectLst/>
                <a:latin typeface="udemy sans"/>
              </a:rPr>
              <a:t> </a:t>
            </a:r>
            <a:r>
              <a:rPr kumimoji="0" lang="es-MX" altLang="es-MX" sz="1500" b="0" i="0" u="none" strike="noStrike" cap="none" normalizeH="0" baseline="0" dirty="0" err="1">
                <a:ln>
                  <a:noFill/>
                </a:ln>
                <a:effectLst/>
                <a:latin typeface="udemy sans"/>
              </a:rPr>
              <a:t>For</a:t>
            </a:r>
            <a:r>
              <a:rPr kumimoji="0" lang="es-MX" altLang="es-MX" sz="1500" b="0" i="0" u="none" strike="noStrike" cap="none" normalizeH="0" baseline="0" dirty="0">
                <a:ln>
                  <a:noFill/>
                </a:ln>
                <a:effectLst/>
                <a:latin typeface="udemy sans"/>
              </a:rPr>
              <a:t> y almacena el resultado de la suma en una variable llamada </a:t>
            </a:r>
            <a:r>
              <a:rPr kumimoji="0" lang="es-MX" altLang="es-MX" sz="1500" b="1" i="0" u="none" strike="noStrike" cap="none" normalizeH="0" baseline="0" dirty="0" err="1">
                <a:ln>
                  <a:noFill/>
                </a:ln>
                <a:effectLst/>
                <a:latin typeface="sfmono-regular"/>
              </a:rPr>
              <a:t>suma_numeros</a:t>
            </a:r>
            <a:r>
              <a:rPr kumimoji="0" lang="es-MX" altLang="es-MX" sz="1500" b="0" i="0" u="none" strike="noStrike" cap="none" normalizeH="0" baseline="0" dirty="0">
                <a:ln>
                  <a:noFill/>
                </a:ln>
                <a:effectLst/>
                <a:latin typeface="udemy sans"/>
              </a:rPr>
              <a:t>:</a:t>
            </a:r>
            <a:endParaRPr kumimoji="0" lang="es-MX" altLang="es-MX" sz="1500" b="0" i="0" u="none" strike="noStrike" cap="none" normalizeH="0" baseline="0" dirty="0">
              <a:ln>
                <a:noFill/>
              </a:ln>
              <a:effectLst/>
            </a:endParaRPr>
          </a:p>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1500" b="0" i="0" u="none" strike="noStrike" cap="none" normalizeH="0" baseline="0" dirty="0" err="1">
                <a:ln>
                  <a:noFill/>
                </a:ln>
                <a:effectLst/>
                <a:latin typeface="sfmono-regular"/>
              </a:rPr>
              <a:t>lista_numeros</a:t>
            </a:r>
            <a:r>
              <a:rPr kumimoji="0" lang="es-MX" altLang="es-MX" sz="1500" b="0" i="0" u="none" strike="noStrike" cap="none" normalizeH="0" baseline="0" dirty="0">
                <a:ln>
                  <a:noFill/>
                </a:ln>
                <a:effectLst/>
                <a:latin typeface="sfmono-regular"/>
              </a:rPr>
              <a:t> = [1,5,8,7,6,8,2,5,2,6,4,8,5,9,8,3,5,4,2,5,6,4]</a:t>
            </a:r>
          </a:p>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1500" b="0" i="0" u="none" strike="noStrike" cap="none" normalizeH="0" baseline="0" dirty="0">
                <a:ln>
                  <a:noFill/>
                </a:ln>
                <a:effectLst/>
                <a:latin typeface="udemy sans"/>
              </a:rPr>
              <a:t>Dada la siguiente lista de números, realiza la suma de todos los números pares e impares* por separado en las variables </a:t>
            </a:r>
            <a:r>
              <a:rPr kumimoji="0" lang="es-MX" altLang="es-MX" sz="1500" b="1" i="0" u="none" strike="noStrike" cap="none" normalizeH="0" baseline="0" dirty="0" err="1">
                <a:ln>
                  <a:noFill/>
                </a:ln>
                <a:effectLst/>
                <a:latin typeface="sfmono-regular"/>
              </a:rPr>
              <a:t>suma_pares</a:t>
            </a:r>
            <a:r>
              <a:rPr kumimoji="0" lang="es-MX" altLang="es-MX" sz="1500" b="0" i="0" u="none" strike="noStrike" cap="none" normalizeH="0" baseline="0" dirty="0">
                <a:ln>
                  <a:noFill/>
                </a:ln>
                <a:effectLst/>
                <a:latin typeface="udemy sans"/>
              </a:rPr>
              <a:t> y </a:t>
            </a:r>
            <a:r>
              <a:rPr kumimoji="0" lang="es-MX" altLang="es-MX" sz="1500" b="1" i="0" u="none" strike="noStrike" cap="none" normalizeH="0" baseline="0" dirty="0" err="1">
                <a:ln>
                  <a:noFill/>
                </a:ln>
                <a:effectLst/>
                <a:latin typeface="sfmono-regular"/>
              </a:rPr>
              <a:t>suma_impares</a:t>
            </a:r>
            <a:r>
              <a:rPr kumimoji="0" lang="es-MX" altLang="es-MX" sz="1500" b="0" i="0" u="none" strike="noStrike" cap="none" normalizeH="0" baseline="0" dirty="0">
                <a:ln>
                  <a:noFill/>
                </a:ln>
                <a:effectLst/>
                <a:latin typeface="udemy sans"/>
              </a:rPr>
              <a:t> respectivamente:</a:t>
            </a:r>
            <a:endParaRPr kumimoji="0" lang="es-MX" altLang="es-MX" sz="1500" b="0" i="0" u="none" strike="noStrike" cap="none" normalizeH="0" baseline="0" dirty="0">
              <a:ln>
                <a:noFill/>
              </a:ln>
              <a:effectLst/>
            </a:endParaRPr>
          </a:p>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1500" b="1" i="0" u="none" strike="noStrike" cap="none" normalizeH="0" baseline="0" dirty="0" err="1">
                <a:ln>
                  <a:noFill/>
                </a:ln>
                <a:effectLst/>
                <a:latin typeface="sfmono-regular"/>
              </a:rPr>
              <a:t>lista_numeros</a:t>
            </a:r>
            <a:r>
              <a:rPr kumimoji="0" lang="es-MX" altLang="es-MX" sz="1500" b="1" i="0" u="none" strike="noStrike" cap="none" normalizeH="0" baseline="0" dirty="0">
                <a:ln>
                  <a:noFill/>
                </a:ln>
                <a:effectLst/>
                <a:latin typeface="sfmono-regular"/>
              </a:rPr>
              <a:t> = [1,5,8,7,6,8,2,5,2,6,4,8,5,9,8,3,5,4,2,5,6,4]</a:t>
            </a:r>
            <a:endParaRPr kumimoji="0" lang="es-MX" altLang="es-MX" sz="1500" b="0" i="0" u="none" strike="noStrike" cap="none" normalizeH="0" baseline="0" dirty="0">
              <a:ln>
                <a:noFill/>
              </a:ln>
              <a:effectLst/>
            </a:endParaRPr>
          </a:p>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1500" b="0" i="1" u="none" strike="noStrike" cap="none" normalizeH="0" baseline="0" dirty="0">
                <a:ln>
                  <a:noFill/>
                </a:ln>
                <a:effectLst/>
                <a:latin typeface="udemy sans"/>
              </a:rPr>
              <a:t>*Recordando de los días anteriores: el módulo (o resto) de un número dividido 2 es cero cuando dicho valor es par, y 1 cuando es impar</a:t>
            </a:r>
            <a:endParaRPr kumimoji="0" lang="es-MX" altLang="es-MX" sz="1500" b="0" i="0" u="none" strike="noStrike" cap="none" normalizeH="0" baseline="0" dirty="0">
              <a:ln>
                <a:noFill/>
              </a:ln>
              <a:effectLst/>
            </a:endParaRPr>
          </a:p>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1500" b="0" i="1" u="none" strike="noStrike" cap="none" normalizeH="0" baseline="0" dirty="0" err="1">
                <a:ln>
                  <a:noFill/>
                </a:ln>
                <a:effectLst/>
                <a:latin typeface="udemy sans"/>
              </a:rPr>
              <a:t>num</a:t>
            </a:r>
            <a:r>
              <a:rPr kumimoji="0" lang="es-MX" altLang="es-MX" sz="1500" b="0" i="1" u="none" strike="noStrike" cap="none" normalizeH="0" baseline="0" dirty="0">
                <a:ln>
                  <a:noFill/>
                </a:ln>
                <a:effectLst/>
                <a:latin typeface="udemy sans"/>
              </a:rPr>
              <a:t> % 2 == 0 (valores pares)</a:t>
            </a:r>
            <a:endParaRPr kumimoji="0" lang="es-MX" altLang="es-MX" sz="1500" b="0" i="0" u="none" strike="noStrike" cap="none" normalizeH="0" baseline="0" dirty="0">
              <a:ln>
                <a:noFill/>
              </a:ln>
              <a:effectLst/>
            </a:endParaRPr>
          </a:p>
          <a:p>
            <a:pPr marL="0" marR="0" lvl="0" indent="0" algn="l" defTabSz="914400" rtl="0" eaLnBrk="0" fontAlgn="base" latinLnBrk="0" hangingPunct="0">
              <a:lnSpc>
                <a:spcPct val="90000"/>
              </a:lnSpc>
              <a:spcBef>
                <a:spcPct val="0"/>
              </a:spcBef>
              <a:spcAft>
                <a:spcPts val="600"/>
              </a:spcAft>
              <a:buClrTx/>
              <a:buSzTx/>
              <a:buFontTx/>
              <a:buNone/>
              <a:tabLst/>
            </a:pPr>
            <a:r>
              <a:rPr kumimoji="0" lang="es-MX" altLang="es-MX" sz="1500" b="0" i="1" u="none" strike="noStrike" cap="none" normalizeH="0" baseline="0" dirty="0" err="1">
                <a:ln>
                  <a:noFill/>
                </a:ln>
                <a:effectLst/>
                <a:latin typeface="udemy sans"/>
              </a:rPr>
              <a:t>num</a:t>
            </a:r>
            <a:r>
              <a:rPr kumimoji="0" lang="es-MX" altLang="es-MX" sz="1500" b="0" i="1" u="none" strike="noStrike" cap="none" normalizeH="0" baseline="0" dirty="0">
                <a:ln>
                  <a:noFill/>
                </a:ln>
                <a:effectLst/>
                <a:latin typeface="udemy sans"/>
              </a:rPr>
              <a:t> % 2 == 1 (valores impares)</a:t>
            </a:r>
            <a:endParaRPr kumimoji="0" lang="es-MX" altLang="es-MX" sz="15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90000"/>
              </a:lnSpc>
              <a:spcBef>
                <a:spcPct val="0"/>
              </a:spcBef>
              <a:spcAft>
                <a:spcPts val="600"/>
              </a:spcAft>
              <a:buClrTx/>
              <a:buSzTx/>
              <a:buFontTx/>
              <a:buNone/>
              <a:tabLst/>
            </a:pPr>
            <a:endParaRPr kumimoji="0" lang="es-MX" altLang="es-MX" sz="15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8868132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pie de página 3">
            <a:extLst>
              <a:ext uri="{FF2B5EF4-FFF2-40B4-BE49-F238E27FC236}">
                <a16:creationId xmlns:a16="http://schemas.microsoft.com/office/drawing/2014/main" id="{66C4BD4F-F539-C1CE-7958-2E1E395C2C9F}"/>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5" name="Marcador de número de diapositiva 4">
            <a:extLst>
              <a:ext uri="{FF2B5EF4-FFF2-40B4-BE49-F238E27FC236}">
                <a16:creationId xmlns:a16="http://schemas.microsoft.com/office/drawing/2014/main" id="{2DD36F5D-9E6B-BAAA-1AE0-EE4EA283CAD3}"/>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85</a:t>
            </a:fld>
            <a:endParaRPr lang="es-MX" sz="1100">
              <a:solidFill>
                <a:schemeClr val="tx1">
                  <a:lumMod val="50000"/>
                  <a:lumOff val="50000"/>
                </a:schemeClr>
              </a:solidFill>
            </a:endParaRPr>
          </a:p>
        </p:txBody>
      </p:sp>
      <p:sp>
        <p:nvSpPr>
          <p:cNvPr id="2" name="Título 1">
            <a:extLst>
              <a:ext uri="{FF2B5EF4-FFF2-40B4-BE49-F238E27FC236}">
                <a16:creationId xmlns:a16="http://schemas.microsoft.com/office/drawing/2014/main" id="{75773E71-4B35-2837-B64C-F9421DE9C98E}"/>
              </a:ext>
            </a:extLst>
          </p:cNvPr>
          <p:cNvSpPr>
            <a:spLocks noGrp="1"/>
          </p:cNvSpPr>
          <p:nvPr>
            <p:ph type="title"/>
          </p:nvPr>
        </p:nvSpPr>
        <p:spPr>
          <a:xfrm>
            <a:off x="838200" y="365125"/>
            <a:ext cx="10515600" cy="1325563"/>
          </a:xfrm>
        </p:spPr>
        <p:txBody>
          <a:bodyPr/>
          <a:lstStyle/>
          <a:p>
            <a:r>
              <a:rPr lang="es-MX" dirty="0" err="1">
                <a:solidFill>
                  <a:schemeClr val="bg1"/>
                </a:solidFill>
              </a:rPr>
              <a:t>Loops</a:t>
            </a:r>
            <a:r>
              <a:rPr lang="es-MX" dirty="0">
                <a:solidFill>
                  <a:schemeClr val="bg1"/>
                </a:solidFill>
              </a:rPr>
              <a:t> </a:t>
            </a:r>
            <a:r>
              <a:rPr lang="es-MX" dirty="0" err="1">
                <a:solidFill>
                  <a:schemeClr val="bg1"/>
                </a:solidFill>
              </a:rPr>
              <a:t>while</a:t>
            </a:r>
            <a:endParaRPr lang="es-MX" dirty="0">
              <a:solidFill>
                <a:schemeClr val="bg1"/>
              </a:solidFill>
            </a:endParaRPr>
          </a:p>
        </p:txBody>
      </p:sp>
      <p:sp>
        <p:nvSpPr>
          <p:cNvPr id="3" name="Marcador de contenido 2">
            <a:extLst>
              <a:ext uri="{FF2B5EF4-FFF2-40B4-BE49-F238E27FC236}">
                <a16:creationId xmlns:a16="http://schemas.microsoft.com/office/drawing/2014/main" id="{843BDA64-E955-01A7-4011-D749A2739E27}"/>
              </a:ext>
            </a:extLst>
          </p:cNvPr>
          <p:cNvSpPr>
            <a:spLocks noGrp="1"/>
          </p:cNvSpPr>
          <p:nvPr>
            <p:ph idx="1"/>
          </p:nvPr>
        </p:nvSpPr>
        <p:spPr>
          <a:xfrm>
            <a:off x="838200" y="1874787"/>
            <a:ext cx="10515600" cy="4351338"/>
          </a:xfrm>
        </p:spPr>
        <p:txBody>
          <a:bodyPr>
            <a:normAutofit fontScale="92500" lnSpcReduction="20000"/>
          </a:bodyPr>
          <a:lstStyle/>
          <a:p>
            <a:pPr marL="0" indent="0">
              <a:buNone/>
            </a:pPr>
            <a:r>
              <a:rPr lang="es-MX" sz="1800" dirty="0"/>
              <a:t>Si bien los </a:t>
            </a:r>
            <a:r>
              <a:rPr lang="es-MX" sz="1800" dirty="0" err="1"/>
              <a:t>loops</a:t>
            </a:r>
            <a:r>
              <a:rPr lang="es-MX" sz="1800" dirty="0"/>
              <a:t> </a:t>
            </a:r>
            <a:r>
              <a:rPr lang="es-MX" sz="1800" dirty="0" err="1"/>
              <a:t>while</a:t>
            </a:r>
            <a:r>
              <a:rPr lang="es-MX" sz="1800" dirty="0"/>
              <a:t> son otro tipo de bucles, resultan más parecidos a los condicionales </a:t>
            </a:r>
            <a:r>
              <a:rPr lang="es-MX" sz="1800" dirty="0" err="1"/>
              <a:t>if</a:t>
            </a:r>
            <a:r>
              <a:rPr lang="es-MX" sz="1800" dirty="0"/>
              <a:t> que a los </a:t>
            </a:r>
            <a:r>
              <a:rPr lang="es-MX" sz="1800" dirty="0" err="1"/>
              <a:t>loops</a:t>
            </a:r>
            <a:r>
              <a:rPr lang="es-MX" sz="1800" dirty="0"/>
              <a:t> </a:t>
            </a:r>
            <a:r>
              <a:rPr lang="es-MX" sz="1800" dirty="0" err="1"/>
              <a:t>for</a:t>
            </a:r>
            <a:r>
              <a:rPr lang="es-MX" sz="1800" dirty="0"/>
              <a:t>. Podemos pensar a los </a:t>
            </a:r>
            <a:r>
              <a:rPr lang="es-MX" sz="1800" dirty="0" err="1"/>
              <a:t>loops</a:t>
            </a:r>
            <a:r>
              <a:rPr lang="es-MX" sz="1800" dirty="0"/>
              <a:t> </a:t>
            </a:r>
            <a:r>
              <a:rPr lang="es-MX" sz="1800" dirty="0" err="1"/>
              <a:t>while</a:t>
            </a:r>
            <a:r>
              <a:rPr lang="es-MX" sz="1800" dirty="0"/>
              <a:t> como una estructura condicional que se ejecuta en repetición, hasta que se convierte en falsa </a:t>
            </a:r>
          </a:p>
          <a:p>
            <a:pPr marL="0" indent="0">
              <a:buNone/>
            </a:pPr>
            <a:r>
              <a:rPr lang="es-MX" dirty="0"/>
              <a:t>Estructura condicional                                              dos puntos (:)</a:t>
            </a:r>
          </a:p>
          <a:p>
            <a:pPr marL="0" indent="0">
              <a:buNone/>
            </a:pPr>
            <a:r>
              <a:rPr lang="es-MX" dirty="0"/>
              <a:t>                                                 </a:t>
            </a:r>
            <a:r>
              <a:rPr lang="es-MX" dirty="0" err="1"/>
              <a:t>while</a:t>
            </a:r>
            <a:r>
              <a:rPr lang="es-MX" dirty="0"/>
              <a:t> condición:  </a:t>
            </a:r>
          </a:p>
          <a:p>
            <a:pPr marL="0" indent="0">
              <a:buNone/>
            </a:pPr>
            <a:r>
              <a:rPr lang="es-MX" dirty="0"/>
              <a:t>                                        </a:t>
            </a:r>
          </a:p>
          <a:p>
            <a:pPr marL="0" indent="0">
              <a:buNone/>
            </a:pPr>
            <a:r>
              <a:rPr lang="es-MX" sz="1900" dirty="0"/>
              <a:t>la </a:t>
            </a:r>
            <a:r>
              <a:rPr lang="es-MX" sz="1900" dirty="0" err="1"/>
              <a:t>indentación</a:t>
            </a:r>
            <a:r>
              <a:rPr lang="es-MX" sz="1900" dirty="0"/>
              <a:t> es obligatoria en Python                                 expresión </a:t>
            </a:r>
          </a:p>
          <a:p>
            <a:pPr marL="0" indent="0">
              <a:buNone/>
            </a:pPr>
            <a:r>
              <a:rPr lang="es-MX" dirty="0"/>
              <a:t>                                         </a:t>
            </a:r>
          </a:p>
          <a:p>
            <a:pPr marL="0" indent="0">
              <a:buNone/>
            </a:pPr>
            <a:r>
              <a:rPr lang="es-MX" dirty="0"/>
              <a:t>                                                      </a:t>
            </a:r>
            <a:r>
              <a:rPr lang="es-MX" dirty="0" err="1"/>
              <a:t>else</a:t>
            </a:r>
            <a:r>
              <a:rPr lang="es-MX" dirty="0"/>
              <a:t>:</a:t>
            </a:r>
          </a:p>
          <a:p>
            <a:pPr marL="0" indent="0">
              <a:buNone/>
            </a:pPr>
            <a:r>
              <a:rPr lang="es-MX" dirty="0"/>
              <a:t>                                   </a:t>
            </a:r>
          </a:p>
          <a:p>
            <a:pPr marL="0" indent="0">
              <a:buNone/>
            </a:pPr>
            <a:r>
              <a:rPr lang="es-MX" dirty="0"/>
              <a:t>                                                                expresión</a:t>
            </a:r>
          </a:p>
          <a:p>
            <a:pPr marL="0" indent="0">
              <a:buNone/>
            </a:pPr>
            <a:r>
              <a:rPr lang="es-MX" sz="1900" dirty="0"/>
              <a:t>Este código se ejecutará cuando la condición se convierta en False</a:t>
            </a:r>
          </a:p>
        </p:txBody>
      </p:sp>
      <p:cxnSp>
        <p:nvCxnSpPr>
          <p:cNvPr id="6" name="Conector recto de flecha 5">
            <a:extLst>
              <a:ext uri="{FF2B5EF4-FFF2-40B4-BE49-F238E27FC236}">
                <a16:creationId xmlns:a16="http://schemas.microsoft.com/office/drawing/2014/main" id="{4466ACAD-7E9B-B5FE-F8BB-A11B78382281}"/>
              </a:ext>
            </a:extLst>
          </p:cNvPr>
          <p:cNvCxnSpPr/>
          <p:nvPr/>
        </p:nvCxnSpPr>
        <p:spPr>
          <a:xfrm flipH="1" flipV="1">
            <a:off x="4357991" y="2714017"/>
            <a:ext cx="1546698" cy="184826"/>
          </a:xfrm>
          <a:prstGeom prst="straightConnector1">
            <a:avLst/>
          </a:prstGeom>
          <a:ln>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8" name="Conector recto de flecha 7">
            <a:extLst>
              <a:ext uri="{FF2B5EF4-FFF2-40B4-BE49-F238E27FC236}">
                <a16:creationId xmlns:a16="http://schemas.microsoft.com/office/drawing/2014/main" id="{2395632C-78EB-3A7B-72B6-3CD4C15DCBEA}"/>
              </a:ext>
            </a:extLst>
          </p:cNvPr>
          <p:cNvCxnSpPr/>
          <p:nvPr/>
        </p:nvCxnSpPr>
        <p:spPr>
          <a:xfrm flipV="1">
            <a:off x="6489290" y="2792361"/>
            <a:ext cx="766916" cy="106482"/>
          </a:xfrm>
          <a:prstGeom prst="straightConnector1">
            <a:avLst/>
          </a:prstGeom>
          <a:ln w="95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Conector recto de flecha 14">
            <a:extLst>
              <a:ext uri="{FF2B5EF4-FFF2-40B4-BE49-F238E27FC236}">
                <a16:creationId xmlns:a16="http://schemas.microsoft.com/office/drawing/2014/main" id="{F8190B0C-C874-3BEE-7791-8DD4EA4D9AF3}"/>
              </a:ext>
            </a:extLst>
          </p:cNvPr>
          <p:cNvCxnSpPr/>
          <p:nvPr/>
        </p:nvCxnSpPr>
        <p:spPr>
          <a:xfrm flipH="1">
            <a:off x="4795736" y="4066162"/>
            <a:ext cx="148833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nvGrpSpPr>
          <p:cNvPr id="17" name="Grupo 16">
            <a:extLst>
              <a:ext uri="{FF2B5EF4-FFF2-40B4-BE49-F238E27FC236}">
                <a16:creationId xmlns:a16="http://schemas.microsoft.com/office/drawing/2014/main" id="{12057950-735E-6DFF-4325-FDEC28CBBB37}"/>
              </a:ext>
            </a:extLst>
          </p:cNvPr>
          <p:cNvGrpSpPr/>
          <p:nvPr/>
        </p:nvGrpSpPr>
        <p:grpSpPr>
          <a:xfrm>
            <a:off x="7061484" y="5102900"/>
            <a:ext cx="430560" cy="685440"/>
            <a:chOff x="7061484" y="5102900"/>
            <a:chExt cx="430560" cy="685440"/>
          </a:xfrm>
        </p:grpSpPr>
        <mc:AlternateContent xmlns:mc="http://schemas.openxmlformats.org/markup-compatibility/2006" xmlns:p14="http://schemas.microsoft.com/office/powerpoint/2010/main">
          <mc:Choice Requires="p14">
            <p:contentPart p14:bwMode="auto" r:id="rId2">
              <p14:nvContentPartPr>
                <p14:cNvPr id="19" name="Entrada de lápiz 18">
                  <a:extLst>
                    <a:ext uri="{FF2B5EF4-FFF2-40B4-BE49-F238E27FC236}">
                      <a16:creationId xmlns:a16="http://schemas.microsoft.com/office/drawing/2014/main" id="{5F5684F1-122B-F675-46AC-D8E03F09FCD8}"/>
                    </a:ext>
                  </a:extLst>
                </p14:cNvPr>
                <p14:cNvContentPartPr/>
                <p14:nvPr/>
              </p14:nvContentPartPr>
              <p14:xfrm>
                <a:off x="7118004" y="5268860"/>
                <a:ext cx="374040" cy="519480"/>
              </p14:xfrm>
            </p:contentPart>
          </mc:Choice>
          <mc:Fallback xmlns="">
            <p:pic>
              <p:nvPicPr>
                <p:cNvPr id="19" name="Entrada de lápiz 18">
                  <a:extLst>
                    <a:ext uri="{FF2B5EF4-FFF2-40B4-BE49-F238E27FC236}">
                      <a16:creationId xmlns:a16="http://schemas.microsoft.com/office/drawing/2014/main" id="{5F5684F1-122B-F675-46AC-D8E03F09FCD8}"/>
                    </a:ext>
                  </a:extLst>
                </p:cNvPr>
                <p:cNvPicPr/>
                <p:nvPr/>
              </p:nvPicPr>
              <p:blipFill>
                <a:blip r:embed="rId3"/>
                <a:stretch>
                  <a:fillRect/>
                </a:stretch>
              </p:blipFill>
              <p:spPr>
                <a:xfrm>
                  <a:off x="7109364" y="5259860"/>
                  <a:ext cx="391680" cy="537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0" name="Entrada de lápiz 19">
                  <a:extLst>
                    <a:ext uri="{FF2B5EF4-FFF2-40B4-BE49-F238E27FC236}">
                      <a16:creationId xmlns:a16="http://schemas.microsoft.com/office/drawing/2014/main" id="{1C83F4B2-A2DF-52DA-A38E-09973D223615}"/>
                    </a:ext>
                  </a:extLst>
                </p14:cNvPr>
                <p14:cNvContentPartPr/>
                <p14:nvPr/>
              </p14:nvContentPartPr>
              <p14:xfrm>
                <a:off x="7061484" y="5102900"/>
                <a:ext cx="162000" cy="254880"/>
              </p14:xfrm>
            </p:contentPart>
          </mc:Choice>
          <mc:Fallback xmlns="">
            <p:pic>
              <p:nvPicPr>
                <p:cNvPr id="20" name="Entrada de lápiz 19">
                  <a:extLst>
                    <a:ext uri="{FF2B5EF4-FFF2-40B4-BE49-F238E27FC236}">
                      <a16:creationId xmlns:a16="http://schemas.microsoft.com/office/drawing/2014/main" id="{1C83F4B2-A2DF-52DA-A38E-09973D223615}"/>
                    </a:ext>
                  </a:extLst>
                </p:cNvPr>
                <p:cNvPicPr/>
                <p:nvPr/>
              </p:nvPicPr>
              <p:blipFill>
                <a:blip r:embed="rId5"/>
                <a:stretch>
                  <a:fillRect/>
                </a:stretch>
              </p:blipFill>
              <p:spPr>
                <a:xfrm>
                  <a:off x="7052844" y="5093900"/>
                  <a:ext cx="179640" cy="272520"/>
                </a:xfrm>
                <a:prstGeom prst="rect">
                  <a:avLst/>
                </a:prstGeom>
              </p:spPr>
            </p:pic>
          </mc:Fallback>
        </mc:AlternateContent>
      </p:grpSp>
      <p:sp>
        <p:nvSpPr>
          <p:cNvPr id="21" name="Marcador de pie de página 3">
            <a:extLst>
              <a:ext uri="{FF2B5EF4-FFF2-40B4-BE49-F238E27FC236}">
                <a16:creationId xmlns:a16="http://schemas.microsoft.com/office/drawing/2014/main" id="{21DD7AAE-51A8-EE45-2D62-A379B968520B}"/>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s-MX"/>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a:t>Arabots Robotics</a:t>
            </a:r>
            <a:endParaRPr lang="es-MX" dirty="0"/>
          </a:p>
        </p:txBody>
      </p:sp>
    </p:spTree>
    <p:extLst>
      <p:ext uri="{BB962C8B-B14F-4D97-AF65-F5344CB8AC3E}">
        <p14:creationId xmlns:p14="http://schemas.microsoft.com/office/powerpoint/2010/main" val="21328276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pie de página 3">
            <a:extLst>
              <a:ext uri="{FF2B5EF4-FFF2-40B4-BE49-F238E27FC236}">
                <a16:creationId xmlns:a16="http://schemas.microsoft.com/office/drawing/2014/main" id="{6F0A1635-DCC7-AA76-BD96-91341FE257A2}"/>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5" name="Marcador de número de diapositiva 4">
            <a:extLst>
              <a:ext uri="{FF2B5EF4-FFF2-40B4-BE49-F238E27FC236}">
                <a16:creationId xmlns:a16="http://schemas.microsoft.com/office/drawing/2014/main" id="{EE30F52B-B6D9-5720-CAEE-41689D8F73AF}"/>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86</a:t>
            </a:fld>
            <a:endParaRPr lang="es-MX" sz="1100">
              <a:solidFill>
                <a:schemeClr val="tx1">
                  <a:lumMod val="50000"/>
                  <a:lumOff val="50000"/>
                </a:schemeClr>
              </a:solidFill>
            </a:endParaRPr>
          </a:p>
        </p:txBody>
      </p:sp>
      <p:sp>
        <p:nvSpPr>
          <p:cNvPr id="6" name="Rectangle 1">
            <a:extLst>
              <a:ext uri="{FF2B5EF4-FFF2-40B4-BE49-F238E27FC236}">
                <a16:creationId xmlns:a16="http://schemas.microsoft.com/office/drawing/2014/main" id="{52CD0DC1-597F-2AE5-77A5-D24C7EC5DC63}"/>
              </a:ext>
            </a:extLst>
          </p:cNvPr>
          <p:cNvSpPr>
            <a:spLocks noChangeArrowheads="1"/>
          </p:cNvSpPr>
          <p:nvPr/>
        </p:nvSpPr>
        <p:spPr bwMode="auto">
          <a:xfrm>
            <a:off x="-373625" y="406012"/>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9" name="Título 1">
            <a:extLst>
              <a:ext uri="{FF2B5EF4-FFF2-40B4-BE49-F238E27FC236}">
                <a16:creationId xmlns:a16="http://schemas.microsoft.com/office/drawing/2014/main" id="{D7A02790-5F6B-F712-FD12-95C7B54F392C}"/>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dirty="0">
                <a:solidFill>
                  <a:schemeClr val="bg1"/>
                </a:solidFill>
              </a:rPr>
              <a:t>Instrucciones especiales </a:t>
            </a:r>
          </a:p>
        </p:txBody>
      </p:sp>
      <p:sp>
        <p:nvSpPr>
          <p:cNvPr id="10" name="Marcador de contenido 2">
            <a:extLst>
              <a:ext uri="{FF2B5EF4-FFF2-40B4-BE49-F238E27FC236}">
                <a16:creationId xmlns:a16="http://schemas.microsoft.com/office/drawing/2014/main" id="{B4A924BA-CB41-FB46-D683-2AEA1094F5CD}"/>
              </a:ext>
            </a:extLst>
          </p:cNvPr>
          <p:cNvSpPr>
            <a:spLocks noGrp="1"/>
          </p:cNvSpPr>
          <p:nvPr>
            <p:ph idx="1"/>
          </p:nvPr>
        </p:nvSpPr>
        <p:spPr>
          <a:xfrm>
            <a:off x="838200" y="1825625"/>
            <a:ext cx="10515600" cy="4351338"/>
          </a:xfrm>
        </p:spPr>
        <p:txBody>
          <a:bodyPr/>
          <a:lstStyle/>
          <a:p>
            <a:pPr marL="0" indent="0">
              <a:buNone/>
            </a:pPr>
            <a:r>
              <a:rPr lang="es-MX" dirty="0"/>
              <a:t>Si el código llega a una instrucción break, se produce la salida del bucle. La instrucción continue interrumpe la iteración actual dentro del bucle, llevando al programa a la parte superior del bucle. La instrucción </a:t>
            </a:r>
            <a:r>
              <a:rPr lang="es-MX" dirty="0" err="1"/>
              <a:t>pass</a:t>
            </a:r>
            <a:r>
              <a:rPr lang="es-MX" dirty="0"/>
              <a:t> no altera el programa: ocupa un lugar donde se espera una declaración, pero no se desea realizar una acción.</a:t>
            </a:r>
          </a:p>
        </p:txBody>
      </p:sp>
    </p:spTree>
    <p:extLst>
      <p:ext uri="{BB962C8B-B14F-4D97-AF65-F5344CB8AC3E}">
        <p14:creationId xmlns:p14="http://schemas.microsoft.com/office/powerpoint/2010/main" val="26686277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pie de página 3">
            <a:extLst>
              <a:ext uri="{FF2B5EF4-FFF2-40B4-BE49-F238E27FC236}">
                <a16:creationId xmlns:a16="http://schemas.microsoft.com/office/drawing/2014/main" id="{6F0A1635-DCC7-AA76-BD96-91341FE257A2}"/>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C0C037C2-8A4B-3143-DDDE-A267F59A2B78}"/>
              </a:ext>
            </a:extLst>
          </p:cNvPr>
          <p:cNvSpPr>
            <a:spLocks noGrp="1"/>
          </p:cNvSpPr>
          <p:nvPr>
            <p:ph idx="1"/>
          </p:nvPr>
        </p:nvSpPr>
        <p:spPr>
          <a:xfrm>
            <a:off x="1371599" y="2318197"/>
            <a:ext cx="9724031" cy="3683358"/>
          </a:xfrm>
        </p:spPr>
        <p:txBody>
          <a:bodyPr anchor="ctr">
            <a:normAutofit/>
          </a:bodyPr>
          <a:lstStyle/>
          <a:p>
            <a:pPr marL="0" indent="0">
              <a:buNone/>
            </a:pPr>
            <a:r>
              <a:rPr lang="es-MX" sz="1400" b="0" i="0">
                <a:effectLst/>
                <a:latin typeface="udemy sans"/>
              </a:rPr>
              <a:t>Crea un </a:t>
            </a:r>
            <a:r>
              <a:rPr lang="es-MX" sz="1400" b="1" i="0">
                <a:effectLst/>
                <a:latin typeface="udemy sans"/>
              </a:rPr>
              <a:t>Loop While</a:t>
            </a:r>
            <a:r>
              <a:rPr lang="es-MX" sz="1400" b="0" i="0">
                <a:effectLst/>
                <a:latin typeface="udemy sans"/>
              </a:rPr>
              <a:t> que se </a:t>
            </a:r>
            <a:r>
              <a:rPr lang="es-MX" sz="1400" b="1" i="0">
                <a:effectLst/>
                <a:latin typeface="udemy sans"/>
              </a:rPr>
              <a:t>imprima en pantalla</a:t>
            </a:r>
            <a:r>
              <a:rPr lang="es-MX" sz="1400" b="0" i="0">
                <a:effectLst/>
                <a:latin typeface="udemy sans"/>
              </a:rPr>
              <a:t> los números del</a:t>
            </a:r>
            <a:r>
              <a:rPr lang="es-MX" sz="1400" b="1" i="0">
                <a:effectLst/>
                <a:latin typeface="udemy sans"/>
              </a:rPr>
              <a:t> 10 al 0</a:t>
            </a:r>
            <a:r>
              <a:rPr lang="es-MX" sz="1400" b="0" i="0">
                <a:effectLst/>
                <a:latin typeface="udemy sans"/>
              </a:rPr>
              <a:t>, uno a la vez.</a:t>
            </a:r>
          </a:p>
          <a:p>
            <a:pPr marL="0" indent="0">
              <a:buNone/>
            </a:pPr>
            <a:endParaRPr lang="es-MX" sz="1400">
              <a:latin typeface="udemy sans"/>
            </a:endParaRPr>
          </a:p>
          <a:p>
            <a:endParaRPr lang="es-MX" sz="1400" b="0" i="0">
              <a:effectLst/>
              <a:latin typeface="udemy sans"/>
            </a:endParaRPr>
          </a:p>
          <a:p>
            <a:pPr marL="0" indent="0">
              <a:buNone/>
            </a:pPr>
            <a:r>
              <a:rPr lang="es-MX" sz="1400" b="0" i="0">
                <a:effectLst/>
                <a:latin typeface="udemy sans"/>
              </a:rPr>
              <a:t>Crea un </a:t>
            </a:r>
            <a:r>
              <a:rPr lang="es-MX" sz="1400" b="1" i="0">
                <a:effectLst/>
                <a:latin typeface="udemy sans"/>
              </a:rPr>
              <a:t>Loop While</a:t>
            </a:r>
            <a:r>
              <a:rPr lang="es-MX" sz="1400" b="0" i="0">
                <a:effectLst/>
                <a:latin typeface="udemy sans"/>
              </a:rPr>
              <a:t> que reste de uno en uno los números desde el</a:t>
            </a:r>
            <a:r>
              <a:rPr lang="es-MX" sz="1400" b="1" i="0">
                <a:effectLst/>
                <a:latin typeface="udemy sans"/>
              </a:rPr>
              <a:t> 50 al 0 </a:t>
            </a:r>
            <a:r>
              <a:rPr lang="es-MX" sz="1400" b="1" i="1">
                <a:effectLst/>
                <a:latin typeface="udemy sans"/>
              </a:rPr>
              <a:t>(ambos números incluídos) </a:t>
            </a:r>
            <a:r>
              <a:rPr lang="es-MX" sz="1400" b="0" i="0">
                <a:effectLst/>
                <a:latin typeface="udemy sans"/>
              </a:rPr>
              <a:t>con las siguientes condiciones adicionales:</a:t>
            </a:r>
          </a:p>
          <a:p>
            <a:r>
              <a:rPr lang="es-MX" sz="1400" b="0" i="0">
                <a:effectLst/>
                <a:latin typeface="udemy sans"/>
              </a:rPr>
              <a:t>- Si el número es</a:t>
            </a:r>
            <a:r>
              <a:rPr lang="es-MX" sz="1400" b="1" i="0">
                <a:effectLst/>
                <a:latin typeface="udemy sans"/>
              </a:rPr>
              <a:t> divisible por 5</a:t>
            </a:r>
            <a:r>
              <a:rPr lang="es-MX" sz="1400" b="0" i="0">
                <a:effectLst/>
                <a:latin typeface="udemy sans"/>
              </a:rPr>
              <a:t>, </a:t>
            </a:r>
            <a:r>
              <a:rPr lang="es-MX" sz="1400" b="1" i="0">
                <a:effectLst/>
                <a:latin typeface="udemy sans"/>
              </a:rPr>
              <a:t>mostrar dicho número en pantalla</a:t>
            </a:r>
            <a:r>
              <a:rPr lang="es-MX" sz="1400" b="0" i="0">
                <a:effectLst/>
                <a:latin typeface="udemy sans"/>
              </a:rPr>
              <a:t> (¡recuerda que aquí puedes utilizar la </a:t>
            </a:r>
            <a:r>
              <a:rPr lang="es-MX" sz="1400" b="0" i="1">
                <a:effectLst/>
                <a:latin typeface="udemy sans"/>
              </a:rPr>
              <a:t>operación módulo dividiendo por </a:t>
            </a:r>
            <a:r>
              <a:rPr lang="es-MX" sz="1400" b="0" i="0">
                <a:effectLst/>
                <a:latin typeface="udemy sans"/>
              </a:rPr>
              <a:t>5 y verificando el resto!)</a:t>
            </a:r>
          </a:p>
          <a:p>
            <a:r>
              <a:rPr lang="es-MX" sz="1400" b="0" i="0">
                <a:effectLst/>
                <a:latin typeface="udemy sans"/>
              </a:rPr>
              <a:t>- Si el número </a:t>
            </a:r>
            <a:r>
              <a:rPr lang="es-MX" sz="1400" b="1" i="0">
                <a:effectLst/>
                <a:latin typeface="udemy sans"/>
              </a:rPr>
              <a:t>no es divisible por 5</a:t>
            </a:r>
            <a:r>
              <a:rPr lang="es-MX" sz="1400" b="0" i="0">
                <a:effectLst/>
                <a:latin typeface="udemy sans"/>
              </a:rPr>
              <a:t>, </a:t>
            </a:r>
            <a:r>
              <a:rPr lang="es-MX" sz="1400" b="1" i="1">
                <a:effectLst/>
                <a:latin typeface="udemy sans"/>
              </a:rPr>
              <a:t>continuar </a:t>
            </a:r>
            <a:r>
              <a:rPr lang="es-MX" sz="1400" b="0" i="0">
                <a:effectLst/>
                <a:latin typeface="udemy sans"/>
              </a:rPr>
              <a:t>ejecutando el loop sin mostrar el valor en pantalla (no te olvides de </a:t>
            </a:r>
            <a:r>
              <a:rPr lang="es-MX" sz="1400" b="0" i="1">
                <a:effectLst/>
                <a:latin typeface="udemy sans"/>
              </a:rPr>
              <a:t>seguir restando</a:t>
            </a:r>
            <a:r>
              <a:rPr lang="es-MX" sz="1400" b="0" i="0">
                <a:effectLst/>
                <a:latin typeface="udemy sans"/>
              </a:rPr>
              <a:t> para que el programa no corra </a:t>
            </a:r>
            <a:r>
              <a:rPr lang="es-MX" sz="1400" b="0" i="1">
                <a:effectLst/>
                <a:latin typeface="udemy sans"/>
              </a:rPr>
              <a:t>infinitamente</a:t>
            </a:r>
            <a:r>
              <a:rPr lang="es-MX" sz="1400" b="0" i="0">
                <a:effectLst/>
                <a:latin typeface="udemy sans"/>
              </a:rPr>
              <a:t>)</a:t>
            </a:r>
          </a:p>
          <a:p>
            <a:pPr marL="0" marR="0" lvl="0" indent="0" defTabSz="914400" rtl="0" eaLnBrk="0" fontAlgn="base" latinLnBrk="0" hangingPunct="0">
              <a:spcBef>
                <a:spcPct val="0"/>
              </a:spcBef>
              <a:spcAft>
                <a:spcPct val="0"/>
              </a:spcAft>
              <a:buClrTx/>
              <a:buSzTx/>
              <a:buFontTx/>
              <a:buNone/>
              <a:tabLst/>
            </a:pPr>
            <a:endParaRPr kumimoji="0" lang="es-MX" altLang="es-MX" sz="1400" b="0" i="0" u="none" strike="noStrike" cap="none" normalizeH="0" baseline="0">
              <a:ln>
                <a:noFill/>
              </a:ln>
              <a:effectLst/>
              <a:latin typeface="udemy sans"/>
            </a:endParaRPr>
          </a:p>
          <a:p>
            <a:pPr marL="0" marR="0" lvl="0" indent="0" defTabSz="914400" rtl="0" eaLnBrk="0" fontAlgn="base" latinLnBrk="0" hangingPunct="0">
              <a:spcBef>
                <a:spcPct val="0"/>
              </a:spcBef>
              <a:spcAft>
                <a:spcPct val="0"/>
              </a:spcAft>
              <a:buClrTx/>
              <a:buSzTx/>
              <a:buFontTx/>
              <a:buNone/>
              <a:tabLst/>
            </a:pPr>
            <a:r>
              <a:rPr kumimoji="0" lang="es-MX" altLang="es-MX" sz="1400" b="0" i="0" u="none" strike="noStrike" cap="none" normalizeH="0" baseline="0">
                <a:ln>
                  <a:noFill/>
                </a:ln>
                <a:effectLst/>
                <a:latin typeface="udemy sans"/>
              </a:rPr>
              <a:t>Crea un</a:t>
            </a:r>
            <a:r>
              <a:rPr kumimoji="0" lang="es-MX" altLang="es-MX" sz="1400" b="1" i="0" u="none" strike="noStrike" cap="none" normalizeH="0" baseline="0">
                <a:ln>
                  <a:noFill/>
                </a:ln>
                <a:effectLst/>
                <a:latin typeface="udemy sans"/>
              </a:rPr>
              <a:t> loop For </a:t>
            </a:r>
            <a:r>
              <a:rPr kumimoji="0" lang="es-MX" altLang="es-MX" sz="1400" b="0" i="0" u="none" strike="noStrike" cap="none" normalizeH="0" baseline="0">
                <a:ln>
                  <a:noFill/>
                </a:ln>
                <a:effectLst/>
                <a:latin typeface="udemy sans"/>
              </a:rPr>
              <a:t>a lo largo de la siguiente lista de números, </a:t>
            </a:r>
            <a:r>
              <a:rPr kumimoji="0" lang="es-MX" altLang="es-MX" sz="1400" b="1" i="0" u="none" strike="noStrike" cap="none" normalizeH="0" baseline="0">
                <a:ln>
                  <a:noFill/>
                </a:ln>
                <a:effectLst/>
                <a:latin typeface="udemy sans"/>
              </a:rPr>
              <a:t>imprimiendo en pantalla cada uno de sus elementos</a:t>
            </a:r>
            <a:r>
              <a:rPr kumimoji="0" lang="es-MX" altLang="es-MX" sz="1400" b="0" i="0" u="none" strike="noStrike" cap="none" normalizeH="0" baseline="0">
                <a:ln>
                  <a:noFill/>
                </a:ln>
                <a:effectLst/>
                <a:latin typeface="udemy sans"/>
              </a:rPr>
              <a:t>, e</a:t>
            </a:r>
            <a:r>
              <a:rPr kumimoji="0" lang="es-MX" altLang="es-MX" sz="1400" b="1" i="0" u="none" strike="noStrike" cap="none" normalizeH="0" baseline="0">
                <a:ln>
                  <a:noFill/>
                </a:ln>
                <a:effectLst/>
                <a:latin typeface="udemy sans"/>
              </a:rPr>
              <a:t> interrumpe el flujo</a:t>
            </a:r>
            <a:r>
              <a:rPr kumimoji="0" lang="es-MX" altLang="es-MX" sz="1400" b="0" i="0" u="none" strike="noStrike" cap="none" normalizeH="0" baseline="0">
                <a:ln>
                  <a:noFill/>
                </a:ln>
                <a:effectLst/>
                <a:latin typeface="udemy sans"/>
              </a:rPr>
              <a:t> en el momento que encuentres un </a:t>
            </a:r>
            <a:r>
              <a:rPr kumimoji="0" lang="es-MX" altLang="es-MX" sz="1400" b="1" i="0" u="none" strike="noStrike" cap="none" normalizeH="0" baseline="0">
                <a:ln>
                  <a:noFill/>
                </a:ln>
                <a:effectLst/>
                <a:latin typeface="udemy sans"/>
              </a:rPr>
              <a:t>valor negativo</a:t>
            </a:r>
            <a:r>
              <a:rPr kumimoji="0" lang="es-MX" altLang="es-MX" sz="1400" b="0" i="0" u="none" strike="noStrike" cap="none" normalizeH="0" baseline="0">
                <a:ln>
                  <a:noFill/>
                </a:ln>
                <a:effectLst/>
                <a:latin typeface="udemy sans"/>
              </a:rPr>
              <a:t>:</a:t>
            </a:r>
            <a:endParaRPr kumimoji="0" lang="es-MX" altLang="es-MX" sz="1400" b="0" i="0" u="none" strike="noStrike" cap="none" normalizeH="0" baseline="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1400" b="1" i="0" u="none" strike="noStrike" cap="none" normalizeH="0" baseline="0">
                <a:ln>
                  <a:noFill/>
                </a:ln>
                <a:effectLst/>
                <a:latin typeface="sfmono-regular"/>
              </a:rPr>
              <a:t>lista_numeros = [4,5,8,7,6,9,8,2,4,5,7,1,9,5,6,-1,-5,6,-6,-4,-3]</a:t>
            </a:r>
            <a:endParaRPr kumimoji="0" lang="es-MX" altLang="es-MX" sz="1400" b="0" i="0" u="none" strike="noStrike" cap="none" normalizeH="0" baseline="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1400" b="0" i="0" u="none" strike="noStrike" cap="none" normalizeH="0" baseline="0">
                <a:ln>
                  <a:noFill/>
                </a:ln>
                <a:effectLst/>
                <a:latin typeface="udemy sans"/>
              </a:rPr>
              <a:t>No debes cambiar el orden de la lista.</a:t>
            </a:r>
            <a:endParaRPr kumimoji="0" lang="es-MX" altLang="es-MX" sz="1400" b="0" i="0" u="none" strike="noStrike" cap="none" normalizeH="0" baseline="0">
              <a:ln>
                <a:noFill/>
              </a:ln>
              <a:effectLst/>
              <a:latin typeface="Arial" panose="020B0604020202020204" pitchFamily="34" charset="0"/>
            </a:endParaRPr>
          </a:p>
          <a:p>
            <a:endParaRPr lang="es-MX" sz="1400" b="0" i="0">
              <a:effectLst/>
              <a:latin typeface="udemy sans"/>
            </a:endParaRPr>
          </a:p>
          <a:p>
            <a:pPr marL="0" indent="0">
              <a:buNone/>
            </a:pPr>
            <a:endParaRPr lang="es-MX" sz="1400"/>
          </a:p>
        </p:txBody>
      </p:sp>
      <p:sp>
        <p:nvSpPr>
          <p:cNvPr id="5" name="Marcador de número de diapositiva 4">
            <a:extLst>
              <a:ext uri="{FF2B5EF4-FFF2-40B4-BE49-F238E27FC236}">
                <a16:creationId xmlns:a16="http://schemas.microsoft.com/office/drawing/2014/main" id="{EE30F52B-B6D9-5720-CAEE-41689D8F73AF}"/>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87</a:t>
            </a:fld>
            <a:endParaRPr lang="es-MX" sz="1100">
              <a:solidFill>
                <a:schemeClr val="tx1">
                  <a:lumMod val="50000"/>
                  <a:lumOff val="50000"/>
                </a:schemeClr>
              </a:solidFill>
            </a:endParaRPr>
          </a:p>
        </p:txBody>
      </p:sp>
      <p:sp>
        <p:nvSpPr>
          <p:cNvPr id="6" name="Rectangle 1">
            <a:extLst>
              <a:ext uri="{FF2B5EF4-FFF2-40B4-BE49-F238E27FC236}">
                <a16:creationId xmlns:a16="http://schemas.microsoft.com/office/drawing/2014/main" id="{52CD0DC1-597F-2AE5-77A5-D24C7EC5DC63}"/>
              </a:ext>
            </a:extLst>
          </p:cNvPr>
          <p:cNvSpPr>
            <a:spLocks noChangeArrowheads="1"/>
          </p:cNvSpPr>
          <p:nvPr/>
        </p:nvSpPr>
        <p:spPr bwMode="auto">
          <a:xfrm>
            <a:off x="-373625" y="406012"/>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3225997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pie de página 3">
            <a:extLst>
              <a:ext uri="{FF2B5EF4-FFF2-40B4-BE49-F238E27FC236}">
                <a16:creationId xmlns:a16="http://schemas.microsoft.com/office/drawing/2014/main" id="{6F0A1635-DCC7-AA76-BD96-91341FE257A2}"/>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s-MX" sz="1100">
                <a:solidFill>
                  <a:srgbClr val="FFFFFF"/>
                </a:solidFill>
              </a:rPr>
              <a:t>Arabots Robotics</a:t>
            </a:r>
          </a:p>
        </p:txBody>
      </p:sp>
      <p:sp>
        <p:nvSpPr>
          <p:cNvPr id="5" name="Marcador de número de diapositiva 4">
            <a:extLst>
              <a:ext uri="{FF2B5EF4-FFF2-40B4-BE49-F238E27FC236}">
                <a16:creationId xmlns:a16="http://schemas.microsoft.com/office/drawing/2014/main" id="{EE30F52B-B6D9-5720-CAEE-41689D8F73AF}"/>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88</a:t>
            </a:fld>
            <a:endParaRPr lang="es-MX" sz="1100">
              <a:solidFill>
                <a:schemeClr val="tx1">
                  <a:lumMod val="50000"/>
                  <a:lumOff val="50000"/>
                </a:schemeClr>
              </a:solidFill>
            </a:endParaRPr>
          </a:p>
        </p:txBody>
      </p:sp>
      <p:sp>
        <p:nvSpPr>
          <p:cNvPr id="6" name="Rectangle 1">
            <a:extLst>
              <a:ext uri="{FF2B5EF4-FFF2-40B4-BE49-F238E27FC236}">
                <a16:creationId xmlns:a16="http://schemas.microsoft.com/office/drawing/2014/main" id="{52CD0DC1-597F-2AE5-77A5-D24C7EC5DC63}"/>
              </a:ext>
            </a:extLst>
          </p:cNvPr>
          <p:cNvSpPr>
            <a:spLocks noChangeArrowheads="1"/>
          </p:cNvSpPr>
          <p:nvPr/>
        </p:nvSpPr>
        <p:spPr bwMode="auto">
          <a:xfrm>
            <a:off x="-373625" y="406012"/>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9" name="Título 1">
            <a:extLst>
              <a:ext uri="{FF2B5EF4-FFF2-40B4-BE49-F238E27FC236}">
                <a16:creationId xmlns:a16="http://schemas.microsoft.com/office/drawing/2014/main" id="{55A4C271-ADE2-5156-BF65-B972A2A6B7BD}"/>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dirty="0">
                <a:solidFill>
                  <a:schemeClr val="bg1"/>
                </a:solidFill>
              </a:rPr>
              <a:t>Función </a:t>
            </a:r>
            <a:r>
              <a:rPr lang="es-MX" dirty="0" err="1">
                <a:solidFill>
                  <a:schemeClr val="bg1"/>
                </a:solidFill>
              </a:rPr>
              <a:t>range</a:t>
            </a:r>
            <a:r>
              <a:rPr lang="es-MX" dirty="0">
                <a:solidFill>
                  <a:schemeClr val="bg1"/>
                </a:solidFill>
              </a:rPr>
              <a:t>( )</a:t>
            </a:r>
          </a:p>
        </p:txBody>
      </p:sp>
      <p:sp>
        <p:nvSpPr>
          <p:cNvPr id="10" name="Marcador de contenido 2">
            <a:extLst>
              <a:ext uri="{FF2B5EF4-FFF2-40B4-BE49-F238E27FC236}">
                <a16:creationId xmlns:a16="http://schemas.microsoft.com/office/drawing/2014/main" id="{FE6AD795-4957-25CA-AB03-F61C1394DAFB}"/>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MX"/>
              <a:t>La función range( ) devuelve una secuencia de números dados 3 parámetros. Se utiliza fundamentalmente para controlar el número de ejecuciones de un loop o para crear rápidamente una serie de valores</a:t>
            </a:r>
          </a:p>
          <a:p>
            <a:pPr marL="0" indent="0">
              <a:buFont typeface="Arial" panose="020B0604020202020204" pitchFamily="34" charset="0"/>
              <a:buNone/>
            </a:pPr>
            <a:endParaRPr lang="es-MX"/>
          </a:p>
          <a:p>
            <a:pPr marL="0" indent="0">
              <a:buFont typeface="Arial" panose="020B0604020202020204" pitchFamily="34" charset="0"/>
              <a:buNone/>
            </a:pPr>
            <a:r>
              <a:rPr lang="es-MX" sz="1800"/>
              <a:t>número a partir del cual inicia el rango (incluido)                 </a:t>
            </a:r>
            <a:r>
              <a:rPr lang="es-MX" sz="1600"/>
              <a:t>diferencia entre cada valor consecutivo de la secuencia</a:t>
            </a:r>
          </a:p>
          <a:p>
            <a:pPr marL="0" indent="0">
              <a:buFont typeface="Arial" panose="020B0604020202020204" pitchFamily="34" charset="0"/>
              <a:buNone/>
            </a:pPr>
            <a:r>
              <a:rPr lang="es-MX"/>
              <a:t>                              </a:t>
            </a:r>
          </a:p>
          <a:p>
            <a:pPr marL="0" indent="0">
              <a:buFont typeface="Arial" panose="020B0604020202020204" pitchFamily="34" charset="0"/>
              <a:buNone/>
            </a:pPr>
            <a:r>
              <a:rPr lang="es-MX"/>
              <a:t>                           range(valor_inicio, valor_final, paso)</a:t>
            </a:r>
          </a:p>
          <a:p>
            <a:pPr marL="0" indent="0">
              <a:buFont typeface="Arial" panose="020B0604020202020204" pitchFamily="34" charset="0"/>
              <a:buNone/>
            </a:pPr>
            <a:r>
              <a:rPr lang="es-MX"/>
              <a:t>      </a:t>
            </a:r>
          </a:p>
          <a:p>
            <a:pPr marL="0" indent="0">
              <a:buFont typeface="Arial" panose="020B0604020202020204" pitchFamily="34" charset="0"/>
              <a:buNone/>
            </a:pPr>
            <a:r>
              <a:rPr lang="es-MX" sz="1800"/>
              <a:t>                                                                número antes del cual el rango finaliza (no incluido) </a:t>
            </a:r>
            <a:endParaRPr lang="es-MX" sz="1800" dirty="0"/>
          </a:p>
        </p:txBody>
      </p:sp>
      <p:grpSp>
        <p:nvGrpSpPr>
          <p:cNvPr id="12" name="Grupo 11">
            <a:extLst>
              <a:ext uri="{FF2B5EF4-FFF2-40B4-BE49-F238E27FC236}">
                <a16:creationId xmlns:a16="http://schemas.microsoft.com/office/drawing/2014/main" id="{DD3F030B-5495-9A2B-E29A-C1ECEBF24D81}"/>
              </a:ext>
            </a:extLst>
          </p:cNvPr>
          <p:cNvGrpSpPr/>
          <p:nvPr/>
        </p:nvGrpSpPr>
        <p:grpSpPr>
          <a:xfrm>
            <a:off x="4474164" y="4014260"/>
            <a:ext cx="506520" cy="499320"/>
            <a:chOff x="4474164" y="4014260"/>
            <a:chExt cx="506520" cy="499320"/>
          </a:xfrm>
        </p:grpSpPr>
        <mc:AlternateContent xmlns:mc="http://schemas.openxmlformats.org/markup-compatibility/2006" xmlns:p14="http://schemas.microsoft.com/office/powerpoint/2010/main">
          <mc:Choice Requires="p14">
            <p:contentPart p14:bwMode="auto" r:id="rId2">
              <p14:nvContentPartPr>
                <p14:cNvPr id="14" name="Entrada de lápiz 13">
                  <a:extLst>
                    <a:ext uri="{FF2B5EF4-FFF2-40B4-BE49-F238E27FC236}">
                      <a16:creationId xmlns:a16="http://schemas.microsoft.com/office/drawing/2014/main" id="{09319163-1DA8-CA7A-E237-BC87DD50AE84}"/>
                    </a:ext>
                  </a:extLst>
                </p14:cNvPr>
                <p14:cNvContentPartPr/>
                <p14:nvPr/>
              </p14:nvContentPartPr>
              <p14:xfrm>
                <a:off x="4574964" y="4152140"/>
                <a:ext cx="405720" cy="361440"/>
              </p14:xfrm>
            </p:contentPart>
          </mc:Choice>
          <mc:Fallback xmlns="">
            <p:pic>
              <p:nvPicPr>
                <p:cNvPr id="14" name="Entrada de lápiz 13">
                  <a:extLst>
                    <a:ext uri="{FF2B5EF4-FFF2-40B4-BE49-F238E27FC236}">
                      <a16:creationId xmlns:a16="http://schemas.microsoft.com/office/drawing/2014/main" id="{09319163-1DA8-CA7A-E237-BC87DD50AE84}"/>
                    </a:ext>
                  </a:extLst>
                </p:cNvPr>
                <p:cNvPicPr/>
                <p:nvPr/>
              </p:nvPicPr>
              <p:blipFill>
                <a:blip r:embed="rId3"/>
                <a:stretch>
                  <a:fillRect/>
                </a:stretch>
              </p:blipFill>
              <p:spPr>
                <a:xfrm>
                  <a:off x="4566324" y="4143500"/>
                  <a:ext cx="42336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6" name="Entrada de lápiz 15">
                  <a:extLst>
                    <a:ext uri="{FF2B5EF4-FFF2-40B4-BE49-F238E27FC236}">
                      <a16:creationId xmlns:a16="http://schemas.microsoft.com/office/drawing/2014/main" id="{DC6DABD3-F605-B58A-2F7D-13669B094BDB}"/>
                    </a:ext>
                  </a:extLst>
                </p14:cNvPr>
                <p14:cNvContentPartPr/>
                <p14:nvPr/>
              </p14:nvContentPartPr>
              <p14:xfrm>
                <a:off x="4474164" y="4014260"/>
                <a:ext cx="253800" cy="227160"/>
              </p14:xfrm>
            </p:contentPart>
          </mc:Choice>
          <mc:Fallback xmlns="">
            <p:pic>
              <p:nvPicPr>
                <p:cNvPr id="16" name="Entrada de lápiz 15">
                  <a:extLst>
                    <a:ext uri="{FF2B5EF4-FFF2-40B4-BE49-F238E27FC236}">
                      <a16:creationId xmlns:a16="http://schemas.microsoft.com/office/drawing/2014/main" id="{DC6DABD3-F605-B58A-2F7D-13669B094BDB}"/>
                    </a:ext>
                  </a:extLst>
                </p:cNvPr>
                <p:cNvPicPr/>
                <p:nvPr/>
              </p:nvPicPr>
              <p:blipFill>
                <a:blip r:embed="rId5"/>
                <a:stretch>
                  <a:fillRect/>
                </a:stretch>
              </p:blipFill>
              <p:spPr>
                <a:xfrm>
                  <a:off x="4465164" y="4005620"/>
                  <a:ext cx="271440" cy="244800"/>
                </a:xfrm>
                <a:prstGeom prst="rect">
                  <a:avLst/>
                </a:prstGeom>
              </p:spPr>
            </p:pic>
          </mc:Fallback>
        </mc:AlternateContent>
      </p:grpSp>
      <p:grpSp>
        <p:nvGrpSpPr>
          <p:cNvPr id="18" name="Grupo 17">
            <a:extLst>
              <a:ext uri="{FF2B5EF4-FFF2-40B4-BE49-F238E27FC236}">
                <a16:creationId xmlns:a16="http://schemas.microsoft.com/office/drawing/2014/main" id="{AFCEE128-70F8-A86A-BF30-067963CDF2C0}"/>
              </a:ext>
            </a:extLst>
          </p:cNvPr>
          <p:cNvGrpSpPr/>
          <p:nvPr/>
        </p:nvGrpSpPr>
        <p:grpSpPr>
          <a:xfrm>
            <a:off x="6206124" y="3987980"/>
            <a:ext cx="849600" cy="457560"/>
            <a:chOff x="6206124" y="3987980"/>
            <a:chExt cx="849600" cy="457560"/>
          </a:xfrm>
        </p:grpSpPr>
        <mc:AlternateContent xmlns:mc="http://schemas.openxmlformats.org/markup-compatibility/2006" xmlns:p14="http://schemas.microsoft.com/office/powerpoint/2010/main">
          <mc:Choice Requires="p14">
            <p:contentPart p14:bwMode="auto" r:id="rId6">
              <p14:nvContentPartPr>
                <p14:cNvPr id="20" name="Entrada de lápiz 19">
                  <a:extLst>
                    <a:ext uri="{FF2B5EF4-FFF2-40B4-BE49-F238E27FC236}">
                      <a16:creationId xmlns:a16="http://schemas.microsoft.com/office/drawing/2014/main" id="{A65670BF-8328-CC5E-025A-755ABF870980}"/>
                    </a:ext>
                  </a:extLst>
                </p14:cNvPr>
                <p14:cNvContentPartPr/>
                <p14:nvPr/>
              </p14:nvContentPartPr>
              <p14:xfrm>
                <a:off x="6206124" y="4094180"/>
                <a:ext cx="691200" cy="351360"/>
              </p14:xfrm>
            </p:contentPart>
          </mc:Choice>
          <mc:Fallback xmlns="">
            <p:pic>
              <p:nvPicPr>
                <p:cNvPr id="20" name="Entrada de lápiz 19">
                  <a:extLst>
                    <a:ext uri="{FF2B5EF4-FFF2-40B4-BE49-F238E27FC236}">
                      <a16:creationId xmlns:a16="http://schemas.microsoft.com/office/drawing/2014/main" id="{A65670BF-8328-CC5E-025A-755ABF870980}"/>
                    </a:ext>
                  </a:extLst>
                </p:cNvPr>
                <p:cNvPicPr/>
                <p:nvPr/>
              </p:nvPicPr>
              <p:blipFill>
                <a:blip r:embed="rId7"/>
                <a:stretch>
                  <a:fillRect/>
                </a:stretch>
              </p:blipFill>
              <p:spPr>
                <a:xfrm>
                  <a:off x="6197484" y="4085540"/>
                  <a:ext cx="708840" cy="369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Entrada de lápiz 20">
                  <a:extLst>
                    <a:ext uri="{FF2B5EF4-FFF2-40B4-BE49-F238E27FC236}">
                      <a16:creationId xmlns:a16="http://schemas.microsoft.com/office/drawing/2014/main" id="{2EEE26AD-75D2-FA53-D62E-61E5488F98B5}"/>
                    </a:ext>
                  </a:extLst>
                </p14:cNvPr>
                <p14:cNvContentPartPr/>
                <p14:nvPr/>
              </p14:nvContentPartPr>
              <p14:xfrm>
                <a:off x="6906684" y="3987980"/>
                <a:ext cx="149040" cy="209520"/>
              </p14:xfrm>
            </p:contentPart>
          </mc:Choice>
          <mc:Fallback xmlns="">
            <p:pic>
              <p:nvPicPr>
                <p:cNvPr id="21" name="Entrada de lápiz 20">
                  <a:extLst>
                    <a:ext uri="{FF2B5EF4-FFF2-40B4-BE49-F238E27FC236}">
                      <a16:creationId xmlns:a16="http://schemas.microsoft.com/office/drawing/2014/main" id="{2EEE26AD-75D2-FA53-D62E-61E5488F98B5}"/>
                    </a:ext>
                  </a:extLst>
                </p:cNvPr>
                <p:cNvPicPr/>
                <p:nvPr/>
              </p:nvPicPr>
              <p:blipFill>
                <a:blip r:embed="rId9"/>
                <a:stretch>
                  <a:fillRect/>
                </a:stretch>
              </p:blipFill>
              <p:spPr>
                <a:xfrm>
                  <a:off x="6897684" y="3979340"/>
                  <a:ext cx="166680" cy="227160"/>
                </a:xfrm>
                <a:prstGeom prst="rect">
                  <a:avLst/>
                </a:prstGeom>
              </p:spPr>
            </p:pic>
          </mc:Fallback>
        </mc:AlternateContent>
      </p:grpSp>
      <p:grpSp>
        <p:nvGrpSpPr>
          <p:cNvPr id="22" name="Grupo 21">
            <a:extLst>
              <a:ext uri="{FF2B5EF4-FFF2-40B4-BE49-F238E27FC236}">
                <a16:creationId xmlns:a16="http://schemas.microsoft.com/office/drawing/2014/main" id="{3786A0D2-F873-D6EB-8466-A582AB3AFFA4}"/>
              </a:ext>
            </a:extLst>
          </p:cNvPr>
          <p:cNvGrpSpPr/>
          <p:nvPr/>
        </p:nvGrpSpPr>
        <p:grpSpPr>
          <a:xfrm>
            <a:off x="7733244" y="5029100"/>
            <a:ext cx="321120" cy="469080"/>
            <a:chOff x="7733244" y="5029100"/>
            <a:chExt cx="321120" cy="469080"/>
          </a:xfrm>
        </p:grpSpPr>
        <mc:AlternateContent xmlns:mc="http://schemas.openxmlformats.org/markup-compatibility/2006" xmlns:p14="http://schemas.microsoft.com/office/powerpoint/2010/main">
          <mc:Choice Requires="p14">
            <p:contentPart p14:bwMode="auto" r:id="rId10">
              <p14:nvContentPartPr>
                <p14:cNvPr id="23" name="Entrada de lápiz 22">
                  <a:extLst>
                    <a:ext uri="{FF2B5EF4-FFF2-40B4-BE49-F238E27FC236}">
                      <a16:creationId xmlns:a16="http://schemas.microsoft.com/office/drawing/2014/main" id="{2A4F512F-7A8C-2743-DBA3-F3DC367F34AA}"/>
                    </a:ext>
                  </a:extLst>
                </p14:cNvPr>
                <p14:cNvContentPartPr/>
                <p14:nvPr/>
              </p14:nvContentPartPr>
              <p14:xfrm>
                <a:off x="7846644" y="5029100"/>
                <a:ext cx="207720" cy="455760"/>
              </p14:xfrm>
            </p:contentPart>
          </mc:Choice>
          <mc:Fallback xmlns="">
            <p:pic>
              <p:nvPicPr>
                <p:cNvPr id="23" name="Entrada de lápiz 22">
                  <a:extLst>
                    <a:ext uri="{FF2B5EF4-FFF2-40B4-BE49-F238E27FC236}">
                      <a16:creationId xmlns:a16="http://schemas.microsoft.com/office/drawing/2014/main" id="{2A4F512F-7A8C-2743-DBA3-F3DC367F34AA}"/>
                    </a:ext>
                  </a:extLst>
                </p:cNvPr>
                <p:cNvPicPr/>
                <p:nvPr/>
              </p:nvPicPr>
              <p:blipFill>
                <a:blip r:embed="rId11"/>
                <a:stretch>
                  <a:fillRect/>
                </a:stretch>
              </p:blipFill>
              <p:spPr>
                <a:xfrm>
                  <a:off x="7837644" y="5020100"/>
                  <a:ext cx="225360" cy="473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Entrada de lápiz 23">
                  <a:extLst>
                    <a:ext uri="{FF2B5EF4-FFF2-40B4-BE49-F238E27FC236}">
                      <a16:creationId xmlns:a16="http://schemas.microsoft.com/office/drawing/2014/main" id="{B444BEF1-4B95-B8F4-63A5-1BE9AF3651BD}"/>
                    </a:ext>
                  </a:extLst>
                </p14:cNvPr>
                <p14:cNvContentPartPr/>
                <p14:nvPr/>
              </p14:nvContentPartPr>
              <p14:xfrm>
                <a:off x="7733244" y="5320700"/>
                <a:ext cx="316080" cy="177480"/>
              </p14:xfrm>
            </p:contentPart>
          </mc:Choice>
          <mc:Fallback xmlns="">
            <p:pic>
              <p:nvPicPr>
                <p:cNvPr id="24" name="Entrada de lápiz 23">
                  <a:extLst>
                    <a:ext uri="{FF2B5EF4-FFF2-40B4-BE49-F238E27FC236}">
                      <a16:creationId xmlns:a16="http://schemas.microsoft.com/office/drawing/2014/main" id="{B444BEF1-4B95-B8F4-63A5-1BE9AF3651BD}"/>
                    </a:ext>
                  </a:extLst>
                </p:cNvPr>
                <p:cNvPicPr/>
                <p:nvPr/>
              </p:nvPicPr>
              <p:blipFill>
                <a:blip r:embed="rId13"/>
                <a:stretch>
                  <a:fillRect/>
                </a:stretch>
              </p:blipFill>
              <p:spPr>
                <a:xfrm>
                  <a:off x="7724604" y="5312060"/>
                  <a:ext cx="333720" cy="195120"/>
                </a:xfrm>
                <a:prstGeom prst="rect">
                  <a:avLst/>
                </a:prstGeom>
              </p:spPr>
            </p:pic>
          </mc:Fallback>
        </mc:AlternateContent>
      </p:grpSp>
    </p:spTree>
    <p:extLst>
      <p:ext uri="{BB962C8B-B14F-4D97-AF65-F5344CB8AC3E}">
        <p14:creationId xmlns:p14="http://schemas.microsoft.com/office/powerpoint/2010/main" val="281893074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E3001AD-8F3A-88E4-3931-933301871E6A}"/>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dirty="0" err="1">
                <a:solidFill>
                  <a:srgbClr val="FFFFFF"/>
                </a:solidFill>
                <a:latin typeface="+mj-lt"/>
                <a:ea typeface="+mj-ea"/>
                <a:cs typeface="+mj-cs"/>
              </a:rPr>
              <a:t>Función</a:t>
            </a:r>
            <a:r>
              <a:rPr lang="en-US" sz="4000" kern="1200" dirty="0">
                <a:solidFill>
                  <a:srgbClr val="FFFFFF"/>
                </a:solidFill>
                <a:latin typeface="+mj-lt"/>
                <a:ea typeface="+mj-ea"/>
                <a:cs typeface="+mj-cs"/>
              </a:rPr>
              <a:t> range()</a:t>
            </a:r>
          </a:p>
        </p:txBody>
      </p:sp>
      <p:sp>
        <p:nvSpPr>
          <p:cNvPr id="4" name="Marcador de pie de página 3">
            <a:extLst>
              <a:ext uri="{FF2B5EF4-FFF2-40B4-BE49-F238E27FC236}">
                <a16:creationId xmlns:a16="http://schemas.microsoft.com/office/drawing/2014/main" id="{5F2CA144-7058-15FF-C027-3C69F3836002}"/>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5" name="Marcador de número de diapositiva 4">
            <a:extLst>
              <a:ext uri="{FF2B5EF4-FFF2-40B4-BE49-F238E27FC236}">
                <a16:creationId xmlns:a16="http://schemas.microsoft.com/office/drawing/2014/main" id="{CEC6F812-789E-2CBD-8977-E7AFA500001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89</a:t>
            </a:fld>
            <a:endParaRPr lang="en-US" sz="1100">
              <a:solidFill>
                <a:schemeClr val="tx1">
                  <a:lumMod val="50000"/>
                  <a:lumOff val="50000"/>
                </a:schemeClr>
              </a:solidFill>
            </a:endParaRPr>
          </a:p>
        </p:txBody>
      </p:sp>
      <p:sp>
        <p:nvSpPr>
          <p:cNvPr id="10" name="Rectangle 3">
            <a:extLst>
              <a:ext uri="{FF2B5EF4-FFF2-40B4-BE49-F238E27FC236}">
                <a16:creationId xmlns:a16="http://schemas.microsoft.com/office/drawing/2014/main" id="{F82FB95C-C5BF-C6FC-ACD1-CE11429AFEAB}"/>
              </a:ext>
            </a:extLst>
          </p:cNvPr>
          <p:cNvSpPr>
            <a:spLocks noChangeArrowheads="1"/>
          </p:cNvSpPr>
          <p:nvPr/>
        </p:nvSpPr>
        <p:spPr bwMode="auto">
          <a:xfrm>
            <a:off x="-997974" y="114785"/>
            <a:ext cx="60914" cy="1538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ts val="600"/>
              </a:spcAft>
              <a:buClrTx/>
              <a:buSzTx/>
              <a:buFontTx/>
              <a:buNone/>
              <a:tabLst/>
            </a:pPr>
            <a:r>
              <a:rPr kumimoji="0" lang="es-MX" altLang="es-MX" sz="1000" b="0" i="0" u="none" strike="noStrike" cap="none" normalizeH="0" baseline="0" dirty="0">
                <a:ln>
                  <a:noFill/>
                </a:ln>
                <a:solidFill>
                  <a:srgbClr val="1C1D1F"/>
                </a:solidFill>
                <a:effectLst/>
                <a:latin typeface="udemy sans"/>
              </a:rPr>
              <a:t>.</a:t>
            </a:r>
            <a:r>
              <a:rPr kumimoji="0" lang="es-MX" altLang="es-MX" sz="800" b="0" i="0" u="none" strike="noStrike" cap="none" normalizeH="0" baseline="0" dirty="0">
                <a:ln>
                  <a:noFill/>
                </a:ln>
                <a:solidFill>
                  <a:schemeClr val="tx1"/>
                </a:solidFill>
                <a:effectLst/>
              </a:rPr>
              <a:t> </a:t>
            </a: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3" name="Marcador de contenido 2">
            <a:extLst>
              <a:ext uri="{FF2B5EF4-FFF2-40B4-BE49-F238E27FC236}">
                <a16:creationId xmlns:a16="http://schemas.microsoft.com/office/drawing/2014/main" id="{0E161F21-F1B7-8DE7-F73A-95C48C60BE01}"/>
              </a:ext>
            </a:extLst>
          </p:cNvPr>
          <p:cNvSpPr>
            <a:spLocks noGrp="1"/>
          </p:cNvSpPr>
          <p:nvPr>
            <p:ph idx="1"/>
          </p:nvPr>
        </p:nvSpPr>
        <p:spPr>
          <a:xfrm>
            <a:off x="838200" y="1825625"/>
            <a:ext cx="10515600" cy="4351338"/>
          </a:xfrm>
        </p:spPr>
        <p:txBody>
          <a:bodyPr/>
          <a:lstStyle/>
          <a:p>
            <a:pPr marL="0" indent="0">
              <a:buNone/>
            </a:pPr>
            <a:r>
              <a:rPr lang="es-MX" dirty="0"/>
              <a:t>                        </a:t>
            </a:r>
            <a:r>
              <a:rPr lang="es-MX" dirty="0" err="1"/>
              <a:t>print</a:t>
            </a:r>
            <a:r>
              <a:rPr lang="es-MX" dirty="0"/>
              <a:t>(</a:t>
            </a:r>
            <a:r>
              <a:rPr lang="es-MX" dirty="0" err="1"/>
              <a:t>list</a:t>
            </a:r>
            <a:r>
              <a:rPr lang="es-MX" dirty="0"/>
              <a:t>(</a:t>
            </a:r>
            <a:r>
              <a:rPr lang="es-MX" dirty="0" err="1"/>
              <a:t>range</a:t>
            </a:r>
            <a:r>
              <a:rPr lang="es-MX" dirty="0"/>
              <a:t>(1,13,3))) &gt;&gt; [1,4,7,10]</a:t>
            </a:r>
          </a:p>
          <a:p>
            <a:pPr marL="0" indent="0">
              <a:buNone/>
            </a:pPr>
            <a:r>
              <a:rPr lang="es-MX" dirty="0"/>
              <a:t>El único parámetro obligatorio es </a:t>
            </a:r>
            <a:r>
              <a:rPr lang="es-MX" dirty="0" err="1"/>
              <a:t>valor_final</a:t>
            </a:r>
            <a:r>
              <a:rPr lang="es-MX" dirty="0"/>
              <a:t>. Los valores predeterminados para </a:t>
            </a:r>
            <a:r>
              <a:rPr lang="es-MX" dirty="0" err="1"/>
              <a:t>valor_inicio</a:t>
            </a:r>
            <a:r>
              <a:rPr lang="es-MX" dirty="0"/>
              <a:t> y paso son 0 y 1 respectivamente. </a:t>
            </a:r>
          </a:p>
        </p:txBody>
      </p:sp>
    </p:spTree>
    <p:extLst>
      <p:ext uri="{BB962C8B-B14F-4D97-AF65-F5344CB8AC3E}">
        <p14:creationId xmlns:p14="http://schemas.microsoft.com/office/powerpoint/2010/main" val="266389136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E3001AD-8F3A-88E4-3931-933301871E6A}"/>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dirty="0" err="1">
                <a:solidFill>
                  <a:srgbClr val="FFFFFF"/>
                </a:solidFill>
                <a:latin typeface="+mj-lt"/>
                <a:ea typeface="+mj-ea"/>
                <a:cs typeface="+mj-cs"/>
              </a:rPr>
              <a:t>Ejercicio</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5F2CA144-7058-15FF-C027-3C69F3836002}"/>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7EEFDE6B-54A0-D4CB-0417-6C32D031D7D1}"/>
              </a:ext>
            </a:extLst>
          </p:cNvPr>
          <p:cNvSpPr txBox="1"/>
          <p:nvPr/>
        </p:nvSpPr>
        <p:spPr>
          <a:xfrm>
            <a:off x="1371599" y="2318197"/>
            <a:ext cx="9724031" cy="3683358"/>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kumimoji="0" lang="en-US" altLang="es-MX" sz="1400" b="0" i="0" u="none" strike="noStrike" cap="none" normalizeH="0" baseline="0" dirty="0" err="1">
                <a:ln>
                  <a:noFill/>
                </a:ln>
                <a:effectLst/>
              </a:rPr>
              <a:t>Crea</a:t>
            </a:r>
            <a:r>
              <a:rPr kumimoji="0" lang="en-US" altLang="es-MX" sz="1400" b="0" i="0" u="none" strike="noStrike" cap="none" normalizeH="0" baseline="0" dirty="0">
                <a:ln>
                  <a:noFill/>
                </a:ln>
                <a:effectLst/>
              </a:rPr>
              <a:t> una </a:t>
            </a:r>
            <a:r>
              <a:rPr kumimoji="0" lang="en-US" altLang="es-MX" sz="1400" b="1" i="0" u="none" strike="noStrike" cap="none" normalizeH="0" baseline="0" dirty="0" err="1">
                <a:ln>
                  <a:noFill/>
                </a:ln>
                <a:effectLst/>
              </a:rPr>
              <a:t>lista</a:t>
            </a:r>
            <a:r>
              <a:rPr kumimoji="0" lang="en-US" altLang="es-MX" sz="1400" b="1" i="0" u="none" strike="noStrike" cap="none" normalizeH="0" baseline="0" dirty="0">
                <a:ln>
                  <a:noFill/>
                </a:ln>
                <a:effectLst/>
              </a:rPr>
              <a:t> </a:t>
            </a:r>
            <a:r>
              <a:rPr kumimoji="0" lang="en-US" altLang="es-MX" sz="1400" b="0" i="0" u="none" strike="noStrike" cap="none" normalizeH="0" baseline="0" dirty="0" err="1">
                <a:ln>
                  <a:noFill/>
                </a:ln>
                <a:effectLst/>
              </a:rPr>
              <a:t>formada</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por</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todos</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los</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números</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desde</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el</a:t>
            </a:r>
            <a:r>
              <a:rPr kumimoji="0" lang="en-US" altLang="es-MX" sz="1400" b="0" i="0" u="none" strike="noStrike" cap="none" normalizeH="0" baseline="0" dirty="0">
                <a:ln>
                  <a:noFill/>
                </a:ln>
                <a:effectLst/>
              </a:rPr>
              <a:t> </a:t>
            </a:r>
            <a:r>
              <a:rPr kumimoji="0" lang="en-US" altLang="es-MX" sz="1400" b="1" i="0" u="none" strike="noStrike" cap="none" normalizeH="0" baseline="0" dirty="0">
                <a:ln>
                  <a:noFill/>
                </a:ln>
                <a:effectLst/>
              </a:rPr>
              <a:t>2500 al 2585 (inclusive)</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Almacena</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dicha</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lista</a:t>
            </a:r>
            <a:r>
              <a:rPr kumimoji="0" lang="en-US" altLang="es-MX" sz="1400" b="0" i="0" u="none" strike="noStrike" cap="none" normalizeH="0" baseline="0" dirty="0">
                <a:ln>
                  <a:noFill/>
                </a:ln>
                <a:effectLst/>
              </a:rPr>
              <a:t> en la variable </a:t>
            </a:r>
            <a:r>
              <a:rPr kumimoji="0" lang="en-US" altLang="es-MX" sz="1400" b="1" i="0" u="none" strike="noStrike" cap="none" normalizeH="0" baseline="0" dirty="0" err="1">
                <a:ln>
                  <a:noFill/>
                </a:ln>
                <a:effectLst/>
              </a:rPr>
              <a:t>mi_lista</a:t>
            </a:r>
            <a:endParaRPr kumimoji="0" lang="en-US" altLang="es-MX" sz="1400" b="1" i="0" u="none" strike="noStrike" cap="none" normalizeH="0" baseline="0" dirty="0">
              <a:ln>
                <a:noFill/>
              </a:ln>
              <a:effectLst/>
            </a:endParaRPr>
          </a:p>
          <a:p>
            <a:pPr indent="-228600">
              <a:lnSpc>
                <a:spcPct val="90000"/>
              </a:lnSpc>
              <a:spcAft>
                <a:spcPts val="600"/>
              </a:spcAft>
              <a:buFont typeface="Arial" panose="020B0604020202020204" pitchFamily="34" charset="0"/>
              <a:buChar char="•"/>
            </a:pPr>
            <a:endParaRPr lang="en-US" altLang="es-MX" sz="1400" b="1" dirty="0"/>
          </a:p>
          <a:p>
            <a:pPr indent="-228600">
              <a:lnSpc>
                <a:spcPct val="90000"/>
              </a:lnSpc>
              <a:spcAft>
                <a:spcPts val="600"/>
              </a:spcAft>
              <a:buFont typeface="Arial" panose="020B0604020202020204" pitchFamily="34" charset="0"/>
              <a:buChar char="•"/>
            </a:pPr>
            <a:r>
              <a:rPr kumimoji="0" lang="en-US" altLang="es-MX" sz="1400" b="0" i="0" u="none" strike="noStrike" cap="none" normalizeH="0" baseline="0" dirty="0" err="1">
                <a:ln>
                  <a:noFill/>
                </a:ln>
                <a:effectLst/>
              </a:rPr>
              <a:t>Utilizando</a:t>
            </a:r>
            <a:r>
              <a:rPr kumimoji="0" lang="en-US" altLang="es-MX" sz="1400" b="0" i="0" u="none" strike="noStrike" cap="none" normalizeH="0" baseline="0" dirty="0">
                <a:ln>
                  <a:noFill/>
                </a:ln>
                <a:effectLst/>
              </a:rPr>
              <a:t> la </a:t>
            </a:r>
            <a:r>
              <a:rPr kumimoji="0" lang="en-US" altLang="es-MX" sz="1400" b="0" i="0" u="none" strike="noStrike" cap="none" normalizeH="0" baseline="0" dirty="0" err="1">
                <a:ln>
                  <a:noFill/>
                </a:ln>
                <a:effectLst/>
              </a:rPr>
              <a:t>función</a:t>
            </a:r>
            <a:r>
              <a:rPr kumimoji="0" lang="en-US" altLang="es-MX" sz="1400" b="0" i="0" u="none" strike="noStrike" cap="none" normalizeH="0" baseline="0" dirty="0">
                <a:ln>
                  <a:noFill/>
                </a:ln>
                <a:effectLst/>
              </a:rPr>
              <a:t> range(), </a:t>
            </a:r>
            <a:r>
              <a:rPr kumimoji="0" lang="en-US" altLang="es-MX" sz="1400" b="0" i="0" u="none" strike="noStrike" cap="none" normalizeH="0" baseline="0" dirty="0" err="1">
                <a:ln>
                  <a:noFill/>
                </a:ln>
                <a:effectLst/>
              </a:rPr>
              <a:t>crea</a:t>
            </a:r>
            <a:r>
              <a:rPr kumimoji="0" lang="en-US" altLang="es-MX" sz="1400" b="0" i="0" u="none" strike="noStrike" cap="none" normalizeH="0" baseline="0" dirty="0">
                <a:ln>
                  <a:noFill/>
                </a:ln>
                <a:effectLst/>
              </a:rPr>
              <a:t> en una </a:t>
            </a:r>
            <a:r>
              <a:rPr kumimoji="0" lang="en-US" altLang="es-MX" sz="1400" b="0" i="0" u="none" strike="noStrike" cap="none" normalizeH="0" baseline="0" dirty="0" err="1">
                <a:ln>
                  <a:noFill/>
                </a:ln>
                <a:effectLst/>
              </a:rPr>
              <a:t>única</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linea</a:t>
            </a:r>
            <a:r>
              <a:rPr kumimoji="0" lang="en-US" altLang="es-MX" sz="1400" b="0" i="0" u="none" strike="noStrike" cap="none" normalizeH="0" baseline="0" dirty="0">
                <a:ln>
                  <a:noFill/>
                </a:ln>
                <a:effectLst/>
              </a:rPr>
              <a:t> de </a:t>
            </a:r>
            <a:r>
              <a:rPr kumimoji="0" lang="en-US" altLang="es-MX" sz="1400" b="0" i="0" u="none" strike="noStrike" cap="none" normalizeH="0" baseline="0" dirty="0" err="1">
                <a:ln>
                  <a:noFill/>
                </a:ln>
                <a:effectLst/>
              </a:rPr>
              <a:t>código</a:t>
            </a:r>
            <a:r>
              <a:rPr kumimoji="0" lang="en-US" altLang="es-MX" sz="1400" b="0" i="0" u="none" strike="noStrike" cap="none" normalizeH="0" baseline="0" dirty="0">
                <a:ln>
                  <a:noFill/>
                </a:ln>
                <a:effectLst/>
              </a:rPr>
              <a:t> una </a:t>
            </a:r>
            <a:r>
              <a:rPr kumimoji="0" lang="en-US" altLang="es-MX" sz="1400" b="1" i="0" u="none" strike="noStrike" cap="none" normalizeH="0" baseline="0" dirty="0" err="1">
                <a:ln>
                  <a:noFill/>
                </a:ln>
                <a:effectLst/>
              </a:rPr>
              <a:t>lista</a:t>
            </a:r>
            <a:r>
              <a:rPr kumimoji="0" lang="en-US" altLang="es-MX" sz="1400" b="1" i="0" u="none" strike="noStrike" cap="none" normalizeH="0" baseline="0" dirty="0">
                <a:ln>
                  <a:noFill/>
                </a:ln>
                <a:effectLst/>
              </a:rPr>
              <a:t> </a:t>
            </a:r>
            <a:r>
              <a:rPr kumimoji="0" lang="en-US" altLang="es-MX" sz="1400" b="0" i="0" u="none" strike="noStrike" cap="none" normalizeH="0" baseline="0" dirty="0" err="1">
                <a:ln>
                  <a:noFill/>
                </a:ln>
                <a:effectLst/>
              </a:rPr>
              <a:t>formada</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por</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todos</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los</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números</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múltiplos</a:t>
            </a:r>
            <a:r>
              <a:rPr kumimoji="0" lang="en-US" altLang="es-MX" sz="1400" b="0" i="0" u="none" strike="noStrike" cap="none" normalizeH="0" baseline="0" dirty="0">
                <a:ln>
                  <a:noFill/>
                </a:ln>
                <a:effectLst/>
              </a:rPr>
              <a:t> de 3 </a:t>
            </a:r>
            <a:r>
              <a:rPr kumimoji="0" lang="en-US" altLang="es-MX" sz="1400" b="0" i="0" u="none" strike="noStrike" cap="none" normalizeH="0" baseline="0" dirty="0" err="1">
                <a:ln>
                  <a:noFill/>
                </a:ln>
                <a:effectLst/>
              </a:rPr>
              <a:t>desde</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el</a:t>
            </a:r>
            <a:r>
              <a:rPr kumimoji="0" lang="en-US" altLang="es-MX" sz="1400" b="0" i="0" u="none" strike="noStrike" cap="none" normalizeH="0" baseline="0" dirty="0">
                <a:ln>
                  <a:noFill/>
                </a:ln>
                <a:effectLst/>
              </a:rPr>
              <a:t> </a:t>
            </a:r>
            <a:r>
              <a:rPr kumimoji="0" lang="en-US" altLang="es-MX" sz="1400" b="1" i="0" u="none" strike="noStrike" cap="none" normalizeH="0" baseline="0" dirty="0">
                <a:ln>
                  <a:noFill/>
                </a:ln>
                <a:effectLst/>
              </a:rPr>
              <a:t>3 al 300 (inclusive)</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Almacena</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dicha</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lista</a:t>
            </a:r>
            <a:r>
              <a:rPr kumimoji="0" lang="en-US" altLang="es-MX" sz="1400" b="0" i="0" u="none" strike="noStrike" cap="none" normalizeH="0" baseline="0" dirty="0">
                <a:ln>
                  <a:noFill/>
                </a:ln>
                <a:effectLst/>
              </a:rPr>
              <a:t> en la variable </a:t>
            </a:r>
            <a:r>
              <a:rPr kumimoji="0" lang="en-US" altLang="es-MX" sz="1400" b="1" i="0" u="none" strike="noStrike" cap="none" normalizeH="0" baseline="0" dirty="0" err="1">
                <a:ln>
                  <a:noFill/>
                </a:ln>
                <a:effectLst/>
              </a:rPr>
              <a:t>mi_lista</a:t>
            </a:r>
            <a:endParaRPr kumimoji="0" lang="en-US" altLang="es-MX" sz="1400" b="1" i="0" u="none" strike="noStrike" cap="none" normalizeH="0" baseline="0" dirty="0">
              <a:ln>
                <a:noFill/>
              </a:ln>
              <a:effectLst/>
            </a:endParaRPr>
          </a:p>
          <a:p>
            <a:pPr indent="-228600">
              <a:lnSpc>
                <a:spcPct val="90000"/>
              </a:lnSpc>
              <a:spcAft>
                <a:spcPts val="600"/>
              </a:spcAft>
              <a:buFont typeface="Arial" panose="020B0604020202020204" pitchFamily="34" charset="0"/>
              <a:buChar char="•"/>
            </a:pPr>
            <a:endParaRPr lang="en-US" altLang="es-MX" sz="1400" b="1" dirty="0"/>
          </a:p>
          <a:p>
            <a:pPr indent="-228600">
              <a:lnSpc>
                <a:spcPct val="90000"/>
              </a:lnSpc>
              <a:spcAft>
                <a:spcPts val="600"/>
              </a:spcAft>
              <a:buFont typeface="Arial" panose="020B0604020202020204" pitchFamily="34" charset="0"/>
              <a:buChar char="•"/>
            </a:pPr>
            <a:endParaRPr kumimoji="0" lang="en-US" altLang="es-MX" sz="1400" b="1"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err="1">
                <a:ln>
                  <a:noFill/>
                </a:ln>
                <a:effectLst/>
              </a:rPr>
              <a:t>Utiliza</a:t>
            </a:r>
            <a:r>
              <a:rPr kumimoji="0" lang="en-US" altLang="es-MX" sz="1400" b="0" i="0" u="none" strike="noStrike" cap="none" normalizeH="0" baseline="0" dirty="0">
                <a:ln>
                  <a:noFill/>
                </a:ln>
                <a:effectLst/>
              </a:rPr>
              <a:t> la </a:t>
            </a:r>
            <a:r>
              <a:rPr kumimoji="0" lang="en-US" altLang="es-MX" sz="1400" b="0" i="0" u="none" strike="noStrike" cap="none" normalizeH="0" baseline="0" dirty="0" err="1">
                <a:ln>
                  <a:noFill/>
                </a:ln>
                <a:effectLst/>
              </a:rPr>
              <a:t>función</a:t>
            </a:r>
            <a:r>
              <a:rPr kumimoji="0" lang="en-US" altLang="es-MX" sz="1400" b="0" i="0" u="none" strike="noStrike" cap="none" normalizeH="0" baseline="0" dirty="0">
                <a:ln>
                  <a:noFill/>
                </a:ln>
                <a:effectLst/>
              </a:rPr>
              <a:t> </a:t>
            </a:r>
            <a:r>
              <a:rPr kumimoji="0" lang="en-US" altLang="es-MX" sz="1400" b="1" i="0" u="none" strike="noStrike" cap="none" normalizeH="0" baseline="0" dirty="0">
                <a:ln>
                  <a:noFill/>
                </a:ln>
                <a:effectLst/>
              </a:rPr>
              <a:t>range()</a:t>
            </a:r>
            <a:r>
              <a:rPr kumimoji="0" lang="en-US" altLang="es-MX" sz="1400" b="0" i="0" u="none" strike="noStrike" cap="none" normalizeH="0" baseline="0" dirty="0">
                <a:ln>
                  <a:noFill/>
                </a:ln>
                <a:effectLst/>
              </a:rPr>
              <a:t> y un </a:t>
            </a:r>
            <a:r>
              <a:rPr kumimoji="0" lang="en-US" altLang="es-MX" sz="1400" b="1" i="0" u="none" strike="noStrike" cap="none" normalizeH="0" baseline="0" dirty="0">
                <a:ln>
                  <a:noFill/>
                </a:ln>
                <a:effectLst/>
              </a:rPr>
              <a:t>loop </a:t>
            </a:r>
            <a:r>
              <a:rPr kumimoji="0" lang="en-US" altLang="es-MX" sz="1400" b="0" i="0" u="none" strike="noStrike" cap="none" normalizeH="0" baseline="0" dirty="0">
                <a:ln>
                  <a:noFill/>
                </a:ln>
                <a:effectLst/>
              </a:rPr>
              <a:t>para </a:t>
            </a:r>
            <a:r>
              <a:rPr kumimoji="0" lang="en-US" altLang="es-MX" sz="1400" b="0" i="0" u="none" strike="noStrike" cap="none" normalizeH="0" baseline="0" dirty="0" err="1">
                <a:ln>
                  <a:noFill/>
                </a:ln>
                <a:effectLst/>
              </a:rPr>
              <a:t>sumar</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los</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cuadrados</a:t>
            </a:r>
            <a:r>
              <a:rPr kumimoji="0" lang="en-US" altLang="es-MX" sz="1400" b="0" i="0" u="none" strike="noStrike" cap="none" normalizeH="0" baseline="0" dirty="0">
                <a:ln>
                  <a:noFill/>
                </a:ln>
                <a:effectLst/>
              </a:rPr>
              <a:t> de </a:t>
            </a:r>
            <a:r>
              <a:rPr kumimoji="0" lang="en-US" altLang="es-MX" sz="1400" b="0" i="0" u="none" strike="noStrike" cap="none" normalizeH="0" baseline="0" dirty="0" err="1">
                <a:ln>
                  <a:noFill/>
                </a:ln>
                <a:effectLst/>
              </a:rPr>
              <a:t>todos</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los</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números</a:t>
            </a:r>
            <a:r>
              <a:rPr kumimoji="0" lang="en-US" altLang="es-MX" sz="1400" b="0" i="0" u="none" strike="noStrike" cap="none" normalizeH="0" baseline="0" dirty="0">
                <a:ln>
                  <a:noFill/>
                </a:ln>
                <a:effectLst/>
              </a:rPr>
              <a:t> del 1 al 15 (</a:t>
            </a:r>
            <a:r>
              <a:rPr kumimoji="0" lang="en-US" altLang="es-MX" sz="1400" b="0" i="1" u="none" strike="noStrike" cap="none" normalizeH="0" baseline="0" dirty="0">
                <a:ln>
                  <a:noFill/>
                </a:ln>
                <a:effectLst/>
              </a:rPr>
              <a:t>inclusive</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Almacena</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el</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resultado</a:t>
            </a:r>
            <a:r>
              <a:rPr kumimoji="0" lang="en-US" altLang="es-MX" sz="1400" b="0" i="0" u="none" strike="noStrike" cap="none" normalizeH="0" baseline="0" dirty="0">
                <a:ln>
                  <a:noFill/>
                </a:ln>
                <a:effectLst/>
              </a:rPr>
              <a:t> en una variable </a:t>
            </a:r>
            <a:r>
              <a:rPr kumimoji="0" lang="en-US" altLang="es-MX" sz="1400" b="0" i="0" u="none" strike="noStrike" cap="none" normalizeH="0" baseline="0" dirty="0" err="1">
                <a:ln>
                  <a:noFill/>
                </a:ln>
                <a:effectLst/>
              </a:rPr>
              <a:t>llamada</a:t>
            </a:r>
            <a:r>
              <a:rPr kumimoji="0" lang="en-US" altLang="es-MX" sz="1400" b="0" i="0" u="none" strike="noStrike" cap="none" normalizeH="0" baseline="0" dirty="0">
                <a:ln>
                  <a:noFill/>
                </a:ln>
                <a:effectLst/>
              </a:rPr>
              <a:t> </a:t>
            </a:r>
            <a:r>
              <a:rPr kumimoji="0" lang="en-US" altLang="es-MX" sz="1400" b="1" i="0" u="none" strike="noStrike" cap="none" normalizeH="0" baseline="0" dirty="0" err="1">
                <a:ln>
                  <a:noFill/>
                </a:ln>
                <a:effectLst/>
              </a:rPr>
              <a:t>suma_cuadrados</a:t>
            </a:r>
            <a:r>
              <a:rPr kumimoji="0" lang="en-US" altLang="es-MX" sz="1400" b="0" i="0" u="none" strike="noStrike" cap="none" normalizeH="0" baseline="0" dirty="0">
                <a:ln>
                  <a:noFill/>
                </a:ln>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a:ln>
                  <a:noFill/>
                </a:ln>
                <a:effectLst/>
              </a:rPr>
              <a:t>Para </a:t>
            </a:r>
            <a:r>
              <a:rPr kumimoji="0" lang="en-US" altLang="es-MX" sz="1400" b="0" i="0" u="none" strike="noStrike" cap="none" normalizeH="0" baseline="0" dirty="0" err="1">
                <a:ln>
                  <a:noFill/>
                </a:ln>
                <a:effectLst/>
              </a:rPr>
              <a:t>ello</a:t>
            </a:r>
            <a:r>
              <a:rPr kumimoji="0" lang="en-US" altLang="es-MX" sz="1400" b="0" i="0" u="none" strike="noStrike" cap="none" normalizeH="0" baseline="0" dirty="0">
                <a:ln>
                  <a:noFill/>
                </a:ln>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400" b="1" i="0" u="none" strike="noStrike" cap="none" normalizeH="0" baseline="0" dirty="0" err="1">
                <a:ln>
                  <a:noFill/>
                </a:ln>
                <a:effectLst/>
              </a:rPr>
              <a:t>Crea</a:t>
            </a:r>
            <a:r>
              <a:rPr kumimoji="0" lang="en-US" altLang="es-MX" sz="1400" b="1" i="0" u="none" strike="noStrike" cap="none" normalizeH="0" baseline="0" dirty="0">
                <a:ln>
                  <a:noFill/>
                </a:ln>
                <a:effectLst/>
              </a:rPr>
              <a:t> un </a:t>
            </a:r>
            <a:r>
              <a:rPr kumimoji="0" lang="en-US" altLang="es-MX" sz="1400" b="1" i="0" u="none" strike="noStrike" cap="none" normalizeH="0" baseline="0" dirty="0" err="1">
                <a:ln>
                  <a:noFill/>
                </a:ln>
                <a:effectLst/>
              </a:rPr>
              <a:t>rango</a:t>
            </a:r>
            <a:r>
              <a:rPr kumimoji="0" lang="en-US" altLang="es-MX" sz="1400" b="1" i="0" u="none" strike="noStrike" cap="none" normalizeH="0" baseline="0" dirty="0">
                <a:ln>
                  <a:noFill/>
                </a:ln>
                <a:effectLst/>
              </a:rPr>
              <a:t> de </a:t>
            </a:r>
            <a:r>
              <a:rPr kumimoji="0" lang="en-US" altLang="es-MX" sz="1400" b="1" i="0" u="none" strike="noStrike" cap="none" normalizeH="0" baseline="0" dirty="0" err="1">
                <a:ln>
                  <a:noFill/>
                </a:ln>
                <a:effectLst/>
              </a:rPr>
              <a:t>valores</a:t>
            </a:r>
            <a:r>
              <a:rPr kumimoji="0" lang="en-US" altLang="es-MX" sz="1400" b="0" i="0" u="none" strike="noStrike" cap="none" normalizeH="0" baseline="0" dirty="0">
                <a:ln>
                  <a:noFill/>
                </a:ln>
                <a:effectLst/>
              </a:rPr>
              <a:t> que </a:t>
            </a:r>
            <a:r>
              <a:rPr kumimoji="0" lang="en-US" altLang="es-MX" sz="1400" b="0" i="0" u="none" strike="noStrike" cap="none" normalizeH="0" baseline="0" dirty="0" err="1">
                <a:ln>
                  <a:noFill/>
                </a:ln>
                <a:effectLst/>
              </a:rPr>
              <a:t>puedas</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recorrer</a:t>
            </a:r>
            <a:r>
              <a:rPr kumimoji="0" lang="en-US" altLang="es-MX" sz="1400" b="0" i="0" u="none" strike="noStrike" cap="none" normalizeH="0" baseline="0" dirty="0">
                <a:ln>
                  <a:noFill/>
                </a:ln>
                <a:effectLst/>
              </a:rPr>
              <a:t> en un loop</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400" b="0" i="0" u="none" strike="noStrike" cap="none" normalizeH="0" baseline="0" dirty="0">
                <a:ln>
                  <a:noFill/>
                </a:ln>
                <a:effectLst/>
              </a:rPr>
              <a:t>Para </a:t>
            </a:r>
            <a:r>
              <a:rPr kumimoji="0" lang="en-US" altLang="es-MX" sz="1400" b="0" i="0" u="none" strike="noStrike" cap="none" normalizeH="0" baseline="0" dirty="0" err="1">
                <a:ln>
                  <a:noFill/>
                </a:ln>
                <a:effectLst/>
              </a:rPr>
              <a:t>cada</a:t>
            </a:r>
            <a:r>
              <a:rPr kumimoji="0" lang="en-US" altLang="es-MX" sz="1400" b="0" i="0" u="none" strike="noStrike" cap="none" normalizeH="0" baseline="0" dirty="0">
                <a:ln>
                  <a:noFill/>
                </a:ln>
                <a:effectLst/>
              </a:rPr>
              <a:t> uno de </a:t>
            </a:r>
            <a:r>
              <a:rPr kumimoji="0" lang="en-US" altLang="es-MX" sz="1400" b="0" i="0" u="none" strike="noStrike" cap="none" normalizeH="0" baseline="0" dirty="0" err="1">
                <a:ln>
                  <a:noFill/>
                </a:ln>
                <a:effectLst/>
              </a:rPr>
              <a:t>estos</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valores</a:t>
            </a:r>
            <a:r>
              <a:rPr kumimoji="0" lang="en-US" altLang="es-MX" sz="1400" b="0" i="0" u="none" strike="noStrike" cap="none" normalizeH="0" baseline="0" dirty="0">
                <a:ln>
                  <a:noFill/>
                </a:ln>
                <a:effectLst/>
              </a:rPr>
              <a:t>, </a:t>
            </a:r>
            <a:r>
              <a:rPr kumimoji="0" lang="en-US" altLang="es-MX" sz="1400" b="1" i="0" u="none" strike="noStrike" cap="none" normalizeH="0" baseline="0" dirty="0" err="1">
                <a:ln>
                  <a:noFill/>
                </a:ln>
                <a:effectLst/>
              </a:rPr>
              <a:t>calcula</a:t>
            </a:r>
            <a:r>
              <a:rPr kumimoji="0" lang="en-US" altLang="es-MX" sz="1400" b="1" i="0" u="none" strike="noStrike" cap="none" normalizeH="0" baseline="0" dirty="0">
                <a:ln>
                  <a:noFill/>
                </a:ln>
                <a:effectLst/>
              </a:rPr>
              <a:t> </a:t>
            </a:r>
            <a:r>
              <a:rPr kumimoji="0" lang="en-US" altLang="es-MX" sz="1400" b="1" i="0" u="none" strike="noStrike" cap="none" normalizeH="0" baseline="0" dirty="0" err="1">
                <a:ln>
                  <a:noFill/>
                </a:ln>
                <a:effectLst/>
              </a:rPr>
              <a:t>su</a:t>
            </a:r>
            <a:r>
              <a:rPr kumimoji="0" lang="en-US" altLang="es-MX" sz="1400" b="1" i="0" u="none" strike="noStrike" cap="none" normalizeH="0" baseline="0" dirty="0">
                <a:ln>
                  <a:noFill/>
                </a:ln>
                <a:effectLst/>
              </a:rPr>
              <a:t> valor al </a:t>
            </a:r>
            <a:r>
              <a:rPr kumimoji="0" lang="en-US" altLang="es-MX" sz="1400" b="1" i="0" u="none" strike="noStrike" cap="none" normalizeH="0" baseline="0" dirty="0" err="1">
                <a:ln>
                  <a:noFill/>
                </a:ln>
                <a:effectLst/>
              </a:rPr>
              <a:t>cuadrado</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potencia</a:t>
            </a:r>
            <a:r>
              <a:rPr kumimoji="0" lang="en-US" altLang="es-MX" sz="1400" b="0" i="0" u="none" strike="noStrike" cap="none" normalizeH="0" baseline="0" dirty="0">
                <a:ln>
                  <a:noFill/>
                </a:ln>
                <a:effectLst/>
              </a:rPr>
              <a:t> de 2). </a:t>
            </a:r>
            <a:r>
              <a:rPr kumimoji="0" lang="en-US" altLang="es-MX" sz="1400" b="0" i="0" u="none" strike="noStrike" cap="none" normalizeH="0" baseline="0" dirty="0" err="1">
                <a:ln>
                  <a:noFill/>
                </a:ln>
                <a:effectLst/>
              </a:rPr>
              <a:t>Puede</a:t>
            </a:r>
            <a:r>
              <a:rPr kumimoji="0" lang="en-US" altLang="es-MX" sz="1400" b="0" i="0" u="none" strike="noStrike" cap="none" normalizeH="0" baseline="0" dirty="0">
                <a:ln>
                  <a:noFill/>
                </a:ln>
                <a:effectLst/>
              </a:rPr>
              <a:t> que </a:t>
            </a:r>
            <a:r>
              <a:rPr kumimoji="0" lang="en-US" altLang="es-MX" sz="1400" b="0" i="0" u="none" strike="noStrike" cap="none" normalizeH="0" baseline="0" dirty="0" err="1">
                <a:ln>
                  <a:noFill/>
                </a:ln>
                <a:effectLst/>
              </a:rPr>
              <a:t>necesites</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crear</a:t>
            </a:r>
            <a:r>
              <a:rPr kumimoji="0" lang="en-US" altLang="es-MX" sz="1400" b="0" i="0" u="none" strike="noStrike" cap="none" normalizeH="0" baseline="0" dirty="0">
                <a:ln>
                  <a:noFill/>
                </a:ln>
                <a:effectLst/>
              </a:rPr>
              <a:t> variables </a:t>
            </a:r>
            <a:r>
              <a:rPr kumimoji="0" lang="en-US" altLang="es-MX" sz="1400" b="0" i="0" u="none" strike="noStrike" cap="none" normalizeH="0" baseline="0" dirty="0" err="1">
                <a:ln>
                  <a:noFill/>
                </a:ln>
                <a:effectLst/>
              </a:rPr>
              <a:t>intermedias</a:t>
            </a:r>
            <a:r>
              <a:rPr kumimoji="0" lang="en-US" altLang="es-MX" sz="1400" b="0" i="0" u="none" strike="noStrike" cap="none" normalizeH="0" baseline="0" dirty="0">
                <a:ln>
                  <a:noFill/>
                </a:ln>
                <a:effectLst/>
              </a:rPr>
              <a:t> (de </a:t>
            </a:r>
            <a:r>
              <a:rPr kumimoji="0" lang="en-US" altLang="es-MX" sz="1400" b="0" i="0" u="none" strike="noStrike" cap="none" normalizeH="0" baseline="0" dirty="0" err="1">
                <a:ln>
                  <a:noFill/>
                </a:ln>
                <a:effectLst/>
              </a:rPr>
              <a:t>manera</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opcional</a:t>
            </a:r>
            <a:r>
              <a:rPr kumimoji="0" lang="en-US" altLang="es-MX" sz="1400" b="0" i="0" u="none" strike="noStrike" cap="none" normalizeH="0" baseline="0" dirty="0">
                <a:ln>
                  <a:noFill/>
                </a:ln>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400" b="1" i="0" u="none" strike="noStrike" cap="none" normalizeH="0" baseline="0" dirty="0">
                <a:ln>
                  <a:noFill/>
                </a:ln>
                <a:effectLst/>
              </a:rPr>
              <a:t>Suma </a:t>
            </a:r>
            <a:r>
              <a:rPr kumimoji="0" lang="en-US" altLang="es-MX" sz="1400" b="1" i="0" u="none" strike="noStrike" cap="none" normalizeH="0" baseline="0" dirty="0" err="1">
                <a:ln>
                  <a:noFill/>
                </a:ln>
                <a:effectLst/>
              </a:rPr>
              <a:t>todos</a:t>
            </a:r>
            <a:r>
              <a:rPr kumimoji="0" lang="en-US" altLang="es-MX" sz="1400" b="1" i="0" u="none" strike="noStrike" cap="none" normalizeH="0" baseline="0" dirty="0">
                <a:ln>
                  <a:noFill/>
                </a:ln>
                <a:effectLst/>
              </a:rPr>
              <a:t> </a:t>
            </a:r>
            <a:r>
              <a:rPr kumimoji="0" lang="en-US" altLang="es-MX" sz="1400" b="1" i="0" u="none" strike="noStrike" cap="none" normalizeH="0" baseline="0" dirty="0" err="1">
                <a:ln>
                  <a:noFill/>
                </a:ln>
                <a:effectLst/>
              </a:rPr>
              <a:t>los</a:t>
            </a:r>
            <a:r>
              <a:rPr kumimoji="0" lang="en-US" altLang="es-MX" sz="1400" b="1" i="0" u="none" strike="noStrike" cap="none" normalizeH="0" baseline="0" dirty="0">
                <a:ln>
                  <a:noFill/>
                </a:ln>
                <a:effectLst/>
              </a:rPr>
              <a:t> </a:t>
            </a:r>
            <a:r>
              <a:rPr kumimoji="0" lang="en-US" altLang="es-MX" sz="1400" b="1" i="0" u="none" strike="noStrike" cap="none" normalizeH="0" baseline="0" dirty="0" err="1">
                <a:ln>
                  <a:noFill/>
                </a:ln>
                <a:effectLst/>
              </a:rPr>
              <a:t>valores</a:t>
            </a:r>
            <a:r>
              <a:rPr kumimoji="0" lang="en-US" altLang="es-MX" sz="1400" b="1" i="0" u="none" strike="noStrike" cap="none" normalizeH="0" baseline="0" dirty="0">
                <a:ln>
                  <a:noFill/>
                </a:ln>
                <a:effectLst/>
              </a:rPr>
              <a:t> al </a:t>
            </a:r>
            <a:r>
              <a:rPr kumimoji="0" lang="en-US" altLang="es-MX" sz="1400" b="1" i="0" u="none" strike="noStrike" cap="none" normalizeH="0" baseline="0" dirty="0" err="1">
                <a:ln>
                  <a:noFill/>
                </a:ln>
                <a:effectLst/>
              </a:rPr>
              <a:t>cuadrado</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obtenidos</a:t>
            </a:r>
            <a:r>
              <a:rPr kumimoji="0" lang="en-US" altLang="es-MX" sz="1400" b="0" i="0" u="none" strike="noStrike" cap="none" normalizeH="0" baseline="0" dirty="0">
                <a:ln>
                  <a:noFill/>
                </a:ln>
                <a:effectLst/>
              </a:rPr>
              <a:t>. </a:t>
            </a:r>
            <a:r>
              <a:rPr kumimoji="0" lang="en-US" altLang="es-MX" sz="1400" b="0" i="0" u="none" strike="noStrike" cap="none" normalizeH="0" baseline="0" dirty="0" err="1">
                <a:ln>
                  <a:noFill/>
                </a:ln>
                <a:effectLst/>
              </a:rPr>
              <a:t>Acumula</a:t>
            </a:r>
            <a:r>
              <a:rPr kumimoji="0" lang="en-US" altLang="es-MX" sz="1400" b="0" i="0" u="none" strike="noStrike" cap="none" normalizeH="0" baseline="0" dirty="0">
                <a:ln>
                  <a:noFill/>
                </a:ln>
                <a:effectLst/>
              </a:rPr>
              <a:t> la </a:t>
            </a:r>
            <a:r>
              <a:rPr kumimoji="0" lang="en-US" altLang="es-MX" sz="1400" b="0" i="0" u="none" strike="noStrike" cap="none" normalizeH="0" baseline="0" dirty="0" err="1">
                <a:ln>
                  <a:noFill/>
                </a:ln>
                <a:effectLst/>
              </a:rPr>
              <a:t>suma</a:t>
            </a:r>
            <a:r>
              <a:rPr kumimoji="0" lang="en-US" altLang="es-MX" sz="1400" b="0" i="0" u="none" strike="noStrike" cap="none" normalizeH="0" baseline="0" dirty="0">
                <a:ln>
                  <a:noFill/>
                </a:ln>
                <a:effectLst/>
              </a:rPr>
              <a:t> en la variable </a:t>
            </a:r>
            <a:r>
              <a:rPr kumimoji="0" lang="en-US" altLang="es-MX" sz="1400" b="1" i="0" u="none" strike="noStrike" cap="none" normalizeH="0" baseline="0" dirty="0" err="1">
                <a:ln>
                  <a:noFill/>
                </a:ln>
                <a:effectLst/>
              </a:rPr>
              <a:t>suma_cuadrados</a:t>
            </a:r>
            <a:endParaRPr kumimoji="0" lang="en-US" altLang="es-MX" sz="1400" b="0" i="0" u="none" strike="noStrike" cap="none" normalizeH="0" baseline="0" dirty="0">
              <a:ln>
                <a:noFill/>
              </a:ln>
              <a:effectLst/>
            </a:endParaRPr>
          </a:p>
          <a:p>
            <a:pPr indent="-228600">
              <a:lnSpc>
                <a:spcPct val="90000"/>
              </a:lnSpc>
              <a:spcAft>
                <a:spcPts val="600"/>
              </a:spcAft>
              <a:buFont typeface="Arial" panose="020B0604020202020204" pitchFamily="34" charset="0"/>
              <a:buChar char="•"/>
            </a:pPr>
            <a:endParaRPr kumimoji="0" lang="en-US" altLang="es-MX" sz="1400" b="1" i="0" u="none" strike="noStrike" cap="none" normalizeH="0" baseline="0" dirty="0">
              <a:ln>
                <a:noFill/>
              </a:ln>
              <a:effectLst/>
            </a:endParaRPr>
          </a:p>
          <a:p>
            <a:pPr indent="-228600">
              <a:lnSpc>
                <a:spcPct val="90000"/>
              </a:lnSpc>
              <a:spcAft>
                <a:spcPts val="600"/>
              </a:spcAft>
              <a:buFont typeface="Arial" panose="020B0604020202020204" pitchFamily="34" charset="0"/>
              <a:buChar char="•"/>
            </a:pPr>
            <a:endParaRPr lang="en-US" sz="1400" dirty="0"/>
          </a:p>
        </p:txBody>
      </p:sp>
      <p:sp>
        <p:nvSpPr>
          <p:cNvPr id="5" name="Marcador de número de diapositiva 4">
            <a:extLst>
              <a:ext uri="{FF2B5EF4-FFF2-40B4-BE49-F238E27FC236}">
                <a16:creationId xmlns:a16="http://schemas.microsoft.com/office/drawing/2014/main" id="{CEC6F812-789E-2CBD-8977-E7AFA500001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90</a:t>
            </a:fld>
            <a:endParaRPr lang="en-US" sz="1100">
              <a:solidFill>
                <a:schemeClr val="tx1">
                  <a:lumMod val="50000"/>
                  <a:lumOff val="50000"/>
                </a:schemeClr>
              </a:solidFill>
            </a:endParaRPr>
          </a:p>
        </p:txBody>
      </p:sp>
      <p:sp>
        <p:nvSpPr>
          <p:cNvPr id="10" name="Rectangle 3">
            <a:extLst>
              <a:ext uri="{FF2B5EF4-FFF2-40B4-BE49-F238E27FC236}">
                <a16:creationId xmlns:a16="http://schemas.microsoft.com/office/drawing/2014/main" id="{F82FB95C-C5BF-C6FC-ACD1-CE11429AFEAB}"/>
              </a:ext>
            </a:extLst>
          </p:cNvPr>
          <p:cNvSpPr>
            <a:spLocks noChangeArrowheads="1"/>
          </p:cNvSpPr>
          <p:nvPr/>
        </p:nvSpPr>
        <p:spPr bwMode="auto">
          <a:xfrm>
            <a:off x="-997974" y="114785"/>
            <a:ext cx="60914" cy="1538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ts val="600"/>
              </a:spcAft>
              <a:buClrTx/>
              <a:buSzTx/>
              <a:buFontTx/>
              <a:buNone/>
              <a:tabLst/>
            </a:pPr>
            <a:r>
              <a:rPr kumimoji="0" lang="es-MX" altLang="es-MX" sz="1000" b="0" i="0" u="none" strike="noStrike" cap="none" normalizeH="0" baseline="0" dirty="0">
                <a:ln>
                  <a:noFill/>
                </a:ln>
                <a:solidFill>
                  <a:srgbClr val="1C1D1F"/>
                </a:solidFill>
                <a:effectLst/>
                <a:latin typeface="udemy sans"/>
              </a:rPr>
              <a:t>.</a:t>
            </a:r>
            <a:r>
              <a:rPr kumimoji="0" lang="es-MX" altLang="es-MX" sz="800" b="0" i="0" u="none" strike="noStrike" cap="none" normalizeH="0" baseline="0" dirty="0">
                <a:ln>
                  <a:noFill/>
                </a:ln>
                <a:solidFill>
                  <a:schemeClr val="tx1"/>
                </a:solidFill>
                <a:effectLst/>
              </a:rPr>
              <a:t> </a:t>
            </a:r>
            <a:endParaRPr kumimoji="0" lang="es-MX" altLang="es-MX"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361322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pie de página 3">
            <a:extLst>
              <a:ext uri="{FF2B5EF4-FFF2-40B4-BE49-F238E27FC236}">
                <a16:creationId xmlns:a16="http://schemas.microsoft.com/office/drawing/2014/main" id="{5F2CA144-7058-15FF-C027-3C69F3836002}"/>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5" name="Marcador de número de diapositiva 4">
            <a:extLst>
              <a:ext uri="{FF2B5EF4-FFF2-40B4-BE49-F238E27FC236}">
                <a16:creationId xmlns:a16="http://schemas.microsoft.com/office/drawing/2014/main" id="{CEC6F812-789E-2CBD-8977-E7AFA500001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91</a:t>
            </a:fld>
            <a:endParaRPr lang="en-US" sz="1100">
              <a:solidFill>
                <a:schemeClr val="tx1">
                  <a:lumMod val="50000"/>
                  <a:lumOff val="50000"/>
                </a:schemeClr>
              </a:solidFill>
            </a:endParaRPr>
          </a:p>
        </p:txBody>
      </p:sp>
      <p:sp>
        <p:nvSpPr>
          <p:cNvPr id="10" name="Rectangle 3">
            <a:extLst>
              <a:ext uri="{FF2B5EF4-FFF2-40B4-BE49-F238E27FC236}">
                <a16:creationId xmlns:a16="http://schemas.microsoft.com/office/drawing/2014/main" id="{F82FB95C-C5BF-C6FC-ACD1-CE11429AFEAB}"/>
              </a:ext>
            </a:extLst>
          </p:cNvPr>
          <p:cNvSpPr>
            <a:spLocks noChangeArrowheads="1"/>
          </p:cNvSpPr>
          <p:nvPr/>
        </p:nvSpPr>
        <p:spPr bwMode="auto">
          <a:xfrm>
            <a:off x="-997974" y="114785"/>
            <a:ext cx="60914" cy="1538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ts val="600"/>
              </a:spcAft>
              <a:buClrTx/>
              <a:buSzTx/>
              <a:buFontTx/>
              <a:buNone/>
              <a:tabLst/>
            </a:pPr>
            <a:r>
              <a:rPr kumimoji="0" lang="es-MX" altLang="es-MX" sz="1000" b="0" i="0" u="none" strike="noStrike" cap="none" normalizeH="0" baseline="0" dirty="0">
                <a:ln>
                  <a:noFill/>
                </a:ln>
                <a:solidFill>
                  <a:srgbClr val="1C1D1F"/>
                </a:solidFill>
                <a:effectLst/>
                <a:latin typeface="udemy sans"/>
              </a:rPr>
              <a:t>.</a:t>
            </a:r>
            <a:r>
              <a:rPr kumimoji="0" lang="es-MX" altLang="es-MX" sz="800" b="0" i="0" u="none" strike="noStrike" cap="none" normalizeH="0" baseline="0" dirty="0">
                <a:ln>
                  <a:noFill/>
                </a:ln>
                <a:solidFill>
                  <a:schemeClr val="tx1"/>
                </a:solidFill>
                <a:effectLst/>
              </a:rPr>
              <a:t> </a:t>
            </a: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3" name="Título 1">
            <a:extLst>
              <a:ext uri="{FF2B5EF4-FFF2-40B4-BE49-F238E27FC236}">
                <a16:creationId xmlns:a16="http://schemas.microsoft.com/office/drawing/2014/main" id="{C22EBA5E-DCAB-F5F4-0D1C-4C48886134C6}"/>
              </a:ext>
            </a:extLst>
          </p:cNvPr>
          <p:cNvSpPr>
            <a:spLocks noGrp="1"/>
          </p:cNvSpPr>
          <p:nvPr>
            <p:ph type="title"/>
          </p:nvPr>
        </p:nvSpPr>
        <p:spPr>
          <a:xfrm>
            <a:off x="838200" y="365125"/>
            <a:ext cx="10515600" cy="1325563"/>
          </a:xfrm>
        </p:spPr>
        <p:txBody>
          <a:bodyPr/>
          <a:lstStyle/>
          <a:p>
            <a:r>
              <a:rPr lang="es-MX" dirty="0">
                <a:solidFill>
                  <a:schemeClr val="bg1"/>
                </a:solidFill>
              </a:rPr>
              <a:t>Función </a:t>
            </a:r>
            <a:r>
              <a:rPr lang="es-MX" dirty="0" err="1">
                <a:solidFill>
                  <a:schemeClr val="bg1"/>
                </a:solidFill>
              </a:rPr>
              <a:t>enumerate</a:t>
            </a:r>
            <a:r>
              <a:rPr lang="es-MX" dirty="0">
                <a:solidFill>
                  <a:schemeClr val="bg1"/>
                </a:solidFill>
              </a:rPr>
              <a:t>( )</a:t>
            </a:r>
          </a:p>
        </p:txBody>
      </p:sp>
      <p:sp>
        <p:nvSpPr>
          <p:cNvPr id="6" name="Marcador de contenido 2">
            <a:extLst>
              <a:ext uri="{FF2B5EF4-FFF2-40B4-BE49-F238E27FC236}">
                <a16:creationId xmlns:a16="http://schemas.microsoft.com/office/drawing/2014/main" id="{EF032B68-BBAB-D11A-46C0-045AB0D0EA68}"/>
              </a:ext>
            </a:extLst>
          </p:cNvPr>
          <p:cNvSpPr>
            <a:spLocks noGrp="1"/>
          </p:cNvSpPr>
          <p:nvPr>
            <p:ph idx="1"/>
          </p:nvPr>
        </p:nvSpPr>
        <p:spPr>
          <a:xfrm>
            <a:off x="838200" y="1825625"/>
            <a:ext cx="10515600" cy="4351338"/>
          </a:xfrm>
        </p:spPr>
        <p:txBody>
          <a:bodyPr/>
          <a:lstStyle/>
          <a:p>
            <a:pPr marL="0" indent="0">
              <a:buNone/>
            </a:pPr>
            <a:r>
              <a:rPr lang="es-MX" dirty="0"/>
              <a:t>La función </a:t>
            </a:r>
            <a:r>
              <a:rPr lang="es-MX" dirty="0" err="1"/>
              <a:t>enumerate</a:t>
            </a:r>
            <a:r>
              <a:rPr lang="es-MX" dirty="0"/>
              <a:t>( ) nos facilita llevar la cuenta de las iteraciones, a través de un contador de índices de un iterable, que se puede utilizar de manera directa en un </a:t>
            </a:r>
            <a:r>
              <a:rPr lang="es-MX" dirty="0" err="1"/>
              <a:t>loop</a:t>
            </a:r>
            <a:r>
              <a:rPr lang="es-MX" dirty="0"/>
              <a:t>, o convertirse en una lista de tuplas con el método </a:t>
            </a:r>
            <a:r>
              <a:rPr lang="es-MX" dirty="0" err="1"/>
              <a:t>list</a:t>
            </a:r>
            <a:r>
              <a:rPr lang="es-MX" dirty="0"/>
              <a:t>( )</a:t>
            </a:r>
          </a:p>
          <a:p>
            <a:pPr marL="0" indent="0">
              <a:buNone/>
            </a:pPr>
            <a:r>
              <a:rPr lang="es-MX" dirty="0"/>
              <a:t>Cualquier objeto que pueda ser iterado</a:t>
            </a:r>
          </a:p>
          <a:p>
            <a:pPr marL="0" indent="0">
              <a:buNone/>
            </a:pPr>
            <a:endParaRPr lang="es-MX" dirty="0"/>
          </a:p>
          <a:p>
            <a:pPr marL="0" indent="0">
              <a:buNone/>
            </a:pPr>
            <a:r>
              <a:rPr lang="es-MX" dirty="0"/>
              <a:t>                                           </a:t>
            </a:r>
            <a:r>
              <a:rPr lang="es-MX" dirty="0" err="1"/>
              <a:t>enumerate</a:t>
            </a:r>
            <a:r>
              <a:rPr lang="es-MX" dirty="0"/>
              <a:t>(iterable, inicio)</a:t>
            </a:r>
          </a:p>
          <a:p>
            <a:pPr marL="0" indent="0">
              <a:buNone/>
            </a:pPr>
            <a:endParaRPr lang="es-MX" dirty="0"/>
          </a:p>
          <a:p>
            <a:pPr marL="0" indent="0">
              <a:buNone/>
            </a:pPr>
            <a:r>
              <a:rPr lang="es-MX" dirty="0"/>
              <a:t>Valor [</a:t>
            </a:r>
            <a:r>
              <a:rPr lang="es-MX" dirty="0" err="1"/>
              <a:t>int</a:t>
            </a:r>
            <a:r>
              <a:rPr lang="es-MX" dirty="0"/>
              <a:t>] de inicio del índice (por defecto iniciado en 0)</a:t>
            </a:r>
          </a:p>
        </p:txBody>
      </p:sp>
      <p:grpSp>
        <p:nvGrpSpPr>
          <p:cNvPr id="7" name="Grupo 6">
            <a:extLst>
              <a:ext uri="{FF2B5EF4-FFF2-40B4-BE49-F238E27FC236}">
                <a16:creationId xmlns:a16="http://schemas.microsoft.com/office/drawing/2014/main" id="{0276DAB5-7BA9-2FAD-554F-7ADF5D985EFF}"/>
              </a:ext>
            </a:extLst>
          </p:cNvPr>
          <p:cNvGrpSpPr/>
          <p:nvPr/>
        </p:nvGrpSpPr>
        <p:grpSpPr>
          <a:xfrm>
            <a:off x="6864924" y="3599180"/>
            <a:ext cx="1079640" cy="669960"/>
            <a:chOff x="6864924" y="3599180"/>
            <a:chExt cx="1079640" cy="669960"/>
          </a:xfrm>
        </p:grpSpPr>
        <mc:AlternateContent xmlns:mc="http://schemas.openxmlformats.org/markup-compatibility/2006" xmlns:p14="http://schemas.microsoft.com/office/powerpoint/2010/main">
          <mc:Choice Requires="p14">
            <p:contentPart p14:bwMode="auto" r:id="rId2">
              <p14:nvContentPartPr>
                <p14:cNvPr id="9" name="Entrada de lápiz 8">
                  <a:extLst>
                    <a:ext uri="{FF2B5EF4-FFF2-40B4-BE49-F238E27FC236}">
                      <a16:creationId xmlns:a16="http://schemas.microsoft.com/office/drawing/2014/main" id="{29828E2C-E42B-2E93-2AD6-80E70AF0FA8A}"/>
                    </a:ext>
                  </a:extLst>
                </p14:cNvPr>
                <p14:cNvContentPartPr/>
                <p14:nvPr/>
              </p14:nvContentPartPr>
              <p14:xfrm>
                <a:off x="6864924" y="3599180"/>
                <a:ext cx="415080" cy="336960"/>
              </p14:xfrm>
            </p:contentPart>
          </mc:Choice>
          <mc:Fallback xmlns="">
            <p:pic>
              <p:nvPicPr>
                <p:cNvPr id="9" name="Entrada de lápiz 8">
                  <a:extLst>
                    <a:ext uri="{FF2B5EF4-FFF2-40B4-BE49-F238E27FC236}">
                      <a16:creationId xmlns:a16="http://schemas.microsoft.com/office/drawing/2014/main" id="{29828E2C-E42B-2E93-2AD6-80E70AF0FA8A}"/>
                    </a:ext>
                  </a:extLst>
                </p:cNvPr>
                <p:cNvPicPr/>
                <p:nvPr/>
              </p:nvPicPr>
              <p:blipFill>
                <a:blip r:embed="rId3"/>
                <a:stretch>
                  <a:fillRect/>
                </a:stretch>
              </p:blipFill>
              <p:spPr>
                <a:xfrm>
                  <a:off x="6856284" y="3590540"/>
                  <a:ext cx="43272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Entrada de lápiz 10">
                  <a:extLst>
                    <a:ext uri="{FF2B5EF4-FFF2-40B4-BE49-F238E27FC236}">
                      <a16:creationId xmlns:a16="http://schemas.microsoft.com/office/drawing/2014/main" id="{BCED20BD-F294-8734-1D45-ECA27637F19B}"/>
                    </a:ext>
                  </a:extLst>
                </p14:cNvPr>
                <p14:cNvContentPartPr/>
                <p14:nvPr/>
              </p14:nvContentPartPr>
              <p14:xfrm>
                <a:off x="6896964" y="3637700"/>
                <a:ext cx="1047600" cy="631440"/>
              </p14:xfrm>
            </p:contentPart>
          </mc:Choice>
          <mc:Fallback xmlns="">
            <p:pic>
              <p:nvPicPr>
                <p:cNvPr id="11" name="Entrada de lápiz 10">
                  <a:extLst>
                    <a:ext uri="{FF2B5EF4-FFF2-40B4-BE49-F238E27FC236}">
                      <a16:creationId xmlns:a16="http://schemas.microsoft.com/office/drawing/2014/main" id="{BCED20BD-F294-8734-1D45-ECA27637F19B}"/>
                    </a:ext>
                  </a:extLst>
                </p:cNvPr>
                <p:cNvPicPr/>
                <p:nvPr/>
              </p:nvPicPr>
              <p:blipFill>
                <a:blip r:embed="rId5"/>
                <a:stretch>
                  <a:fillRect/>
                </a:stretch>
              </p:blipFill>
              <p:spPr>
                <a:xfrm>
                  <a:off x="6887964" y="3629060"/>
                  <a:ext cx="1065240" cy="649080"/>
                </a:xfrm>
                <a:prstGeom prst="rect">
                  <a:avLst/>
                </a:prstGeom>
              </p:spPr>
            </p:pic>
          </mc:Fallback>
        </mc:AlternateContent>
      </p:grpSp>
      <p:grpSp>
        <p:nvGrpSpPr>
          <p:cNvPr id="12" name="Grupo 11">
            <a:extLst>
              <a:ext uri="{FF2B5EF4-FFF2-40B4-BE49-F238E27FC236}">
                <a16:creationId xmlns:a16="http://schemas.microsoft.com/office/drawing/2014/main" id="{44F17D52-F4BA-367B-419A-D77AC573212A}"/>
              </a:ext>
            </a:extLst>
          </p:cNvPr>
          <p:cNvGrpSpPr/>
          <p:nvPr/>
        </p:nvGrpSpPr>
        <p:grpSpPr>
          <a:xfrm>
            <a:off x="7683924" y="4982300"/>
            <a:ext cx="379800" cy="551160"/>
            <a:chOff x="7683924" y="4982300"/>
            <a:chExt cx="379800" cy="551160"/>
          </a:xfrm>
        </p:grpSpPr>
        <mc:AlternateContent xmlns:mc="http://schemas.openxmlformats.org/markup-compatibility/2006" xmlns:p14="http://schemas.microsoft.com/office/powerpoint/2010/main">
          <mc:Choice Requires="p14">
            <p:contentPart p14:bwMode="auto" r:id="rId6">
              <p14:nvContentPartPr>
                <p14:cNvPr id="13" name="Entrada de lápiz 12">
                  <a:extLst>
                    <a:ext uri="{FF2B5EF4-FFF2-40B4-BE49-F238E27FC236}">
                      <a16:creationId xmlns:a16="http://schemas.microsoft.com/office/drawing/2014/main" id="{E0CD8285-A4CD-A490-00D7-8EBF0DFCAB7D}"/>
                    </a:ext>
                  </a:extLst>
                </p14:cNvPr>
                <p14:cNvContentPartPr/>
                <p14:nvPr/>
              </p14:nvContentPartPr>
              <p14:xfrm>
                <a:off x="7791924" y="4982300"/>
                <a:ext cx="271800" cy="390240"/>
              </p14:xfrm>
            </p:contentPart>
          </mc:Choice>
          <mc:Fallback xmlns="">
            <p:pic>
              <p:nvPicPr>
                <p:cNvPr id="13" name="Entrada de lápiz 12">
                  <a:extLst>
                    <a:ext uri="{FF2B5EF4-FFF2-40B4-BE49-F238E27FC236}">
                      <a16:creationId xmlns:a16="http://schemas.microsoft.com/office/drawing/2014/main" id="{E0CD8285-A4CD-A490-00D7-8EBF0DFCAB7D}"/>
                    </a:ext>
                  </a:extLst>
                </p:cNvPr>
                <p:cNvPicPr/>
                <p:nvPr/>
              </p:nvPicPr>
              <p:blipFill>
                <a:blip r:embed="rId7"/>
                <a:stretch>
                  <a:fillRect/>
                </a:stretch>
              </p:blipFill>
              <p:spPr>
                <a:xfrm>
                  <a:off x="7782924" y="4973660"/>
                  <a:ext cx="28944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Entrada de lápiz 13">
                  <a:extLst>
                    <a:ext uri="{FF2B5EF4-FFF2-40B4-BE49-F238E27FC236}">
                      <a16:creationId xmlns:a16="http://schemas.microsoft.com/office/drawing/2014/main" id="{E4648053-B41F-F504-CE9C-131B73B86C3B}"/>
                    </a:ext>
                  </a:extLst>
                </p14:cNvPr>
                <p14:cNvContentPartPr/>
                <p14:nvPr/>
              </p14:nvContentPartPr>
              <p14:xfrm>
                <a:off x="7683924" y="5301620"/>
                <a:ext cx="340560" cy="231840"/>
              </p14:xfrm>
            </p:contentPart>
          </mc:Choice>
          <mc:Fallback xmlns="">
            <p:pic>
              <p:nvPicPr>
                <p:cNvPr id="14" name="Entrada de lápiz 13">
                  <a:extLst>
                    <a:ext uri="{FF2B5EF4-FFF2-40B4-BE49-F238E27FC236}">
                      <a16:creationId xmlns:a16="http://schemas.microsoft.com/office/drawing/2014/main" id="{E4648053-B41F-F504-CE9C-131B73B86C3B}"/>
                    </a:ext>
                  </a:extLst>
                </p:cNvPr>
                <p:cNvPicPr/>
                <p:nvPr/>
              </p:nvPicPr>
              <p:blipFill>
                <a:blip r:embed="rId9"/>
                <a:stretch>
                  <a:fillRect/>
                </a:stretch>
              </p:blipFill>
              <p:spPr>
                <a:xfrm>
                  <a:off x="7674924" y="5292620"/>
                  <a:ext cx="358200" cy="249480"/>
                </a:xfrm>
                <a:prstGeom prst="rect">
                  <a:avLst/>
                </a:prstGeom>
              </p:spPr>
            </p:pic>
          </mc:Fallback>
        </mc:AlternateContent>
      </p:grpSp>
    </p:spTree>
    <p:extLst>
      <p:ext uri="{BB962C8B-B14F-4D97-AF65-F5344CB8AC3E}">
        <p14:creationId xmlns:p14="http://schemas.microsoft.com/office/powerpoint/2010/main" val="297676083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pie de página 3">
            <a:extLst>
              <a:ext uri="{FF2B5EF4-FFF2-40B4-BE49-F238E27FC236}">
                <a16:creationId xmlns:a16="http://schemas.microsoft.com/office/drawing/2014/main" id="{5F2CA144-7058-15FF-C027-3C69F3836002}"/>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Arabots Robotics</a:t>
            </a:r>
          </a:p>
        </p:txBody>
      </p:sp>
      <p:sp>
        <p:nvSpPr>
          <p:cNvPr id="5" name="Marcador de número de diapositiva 4">
            <a:extLst>
              <a:ext uri="{FF2B5EF4-FFF2-40B4-BE49-F238E27FC236}">
                <a16:creationId xmlns:a16="http://schemas.microsoft.com/office/drawing/2014/main" id="{CEC6F812-789E-2CBD-8977-E7AFA500001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4EA4A3B0-B5DF-4E2B-B48F-E4B7B7872040}" type="slidenum">
              <a:rPr lang="en-US" sz="1100">
                <a:solidFill>
                  <a:schemeClr val="tx1">
                    <a:lumMod val="50000"/>
                    <a:lumOff val="50000"/>
                  </a:schemeClr>
                </a:solidFill>
              </a:rPr>
              <a:pPr>
                <a:spcAft>
                  <a:spcPts val="600"/>
                </a:spcAft>
              </a:pPr>
              <a:t>92</a:t>
            </a:fld>
            <a:endParaRPr lang="en-US" sz="1100">
              <a:solidFill>
                <a:schemeClr val="tx1">
                  <a:lumMod val="50000"/>
                  <a:lumOff val="50000"/>
                </a:schemeClr>
              </a:solidFill>
            </a:endParaRPr>
          </a:p>
        </p:txBody>
      </p:sp>
      <p:sp>
        <p:nvSpPr>
          <p:cNvPr id="10" name="Rectangle 3">
            <a:extLst>
              <a:ext uri="{FF2B5EF4-FFF2-40B4-BE49-F238E27FC236}">
                <a16:creationId xmlns:a16="http://schemas.microsoft.com/office/drawing/2014/main" id="{F82FB95C-C5BF-C6FC-ACD1-CE11429AFEAB}"/>
              </a:ext>
            </a:extLst>
          </p:cNvPr>
          <p:cNvSpPr>
            <a:spLocks noChangeArrowheads="1"/>
          </p:cNvSpPr>
          <p:nvPr/>
        </p:nvSpPr>
        <p:spPr bwMode="auto">
          <a:xfrm>
            <a:off x="-997974" y="114785"/>
            <a:ext cx="60914" cy="1538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ts val="600"/>
              </a:spcAft>
              <a:buClrTx/>
              <a:buSzTx/>
              <a:buFontTx/>
              <a:buNone/>
              <a:tabLst/>
            </a:pPr>
            <a:r>
              <a:rPr kumimoji="0" lang="es-MX" altLang="es-MX" sz="1000" b="0" i="0" u="none" strike="noStrike" cap="none" normalizeH="0" baseline="0" dirty="0">
                <a:ln>
                  <a:noFill/>
                </a:ln>
                <a:solidFill>
                  <a:srgbClr val="1C1D1F"/>
                </a:solidFill>
                <a:effectLst/>
                <a:latin typeface="udemy sans"/>
              </a:rPr>
              <a:t>.</a:t>
            </a:r>
            <a:r>
              <a:rPr kumimoji="0" lang="es-MX" altLang="es-MX" sz="800" b="0" i="0" u="none" strike="noStrike" cap="none" normalizeH="0" baseline="0" dirty="0">
                <a:ln>
                  <a:noFill/>
                </a:ln>
                <a:solidFill>
                  <a:schemeClr val="tx1"/>
                </a:solidFill>
                <a:effectLst/>
              </a:rPr>
              <a:t> </a:t>
            </a: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9" name="Marcador de contenido 2">
            <a:extLst>
              <a:ext uri="{FF2B5EF4-FFF2-40B4-BE49-F238E27FC236}">
                <a16:creationId xmlns:a16="http://schemas.microsoft.com/office/drawing/2014/main" id="{06AF623C-A02B-89B0-002D-AA63B845B4CC}"/>
              </a:ext>
            </a:extLst>
          </p:cNvPr>
          <p:cNvSpPr>
            <a:spLocks noGrp="1"/>
          </p:cNvSpPr>
          <p:nvPr>
            <p:ph idx="1"/>
          </p:nvPr>
        </p:nvSpPr>
        <p:spPr>
          <a:xfrm>
            <a:off x="838198" y="2458565"/>
            <a:ext cx="10515600" cy="3538301"/>
          </a:xfrm>
        </p:spPr>
        <p:txBody>
          <a:bodyPr/>
          <a:lstStyle/>
          <a:p>
            <a:pPr marL="0" indent="0">
              <a:buNone/>
            </a:pPr>
            <a:r>
              <a:rPr lang="es-MX" dirty="0" err="1"/>
              <a:t>print</a:t>
            </a:r>
            <a:r>
              <a:rPr lang="es-MX" dirty="0"/>
              <a:t>(</a:t>
            </a:r>
            <a:r>
              <a:rPr lang="es-MX" dirty="0" err="1"/>
              <a:t>list</a:t>
            </a:r>
            <a:r>
              <a:rPr lang="es-MX" dirty="0"/>
              <a:t>(</a:t>
            </a:r>
            <a:r>
              <a:rPr lang="es-MX" dirty="0" err="1"/>
              <a:t>enumerate</a:t>
            </a:r>
            <a:r>
              <a:rPr lang="es-MX" dirty="0"/>
              <a:t>("Hola")))   </a:t>
            </a:r>
            <a:r>
              <a:rPr lang="es-MX" b="1" dirty="0"/>
              <a:t>[(0, 'H'), (1, 'o'), (2, 'l'), (3, 'a')] </a:t>
            </a:r>
            <a:endParaRPr lang="it-IT" dirty="0"/>
          </a:p>
          <a:p>
            <a:pPr marL="0" indent="0">
              <a:buNone/>
            </a:pPr>
            <a:endParaRPr lang="it-IT" dirty="0"/>
          </a:p>
          <a:p>
            <a:pPr marL="0" indent="0">
              <a:buNone/>
            </a:pPr>
            <a:r>
              <a:rPr lang="it-IT" dirty="0"/>
              <a:t>for indice, numero in enumerate([5.55, 6, 7.50]): </a:t>
            </a:r>
          </a:p>
          <a:p>
            <a:pPr marL="0" indent="0">
              <a:buNone/>
            </a:pPr>
            <a:r>
              <a:rPr lang="it-IT" dirty="0"/>
              <a:t>print(indice, numero) </a:t>
            </a:r>
          </a:p>
          <a:p>
            <a:pPr marL="0" indent="0">
              <a:buNone/>
            </a:pPr>
            <a:r>
              <a:rPr lang="it-IT" dirty="0"/>
              <a:t>&gt;&gt; 0 5.55 &gt;&gt; 1 6 &gt;&gt; 2 7.5</a:t>
            </a:r>
            <a:endParaRPr lang="es-MX" dirty="0"/>
          </a:p>
        </p:txBody>
      </p:sp>
    </p:spTree>
    <p:extLst>
      <p:ext uri="{BB962C8B-B14F-4D97-AF65-F5344CB8AC3E}">
        <p14:creationId xmlns:p14="http://schemas.microsoft.com/office/powerpoint/2010/main" val="35626856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dirty="0" err="1">
                <a:solidFill>
                  <a:srgbClr val="FFFFFF"/>
                </a:solidFill>
                <a:latin typeface="+mj-lt"/>
                <a:ea typeface="+mj-ea"/>
                <a:cs typeface="+mj-cs"/>
              </a:rPr>
              <a:t>Ejercicio</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643813" y="2318197"/>
            <a:ext cx="11234056" cy="3683358"/>
          </a:xfrm>
          <a:prstGeom prst="rect">
            <a:avLst/>
          </a:prstGeom>
        </p:spPr>
        <p:txBody>
          <a:bodyPr vert="horz" lIns="91440" tIns="45720" rIns="91440" bIns="45720" rtlCol="0" anchor="ctr">
            <a:normAutofit fontScale="92500"/>
          </a:bodyPr>
          <a:lstStyle/>
          <a:p>
            <a:pPr marR="0" lvl="0" fontAlgn="base">
              <a:lnSpc>
                <a:spcPct val="90000"/>
              </a:lnSpc>
              <a:spcBef>
                <a:spcPct val="0"/>
              </a:spcBef>
              <a:spcAft>
                <a:spcPts val="600"/>
              </a:spcAft>
              <a:buClrTx/>
              <a:buSzTx/>
              <a:tabLst/>
            </a:pPr>
            <a:r>
              <a:rPr kumimoji="0" lang="en-US" altLang="es-MX" sz="2000" b="0" i="0" u="none" strike="noStrike" cap="none" normalizeH="0" baseline="0" dirty="0" err="1">
                <a:ln>
                  <a:noFill/>
                </a:ln>
                <a:effectLst/>
              </a:rPr>
              <a:t>Imprime</a:t>
            </a:r>
            <a:r>
              <a:rPr kumimoji="0" lang="en-US" altLang="es-MX" sz="2000" b="0" i="0" u="none" strike="noStrike" cap="none" normalizeH="0" baseline="0" dirty="0">
                <a:ln>
                  <a:noFill/>
                </a:ln>
                <a:effectLst/>
              </a:rPr>
              <a:t> en </a:t>
            </a:r>
            <a:r>
              <a:rPr kumimoji="0" lang="en-US" altLang="es-MX" sz="2000" b="0" i="0" u="none" strike="noStrike" cap="none" normalizeH="0" baseline="0" dirty="0" err="1">
                <a:ln>
                  <a:noFill/>
                </a:ln>
                <a:effectLst/>
              </a:rPr>
              <a:t>pantalla</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frases</a:t>
            </a:r>
            <a:r>
              <a:rPr kumimoji="0" lang="en-US" altLang="es-MX" sz="2000" b="0" i="0" u="none" strike="noStrike" cap="none" normalizeH="0" baseline="0" dirty="0">
                <a:ln>
                  <a:noFill/>
                </a:ln>
                <a:effectLst/>
              </a:rPr>
              <a:t> como la </a:t>
            </a:r>
            <a:r>
              <a:rPr kumimoji="0" lang="en-US" altLang="es-MX" sz="2000" b="0" i="0" u="none" strike="noStrike" cap="none" normalizeH="0" baseline="0" dirty="0" err="1">
                <a:ln>
                  <a:noFill/>
                </a:ln>
                <a:effectLst/>
              </a:rPr>
              <a:t>siguiente</a:t>
            </a:r>
            <a:r>
              <a:rPr kumimoji="0" lang="en-US" altLang="es-MX" sz="2000" b="0" i="0" u="none" strike="noStrike" cap="none" normalizeH="0" baseline="0" dirty="0">
                <a:ln>
                  <a:noFill/>
                </a:ln>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2000" b="0" i="0" u="none" strike="noStrike" cap="none" normalizeH="0" baseline="0" dirty="0">
                <a:ln>
                  <a:noFill/>
                </a:ln>
                <a:effectLst/>
              </a:rPr>
              <a:t>'{</a:t>
            </a:r>
            <a:r>
              <a:rPr kumimoji="0" lang="en-US" altLang="es-MX" sz="2000" b="0" i="0" u="none" strike="noStrike" cap="none" normalizeH="0" baseline="0" dirty="0" err="1">
                <a:ln>
                  <a:noFill/>
                </a:ln>
                <a:effectLst/>
              </a:rPr>
              <a:t>nombre</a:t>
            </a:r>
            <a:r>
              <a:rPr kumimoji="0" lang="en-US" altLang="es-MX" sz="2000" b="0" i="0" u="none" strike="noStrike" cap="none" normalizeH="0" baseline="0" dirty="0">
                <a:ln>
                  <a:noFill/>
                </a:ln>
                <a:effectLst/>
              </a:rPr>
              <a:t>} se </a:t>
            </a:r>
            <a:r>
              <a:rPr kumimoji="0" lang="en-US" altLang="es-MX" sz="2000" b="0" i="0" u="none" strike="noStrike" cap="none" normalizeH="0" baseline="0" dirty="0" err="1">
                <a:ln>
                  <a:noFill/>
                </a:ln>
                <a:effectLst/>
              </a:rPr>
              <a:t>encuentra</a:t>
            </a:r>
            <a:r>
              <a:rPr kumimoji="0" lang="en-US" altLang="es-MX" sz="2000" b="0" i="0" u="none" strike="noStrike" cap="none" normalizeH="0" baseline="0" dirty="0">
                <a:ln>
                  <a:noFill/>
                </a:ln>
                <a:effectLst/>
              </a:rPr>
              <a:t> en </a:t>
            </a:r>
            <a:r>
              <a:rPr kumimoji="0" lang="en-US" altLang="es-MX" sz="2000" b="0" i="0" u="none" strike="noStrike" cap="none" normalizeH="0" baseline="0" dirty="0" err="1">
                <a:ln>
                  <a:noFill/>
                </a:ln>
                <a:effectLst/>
              </a:rPr>
              <a:t>el</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índice</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indice</a:t>
            </a:r>
            <a:r>
              <a:rPr kumimoji="0" lang="en-US" altLang="es-MX" sz="2000" b="0" i="0" u="none" strike="noStrike" cap="none" normalizeH="0" baseline="0" dirty="0">
                <a:ln>
                  <a:noFill/>
                </a:ln>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s-MX" sz="2000" b="0" i="0" u="none" strike="noStrike" cap="none" normalizeH="0" baseline="0" dirty="0">
              <a:ln>
                <a:noFill/>
              </a:ln>
              <a:effectLst/>
            </a:endParaRPr>
          </a:p>
          <a:p>
            <a:pPr marR="0" lvl="0" fontAlgn="base">
              <a:lnSpc>
                <a:spcPct val="90000"/>
              </a:lnSpc>
              <a:spcBef>
                <a:spcPct val="0"/>
              </a:spcBef>
              <a:spcAft>
                <a:spcPts val="600"/>
              </a:spcAft>
              <a:buClrTx/>
              <a:buSzTx/>
              <a:tabLst/>
            </a:pPr>
            <a:r>
              <a:rPr kumimoji="0" lang="en-US" altLang="es-MX" sz="2000" b="0" i="0" u="none" strike="noStrike" cap="none" normalizeH="0" baseline="0" dirty="0" err="1">
                <a:ln>
                  <a:noFill/>
                </a:ln>
                <a:effectLst/>
              </a:rPr>
              <a:t>Donde</a:t>
            </a:r>
            <a:r>
              <a:rPr kumimoji="0" lang="en-US" altLang="es-MX" sz="2000" b="0" i="0" u="none" strike="noStrike" cap="none" normalizeH="0" baseline="0" dirty="0">
                <a:ln>
                  <a:noFill/>
                </a:ln>
                <a:effectLst/>
              </a:rPr>
              <a:t> </a:t>
            </a:r>
            <a:r>
              <a:rPr kumimoji="0" lang="en-US" altLang="es-MX" sz="2000" b="1" i="1" u="none" strike="noStrike" cap="none" normalizeH="0" baseline="0" dirty="0" err="1">
                <a:ln>
                  <a:noFill/>
                </a:ln>
                <a:effectLst/>
              </a:rPr>
              <a:t>nombre</a:t>
            </a:r>
            <a:r>
              <a:rPr kumimoji="0" lang="en-US" altLang="es-MX" sz="2000" b="1" i="1" u="none" strike="noStrike" cap="none" normalizeH="0" baseline="0" dirty="0">
                <a:ln>
                  <a:noFill/>
                </a:ln>
                <a:effectLst/>
              </a:rPr>
              <a:t> </a:t>
            </a:r>
            <a:r>
              <a:rPr kumimoji="0" lang="en-US" altLang="es-MX" sz="2000" b="0" i="0" u="none" strike="noStrike" cap="none" normalizeH="0" baseline="0" dirty="0" err="1">
                <a:ln>
                  <a:noFill/>
                </a:ln>
                <a:effectLst/>
              </a:rPr>
              <a:t>debe</a:t>
            </a:r>
            <a:r>
              <a:rPr kumimoji="0" lang="en-US" altLang="es-MX" sz="2000" b="0" i="0" u="none" strike="noStrike" cap="none" normalizeH="0" baseline="0" dirty="0">
                <a:ln>
                  <a:noFill/>
                </a:ln>
                <a:effectLst/>
              </a:rPr>
              <a:t> ser </a:t>
            </a:r>
            <a:r>
              <a:rPr kumimoji="0" lang="en-US" altLang="es-MX" sz="2000" b="0" i="0" u="none" strike="noStrike" cap="none" normalizeH="0" baseline="0" dirty="0" err="1">
                <a:ln>
                  <a:noFill/>
                </a:ln>
                <a:effectLst/>
              </a:rPr>
              <a:t>cada</a:t>
            </a:r>
            <a:r>
              <a:rPr kumimoji="0" lang="en-US" altLang="es-MX" sz="2000" b="0" i="0" u="none" strike="noStrike" cap="none" normalizeH="0" baseline="0" dirty="0">
                <a:ln>
                  <a:noFill/>
                </a:ln>
                <a:effectLst/>
              </a:rPr>
              <a:t> uno de </a:t>
            </a:r>
            <a:r>
              <a:rPr kumimoji="0" lang="en-US" altLang="es-MX" sz="2000" b="0" i="0" u="none" strike="noStrike" cap="none" normalizeH="0" baseline="0" dirty="0" err="1">
                <a:ln>
                  <a:noFill/>
                </a:ln>
                <a:effectLst/>
              </a:rPr>
              <a:t>los</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nombres</a:t>
            </a:r>
            <a:r>
              <a:rPr kumimoji="0" lang="en-US" altLang="es-MX" sz="2000" b="0" i="0" u="none" strike="noStrike" cap="none" normalizeH="0" baseline="0" dirty="0">
                <a:ln>
                  <a:noFill/>
                </a:ln>
                <a:effectLst/>
              </a:rPr>
              <a:t> de la </a:t>
            </a:r>
            <a:r>
              <a:rPr kumimoji="0" lang="en-US" altLang="es-MX" sz="2000" b="0" i="0" u="none" strike="noStrike" cap="none" normalizeH="0" baseline="0" dirty="0" err="1">
                <a:ln>
                  <a:noFill/>
                </a:ln>
                <a:effectLst/>
              </a:rPr>
              <a:t>lista</a:t>
            </a:r>
            <a:r>
              <a:rPr kumimoji="0" lang="en-US" altLang="es-MX" sz="2000" b="0" i="0" u="none" strike="noStrike" cap="none" normalizeH="0" baseline="0" dirty="0">
                <a:ln>
                  <a:noFill/>
                </a:ln>
                <a:effectLst/>
              </a:rPr>
              <a:t> a </a:t>
            </a:r>
            <a:r>
              <a:rPr kumimoji="0" lang="en-US" altLang="es-MX" sz="2000" b="0" i="0" u="none" strike="noStrike" cap="none" normalizeH="0" baseline="0" dirty="0" err="1">
                <a:ln>
                  <a:noFill/>
                </a:ln>
                <a:effectLst/>
              </a:rPr>
              <a:t>continuación</a:t>
            </a:r>
            <a:r>
              <a:rPr kumimoji="0" lang="en-US" altLang="es-MX" sz="2000" b="0" i="0" u="none" strike="noStrike" cap="none" normalizeH="0" baseline="0" dirty="0">
                <a:ln>
                  <a:noFill/>
                </a:ln>
                <a:effectLst/>
              </a:rPr>
              <a:t>, y </a:t>
            </a:r>
            <a:r>
              <a:rPr kumimoji="0" lang="en-US" altLang="es-MX" sz="2000" b="0" i="0" u="none" strike="noStrike" cap="none" normalizeH="0" baseline="0" dirty="0" err="1">
                <a:ln>
                  <a:noFill/>
                </a:ln>
                <a:effectLst/>
              </a:rPr>
              <a:t>el</a:t>
            </a:r>
            <a:r>
              <a:rPr kumimoji="0" lang="en-US" altLang="es-MX" sz="2000" b="0" i="0" u="none" strike="noStrike" cap="none" normalizeH="0" baseline="0" dirty="0">
                <a:ln>
                  <a:noFill/>
                </a:ln>
                <a:effectLst/>
              </a:rPr>
              <a:t> </a:t>
            </a:r>
            <a:r>
              <a:rPr kumimoji="0" lang="en-US" altLang="es-MX" sz="2000" b="1" i="1" u="none" strike="noStrike" cap="none" normalizeH="0" baseline="0" dirty="0" err="1">
                <a:ln>
                  <a:noFill/>
                </a:ln>
                <a:effectLst/>
              </a:rPr>
              <a:t>índice</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obtenido</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mediante</a:t>
            </a:r>
            <a:r>
              <a:rPr kumimoji="0" lang="en-US" altLang="es-MX" sz="2000" b="0" i="0" u="none" strike="noStrike" cap="none" normalizeH="0" baseline="0" dirty="0">
                <a:ln>
                  <a:noFill/>
                </a:ln>
                <a:effectLst/>
              </a:rPr>
              <a:t> enumerate().</a:t>
            </a:r>
          </a:p>
          <a:p>
            <a:pPr marR="0" lvl="0" fontAlgn="base">
              <a:lnSpc>
                <a:spcPct val="90000"/>
              </a:lnSpc>
              <a:spcBef>
                <a:spcPct val="0"/>
              </a:spcBef>
              <a:spcAft>
                <a:spcPts val="600"/>
              </a:spcAft>
              <a:buClrTx/>
              <a:buSzTx/>
              <a:tabLst/>
            </a:pPr>
            <a:endParaRPr kumimoji="0" lang="en-US" altLang="es-MX" sz="2000" b="0" i="0" u="none" strike="noStrike" cap="none" normalizeH="0" baseline="0" dirty="0">
              <a:ln>
                <a:noFill/>
              </a:ln>
              <a:effectLst/>
            </a:endParaRPr>
          </a:p>
          <a:p>
            <a:pPr marL="342900" marR="0" lvl="0" indent="-342900" fontAlgn="base">
              <a:lnSpc>
                <a:spcPct val="90000"/>
              </a:lnSpc>
              <a:spcBef>
                <a:spcPct val="0"/>
              </a:spcBef>
              <a:spcAft>
                <a:spcPts val="600"/>
              </a:spcAft>
              <a:buClrTx/>
              <a:buSzTx/>
              <a:buFont typeface="Arial" panose="020B0604020202020204" pitchFamily="34" charset="0"/>
              <a:buChar char="•"/>
              <a:tabLst/>
            </a:pPr>
            <a:r>
              <a:rPr kumimoji="0" lang="en-US" altLang="es-MX" sz="2000" b="1" i="0" u="none" strike="noStrike" cap="none" normalizeH="0" baseline="0" dirty="0" err="1">
                <a:ln>
                  <a:noFill/>
                </a:ln>
                <a:effectLst/>
              </a:rPr>
              <a:t>lista_nombres</a:t>
            </a:r>
            <a:r>
              <a:rPr kumimoji="0" lang="en-US" altLang="es-MX" sz="2000" b="1" i="0" u="none" strike="noStrike" cap="none" normalizeH="0" baseline="0" dirty="0">
                <a:ln>
                  <a:noFill/>
                </a:ln>
                <a:effectLst/>
              </a:rPr>
              <a:t> = ["Marcos", "Laura", "Mónica", "Javier", "Celina", "Marta", "Darío", "Emiliano", "Melisa"]</a:t>
            </a:r>
          </a:p>
          <a:p>
            <a:pPr marR="0" lvl="0" fontAlgn="base">
              <a:lnSpc>
                <a:spcPct val="90000"/>
              </a:lnSpc>
              <a:spcBef>
                <a:spcPct val="0"/>
              </a:spcBef>
              <a:spcAft>
                <a:spcPts val="600"/>
              </a:spcAft>
              <a:buClrTx/>
              <a:buSzTx/>
              <a:tabLst/>
            </a:pPr>
            <a:endParaRPr kumimoji="0" lang="en-US" altLang="es-MX" sz="2000" b="0" i="0" u="none" strike="noStrike" cap="none" normalizeH="0" baseline="0" dirty="0">
              <a:ln>
                <a:noFill/>
              </a:ln>
              <a:effectLst/>
            </a:endParaRPr>
          </a:p>
          <a:p>
            <a:pPr marR="0" lvl="0" fontAlgn="base">
              <a:lnSpc>
                <a:spcPct val="90000"/>
              </a:lnSpc>
              <a:spcBef>
                <a:spcPct val="0"/>
              </a:spcBef>
              <a:spcAft>
                <a:spcPts val="600"/>
              </a:spcAft>
              <a:buClrTx/>
              <a:buSzTx/>
              <a:tabLst/>
            </a:pPr>
            <a:r>
              <a:rPr kumimoji="0" lang="en-US" altLang="es-MX" sz="2000" b="0" i="0" u="none" strike="noStrike" cap="none" normalizeH="0" baseline="0" dirty="0" err="1">
                <a:ln>
                  <a:noFill/>
                </a:ln>
                <a:effectLst/>
              </a:rPr>
              <a:t>Puedes</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modificar</a:t>
            </a:r>
            <a:r>
              <a:rPr kumimoji="0" lang="en-US" altLang="es-MX" sz="2000" b="0" i="0" u="none" strike="noStrike" cap="none" normalizeH="0" baseline="0" dirty="0">
                <a:ln>
                  <a:noFill/>
                </a:ln>
                <a:effectLst/>
              </a:rPr>
              <a:t> la </a:t>
            </a:r>
            <a:r>
              <a:rPr kumimoji="0" lang="en-US" altLang="es-MX" sz="2000" b="0" i="0" u="none" strike="noStrike" cap="none" normalizeH="0" baseline="0" dirty="0" err="1">
                <a:ln>
                  <a:noFill/>
                </a:ln>
                <a:effectLst/>
              </a:rPr>
              <a:t>línea</a:t>
            </a:r>
            <a:r>
              <a:rPr kumimoji="0" lang="en-US" altLang="es-MX" sz="2000" b="0" i="0" u="none" strike="noStrike" cap="none" normalizeH="0" baseline="0" dirty="0">
                <a:ln>
                  <a:noFill/>
                </a:ln>
                <a:effectLst/>
              </a:rPr>
              <a:t> print() </a:t>
            </a:r>
            <a:r>
              <a:rPr kumimoji="0" lang="en-US" altLang="es-MX" sz="2000" b="0" i="0" u="none" strike="noStrike" cap="none" normalizeH="0" baseline="0" dirty="0" err="1">
                <a:ln>
                  <a:noFill/>
                </a:ln>
                <a:effectLst/>
              </a:rPr>
              <a:t>otorgada</a:t>
            </a:r>
            <a:r>
              <a:rPr kumimoji="0" lang="en-US" altLang="es-MX" sz="2000" b="0" i="0" u="none" strike="noStrike" cap="none" normalizeH="0" baseline="0" dirty="0">
                <a:ln>
                  <a:noFill/>
                </a:ln>
                <a:effectLst/>
              </a:rPr>
              <a:t> como </a:t>
            </a:r>
            <a:r>
              <a:rPr kumimoji="0" lang="en-US" altLang="es-MX" sz="2000" b="0" i="0" u="none" strike="noStrike" cap="none" normalizeH="0" baseline="0" dirty="0" err="1">
                <a:ln>
                  <a:noFill/>
                </a:ln>
                <a:effectLst/>
              </a:rPr>
              <a:t>ejemplo</a:t>
            </a:r>
            <a:r>
              <a:rPr kumimoji="0" lang="en-US" altLang="es-MX" sz="2000" b="0" i="0" u="none" strike="noStrike" cap="none" normalizeH="0" baseline="0" dirty="0">
                <a:ln>
                  <a:noFill/>
                </a:ln>
                <a:effectLst/>
              </a:rPr>
              <a:t>, pero </a:t>
            </a:r>
            <a:r>
              <a:rPr kumimoji="0" lang="en-US" altLang="es-MX" sz="2000" b="0" i="1" u="none" strike="noStrike" cap="none" normalizeH="0" baseline="0" dirty="0">
                <a:ln>
                  <a:noFill/>
                </a:ln>
                <a:effectLst/>
              </a:rPr>
              <a:t>las </a:t>
            </a:r>
            <a:r>
              <a:rPr kumimoji="0" lang="en-US" altLang="es-MX" sz="2000" b="0" i="1" u="none" strike="noStrike" cap="none" normalizeH="0" baseline="0" dirty="0" err="1">
                <a:ln>
                  <a:noFill/>
                </a:ln>
                <a:effectLst/>
              </a:rPr>
              <a:t>frases</a:t>
            </a:r>
            <a:r>
              <a:rPr kumimoji="0" lang="en-US" altLang="es-MX" sz="2000" b="0" i="1" u="none" strike="noStrike" cap="none" normalizeH="0" baseline="0" dirty="0">
                <a:ln>
                  <a:noFill/>
                </a:ln>
                <a:effectLst/>
              </a:rPr>
              <a:t> </a:t>
            </a:r>
            <a:r>
              <a:rPr kumimoji="0" lang="en-US" altLang="es-MX" sz="2000" b="0" i="1" u="none" strike="noStrike" cap="none" normalizeH="0" baseline="0" dirty="0" err="1">
                <a:ln>
                  <a:noFill/>
                </a:ln>
                <a:effectLst/>
              </a:rPr>
              <a:t>entregadas</a:t>
            </a:r>
            <a:r>
              <a:rPr kumimoji="0" lang="en-US" altLang="es-MX" sz="2000" b="0" i="1" u="none" strike="noStrike" cap="none" normalizeH="0" baseline="0" dirty="0">
                <a:ln>
                  <a:noFill/>
                </a:ln>
                <a:effectLst/>
              </a:rPr>
              <a:t> </a:t>
            </a:r>
            <a:r>
              <a:rPr kumimoji="0" lang="en-US" altLang="es-MX" sz="2000" b="0" i="1" u="none" strike="noStrike" cap="none" normalizeH="0" baseline="0" dirty="0" err="1">
                <a:ln>
                  <a:noFill/>
                </a:ln>
                <a:effectLst/>
              </a:rPr>
              <a:t>deberán</a:t>
            </a:r>
            <a:r>
              <a:rPr kumimoji="0" lang="en-US" altLang="es-MX" sz="2000" b="0" i="1" u="none" strike="noStrike" cap="none" normalizeH="0" baseline="0" dirty="0">
                <a:ln>
                  <a:noFill/>
                </a:ln>
                <a:effectLst/>
              </a:rPr>
              <a:t> ser </a:t>
            </a:r>
            <a:r>
              <a:rPr kumimoji="0" lang="en-US" altLang="es-MX" sz="2000" b="0" i="1" u="none" strike="noStrike" cap="none" normalizeH="0" baseline="0" dirty="0" err="1">
                <a:ln>
                  <a:noFill/>
                </a:ln>
                <a:effectLst/>
              </a:rPr>
              <a:t>iguales</a:t>
            </a:r>
            <a:r>
              <a:rPr kumimoji="0" lang="en-US" altLang="es-MX" sz="2000" b="0" i="0" u="none" strike="noStrike" cap="none" normalizeH="0" baseline="0" dirty="0">
                <a:ln>
                  <a:noFill/>
                </a:ln>
                <a:effectLst/>
              </a:rPr>
              <a:t>.</a:t>
            </a:r>
          </a:p>
          <a:p>
            <a:pPr marR="0" lvl="0" fontAlgn="base">
              <a:lnSpc>
                <a:spcPct val="90000"/>
              </a:lnSpc>
              <a:spcBef>
                <a:spcPct val="0"/>
              </a:spcBef>
              <a:spcAft>
                <a:spcPts val="600"/>
              </a:spcAft>
              <a:buClrTx/>
              <a:buSzTx/>
              <a:tabLst/>
            </a:pPr>
            <a:endParaRPr kumimoji="0" lang="en-US" altLang="es-MX" sz="2000" b="0" i="0" u="none" strike="noStrike" cap="none" normalizeH="0" baseline="0" dirty="0">
              <a:ln>
                <a:noFill/>
              </a:ln>
              <a:effectLst/>
            </a:endParaRPr>
          </a:p>
          <a:p>
            <a:pPr marR="0" lvl="0" fontAlgn="base">
              <a:lnSpc>
                <a:spcPct val="90000"/>
              </a:lnSpc>
              <a:spcBef>
                <a:spcPct val="0"/>
              </a:spcBef>
              <a:spcAft>
                <a:spcPts val="600"/>
              </a:spcAft>
              <a:buClrTx/>
              <a:buSzTx/>
              <a:tabLst/>
            </a:pPr>
            <a:r>
              <a:rPr kumimoji="0" lang="en-US" altLang="es-MX" sz="2000" b="0" i="0" u="none" strike="noStrike" cap="none" normalizeH="0" baseline="0" dirty="0">
                <a:ln>
                  <a:noFill/>
                </a:ln>
                <a:effectLst/>
              </a:rPr>
              <a:t>Tip: </a:t>
            </a:r>
            <a:r>
              <a:rPr kumimoji="0" lang="en-US" altLang="es-MX" sz="2000" b="0" i="0" u="none" strike="noStrike" cap="none" normalizeH="0" baseline="0" dirty="0" err="1">
                <a:ln>
                  <a:noFill/>
                </a:ln>
                <a:effectLst/>
              </a:rPr>
              <a:t>utiliza</a:t>
            </a:r>
            <a:r>
              <a:rPr kumimoji="0" lang="en-US" altLang="es-MX" sz="2000" b="0" i="0" u="none" strike="noStrike" cap="none" normalizeH="0" baseline="0" dirty="0">
                <a:ln>
                  <a:noFill/>
                </a:ln>
                <a:effectLst/>
              </a:rPr>
              <a:t> loops!</a:t>
            </a: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93</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6706634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dirty="0" err="1">
                <a:solidFill>
                  <a:srgbClr val="FFFFFF"/>
                </a:solidFill>
                <a:latin typeface="+mj-lt"/>
                <a:ea typeface="+mj-ea"/>
                <a:cs typeface="+mj-cs"/>
              </a:rPr>
              <a:t>Ejercicio</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9724031"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r>
              <a:rPr lang="es-MX" sz="2000" b="0" i="0" dirty="0">
                <a:solidFill>
                  <a:srgbClr val="1C1D1F"/>
                </a:solidFill>
                <a:effectLst/>
                <a:latin typeface="udemy sans"/>
              </a:rPr>
              <a:t>Crea una </a:t>
            </a:r>
            <a:r>
              <a:rPr lang="es-MX" sz="2000" b="1" i="0" dirty="0">
                <a:solidFill>
                  <a:srgbClr val="1C1D1F"/>
                </a:solidFill>
                <a:effectLst/>
                <a:latin typeface="udemy sans"/>
              </a:rPr>
              <a:t>lista </a:t>
            </a:r>
            <a:r>
              <a:rPr lang="es-MX" sz="2000" b="0" i="0" dirty="0">
                <a:solidFill>
                  <a:srgbClr val="1C1D1F"/>
                </a:solidFill>
                <a:effectLst/>
                <a:latin typeface="udemy sans"/>
              </a:rPr>
              <a:t>formada por las </a:t>
            </a:r>
            <a:r>
              <a:rPr lang="es-MX" sz="2000" b="1" i="0" dirty="0">
                <a:solidFill>
                  <a:srgbClr val="1C1D1F"/>
                </a:solidFill>
                <a:effectLst/>
                <a:latin typeface="udemy sans"/>
              </a:rPr>
              <a:t>tuplas (</a:t>
            </a:r>
            <a:r>
              <a:rPr lang="es-MX" sz="2000" b="1" i="0" dirty="0" err="1">
                <a:solidFill>
                  <a:srgbClr val="1C1D1F"/>
                </a:solidFill>
                <a:effectLst/>
                <a:latin typeface="udemy sans"/>
              </a:rPr>
              <a:t>indice</a:t>
            </a:r>
            <a:r>
              <a:rPr lang="es-MX" sz="2000" b="1" i="0" dirty="0">
                <a:solidFill>
                  <a:srgbClr val="1C1D1F"/>
                </a:solidFill>
                <a:effectLst/>
                <a:latin typeface="udemy sans"/>
              </a:rPr>
              <a:t>, elemento)</a:t>
            </a:r>
            <a:r>
              <a:rPr lang="es-MX" sz="2000" b="0" i="0" dirty="0">
                <a:solidFill>
                  <a:srgbClr val="1C1D1F"/>
                </a:solidFill>
                <a:effectLst/>
                <a:latin typeface="udemy sans"/>
              </a:rPr>
              <a:t>, formadas a partir de obtener mediante </a:t>
            </a:r>
            <a:r>
              <a:rPr lang="es-MX" sz="2000" b="1" i="0" dirty="0" err="1">
                <a:solidFill>
                  <a:srgbClr val="1C1D1F"/>
                </a:solidFill>
                <a:effectLst/>
                <a:latin typeface="udemy sans"/>
              </a:rPr>
              <a:t>enumerate</a:t>
            </a:r>
            <a:r>
              <a:rPr lang="es-MX" sz="2000" b="1" i="0" dirty="0">
                <a:solidFill>
                  <a:srgbClr val="1C1D1F"/>
                </a:solidFill>
                <a:effectLst/>
                <a:latin typeface="udemy sans"/>
              </a:rPr>
              <a:t>()</a:t>
            </a:r>
            <a:r>
              <a:rPr lang="es-MX" sz="2000" b="0" i="0" dirty="0">
                <a:solidFill>
                  <a:srgbClr val="1C1D1F"/>
                </a:solidFill>
                <a:effectLst/>
                <a:latin typeface="udemy sans"/>
              </a:rPr>
              <a:t> los índices de cada </a:t>
            </a:r>
            <a:r>
              <a:rPr lang="es-MX" sz="2000" b="0" i="0" dirty="0" err="1">
                <a:solidFill>
                  <a:srgbClr val="1C1D1F"/>
                </a:solidFill>
                <a:effectLst/>
                <a:latin typeface="udemy sans"/>
              </a:rPr>
              <a:t>caracter</a:t>
            </a:r>
            <a:r>
              <a:rPr lang="es-MX" sz="2000" b="0" i="0" dirty="0">
                <a:solidFill>
                  <a:srgbClr val="1C1D1F"/>
                </a:solidFill>
                <a:effectLst/>
                <a:latin typeface="udemy sans"/>
              </a:rPr>
              <a:t> del </a:t>
            </a:r>
            <a:r>
              <a:rPr lang="es-MX" sz="2000" b="0" i="0" dirty="0" err="1">
                <a:solidFill>
                  <a:srgbClr val="1C1D1F"/>
                </a:solidFill>
                <a:effectLst/>
                <a:latin typeface="udemy sans"/>
              </a:rPr>
              <a:t>string</a:t>
            </a:r>
            <a:r>
              <a:rPr lang="es-MX" sz="2000" b="0" i="0" dirty="0">
                <a:solidFill>
                  <a:srgbClr val="1C1D1F"/>
                </a:solidFill>
                <a:effectLst/>
                <a:latin typeface="udemy sans"/>
              </a:rPr>
              <a:t> "</a:t>
            </a:r>
            <a:r>
              <a:rPr lang="es-MX" sz="2000" b="1" i="0" dirty="0">
                <a:solidFill>
                  <a:srgbClr val="1C1D1F"/>
                </a:solidFill>
                <a:effectLst/>
                <a:latin typeface="udemy sans"/>
              </a:rPr>
              <a:t>Python</a:t>
            </a:r>
            <a:r>
              <a:rPr lang="es-MX" sz="2000" b="0" i="0" dirty="0">
                <a:solidFill>
                  <a:srgbClr val="1C1D1F"/>
                </a:solidFill>
                <a:effectLst/>
                <a:latin typeface="udemy sans"/>
              </a:rPr>
              <a:t>".</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s-MX" altLang="es-MX" sz="2000" u="none" strike="noStrike" cap="none" normalizeH="0" baseline="0" dirty="0">
              <a:ln>
                <a:noFill/>
              </a:ln>
              <a:solidFill>
                <a:srgbClr val="1C1D1F"/>
              </a:solidFill>
              <a:latin typeface="udemy sans"/>
            </a:endParaRPr>
          </a:p>
          <a:p>
            <a:pPr marR="0" lvl="0" fontAlgn="base">
              <a:lnSpc>
                <a:spcPct val="90000"/>
              </a:lnSpc>
              <a:spcBef>
                <a:spcPct val="0"/>
              </a:spcBef>
              <a:spcAft>
                <a:spcPts val="600"/>
              </a:spcAft>
              <a:buClrTx/>
              <a:buSzTx/>
              <a:tabLst/>
            </a:pPr>
            <a:r>
              <a:rPr kumimoji="0" lang="es-MX" altLang="es-MX" sz="2000" b="0" i="0" u="none" strike="noStrike" cap="none" normalizeH="0" baseline="0" dirty="0">
                <a:ln>
                  <a:noFill/>
                </a:ln>
                <a:effectLst/>
              </a:rPr>
              <a:t>Llama a la lista obtenida con el nombre de variable </a:t>
            </a:r>
            <a:r>
              <a:rPr kumimoji="0" lang="es-MX" altLang="es-MX" sz="2000" b="1" i="0" u="none" strike="noStrike" cap="none" normalizeH="0" baseline="0" dirty="0" err="1">
                <a:ln>
                  <a:noFill/>
                </a:ln>
                <a:effectLst/>
              </a:rPr>
              <a:t>lista_indices</a:t>
            </a:r>
            <a:endParaRPr kumimoji="0" lang="en-US" altLang="es-MX" sz="2000" b="1"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94</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1448127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dirty="0" err="1">
                <a:solidFill>
                  <a:srgbClr val="FFFFFF"/>
                </a:solidFill>
                <a:latin typeface="+mj-lt"/>
                <a:ea typeface="+mj-ea"/>
                <a:cs typeface="+mj-cs"/>
              </a:rPr>
              <a:t>Ejercicio</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fontScale="85000" lnSpcReduction="20000"/>
          </a:bodyPr>
          <a:lstStyle/>
          <a:p>
            <a:pPr marR="0" lvl="0" fontAlgn="base">
              <a:lnSpc>
                <a:spcPct val="90000"/>
              </a:lnSpc>
              <a:spcBef>
                <a:spcPct val="0"/>
              </a:spcBef>
              <a:spcAft>
                <a:spcPts val="600"/>
              </a:spcAft>
              <a:buClrTx/>
              <a:buSzTx/>
              <a:tabLst/>
            </a:pPr>
            <a:r>
              <a:rPr lang="es-MX" sz="2000" b="0" i="0" dirty="0">
                <a:solidFill>
                  <a:srgbClr val="1C1D1F"/>
                </a:solidFill>
                <a:effectLst/>
                <a:latin typeface="udemy sans"/>
              </a:rPr>
              <a:t>Imprime en pantalla únicamente los índices de aquellos nombres de la lista a continuación</a:t>
            </a:r>
            <a:r>
              <a:rPr lang="es-MX" sz="2000" b="1" i="0" dirty="0">
                <a:solidFill>
                  <a:srgbClr val="1C1D1F"/>
                </a:solidFill>
                <a:effectLst/>
                <a:latin typeface="udemy sans"/>
              </a:rPr>
              <a:t>, que empiecen con M</a:t>
            </a:r>
            <a:r>
              <a:rPr lang="es-MX" sz="2000" b="0" i="0" dirty="0">
                <a:solidFill>
                  <a:srgbClr val="1C1D1F"/>
                </a:solidFill>
                <a:effectLst/>
                <a:latin typeface="udemy sans"/>
              </a:rPr>
              <a:t>:</a:t>
            </a:r>
          </a:p>
          <a:p>
            <a:pPr marL="0" marR="0" lvl="0" indent="-228600" fontAlgn="base">
              <a:lnSpc>
                <a:spcPct val="90000"/>
              </a:lnSpc>
              <a:spcBef>
                <a:spcPct val="0"/>
              </a:spcBef>
              <a:spcAft>
                <a:spcPts val="600"/>
              </a:spcAft>
              <a:buClrTx/>
              <a:buSzTx/>
              <a:buFont typeface="Arial" panose="020B0604020202020204" pitchFamily="34" charset="0"/>
              <a:buChar char="•"/>
              <a:tabLst/>
            </a:pPr>
            <a:endParaRPr lang="es-MX" sz="2000" b="0" i="0" dirty="0">
              <a:solidFill>
                <a:srgbClr val="1C1D1F"/>
              </a:solidFill>
              <a:effectLst/>
              <a:latin typeface="udemy sans"/>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lang="es-MX" sz="2000" b="1" i="0" dirty="0" err="1">
                <a:solidFill>
                  <a:srgbClr val="1C1D1F"/>
                </a:solidFill>
                <a:effectLst/>
                <a:latin typeface="udemy sans"/>
              </a:rPr>
              <a:t>lista_nombres</a:t>
            </a:r>
            <a:r>
              <a:rPr lang="es-MX" sz="2000" b="1" i="0" dirty="0">
                <a:solidFill>
                  <a:srgbClr val="1C1D1F"/>
                </a:solidFill>
                <a:effectLst/>
                <a:latin typeface="udemy sans"/>
              </a:rPr>
              <a:t> = ["Marcos", "Laura", "Mónica", "Javier", "Celina", "Marta", "Darío", "Emiliano", "Melisa"]</a:t>
            </a:r>
          </a:p>
          <a:p>
            <a:pPr marR="0" lvl="0" fontAlgn="base">
              <a:lnSpc>
                <a:spcPct val="90000"/>
              </a:lnSpc>
              <a:spcBef>
                <a:spcPct val="0"/>
              </a:spcBef>
              <a:spcAft>
                <a:spcPts val="600"/>
              </a:spcAft>
              <a:buClrTx/>
              <a:buSzTx/>
              <a:tabLst/>
            </a:pPr>
            <a:endParaRPr lang="es-MX" sz="2000" b="0" i="0" dirty="0">
              <a:solidFill>
                <a:srgbClr val="1C1D1F"/>
              </a:solidFill>
              <a:effectLst/>
              <a:latin typeface="udemy sans"/>
            </a:endParaRPr>
          </a:p>
          <a:p>
            <a:pPr marR="0" lvl="0" fontAlgn="base">
              <a:lnSpc>
                <a:spcPct val="90000"/>
              </a:lnSpc>
              <a:spcBef>
                <a:spcPct val="0"/>
              </a:spcBef>
              <a:spcAft>
                <a:spcPts val="600"/>
              </a:spcAft>
              <a:buClrTx/>
              <a:buSzTx/>
              <a:tabLst/>
            </a:pPr>
            <a:r>
              <a:rPr lang="es-MX" sz="2000" b="0" i="0" dirty="0">
                <a:solidFill>
                  <a:srgbClr val="1C1D1F"/>
                </a:solidFill>
                <a:effectLst/>
                <a:latin typeface="udemy sans"/>
              </a:rPr>
              <a:t>Puedes resolverlo de diferentes maneras, pero servirá que tengas presente todos o algunos de los siguientes elementos:</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s-MX" altLang="es-MX" sz="2000" u="none" strike="noStrike" cap="none" normalizeH="0" baseline="0" dirty="0">
              <a:ln>
                <a:noFill/>
              </a:ln>
              <a:solidFill>
                <a:srgbClr val="1C1D1F"/>
              </a:solidFill>
              <a:latin typeface="udemy sans"/>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2000" i="0" u="none" strike="noStrike" cap="none" normalizeH="0" baseline="0" dirty="0">
                <a:ln>
                  <a:noFill/>
                </a:ln>
                <a:effectLst/>
              </a:rPr>
              <a:t>Loops</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s-MX" sz="200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2000" i="0" u="none" strike="noStrike" cap="none" normalizeH="0" baseline="0" dirty="0" err="1">
                <a:ln>
                  <a:noFill/>
                </a:ln>
                <a:effectLst/>
              </a:rPr>
              <a:t>Condicionales</a:t>
            </a:r>
            <a:r>
              <a:rPr kumimoji="0" lang="en-US" altLang="es-MX" sz="2000" i="0" u="none" strike="noStrike" cap="none" normalizeH="0" baseline="0" dirty="0">
                <a:ln>
                  <a:noFill/>
                </a:ln>
                <a:effectLst/>
              </a:rPr>
              <a:t> if</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s-MX" sz="200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2000" i="0" u="none" strike="noStrike" cap="none" normalizeH="0" baseline="0" dirty="0">
                <a:ln>
                  <a:noFill/>
                </a:ln>
                <a:effectLst/>
              </a:rPr>
              <a:t>El </a:t>
            </a:r>
            <a:r>
              <a:rPr kumimoji="0" lang="en-US" altLang="es-MX" sz="2000" i="0" u="none" strike="noStrike" cap="none" normalizeH="0" baseline="0" dirty="0" err="1">
                <a:ln>
                  <a:noFill/>
                </a:ln>
                <a:effectLst/>
              </a:rPr>
              <a:t>método</a:t>
            </a:r>
            <a:r>
              <a:rPr kumimoji="0" lang="en-US" altLang="es-MX" sz="2000" i="0" u="none" strike="noStrike" cap="none" normalizeH="0" baseline="0" dirty="0">
                <a:ln>
                  <a:noFill/>
                </a:ln>
                <a:effectLst/>
              </a:rPr>
              <a:t> enumerate()</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s-MX" sz="200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2000" i="0" u="none" strike="noStrike" cap="none" normalizeH="0" baseline="0" dirty="0" err="1">
                <a:ln>
                  <a:noFill/>
                </a:ln>
                <a:effectLst/>
              </a:rPr>
              <a:t>Métodos</a:t>
            </a:r>
            <a:r>
              <a:rPr kumimoji="0" lang="en-US" altLang="es-MX" sz="2000" i="0" u="none" strike="noStrike" cap="none" normalizeH="0" baseline="0" dirty="0">
                <a:ln>
                  <a:noFill/>
                </a:ln>
                <a:effectLst/>
              </a:rPr>
              <a:t> de strings o </a:t>
            </a:r>
            <a:r>
              <a:rPr kumimoji="0" lang="en-US" altLang="es-MX" sz="2000" i="0" u="none" strike="noStrike" cap="none" normalizeH="0" baseline="0" dirty="0" err="1">
                <a:ln>
                  <a:noFill/>
                </a:ln>
                <a:effectLst/>
              </a:rPr>
              <a:t>indexado</a:t>
            </a: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95</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7255292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dirty="0">
                <a:solidFill>
                  <a:srgbClr val="FFFFFF"/>
                </a:solidFill>
                <a:latin typeface="+mj-lt"/>
                <a:ea typeface="+mj-ea"/>
                <a:cs typeface="+mj-cs"/>
              </a:rPr>
              <a:t>Función Zip()</a:t>
            </a: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96</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DA9E7B7B-7D84-1EA8-CAF2-734E7FE4F9E8}"/>
              </a:ext>
            </a:extLst>
          </p:cNvPr>
          <p:cNvSpPr txBox="1"/>
          <p:nvPr/>
        </p:nvSpPr>
        <p:spPr>
          <a:xfrm>
            <a:off x="1103761" y="2240032"/>
            <a:ext cx="10431625" cy="646331"/>
          </a:xfrm>
          <a:prstGeom prst="rect">
            <a:avLst/>
          </a:prstGeom>
          <a:noFill/>
        </p:spPr>
        <p:txBody>
          <a:bodyPr wrap="square">
            <a:spAutoFit/>
          </a:bodyPr>
          <a:lstStyle/>
          <a:p>
            <a:r>
              <a:rPr lang="es-MX" dirty="0"/>
              <a:t>La función zip( ) crea un iterador formado por los elementos agrupados del mismo índice provenientes de dos o más iterables. Zip deriva de zipper (cremallera o cierre), de modo que es una analogía muy útil para recordar</a:t>
            </a:r>
          </a:p>
        </p:txBody>
      </p:sp>
      <p:pic>
        <p:nvPicPr>
          <p:cNvPr id="9" name="Imagen 8">
            <a:extLst>
              <a:ext uri="{FF2B5EF4-FFF2-40B4-BE49-F238E27FC236}">
                <a16:creationId xmlns:a16="http://schemas.microsoft.com/office/drawing/2014/main" id="{566EC864-330E-7151-3FE9-BB96093EE192}"/>
              </a:ext>
            </a:extLst>
          </p:cNvPr>
          <p:cNvPicPr>
            <a:picLocks noChangeAspect="1"/>
          </p:cNvPicPr>
          <p:nvPr/>
        </p:nvPicPr>
        <p:blipFill>
          <a:blip r:embed="rId2"/>
          <a:stretch>
            <a:fillRect/>
          </a:stretch>
        </p:blipFill>
        <p:spPr>
          <a:xfrm>
            <a:off x="4811797" y="3279950"/>
            <a:ext cx="3551228" cy="1242168"/>
          </a:xfrm>
          <a:prstGeom prst="rect">
            <a:avLst/>
          </a:prstGeom>
        </p:spPr>
      </p:pic>
      <p:sp>
        <p:nvSpPr>
          <p:cNvPr id="13" name="CuadroTexto 12">
            <a:extLst>
              <a:ext uri="{FF2B5EF4-FFF2-40B4-BE49-F238E27FC236}">
                <a16:creationId xmlns:a16="http://schemas.microsoft.com/office/drawing/2014/main" id="{FBE50CED-4CA8-FECB-EDB0-DF793036B37A}"/>
              </a:ext>
            </a:extLst>
          </p:cNvPr>
          <p:cNvSpPr txBox="1"/>
          <p:nvPr/>
        </p:nvSpPr>
        <p:spPr>
          <a:xfrm>
            <a:off x="1103760" y="4915705"/>
            <a:ext cx="9906361" cy="369332"/>
          </a:xfrm>
          <a:prstGeom prst="rect">
            <a:avLst/>
          </a:prstGeom>
          <a:noFill/>
        </p:spPr>
        <p:txBody>
          <a:bodyPr wrap="square">
            <a:spAutoFit/>
          </a:bodyPr>
          <a:lstStyle/>
          <a:p>
            <a:r>
              <a:rPr lang="es-MX" dirty="0"/>
              <a:t>La función se detiene al cuando se agota el iterable con menor cantidad de elementos. </a:t>
            </a:r>
          </a:p>
        </p:txBody>
      </p:sp>
    </p:spTree>
    <p:extLst>
      <p:ext uri="{BB962C8B-B14F-4D97-AF65-F5344CB8AC3E}">
        <p14:creationId xmlns:p14="http://schemas.microsoft.com/office/powerpoint/2010/main" val="259174807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err="1">
                <a:solidFill>
                  <a:srgbClr val="FFFFFF"/>
                </a:solidFill>
              </a:rPr>
              <a:t>Ejercicio</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97</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7" name="CuadroTexto 6">
            <a:extLst>
              <a:ext uri="{FF2B5EF4-FFF2-40B4-BE49-F238E27FC236}">
                <a16:creationId xmlns:a16="http://schemas.microsoft.com/office/drawing/2014/main" id="{E98BCD2B-BDB2-AD86-FA4F-EABACA875708}"/>
              </a:ext>
            </a:extLst>
          </p:cNvPr>
          <p:cNvSpPr txBox="1"/>
          <p:nvPr/>
        </p:nvSpPr>
        <p:spPr>
          <a:xfrm>
            <a:off x="229674" y="2048972"/>
            <a:ext cx="11732645" cy="2308324"/>
          </a:xfrm>
          <a:prstGeom prst="rect">
            <a:avLst/>
          </a:prstGeom>
          <a:noFill/>
        </p:spPr>
        <p:txBody>
          <a:bodyPr wrap="square" rtlCol="0">
            <a:spAutoFit/>
          </a:bodyPr>
          <a:lstStyle/>
          <a:p>
            <a:r>
              <a:rPr lang="es-MX" dirty="0"/>
              <a:t>Muestra en pantalla frases como la del siguiente ejemplo:</a:t>
            </a:r>
          </a:p>
          <a:p>
            <a:endParaRPr lang="es-MX" dirty="0"/>
          </a:p>
          <a:p>
            <a:r>
              <a:rPr lang="es-MX" dirty="0"/>
              <a:t>La capital de Alemania es Berlín</a:t>
            </a:r>
          </a:p>
          <a:p>
            <a:endParaRPr lang="es-MX" dirty="0"/>
          </a:p>
          <a:p>
            <a:r>
              <a:rPr lang="es-MX" dirty="0"/>
              <a:t>Utiliza la función zip, </a:t>
            </a:r>
            <a:r>
              <a:rPr lang="es-MX" dirty="0" err="1"/>
              <a:t>loops</a:t>
            </a:r>
            <a:r>
              <a:rPr lang="es-MX" dirty="0"/>
              <a:t>, y las siguientes listas de países y capitales para resolverlo rápida y eficientemente.</a:t>
            </a:r>
          </a:p>
          <a:p>
            <a:endParaRPr lang="es-MX" dirty="0"/>
          </a:p>
          <a:p>
            <a:pPr marL="285750" indent="-285750">
              <a:buFont typeface="Arial" panose="020B0604020202020204" pitchFamily="34" charset="0"/>
              <a:buChar char="•"/>
            </a:pPr>
            <a:r>
              <a:rPr lang="es-MX" dirty="0"/>
              <a:t>capitales = ["Berlín", "Tokio", "París", "Helsinki", "Ottawa", "Canberra"]</a:t>
            </a:r>
          </a:p>
          <a:p>
            <a:pPr marL="285750" indent="-285750">
              <a:buFont typeface="Arial" panose="020B0604020202020204" pitchFamily="34" charset="0"/>
              <a:buChar char="•"/>
            </a:pPr>
            <a:r>
              <a:rPr lang="es-MX" dirty="0" err="1"/>
              <a:t>paises</a:t>
            </a:r>
            <a:r>
              <a:rPr lang="es-MX" dirty="0"/>
              <a:t> = ["Alemania", "Japón", "Francia", "Finlandia", "Canadá", "Australia"]</a:t>
            </a:r>
          </a:p>
        </p:txBody>
      </p:sp>
    </p:spTree>
    <p:extLst>
      <p:ext uri="{BB962C8B-B14F-4D97-AF65-F5344CB8AC3E}">
        <p14:creationId xmlns:p14="http://schemas.microsoft.com/office/powerpoint/2010/main" val="153671837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err="1">
                <a:solidFill>
                  <a:srgbClr val="FFFFFF"/>
                </a:solidFill>
              </a:rPr>
              <a:t>Ejercicio</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98</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7" name="CuadroTexto 6">
            <a:extLst>
              <a:ext uri="{FF2B5EF4-FFF2-40B4-BE49-F238E27FC236}">
                <a16:creationId xmlns:a16="http://schemas.microsoft.com/office/drawing/2014/main" id="{E98BCD2B-BDB2-AD86-FA4F-EABACA875708}"/>
              </a:ext>
            </a:extLst>
          </p:cNvPr>
          <p:cNvSpPr txBox="1"/>
          <p:nvPr/>
        </p:nvSpPr>
        <p:spPr>
          <a:xfrm>
            <a:off x="229674" y="2048972"/>
            <a:ext cx="11732645" cy="646331"/>
          </a:xfrm>
          <a:prstGeom prst="rect">
            <a:avLst/>
          </a:prstGeom>
          <a:noFill/>
        </p:spPr>
        <p:txBody>
          <a:bodyPr wrap="square" rtlCol="0">
            <a:spAutoFit/>
          </a:bodyPr>
          <a:lstStyle/>
          <a:p>
            <a:r>
              <a:rPr lang="es-MX" dirty="0"/>
              <a:t>Crea un objeto zip formado a partir de listas, de un conjunto de marcas y productos que tú prefieras, dentro de la variable </a:t>
            </a:r>
            <a:r>
              <a:rPr lang="es-MX" dirty="0" err="1"/>
              <a:t>mi_zip</a:t>
            </a:r>
            <a:r>
              <a:rPr lang="es-MX" dirty="0"/>
              <a:t>.</a:t>
            </a:r>
          </a:p>
        </p:txBody>
      </p:sp>
    </p:spTree>
    <p:extLst>
      <p:ext uri="{BB962C8B-B14F-4D97-AF65-F5344CB8AC3E}">
        <p14:creationId xmlns:p14="http://schemas.microsoft.com/office/powerpoint/2010/main" val="61995008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err="1">
                <a:solidFill>
                  <a:srgbClr val="FFFFFF"/>
                </a:solidFill>
              </a:rPr>
              <a:t>Ejercicio</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99</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7" name="CuadroTexto 6">
            <a:extLst>
              <a:ext uri="{FF2B5EF4-FFF2-40B4-BE49-F238E27FC236}">
                <a16:creationId xmlns:a16="http://schemas.microsoft.com/office/drawing/2014/main" id="{E98BCD2B-BDB2-AD86-FA4F-EABACA875708}"/>
              </a:ext>
            </a:extLst>
          </p:cNvPr>
          <p:cNvSpPr txBox="1"/>
          <p:nvPr/>
        </p:nvSpPr>
        <p:spPr>
          <a:xfrm>
            <a:off x="194631" y="1790795"/>
            <a:ext cx="11732645" cy="4524315"/>
          </a:xfrm>
          <a:prstGeom prst="rect">
            <a:avLst/>
          </a:prstGeom>
          <a:noFill/>
        </p:spPr>
        <p:txBody>
          <a:bodyPr wrap="square" rtlCol="0">
            <a:spAutoFit/>
          </a:bodyPr>
          <a:lstStyle/>
          <a:p>
            <a:r>
              <a:rPr lang="es-MX" dirty="0"/>
              <a:t>Crea el zip con las traducciones los números del 1 al 5 en español, portugués e inglés (en el mismo orden), y convierte el objeto generado en una lista almacenada en la variable </a:t>
            </a:r>
            <a:r>
              <a:rPr lang="es-MX" dirty="0" err="1"/>
              <a:t>numeros</a:t>
            </a:r>
            <a:r>
              <a:rPr lang="es-MX" dirty="0"/>
              <a:t>:</a:t>
            </a:r>
          </a:p>
          <a:p>
            <a:endParaRPr lang="es-MX" dirty="0"/>
          </a:p>
          <a:p>
            <a:pPr marL="285750" indent="-285750">
              <a:buFont typeface="Arial" panose="020B0604020202020204" pitchFamily="34" charset="0"/>
              <a:buChar char="•"/>
            </a:pPr>
            <a:r>
              <a:rPr lang="es-MX" dirty="0"/>
              <a:t>uno / </a:t>
            </a:r>
            <a:r>
              <a:rPr lang="es-MX" dirty="0" err="1"/>
              <a:t>um</a:t>
            </a:r>
            <a:r>
              <a:rPr lang="es-MX" dirty="0"/>
              <a:t> / </a:t>
            </a:r>
            <a:r>
              <a:rPr lang="es-MX" dirty="0" err="1"/>
              <a:t>one</a:t>
            </a:r>
            <a:endParaRPr lang="es-MX" dirty="0"/>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dos / </a:t>
            </a:r>
            <a:r>
              <a:rPr lang="es-MX" dirty="0" err="1"/>
              <a:t>dois</a:t>
            </a:r>
            <a:r>
              <a:rPr lang="es-MX" dirty="0"/>
              <a:t> / </a:t>
            </a:r>
            <a:r>
              <a:rPr lang="es-MX" dirty="0" err="1"/>
              <a:t>two</a:t>
            </a:r>
            <a:endParaRPr lang="es-MX" dirty="0"/>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tres / </a:t>
            </a:r>
            <a:r>
              <a:rPr lang="es-MX" dirty="0" err="1"/>
              <a:t>três</a:t>
            </a:r>
            <a:r>
              <a:rPr lang="es-MX" dirty="0"/>
              <a:t> / </a:t>
            </a:r>
            <a:r>
              <a:rPr lang="es-MX" dirty="0" err="1"/>
              <a:t>three</a:t>
            </a:r>
            <a:endParaRPr lang="es-MX" dirty="0"/>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cuatro / </a:t>
            </a:r>
            <a:r>
              <a:rPr lang="es-MX" dirty="0" err="1"/>
              <a:t>quatro</a:t>
            </a:r>
            <a:r>
              <a:rPr lang="es-MX" dirty="0"/>
              <a:t> / </a:t>
            </a:r>
            <a:r>
              <a:rPr lang="es-MX" dirty="0" err="1"/>
              <a:t>four</a:t>
            </a:r>
            <a:endParaRPr lang="es-MX" dirty="0"/>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cinco / cinco / </a:t>
            </a:r>
            <a:r>
              <a:rPr lang="es-MX" dirty="0" err="1"/>
              <a:t>five</a:t>
            </a:r>
            <a:endParaRPr lang="es-MX" dirty="0"/>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El resultado deberá seguir la estructura:</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[('uno', '</a:t>
            </a:r>
            <a:r>
              <a:rPr lang="es-MX" dirty="0" err="1"/>
              <a:t>um</a:t>
            </a:r>
            <a:r>
              <a:rPr lang="es-MX" dirty="0"/>
              <a:t>', '</a:t>
            </a:r>
            <a:r>
              <a:rPr lang="es-MX" dirty="0" err="1"/>
              <a:t>one</a:t>
            </a:r>
            <a:r>
              <a:rPr lang="es-MX" dirty="0"/>
              <a:t>'), ('dos', '</a:t>
            </a:r>
            <a:r>
              <a:rPr lang="es-MX" dirty="0" err="1"/>
              <a:t>dois</a:t>
            </a:r>
            <a:r>
              <a:rPr lang="es-MX" dirty="0"/>
              <a:t>', '</a:t>
            </a:r>
            <a:r>
              <a:rPr lang="es-MX" dirty="0" err="1"/>
              <a:t>two</a:t>
            </a:r>
            <a:r>
              <a:rPr lang="es-MX" dirty="0"/>
              <a:t>'), ... ]</a:t>
            </a:r>
          </a:p>
        </p:txBody>
      </p:sp>
    </p:spTree>
    <p:extLst>
      <p:ext uri="{BB962C8B-B14F-4D97-AF65-F5344CB8AC3E}">
        <p14:creationId xmlns:p14="http://schemas.microsoft.com/office/powerpoint/2010/main" val="42555778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a:solidFill>
                  <a:srgbClr val="FFFFFF"/>
                </a:solidFill>
              </a:rPr>
              <a:t>Max() &amp; Min()</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100</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9BAEA9D3-83DC-00B0-00A0-21FD915EA6C1}"/>
              </a:ext>
            </a:extLst>
          </p:cNvPr>
          <p:cNvSpPr txBox="1"/>
          <p:nvPr/>
        </p:nvSpPr>
        <p:spPr>
          <a:xfrm>
            <a:off x="1008872" y="2307310"/>
            <a:ext cx="10695447" cy="923330"/>
          </a:xfrm>
          <a:prstGeom prst="rect">
            <a:avLst/>
          </a:prstGeom>
          <a:noFill/>
        </p:spPr>
        <p:txBody>
          <a:bodyPr wrap="square">
            <a:spAutoFit/>
          </a:bodyPr>
          <a:lstStyle/>
          <a:p>
            <a:r>
              <a:rPr lang="es-MX" dirty="0"/>
              <a:t>La función </a:t>
            </a:r>
            <a:r>
              <a:rPr lang="es-MX" b="1" dirty="0"/>
              <a:t>min( )</a:t>
            </a:r>
            <a:r>
              <a:rPr lang="es-MX" dirty="0"/>
              <a:t> retorna el </a:t>
            </a:r>
            <a:r>
              <a:rPr lang="es-MX" dirty="0" err="1"/>
              <a:t>item</a:t>
            </a:r>
            <a:r>
              <a:rPr lang="es-MX" dirty="0"/>
              <a:t> con el valor más bajo dentro de un iterable. La función </a:t>
            </a:r>
            <a:r>
              <a:rPr lang="es-MX" b="1" dirty="0" err="1"/>
              <a:t>max</a:t>
            </a:r>
            <a:r>
              <a:rPr lang="es-MX" b="1" dirty="0"/>
              <a:t>( ) </a:t>
            </a:r>
            <a:r>
              <a:rPr lang="es-MX" dirty="0"/>
              <a:t>funciona del mismo modo, devolviendo el valor más alto del iterable. Si el iterable contiene strings, la comparación se realiza alfabéticamente. </a:t>
            </a:r>
          </a:p>
        </p:txBody>
      </p:sp>
      <p:sp>
        <p:nvSpPr>
          <p:cNvPr id="10" name="CuadroTexto 9">
            <a:extLst>
              <a:ext uri="{FF2B5EF4-FFF2-40B4-BE49-F238E27FC236}">
                <a16:creationId xmlns:a16="http://schemas.microsoft.com/office/drawing/2014/main" id="{395380F0-2F15-48FC-435A-0679E5442773}"/>
              </a:ext>
            </a:extLst>
          </p:cNvPr>
          <p:cNvSpPr txBox="1"/>
          <p:nvPr/>
        </p:nvSpPr>
        <p:spPr>
          <a:xfrm>
            <a:off x="1002914" y="3429000"/>
            <a:ext cx="10598409" cy="2585323"/>
          </a:xfrm>
          <a:prstGeom prst="rect">
            <a:avLst/>
          </a:prstGeom>
          <a:noFill/>
        </p:spPr>
        <p:txBody>
          <a:bodyPr wrap="square">
            <a:spAutoFit/>
          </a:bodyPr>
          <a:lstStyle/>
          <a:p>
            <a:r>
              <a:rPr lang="es-MX" dirty="0" err="1"/>
              <a:t>ciudades_habitantes</a:t>
            </a:r>
            <a:r>
              <a:rPr lang="es-MX" dirty="0"/>
              <a:t> = {"Tijuana":1810645, "León":1579803}</a:t>
            </a:r>
          </a:p>
          <a:p>
            <a:r>
              <a:rPr lang="es-MX" dirty="0"/>
              <a:t> </a:t>
            </a:r>
          </a:p>
          <a:p>
            <a:pPr marL="285750" indent="-285750">
              <a:buFont typeface="Arial" panose="020B0604020202020204" pitchFamily="34" charset="0"/>
              <a:buChar char="•"/>
            </a:pPr>
            <a:r>
              <a:rPr lang="es-MX" dirty="0" err="1"/>
              <a:t>print</a:t>
            </a:r>
            <a:r>
              <a:rPr lang="es-MX" dirty="0"/>
              <a:t>(min(</a:t>
            </a:r>
            <a:r>
              <a:rPr lang="es-MX" dirty="0" err="1"/>
              <a:t>ciudades_habitantes.keys</a:t>
            </a:r>
            <a:r>
              <a:rPr lang="es-MX" dirty="0"/>
              <a:t>()))  </a:t>
            </a:r>
            <a:r>
              <a:rPr lang="es-MX" b="1" dirty="0"/>
              <a:t>León </a:t>
            </a:r>
            <a:endParaRPr lang="es-MX" dirty="0"/>
          </a:p>
          <a:p>
            <a:pPr marL="285750" indent="-285750">
              <a:buFont typeface="Arial" panose="020B0604020202020204" pitchFamily="34" charset="0"/>
              <a:buChar char="•"/>
            </a:pPr>
            <a:r>
              <a:rPr lang="es-MX" dirty="0" err="1"/>
              <a:t>print</a:t>
            </a:r>
            <a:r>
              <a:rPr lang="es-MX" dirty="0"/>
              <a:t>(</a:t>
            </a:r>
            <a:r>
              <a:rPr lang="es-MX" dirty="0" err="1"/>
              <a:t>max</a:t>
            </a:r>
            <a:r>
              <a:rPr lang="es-MX" dirty="0"/>
              <a:t>(</a:t>
            </a:r>
            <a:r>
              <a:rPr lang="es-MX" dirty="0" err="1"/>
              <a:t>ciudades_habitantes.values</a:t>
            </a:r>
            <a:r>
              <a:rPr lang="es-MX" dirty="0"/>
              <a:t>()))  </a:t>
            </a:r>
            <a:r>
              <a:rPr lang="es-MX" b="1" dirty="0"/>
              <a:t>1810645</a:t>
            </a:r>
            <a:r>
              <a:rPr lang="es-MX" dirty="0"/>
              <a:t> </a:t>
            </a:r>
          </a:p>
          <a:p>
            <a:endParaRPr lang="es-MX" dirty="0"/>
          </a:p>
          <a:p>
            <a:r>
              <a:rPr lang="es-MX" dirty="0" err="1"/>
              <a:t>lista_valores</a:t>
            </a:r>
            <a:r>
              <a:rPr lang="es-MX" dirty="0"/>
              <a:t> = [5**5, 12**2, 3050, 475*2]</a:t>
            </a:r>
          </a:p>
          <a:p>
            <a:endParaRPr lang="es-MX" dirty="0"/>
          </a:p>
          <a:p>
            <a:pPr marL="285750" indent="-285750">
              <a:buFont typeface="Arial" panose="020B0604020202020204" pitchFamily="34" charset="0"/>
              <a:buChar char="•"/>
            </a:pPr>
            <a:r>
              <a:rPr lang="es-MX" dirty="0" err="1"/>
              <a:t>print</a:t>
            </a:r>
            <a:r>
              <a:rPr lang="es-MX" dirty="0"/>
              <a:t>(</a:t>
            </a:r>
            <a:r>
              <a:rPr lang="es-MX" dirty="0" err="1"/>
              <a:t>max</a:t>
            </a:r>
            <a:r>
              <a:rPr lang="es-MX" dirty="0"/>
              <a:t>(</a:t>
            </a:r>
            <a:r>
              <a:rPr lang="es-MX" dirty="0" err="1"/>
              <a:t>lista_valores</a:t>
            </a:r>
            <a:r>
              <a:rPr lang="es-MX" dirty="0"/>
              <a:t>)) </a:t>
            </a:r>
            <a:r>
              <a:rPr lang="es-MX" b="1" dirty="0"/>
              <a:t>3125</a:t>
            </a:r>
            <a:r>
              <a:rPr lang="es-MX" dirty="0"/>
              <a:t> </a:t>
            </a:r>
          </a:p>
          <a:p>
            <a:endParaRPr lang="es-MX" dirty="0"/>
          </a:p>
        </p:txBody>
      </p:sp>
    </p:spTree>
    <p:extLst>
      <p:ext uri="{BB962C8B-B14F-4D97-AF65-F5344CB8AC3E}">
        <p14:creationId xmlns:p14="http://schemas.microsoft.com/office/powerpoint/2010/main" val="20827944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err="1">
                <a:solidFill>
                  <a:srgbClr val="FFFFFF"/>
                </a:solidFill>
              </a:rPr>
              <a:t>Ejercicio</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101</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7" name="CuadroTexto 6">
            <a:extLst>
              <a:ext uri="{FF2B5EF4-FFF2-40B4-BE49-F238E27FC236}">
                <a16:creationId xmlns:a16="http://schemas.microsoft.com/office/drawing/2014/main" id="{E98BCD2B-BDB2-AD86-FA4F-EABACA875708}"/>
              </a:ext>
            </a:extLst>
          </p:cNvPr>
          <p:cNvSpPr txBox="1"/>
          <p:nvPr/>
        </p:nvSpPr>
        <p:spPr>
          <a:xfrm>
            <a:off x="229675" y="2505670"/>
            <a:ext cx="11732645" cy="923330"/>
          </a:xfrm>
          <a:prstGeom prst="rect">
            <a:avLst/>
          </a:prstGeom>
          <a:noFill/>
        </p:spPr>
        <p:txBody>
          <a:bodyPr wrap="square" rtlCol="0">
            <a:spAutoFit/>
          </a:bodyPr>
          <a:lstStyle/>
          <a:p>
            <a:r>
              <a:rPr lang="es-MX" dirty="0"/>
              <a:t>Obtén el valor máximo entre los valores de la siguiente lista, y almacénalo en una variable llamada </a:t>
            </a:r>
            <a:r>
              <a:rPr lang="es-MX" dirty="0" err="1"/>
              <a:t>valor_maximo</a:t>
            </a:r>
            <a:r>
              <a:rPr lang="es-MX" dirty="0"/>
              <a:t>:</a:t>
            </a:r>
          </a:p>
          <a:p>
            <a:endParaRPr lang="es-MX" dirty="0"/>
          </a:p>
          <a:p>
            <a:pPr marL="285750" indent="-285750">
              <a:buFont typeface="Arial" panose="020B0604020202020204" pitchFamily="34" charset="0"/>
              <a:buChar char="•"/>
            </a:pPr>
            <a:r>
              <a:rPr lang="es-MX" dirty="0" err="1"/>
              <a:t>lista_numeros</a:t>
            </a:r>
            <a:r>
              <a:rPr lang="es-MX" dirty="0"/>
              <a:t> = [44542247/2, 21310/5, 2134747*33, 44556475, 121676, 6654067, 353254, 123134, 55**12, 611**5] </a:t>
            </a:r>
          </a:p>
        </p:txBody>
      </p:sp>
    </p:spTree>
    <p:extLst>
      <p:ext uri="{BB962C8B-B14F-4D97-AF65-F5344CB8AC3E}">
        <p14:creationId xmlns:p14="http://schemas.microsoft.com/office/powerpoint/2010/main" val="319438113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err="1">
                <a:solidFill>
                  <a:srgbClr val="FFFFFF"/>
                </a:solidFill>
              </a:rPr>
              <a:t>Ejercicio</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102</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6612" y="2453865"/>
            <a:ext cx="11821886" cy="1200329"/>
          </a:xfrm>
          <a:prstGeom prst="rect">
            <a:avLst/>
          </a:prstGeom>
          <a:noFill/>
        </p:spPr>
        <p:txBody>
          <a:bodyPr wrap="square">
            <a:spAutoFit/>
          </a:bodyPr>
          <a:lstStyle/>
          <a:p>
            <a:r>
              <a:rPr lang="es-MX" dirty="0"/>
              <a:t>Calcula la diferencia entre el valor máximo y el mínimo en la siguiente lista de números, y almacénalo en una variable llamada rango:</a:t>
            </a:r>
          </a:p>
          <a:p>
            <a:endParaRPr lang="es-MX" dirty="0"/>
          </a:p>
          <a:p>
            <a:pPr marL="285750" indent="-285750">
              <a:buFont typeface="Arial" panose="020B0604020202020204" pitchFamily="34" charset="0"/>
              <a:buChar char="•"/>
            </a:pPr>
            <a:r>
              <a:rPr lang="es-MX" dirty="0" err="1"/>
              <a:t>lista_numeros</a:t>
            </a:r>
            <a:r>
              <a:rPr lang="es-MX" dirty="0"/>
              <a:t> = [44542247, 21310, 2134747, 44556475, 121676, 6654067, 353254, 123134, 552512, 611665]</a:t>
            </a:r>
          </a:p>
        </p:txBody>
      </p:sp>
    </p:spTree>
    <p:extLst>
      <p:ext uri="{BB962C8B-B14F-4D97-AF65-F5344CB8AC3E}">
        <p14:creationId xmlns:p14="http://schemas.microsoft.com/office/powerpoint/2010/main" val="118242298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dirty="0" err="1">
                <a:solidFill>
                  <a:srgbClr val="FFFFFF"/>
                </a:solidFill>
                <a:latin typeface="+mj-lt"/>
                <a:ea typeface="+mj-ea"/>
                <a:cs typeface="+mj-cs"/>
              </a:rPr>
              <a:t>Ejercicio</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103</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6612" y="2453865"/>
            <a:ext cx="11821886" cy="2308324"/>
          </a:xfrm>
          <a:prstGeom prst="rect">
            <a:avLst/>
          </a:prstGeom>
          <a:noFill/>
        </p:spPr>
        <p:txBody>
          <a:bodyPr wrap="square">
            <a:spAutoFit/>
          </a:bodyPr>
          <a:lstStyle/>
          <a:p>
            <a:r>
              <a:rPr lang="es-MX" dirty="0"/>
              <a:t>Utilizando </a:t>
            </a:r>
            <a:r>
              <a:rPr lang="es-MX" dirty="0" err="1"/>
              <a:t>max</a:t>
            </a:r>
            <a:r>
              <a:rPr lang="es-MX" dirty="0"/>
              <a:t>(), min() y métodos de diccionarios, obtén el mínimo valor a partir del siguiente diccionario:</a:t>
            </a:r>
          </a:p>
          <a:p>
            <a:endParaRPr lang="es-MX" dirty="0"/>
          </a:p>
          <a:p>
            <a:pPr marL="285750" indent="-285750">
              <a:buFont typeface="Arial" panose="020B0604020202020204" pitchFamily="34" charset="0"/>
              <a:buChar char="•"/>
            </a:pPr>
            <a:r>
              <a:rPr lang="es-MX" dirty="0" err="1"/>
              <a:t>diccionario_edades</a:t>
            </a:r>
            <a:r>
              <a:rPr lang="es-MX" dirty="0"/>
              <a:t> = {"Carlos":55, "María":42, "Mabel":78, "José":44, "Lucas":24, "Rocío":35, "Sebastián":19, "Catalina":2,"Darío":49}</a:t>
            </a:r>
          </a:p>
          <a:p>
            <a:endParaRPr lang="es-MX" dirty="0"/>
          </a:p>
          <a:p>
            <a:r>
              <a:rPr lang="es-MX" dirty="0"/>
              <a:t>Almacena dicho valor en una variable llamada </a:t>
            </a:r>
            <a:r>
              <a:rPr lang="es-MX" dirty="0" err="1"/>
              <a:t>edad_minima</a:t>
            </a:r>
            <a:r>
              <a:rPr lang="es-MX" dirty="0"/>
              <a:t>.</a:t>
            </a:r>
          </a:p>
          <a:p>
            <a:endParaRPr lang="es-MX" dirty="0"/>
          </a:p>
          <a:p>
            <a:r>
              <a:rPr lang="es-MX" dirty="0"/>
              <a:t>También, obtén el nombre que se ubica último en orden alfabético, y almacénalo en una variable llamada </a:t>
            </a:r>
            <a:r>
              <a:rPr lang="es-MX" dirty="0" err="1"/>
              <a:t>ultimo_nombre</a:t>
            </a:r>
            <a:r>
              <a:rPr lang="es-MX" dirty="0"/>
              <a:t>.</a:t>
            </a:r>
          </a:p>
        </p:txBody>
      </p:sp>
    </p:spTree>
    <p:extLst>
      <p:ext uri="{BB962C8B-B14F-4D97-AF65-F5344CB8AC3E}">
        <p14:creationId xmlns:p14="http://schemas.microsoft.com/office/powerpoint/2010/main" val="179374195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dirty="0">
                <a:solidFill>
                  <a:srgbClr val="FFFFFF"/>
                </a:solidFill>
                <a:latin typeface="+mj-lt"/>
                <a:ea typeface="+mj-ea"/>
                <a:cs typeface="+mj-cs"/>
              </a:rPr>
              <a:t>Random()</a:t>
            </a: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104</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5055" y="1864321"/>
            <a:ext cx="11821886" cy="646331"/>
          </a:xfrm>
          <a:prstGeom prst="rect">
            <a:avLst/>
          </a:prstGeom>
          <a:noFill/>
        </p:spPr>
        <p:txBody>
          <a:bodyPr wrap="square">
            <a:spAutoFit/>
          </a:bodyPr>
          <a:lstStyle/>
          <a:p>
            <a:r>
              <a:rPr lang="es-MX" dirty="0"/>
              <a:t>Python nos facilita con un módulo (un conjunto de funciones disponibles para su uso) que nos permite generar selecciones </a:t>
            </a:r>
            <a:r>
              <a:rPr lang="es-MX" dirty="0" err="1"/>
              <a:t>pseudo-aleatorias</a:t>
            </a:r>
            <a:r>
              <a:rPr lang="es-MX" dirty="0"/>
              <a:t>* entre valores o secuencias.</a:t>
            </a:r>
          </a:p>
        </p:txBody>
      </p:sp>
      <p:sp>
        <p:nvSpPr>
          <p:cNvPr id="7" name="CuadroTexto 6">
            <a:extLst>
              <a:ext uri="{FF2B5EF4-FFF2-40B4-BE49-F238E27FC236}">
                <a16:creationId xmlns:a16="http://schemas.microsoft.com/office/drawing/2014/main" id="{B4C0C664-7283-50A7-6CCC-B7E8B6A4F609}"/>
              </a:ext>
            </a:extLst>
          </p:cNvPr>
          <p:cNvSpPr txBox="1"/>
          <p:nvPr/>
        </p:nvSpPr>
        <p:spPr>
          <a:xfrm>
            <a:off x="229674" y="2784230"/>
            <a:ext cx="11349615" cy="1754326"/>
          </a:xfrm>
          <a:prstGeom prst="rect">
            <a:avLst/>
          </a:prstGeom>
          <a:noFill/>
        </p:spPr>
        <p:txBody>
          <a:bodyPr wrap="square">
            <a:spAutoFit/>
          </a:bodyPr>
          <a:lstStyle/>
          <a:p>
            <a:pPr marL="285750" indent="-285750">
              <a:buFont typeface="Arial" panose="020B0604020202020204" pitchFamily="34" charset="0"/>
              <a:buChar char="•"/>
            </a:pPr>
            <a:r>
              <a:rPr lang="es-MX" b="1" dirty="0" err="1"/>
              <a:t>randint</a:t>
            </a:r>
            <a:r>
              <a:rPr lang="es-MX" b="1" dirty="0"/>
              <a:t>(min, </a:t>
            </a:r>
            <a:r>
              <a:rPr lang="es-MX" b="1" dirty="0" err="1"/>
              <a:t>max</a:t>
            </a:r>
            <a:r>
              <a:rPr lang="es-MX" b="1" dirty="0"/>
              <a:t>): </a:t>
            </a:r>
            <a:r>
              <a:rPr lang="es-MX" dirty="0"/>
              <a:t>devuelve un </a:t>
            </a:r>
            <a:r>
              <a:rPr lang="es-MX" dirty="0" err="1"/>
              <a:t>integer</a:t>
            </a:r>
            <a:r>
              <a:rPr lang="es-MX" dirty="0"/>
              <a:t> entre dos valores dados (ambos límites incluidos) </a:t>
            </a:r>
          </a:p>
          <a:p>
            <a:pPr marL="285750" indent="-285750">
              <a:buFont typeface="Arial" panose="020B0604020202020204" pitchFamily="34" charset="0"/>
              <a:buChar char="•"/>
            </a:pPr>
            <a:r>
              <a:rPr lang="es-MX" b="1" dirty="0" err="1"/>
              <a:t>uniform</a:t>
            </a:r>
            <a:r>
              <a:rPr lang="es-MX" b="1" dirty="0"/>
              <a:t>(min, </a:t>
            </a:r>
            <a:r>
              <a:rPr lang="es-MX" b="1" dirty="0" err="1"/>
              <a:t>max</a:t>
            </a:r>
            <a:r>
              <a:rPr lang="es-MX" b="1" dirty="0"/>
              <a:t>): </a:t>
            </a:r>
            <a:r>
              <a:rPr lang="es-MX" dirty="0"/>
              <a:t>devuelve un </a:t>
            </a:r>
            <a:r>
              <a:rPr lang="es-MX" dirty="0" err="1"/>
              <a:t>float</a:t>
            </a:r>
            <a:r>
              <a:rPr lang="es-MX" dirty="0"/>
              <a:t> entre un valor mínimo y uno máximo </a:t>
            </a:r>
          </a:p>
          <a:p>
            <a:pPr marL="285750" indent="-285750">
              <a:buFont typeface="Arial" panose="020B0604020202020204" pitchFamily="34" charset="0"/>
              <a:buChar char="•"/>
            </a:pPr>
            <a:r>
              <a:rPr lang="es-MX" b="1" dirty="0" err="1"/>
              <a:t>random</a:t>
            </a:r>
            <a:r>
              <a:rPr lang="es-MX" b="1" dirty="0"/>
              <a:t>(sin parámetros): </a:t>
            </a:r>
            <a:r>
              <a:rPr lang="es-MX" dirty="0"/>
              <a:t>devuelve un </a:t>
            </a:r>
            <a:r>
              <a:rPr lang="es-MX" dirty="0" err="1"/>
              <a:t>float</a:t>
            </a:r>
            <a:r>
              <a:rPr lang="es-MX" dirty="0"/>
              <a:t> entre 0 y 1 </a:t>
            </a:r>
          </a:p>
          <a:p>
            <a:pPr marL="285750" indent="-285750">
              <a:buFont typeface="Arial" panose="020B0604020202020204" pitchFamily="34" charset="0"/>
              <a:buChar char="•"/>
            </a:pPr>
            <a:r>
              <a:rPr lang="es-MX" b="1" dirty="0" err="1"/>
              <a:t>choice</a:t>
            </a:r>
            <a:r>
              <a:rPr lang="es-MX" b="1" dirty="0"/>
              <a:t>(secuencia): </a:t>
            </a:r>
            <a:r>
              <a:rPr lang="es-MX" dirty="0"/>
              <a:t>devuelve un elemento al azar de una secuencia de valores (listas, </a:t>
            </a:r>
            <a:r>
              <a:rPr lang="es-MX" dirty="0" err="1"/>
              <a:t>tuples</a:t>
            </a:r>
            <a:r>
              <a:rPr lang="es-MX" dirty="0"/>
              <a:t>, rangos, etc.)</a:t>
            </a:r>
          </a:p>
          <a:p>
            <a:pPr marL="285750" indent="-285750">
              <a:buFont typeface="Arial" panose="020B0604020202020204" pitchFamily="34" charset="0"/>
              <a:buChar char="•"/>
            </a:pPr>
            <a:r>
              <a:rPr lang="es-MX" b="1" dirty="0" err="1"/>
              <a:t>shuffle</a:t>
            </a:r>
            <a:r>
              <a:rPr lang="es-MX" b="1" dirty="0"/>
              <a:t>(secuencia): </a:t>
            </a:r>
            <a:r>
              <a:rPr lang="es-MX" dirty="0"/>
              <a:t>toma una secuencia de valores mutable (como una lista), y la retorna cambiando el orden de sus elementos aleatoriamente.</a:t>
            </a:r>
          </a:p>
        </p:txBody>
      </p:sp>
    </p:spTree>
    <p:extLst>
      <p:ext uri="{BB962C8B-B14F-4D97-AF65-F5344CB8AC3E}">
        <p14:creationId xmlns:p14="http://schemas.microsoft.com/office/powerpoint/2010/main" val="100563804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err="1">
                <a:solidFill>
                  <a:srgbClr val="FFFFFF"/>
                </a:solidFill>
              </a:rPr>
              <a:t>Ejercicio</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105</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6612" y="2453865"/>
            <a:ext cx="11821886" cy="646331"/>
          </a:xfrm>
          <a:prstGeom prst="rect">
            <a:avLst/>
          </a:prstGeom>
          <a:noFill/>
        </p:spPr>
        <p:txBody>
          <a:bodyPr wrap="square">
            <a:spAutoFit/>
          </a:bodyPr>
          <a:lstStyle/>
          <a:p>
            <a:r>
              <a:rPr lang="es-MX" dirty="0"/>
              <a:t>Implementa la función </a:t>
            </a:r>
            <a:r>
              <a:rPr lang="es-MX" dirty="0" err="1"/>
              <a:t>randint</a:t>
            </a:r>
            <a:r>
              <a:rPr lang="es-MX" dirty="0"/>
              <a:t>() de la librería </a:t>
            </a:r>
            <a:r>
              <a:rPr lang="es-MX" dirty="0" err="1"/>
              <a:t>random</a:t>
            </a:r>
            <a:r>
              <a:rPr lang="es-MX" dirty="0"/>
              <a:t> que te permita obtener un número entero del 1 al 10, y almacena dicho valor en una variable llamada aleatorio.</a:t>
            </a:r>
          </a:p>
        </p:txBody>
      </p:sp>
    </p:spTree>
    <p:extLst>
      <p:ext uri="{BB962C8B-B14F-4D97-AF65-F5344CB8AC3E}">
        <p14:creationId xmlns:p14="http://schemas.microsoft.com/office/powerpoint/2010/main" val="244170130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err="1">
                <a:solidFill>
                  <a:srgbClr val="FFFFFF"/>
                </a:solidFill>
              </a:rPr>
              <a:t>Ejercicio</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106</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6612" y="2453865"/>
            <a:ext cx="11821886" cy="646331"/>
          </a:xfrm>
          <a:prstGeom prst="rect">
            <a:avLst/>
          </a:prstGeom>
          <a:noFill/>
        </p:spPr>
        <p:txBody>
          <a:bodyPr wrap="square">
            <a:spAutoFit/>
          </a:bodyPr>
          <a:lstStyle/>
          <a:p>
            <a:r>
              <a:rPr lang="es-MX" dirty="0"/>
              <a:t>Implementa la función </a:t>
            </a:r>
            <a:r>
              <a:rPr lang="es-MX" dirty="0" err="1"/>
              <a:t>random</a:t>
            </a:r>
            <a:r>
              <a:rPr lang="es-MX" dirty="0"/>
              <a:t>() de la librería </a:t>
            </a:r>
            <a:r>
              <a:rPr lang="es-MX" dirty="0" err="1"/>
              <a:t>random</a:t>
            </a:r>
            <a:r>
              <a:rPr lang="es-MX" dirty="0"/>
              <a:t> que te permita obtener un número decimal entre 0 y 1, y almacena dicho valor en una variable llamada aleatorio</a:t>
            </a:r>
          </a:p>
        </p:txBody>
      </p:sp>
    </p:spTree>
    <p:extLst>
      <p:ext uri="{BB962C8B-B14F-4D97-AF65-F5344CB8AC3E}">
        <p14:creationId xmlns:p14="http://schemas.microsoft.com/office/powerpoint/2010/main" val="86121492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err="1">
                <a:solidFill>
                  <a:srgbClr val="FFFFFF"/>
                </a:solidFill>
              </a:rPr>
              <a:t>Ejercicio</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107</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6612" y="2453865"/>
            <a:ext cx="11821886" cy="1200329"/>
          </a:xfrm>
          <a:prstGeom prst="rect">
            <a:avLst/>
          </a:prstGeom>
          <a:noFill/>
        </p:spPr>
        <p:txBody>
          <a:bodyPr wrap="square">
            <a:spAutoFit/>
          </a:bodyPr>
          <a:lstStyle/>
          <a:p>
            <a:r>
              <a:rPr lang="es-MX" dirty="0"/>
              <a:t>Utiliza el método </a:t>
            </a:r>
            <a:r>
              <a:rPr lang="es-MX" dirty="0" err="1"/>
              <a:t>choice</a:t>
            </a:r>
            <a:r>
              <a:rPr lang="es-MX" dirty="0"/>
              <a:t>() de la librería </a:t>
            </a:r>
            <a:r>
              <a:rPr lang="es-MX" dirty="0" err="1"/>
              <a:t>random</a:t>
            </a:r>
            <a:r>
              <a:rPr lang="es-MX" dirty="0"/>
              <a:t> para obtener un elemento al azar de la lista de nombres a continuación, y almacena el nombre escogido en una variable llamada sorteo.</a:t>
            </a:r>
          </a:p>
          <a:p>
            <a:endParaRPr lang="es-MX" dirty="0"/>
          </a:p>
          <a:p>
            <a:pPr marL="285750" indent="-285750">
              <a:buFont typeface="Arial" panose="020B0604020202020204" pitchFamily="34" charset="0"/>
              <a:buChar char="•"/>
            </a:pPr>
            <a:r>
              <a:rPr lang="es-MX" dirty="0"/>
              <a:t>nombres = ["Carlos", "Julia", "Nicole", "Laura", "Mailen"]</a:t>
            </a:r>
          </a:p>
        </p:txBody>
      </p:sp>
    </p:spTree>
    <p:extLst>
      <p:ext uri="{BB962C8B-B14F-4D97-AF65-F5344CB8AC3E}">
        <p14:creationId xmlns:p14="http://schemas.microsoft.com/office/powerpoint/2010/main" val="317954758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err="1">
                <a:solidFill>
                  <a:srgbClr val="FFFFFF"/>
                </a:solidFill>
              </a:rPr>
              <a:t>Comprensión</a:t>
            </a:r>
            <a:r>
              <a:rPr lang="en-US" sz="4000" dirty="0">
                <a:solidFill>
                  <a:srgbClr val="FFFFFF"/>
                </a:solidFill>
              </a:rPr>
              <a:t> de </a:t>
            </a:r>
            <a:r>
              <a:rPr lang="en-US" sz="4000" dirty="0" err="1">
                <a:solidFill>
                  <a:srgbClr val="FFFFFF"/>
                </a:solidFill>
              </a:rPr>
              <a:t>listas</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108</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6612" y="2453865"/>
            <a:ext cx="11821886" cy="646331"/>
          </a:xfrm>
          <a:prstGeom prst="rect">
            <a:avLst/>
          </a:prstGeom>
          <a:noFill/>
        </p:spPr>
        <p:txBody>
          <a:bodyPr wrap="square">
            <a:spAutoFit/>
          </a:bodyPr>
          <a:lstStyle/>
          <a:p>
            <a:r>
              <a:rPr lang="es-MX" dirty="0"/>
              <a:t>La comprensión de listas ofrece una sintaxis más breve en la creación de una nueva lista basada en valores disponibles en otra secuencia. Vale la pena mencionar que la brevedad se logra a costo de una menor interpretabilidad.</a:t>
            </a:r>
          </a:p>
        </p:txBody>
      </p:sp>
      <p:pic>
        <p:nvPicPr>
          <p:cNvPr id="7" name="Imagen 6">
            <a:extLst>
              <a:ext uri="{FF2B5EF4-FFF2-40B4-BE49-F238E27FC236}">
                <a16:creationId xmlns:a16="http://schemas.microsoft.com/office/drawing/2014/main" id="{F12BA8A2-27A5-5213-EC7C-AC8FB2A2AA94}"/>
              </a:ext>
            </a:extLst>
          </p:cNvPr>
          <p:cNvPicPr>
            <a:picLocks noChangeAspect="1"/>
          </p:cNvPicPr>
          <p:nvPr/>
        </p:nvPicPr>
        <p:blipFill>
          <a:blip r:embed="rId2"/>
          <a:stretch>
            <a:fillRect/>
          </a:stretch>
        </p:blipFill>
        <p:spPr>
          <a:xfrm>
            <a:off x="2180739" y="3338852"/>
            <a:ext cx="8344386" cy="3224610"/>
          </a:xfrm>
          <a:prstGeom prst="rect">
            <a:avLst/>
          </a:prstGeom>
        </p:spPr>
      </p:pic>
    </p:spTree>
    <p:extLst>
      <p:ext uri="{BB962C8B-B14F-4D97-AF65-F5344CB8AC3E}">
        <p14:creationId xmlns:p14="http://schemas.microsoft.com/office/powerpoint/2010/main" val="280014089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err="1">
                <a:solidFill>
                  <a:srgbClr val="FFFFFF"/>
                </a:solidFill>
              </a:rPr>
              <a:t>Comprensión</a:t>
            </a:r>
            <a:r>
              <a:rPr lang="en-US" sz="4000" dirty="0">
                <a:solidFill>
                  <a:srgbClr val="FFFFFF"/>
                </a:solidFill>
              </a:rPr>
              <a:t> de </a:t>
            </a:r>
            <a:r>
              <a:rPr lang="en-US" sz="4000" dirty="0" err="1">
                <a:solidFill>
                  <a:srgbClr val="FFFFFF"/>
                </a:solidFill>
              </a:rPr>
              <a:t>listas</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109</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6612" y="2453865"/>
            <a:ext cx="11821886" cy="923330"/>
          </a:xfrm>
          <a:prstGeom prst="rect">
            <a:avLst/>
          </a:prstGeom>
          <a:noFill/>
        </p:spPr>
        <p:txBody>
          <a:bodyPr wrap="square">
            <a:spAutoFit/>
          </a:bodyPr>
          <a:lstStyle/>
          <a:p>
            <a:r>
              <a:rPr lang="es-MX" dirty="0"/>
              <a:t>Ejemplo:</a:t>
            </a:r>
          </a:p>
          <a:p>
            <a:endParaRPr lang="es-MX" dirty="0"/>
          </a:p>
          <a:p>
            <a:r>
              <a:rPr lang="pt-BR" dirty="0" err="1"/>
              <a:t>nueva_lista</a:t>
            </a:r>
            <a:r>
              <a:rPr lang="pt-BR" dirty="0"/>
              <a:t> = [num**2 for num in range(10) </a:t>
            </a:r>
            <a:r>
              <a:rPr lang="pt-BR" dirty="0" err="1"/>
              <a:t>if</a:t>
            </a:r>
            <a:r>
              <a:rPr lang="pt-BR" dirty="0"/>
              <a:t> num &lt; 5] print(</a:t>
            </a:r>
            <a:r>
              <a:rPr lang="pt-BR" dirty="0" err="1"/>
              <a:t>nueva_lista</a:t>
            </a:r>
            <a:r>
              <a:rPr lang="pt-BR" dirty="0"/>
              <a:t>) &gt;&gt; </a:t>
            </a:r>
            <a:r>
              <a:rPr lang="pt-BR" b="1" dirty="0"/>
              <a:t>[0, 1, 4, 9, 16]</a:t>
            </a:r>
            <a:endParaRPr lang="es-MX" b="1" dirty="0"/>
          </a:p>
        </p:txBody>
      </p:sp>
    </p:spTree>
    <p:extLst>
      <p:ext uri="{BB962C8B-B14F-4D97-AF65-F5344CB8AC3E}">
        <p14:creationId xmlns:p14="http://schemas.microsoft.com/office/powerpoint/2010/main" val="64937931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err="1">
                <a:solidFill>
                  <a:srgbClr val="FFFFFF"/>
                </a:solidFill>
              </a:rPr>
              <a:t>Práctica</a:t>
            </a:r>
            <a:r>
              <a:rPr lang="en-US" sz="4000" dirty="0">
                <a:solidFill>
                  <a:srgbClr val="FFFFFF"/>
                </a:solidFill>
              </a:rPr>
              <a:t> 1</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110</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6612" y="2453865"/>
            <a:ext cx="11821886" cy="2031325"/>
          </a:xfrm>
          <a:prstGeom prst="rect">
            <a:avLst/>
          </a:prstGeom>
          <a:noFill/>
        </p:spPr>
        <p:txBody>
          <a:bodyPr wrap="square">
            <a:spAutoFit/>
          </a:bodyPr>
          <a:lstStyle/>
          <a:p>
            <a:r>
              <a:rPr lang="es-MX" dirty="0"/>
              <a:t>Para realizar el ejercicio a continuación, puedes optar por diferentes caminos. Si bien en programación el camino correcto es el que devuelve el resultado correcto, te animo a que intentes aplicar los conceptos de comprensión de listas para comenzar a afianzarlos para el futuro. ¡Pueden resultarte muy útiles en tu práctica profesional!</a:t>
            </a:r>
          </a:p>
          <a:p>
            <a:endParaRPr lang="es-MX" dirty="0"/>
          </a:p>
          <a:p>
            <a:r>
              <a:rPr lang="es-MX" dirty="0"/>
              <a:t>Crea una lista </a:t>
            </a:r>
            <a:r>
              <a:rPr lang="es-MX" dirty="0" err="1"/>
              <a:t>valores_cuadrado</a:t>
            </a:r>
            <a:r>
              <a:rPr lang="es-MX" dirty="0"/>
              <a:t> formada por los números de la lista valores, elevados al cuadrado.</a:t>
            </a:r>
          </a:p>
          <a:p>
            <a:endParaRPr lang="es-MX" dirty="0"/>
          </a:p>
          <a:p>
            <a:pPr marL="285750" indent="-285750">
              <a:buFont typeface="Arial" panose="020B0604020202020204" pitchFamily="34" charset="0"/>
              <a:buChar char="•"/>
            </a:pPr>
            <a:r>
              <a:rPr lang="es-MX" dirty="0"/>
              <a:t>valores = [1, 2, 3, 4, 5, 6, 9.5]</a:t>
            </a:r>
          </a:p>
        </p:txBody>
      </p:sp>
    </p:spTree>
    <p:extLst>
      <p:ext uri="{BB962C8B-B14F-4D97-AF65-F5344CB8AC3E}">
        <p14:creationId xmlns:p14="http://schemas.microsoft.com/office/powerpoint/2010/main" val="4438940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err="1">
                <a:solidFill>
                  <a:srgbClr val="FFFFFF"/>
                </a:solidFill>
              </a:rPr>
              <a:t>Practica</a:t>
            </a:r>
            <a:r>
              <a:rPr lang="en-US" sz="4000" dirty="0">
                <a:solidFill>
                  <a:srgbClr val="FFFFFF"/>
                </a:solidFill>
              </a:rPr>
              <a:t> 2  </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111</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6612" y="2453865"/>
            <a:ext cx="11821886" cy="2031325"/>
          </a:xfrm>
          <a:prstGeom prst="rect">
            <a:avLst/>
          </a:prstGeom>
          <a:noFill/>
        </p:spPr>
        <p:txBody>
          <a:bodyPr wrap="square">
            <a:spAutoFit/>
          </a:bodyPr>
          <a:lstStyle/>
          <a:p>
            <a:r>
              <a:rPr lang="es-MX" dirty="0"/>
              <a:t>Para realizar el ejercicio a continuación, puedes optar por diferentes caminos. Si bien en programación el camino correcto es el que devuelve el resultado correcto, te animo a que intentes aplicar los conceptos de comprensión de listas para comenzar a afianzarlos para el futuro. ¡Pueden resultarte muy útiles en tu práctica profesional!</a:t>
            </a:r>
          </a:p>
          <a:p>
            <a:endParaRPr lang="es-MX" dirty="0"/>
          </a:p>
          <a:p>
            <a:r>
              <a:rPr lang="es-MX" dirty="0"/>
              <a:t>Crea una lista </a:t>
            </a:r>
            <a:r>
              <a:rPr lang="es-MX" dirty="0" err="1"/>
              <a:t>valores_pares</a:t>
            </a:r>
            <a:r>
              <a:rPr lang="es-MX" dirty="0"/>
              <a:t> formada por los números de la lista valores que (¡adivinaste!) sean pares.</a:t>
            </a:r>
          </a:p>
          <a:p>
            <a:endParaRPr lang="es-MX" dirty="0"/>
          </a:p>
          <a:p>
            <a:pPr marL="285750" indent="-285750">
              <a:buFont typeface="Arial" panose="020B0604020202020204" pitchFamily="34" charset="0"/>
              <a:buChar char="•"/>
            </a:pPr>
            <a:r>
              <a:rPr lang="es-MX" dirty="0"/>
              <a:t>valores = [1, 2, 3, 4, 5, 6, 9.5]</a:t>
            </a:r>
          </a:p>
        </p:txBody>
      </p:sp>
    </p:spTree>
    <p:extLst>
      <p:ext uri="{BB962C8B-B14F-4D97-AF65-F5344CB8AC3E}">
        <p14:creationId xmlns:p14="http://schemas.microsoft.com/office/powerpoint/2010/main" val="315190791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err="1">
                <a:solidFill>
                  <a:srgbClr val="FFFFFF"/>
                </a:solidFill>
              </a:rPr>
              <a:t>Practica</a:t>
            </a:r>
            <a:r>
              <a:rPr lang="en-US" sz="4000" dirty="0">
                <a:solidFill>
                  <a:srgbClr val="FFFFFF"/>
                </a:solidFill>
              </a:rPr>
              <a:t> 3  </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112</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5055" y="1820368"/>
            <a:ext cx="11821886" cy="4801314"/>
          </a:xfrm>
          <a:prstGeom prst="rect">
            <a:avLst/>
          </a:prstGeom>
          <a:noFill/>
        </p:spPr>
        <p:txBody>
          <a:bodyPr wrap="square">
            <a:spAutoFit/>
          </a:bodyPr>
          <a:lstStyle/>
          <a:p>
            <a:r>
              <a:rPr lang="es-MX" dirty="0"/>
              <a:t>Para realizar el ejercicio a continuación, puedes optar por diferentes caminos. Si bien en programación el camino correcto es el que devuelve el resultado correcto, te animo a que intentes aplicar los conceptos de comprensión de listas para comenzar a afianzarlos para el futuro. ¡Pueden resultarte muy útiles en tu práctica profesional!</a:t>
            </a:r>
          </a:p>
          <a:p>
            <a:endParaRPr lang="es-MX" dirty="0"/>
          </a:p>
          <a:p>
            <a:r>
              <a:rPr lang="es-MX" dirty="0"/>
              <a:t>Para la siguiente lista de temperaturas en grados Fahrenheit, expresa estos mismos valores en una nueva lista de valores de temperatura en grados Celsius. La conversión entre tipo de unidades es la siguiente:</a:t>
            </a:r>
          </a:p>
          <a:p>
            <a:endParaRPr lang="es-MX" dirty="0"/>
          </a:p>
          <a:p>
            <a:r>
              <a:rPr lang="es-MX" dirty="0"/>
              <a:t>°C = (°F - 32) * (5/9)</a:t>
            </a:r>
          </a:p>
          <a:p>
            <a:endParaRPr lang="es-MX" dirty="0"/>
          </a:p>
          <a:p>
            <a:r>
              <a:rPr lang="es-MX" dirty="0"/>
              <a:t>o expresado de otro modo:</a:t>
            </a:r>
          </a:p>
          <a:p>
            <a:endParaRPr lang="es-MX" dirty="0"/>
          </a:p>
          <a:p>
            <a:r>
              <a:rPr lang="es-MX" dirty="0"/>
              <a:t>(grados_fahrenheit-32)*(5/9)</a:t>
            </a:r>
          </a:p>
          <a:p>
            <a:endParaRPr lang="es-MX" dirty="0"/>
          </a:p>
          <a:p>
            <a:r>
              <a:rPr lang="es-MX" dirty="0"/>
              <a:t>La lista de temperaturas es la siguiente:</a:t>
            </a:r>
          </a:p>
          <a:p>
            <a:endParaRPr lang="es-MX" dirty="0"/>
          </a:p>
          <a:p>
            <a:r>
              <a:rPr lang="es-MX" dirty="0" err="1"/>
              <a:t>temperatura_fahrenheit</a:t>
            </a:r>
            <a:r>
              <a:rPr lang="es-MX" dirty="0"/>
              <a:t> = [32, 212, 275] </a:t>
            </a:r>
          </a:p>
          <a:p>
            <a:r>
              <a:rPr lang="es-MX" dirty="0"/>
              <a:t>Almacena esta nueva lista en una variable llamada </a:t>
            </a:r>
            <a:r>
              <a:rPr lang="es-MX" dirty="0" err="1"/>
              <a:t>grados_celsius</a:t>
            </a:r>
            <a:endParaRPr lang="es-MX" dirty="0"/>
          </a:p>
        </p:txBody>
      </p:sp>
    </p:spTree>
    <p:extLst>
      <p:ext uri="{BB962C8B-B14F-4D97-AF65-F5344CB8AC3E}">
        <p14:creationId xmlns:p14="http://schemas.microsoft.com/office/powerpoint/2010/main" val="175270057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a:solidFill>
                  <a:srgbClr val="FFFFFF"/>
                </a:solidFill>
              </a:rPr>
              <a:t>Quiz  </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113</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5055" y="1677822"/>
            <a:ext cx="11821886" cy="5078313"/>
          </a:xfrm>
          <a:prstGeom prst="rect">
            <a:avLst/>
          </a:prstGeom>
          <a:noFill/>
        </p:spPr>
        <p:txBody>
          <a:bodyPr wrap="square">
            <a:spAutoFit/>
          </a:bodyPr>
          <a:lstStyle/>
          <a:p>
            <a:r>
              <a:rPr lang="es-MX" dirty="0"/>
              <a:t>Pregunta 1:</a:t>
            </a:r>
          </a:p>
          <a:p>
            <a:r>
              <a:rPr lang="es-MX" dirty="0"/>
              <a:t>El operador lógico </a:t>
            </a:r>
            <a:r>
              <a:rPr lang="es-MX" b="1" dirty="0"/>
              <a:t>and</a:t>
            </a:r>
            <a:r>
              <a:rPr lang="es-MX" dirty="0"/>
              <a:t> devuelve </a:t>
            </a:r>
            <a:r>
              <a:rPr lang="es-MX" b="1" dirty="0"/>
              <a:t>True</a:t>
            </a:r>
            <a:r>
              <a:rPr lang="es-MX" dirty="0"/>
              <a:t> cuando al menos una de las condiciones que vincula es verdadera</a:t>
            </a:r>
          </a:p>
          <a:p>
            <a:pPr marL="285750" indent="-285750">
              <a:buFont typeface="Arial" panose="020B0604020202020204" pitchFamily="34" charset="0"/>
              <a:buChar char="•"/>
            </a:pPr>
            <a:r>
              <a:rPr lang="es-MX" dirty="0"/>
              <a:t>Correcto </a:t>
            </a:r>
          </a:p>
          <a:p>
            <a:pPr marL="285750" indent="-285750">
              <a:buFont typeface="Arial" panose="020B0604020202020204" pitchFamily="34" charset="0"/>
              <a:buChar char="•"/>
            </a:pPr>
            <a:r>
              <a:rPr lang="es-MX" dirty="0"/>
              <a:t>Incorrecto </a:t>
            </a:r>
          </a:p>
          <a:p>
            <a:endParaRPr lang="es-MX" dirty="0"/>
          </a:p>
          <a:p>
            <a:r>
              <a:rPr lang="es-MX" dirty="0"/>
              <a:t>Pregunta 2:</a:t>
            </a:r>
          </a:p>
          <a:p>
            <a:r>
              <a:rPr lang="es-MX" dirty="0"/>
              <a:t>¿En qué casos es obligatoria la </a:t>
            </a:r>
            <a:r>
              <a:rPr lang="es-MX" dirty="0" err="1"/>
              <a:t>indentación</a:t>
            </a:r>
            <a:r>
              <a:rPr lang="es-MX" dirty="0"/>
              <a:t> (tabulación) en Python?</a:t>
            </a:r>
          </a:p>
          <a:p>
            <a:pPr marL="285750" indent="-285750">
              <a:buFont typeface="Arial" panose="020B0604020202020204" pitchFamily="34" charset="0"/>
              <a:buChar char="•"/>
            </a:pPr>
            <a:r>
              <a:rPr lang="es-MX" dirty="0"/>
              <a:t>Cuando se ca a introducir un comentario </a:t>
            </a:r>
          </a:p>
          <a:p>
            <a:pPr marL="285750" indent="-285750">
              <a:buFont typeface="Arial" panose="020B0604020202020204" pitchFamily="34" charset="0"/>
              <a:buChar char="•"/>
            </a:pPr>
            <a:r>
              <a:rPr lang="es-MX" dirty="0"/>
              <a:t>Siempre que tenga sentido estético </a:t>
            </a:r>
          </a:p>
          <a:p>
            <a:pPr marL="285750" indent="-285750">
              <a:buFont typeface="Arial" panose="020B0604020202020204" pitchFamily="34" charset="0"/>
              <a:buChar char="•"/>
            </a:pPr>
            <a:r>
              <a:rPr lang="es-MX" dirty="0"/>
              <a:t>A continuación de una línea de código iniciada en </a:t>
            </a:r>
            <a:r>
              <a:rPr lang="es-MX" dirty="0" err="1"/>
              <a:t>If</a:t>
            </a:r>
            <a:r>
              <a:rPr lang="es-MX" dirty="0"/>
              <a:t>/</a:t>
            </a:r>
            <a:r>
              <a:rPr lang="es-MX" dirty="0" err="1"/>
              <a:t>for</a:t>
            </a:r>
            <a:r>
              <a:rPr lang="es-MX" dirty="0"/>
              <a:t>/</a:t>
            </a:r>
            <a:r>
              <a:rPr lang="es-MX" dirty="0" err="1"/>
              <a:t>while</a:t>
            </a:r>
            <a:r>
              <a:rPr lang="es-MX" dirty="0"/>
              <a:t> </a:t>
            </a:r>
          </a:p>
          <a:p>
            <a:pPr marL="285750" indent="-285750">
              <a:buFont typeface="Arial" panose="020B0604020202020204" pitchFamily="34" charset="0"/>
              <a:buChar char="•"/>
            </a:pPr>
            <a:r>
              <a:rPr lang="es-MX" dirty="0"/>
              <a:t>Nunca (es opcional) </a:t>
            </a:r>
          </a:p>
          <a:p>
            <a:pPr marL="285750" indent="-285750">
              <a:buFont typeface="Arial" panose="020B0604020202020204" pitchFamily="34" charset="0"/>
              <a:buChar char="•"/>
            </a:pPr>
            <a:r>
              <a:rPr lang="es-MX" dirty="0"/>
              <a:t>Nunca (está prohibida la </a:t>
            </a:r>
            <a:r>
              <a:rPr lang="es-MX" dirty="0" err="1"/>
              <a:t>indentación</a:t>
            </a:r>
            <a:r>
              <a:rPr lang="es-MX" dirty="0"/>
              <a:t> en Python, a diferencia de otros lenguajes de programación)</a:t>
            </a:r>
          </a:p>
          <a:p>
            <a:endParaRPr lang="es-MX" dirty="0"/>
          </a:p>
          <a:p>
            <a:r>
              <a:rPr lang="es-MX" dirty="0"/>
              <a:t>Pregunta 3:</a:t>
            </a:r>
          </a:p>
          <a:p>
            <a:r>
              <a:rPr lang="es-MX" dirty="0"/>
              <a:t>En una estructura de control de flujo condicional, por cada declaración </a:t>
            </a:r>
            <a:r>
              <a:rPr lang="es-MX" dirty="0" err="1"/>
              <a:t>if</a:t>
            </a:r>
            <a:r>
              <a:rPr lang="es-MX" dirty="0"/>
              <a:t>, es necesario incluir al menos una declaración </a:t>
            </a:r>
            <a:r>
              <a:rPr lang="es-MX" dirty="0" err="1"/>
              <a:t>else</a:t>
            </a:r>
            <a:r>
              <a:rPr lang="es-MX" dirty="0"/>
              <a:t>.</a:t>
            </a:r>
          </a:p>
          <a:p>
            <a:pPr marL="285750" indent="-285750">
              <a:buFont typeface="Arial" panose="020B0604020202020204" pitchFamily="34" charset="0"/>
              <a:buChar char="•"/>
            </a:pPr>
            <a:r>
              <a:rPr lang="es-MX" dirty="0"/>
              <a:t>Verdadero </a:t>
            </a:r>
          </a:p>
          <a:p>
            <a:pPr marL="285750" indent="-285750">
              <a:buFont typeface="Arial" panose="020B0604020202020204" pitchFamily="34" charset="0"/>
              <a:buChar char="•"/>
            </a:pPr>
            <a:r>
              <a:rPr lang="es-MX" dirty="0"/>
              <a:t>Falso </a:t>
            </a:r>
          </a:p>
          <a:p>
            <a:endParaRPr lang="es-MX" dirty="0"/>
          </a:p>
        </p:txBody>
      </p:sp>
    </p:spTree>
    <p:extLst>
      <p:ext uri="{BB962C8B-B14F-4D97-AF65-F5344CB8AC3E}">
        <p14:creationId xmlns:p14="http://schemas.microsoft.com/office/powerpoint/2010/main" val="269219281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a:solidFill>
                  <a:srgbClr val="FFFFFF"/>
                </a:solidFill>
              </a:rPr>
              <a:t>Quiz  </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114</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5055" y="1859339"/>
            <a:ext cx="11821886" cy="4247317"/>
          </a:xfrm>
          <a:prstGeom prst="rect">
            <a:avLst/>
          </a:prstGeom>
          <a:noFill/>
        </p:spPr>
        <p:txBody>
          <a:bodyPr wrap="square">
            <a:spAutoFit/>
          </a:bodyPr>
          <a:lstStyle/>
          <a:p>
            <a:endParaRPr lang="es-MX" dirty="0"/>
          </a:p>
          <a:p>
            <a:r>
              <a:rPr lang="es-MX" dirty="0"/>
              <a:t>Pregunta 4:</a:t>
            </a:r>
          </a:p>
          <a:p>
            <a:r>
              <a:rPr lang="es-MX" dirty="0"/>
              <a:t>Debemos tener mucho cuidado al crear </a:t>
            </a:r>
            <a:r>
              <a:rPr lang="es-MX" dirty="0" err="1"/>
              <a:t>loops</a:t>
            </a:r>
            <a:r>
              <a:rPr lang="es-MX" dirty="0"/>
              <a:t> </a:t>
            </a:r>
            <a:r>
              <a:rPr lang="es-MX" dirty="0" err="1"/>
              <a:t>for</a:t>
            </a:r>
            <a:r>
              <a:rPr lang="es-MX" dirty="0"/>
              <a:t>, ya que es muy frecuente caer en ciclos que se ejecutan infinitamente al no estar definida una condición de salida.</a:t>
            </a:r>
          </a:p>
          <a:p>
            <a:pPr marL="285750" indent="-285750">
              <a:buFont typeface="Arial" panose="020B0604020202020204" pitchFamily="34" charset="0"/>
              <a:buChar char="•"/>
            </a:pPr>
            <a:r>
              <a:rPr lang="es-MX" dirty="0"/>
              <a:t>Verdadero</a:t>
            </a:r>
          </a:p>
          <a:p>
            <a:pPr marL="285750" indent="-285750">
              <a:buFont typeface="Arial" panose="020B0604020202020204" pitchFamily="34" charset="0"/>
              <a:buChar char="•"/>
            </a:pPr>
            <a:r>
              <a:rPr lang="es-MX" dirty="0"/>
              <a:t>Falso </a:t>
            </a:r>
          </a:p>
          <a:p>
            <a:endParaRPr lang="es-MX" dirty="0"/>
          </a:p>
          <a:p>
            <a:r>
              <a:rPr lang="es-MX" dirty="0"/>
              <a:t>Pregunta 5:</a:t>
            </a:r>
          </a:p>
          <a:p>
            <a:r>
              <a:rPr lang="es-MX" dirty="0"/>
              <a:t>¿Qué acción realiza continue cuando se presenta dentro de un </a:t>
            </a:r>
            <a:r>
              <a:rPr lang="es-MX" dirty="0" err="1"/>
              <a:t>loop</a:t>
            </a:r>
            <a:r>
              <a:rPr lang="es-MX" dirty="0"/>
              <a:t> </a:t>
            </a:r>
            <a:r>
              <a:rPr lang="es-MX" dirty="0" err="1"/>
              <a:t>while</a:t>
            </a:r>
            <a:r>
              <a:rPr lang="es-MX" dirty="0"/>
              <a:t>?</a:t>
            </a:r>
          </a:p>
          <a:p>
            <a:endParaRPr lang="es-MX" dirty="0"/>
          </a:p>
          <a:p>
            <a:pPr marL="285750" indent="-285750">
              <a:buFont typeface="Arial" panose="020B0604020202020204" pitchFamily="34" charset="0"/>
              <a:buChar char="•"/>
            </a:pPr>
            <a:r>
              <a:rPr lang="es-MX" dirty="0"/>
              <a:t>Produce la salida de bucle </a:t>
            </a:r>
          </a:p>
          <a:p>
            <a:pPr marL="285750" indent="-285750">
              <a:buFont typeface="Arial" panose="020B0604020202020204" pitchFamily="34" charset="0"/>
              <a:buChar char="•"/>
            </a:pPr>
            <a:r>
              <a:rPr lang="es-MX" dirty="0"/>
              <a:t>Interrumpe la iteración actual y vuelve a la parte superior del bucle para continuar ejecutándose </a:t>
            </a:r>
          </a:p>
          <a:p>
            <a:pPr marL="285750" indent="-285750">
              <a:buFont typeface="Arial" panose="020B0604020202020204" pitchFamily="34" charset="0"/>
              <a:buChar char="•"/>
            </a:pPr>
            <a:r>
              <a:rPr lang="es-MX" dirty="0"/>
              <a:t>No afecta al programa, ya que no realiza ninguna acción </a:t>
            </a:r>
          </a:p>
          <a:p>
            <a:endParaRPr lang="es-MX" dirty="0"/>
          </a:p>
          <a:p>
            <a:endParaRPr lang="es-MX" dirty="0"/>
          </a:p>
        </p:txBody>
      </p:sp>
    </p:spTree>
    <p:extLst>
      <p:ext uri="{BB962C8B-B14F-4D97-AF65-F5344CB8AC3E}">
        <p14:creationId xmlns:p14="http://schemas.microsoft.com/office/powerpoint/2010/main" val="388263609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a:solidFill>
                  <a:srgbClr val="FFFFFF"/>
                </a:solidFill>
              </a:rPr>
              <a:t>Quiz  </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115</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5055" y="1700151"/>
            <a:ext cx="11821886" cy="4524315"/>
          </a:xfrm>
          <a:prstGeom prst="rect">
            <a:avLst/>
          </a:prstGeom>
          <a:noFill/>
        </p:spPr>
        <p:txBody>
          <a:bodyPr wrap="square">
            <a:spAutoFit/>
          </a:bodyPr>
          <a:lstStyle/>
          <a:p>
            <a:endParaRPr lang="es-MX" dirty="0"/>
          </a:p>
          <a:p>
            <a:r>
              <a:rPr lang="es-MX" dirty="0"/>
              <a:t>Pregunta 6:</a:t>
            </a:r>
          </a:p>
          <a:p>
            <a:r>
              <a:rPr lang="es-MX" dirty="0"/>
              <a:t>¿Qué función utilizarías para crear una secuencia de números de manera rápida, dado cualquier valor de inicio y fin?</a:t>
            </a:r>
          </a:p>
          <a:p>
            <a:endParaRPr lang="es-MX" dirty="0"/>
          </a:p>
          <a:p>
            <a:pPr marL="285750" indent="-285750">
              <a:buFont typeface="Arial" panose="020B0604020202020204" pitchFamily="34" charset="0"/>
              <a:buChar char="•"/>
            </a:pPr>
            <a:r>
              <a:rPr lang="es-MX" dirty="0" err="1"/>
              <a:t>Range</a:t>
            </a:r>
            <a:r>
              <a:rPr lang="es-MX" dirty="0"/>
              <a:t> ()</a:t>
            </a:r>
          </a:p>
          <a:p>
            <a:pPr marL="285750" indent="-285750">
              <a:buFont typeface="Arial" panose="020B0604020202020204" pitchFamily="34" charset="0"/>
              <a:buChar char="•"/>
            </a:pPr>
            <a:r>
              <a:rPr lang="es-MX" dirty="0" err="1"/>
              <a:t>Enumerate</a:t>
            </a:r>
            <a:r>
              <a:rPr lang="es-MX" dirty="0"/>
              <a:t>()</a:t>
            </a:r>
          </a:p>
          <a:p>
            <a:pPr marL="285750" indent="-285750">
              <a:buFont typeface="Arial" panose="020B0604020202020204" pitchFamily="34" charset="0"/>
              <a:buChar char="•"/>
            </a:pPr>
            <a:r>
              <a:rPr lang="es-MX" dirty="0"/>
              <a:t>Zip()</a:t>
            </a:r>
          </a:p>
          <a:p>
            <a:pPr marL="285750" indent="-285750">
              <a:buFont typeface="Arial" panose="020B0604020202020204" pitchFamily="34" charset="0"/>
              <a:buChar char="•"/>
            </a:pPr>
            <a:r>
              <a:rPr lang="es-MX" dirty="0" err="1"/>
              <a:t>Random</a:t>
            </a:r>
            <a:r>
              <a:rPr lang="es-MX" dirty="0"/>
              <a:t>()</a:t>
            </a:r>
          </a:p>
          <a:p>
            <a:endParaRPr lang="es-MX" dirty="0"/>
          </a:p>
          <a:p>
            <a:r>
              <a:rPr lang="es-MX" dirty="0"/>
              <a:t>Pregunta 7:</a:t>
            </a:r>
          </a:p>
          <a:p>
            <a:r>
              <a:rPr lang="es-MX" dirty="0"/>
              <a:t>¿Qué método de la librería </a:t>
            </a:r>
            <a:r>
              <a:rPr lang="es-MX" dirty="0" err="1"/>
              <a:t>random</a:t>
            </a:r>
            <a:r>
              <a:rPr lang="es-MX" dirty="0"/>
              <a:t> sería conveniente utilizar para obtener un número decimal entre dos valores cualquiera?</a:t>
            </a:r>
          </a:p>
          <a:p>
            <a:pPr marL="285750" indent="-285750">
              <a:buFont typeface="Arial" panose="020B0604020202020204" pitchFamily="34" charset="0"/>
              <a:buChar char="•"/>
            </a:pPr>
            <a:r>
              <a:rPr lang="es-MX" dirty="0" err="1"/>
              <a:t>randint</a:t>
            </a:r>
            <a:endParaRPr lang="es-MX" dirty="0"/>
          </a:p>
          <a:p>
            <a:pPr marL="285750" indent="-285750">
              <a:buFont typeface="Arial" panose="020B0604020202020204" pitchFamily="34" charset="0"/>
              <a:buChar char="•"/>
            </a:pPr>
            <a:r>
              <a:rPr lang="es-MX" dirty="0" err="1"/>
              <a:t>Uniform</a:t>
            </a:r>
            <a:endParaRPr lang="es-MX" dirty="0"/>
          </a:p>
          <a:p>
            <a:pPr marL="285750" indent="-285750">
              <a:buFont typeface="Arial" panose="020B0604020202020204" pitchFamily="34" charset="0"/>
              <a:buChar char="•"/>
            </a:pPr>
            <a:r>
              <a:rPr lang="es-MX" dirty="0" err="1"/>
              <a:t>Random</a:t>
            </a:r>
            <a:r>
              <a:rPr lang="es-MX" dirty="0"/>
              <a:t> </a:t>
            </a:r>
          </a:p>
          <a:p>
            <a:pPr marL="285750" indent="-285750">
              <a:buFont typeface="Arial" panose="020B0604020202020204" pitchFamily="34" charset="0"/>
              <a:buChar char="•"/>
            </a:pPr>
            <a:r>
              <a:rPr lang="es-MX" dirty="0" err="1"/>
              <a:t>Choice</a:t>
            </a:r>
            <a:endParaRPr lang="es-MX" dirty="0"/>
          </a:p>
          <a:p>
            <a:pPr marL="285750" indent="-285750">
              <a:buFont typeface="Arial" panose="020B0604020202020204" pitchFamily="34" charset="0"/>
              <a:buChar char="•"/>
            </a:pPr>
            <a:r>
              <a:rPr lang="es-MX" dirty="0" err="1"/>
              <a:t>shuffle</a:t>
            </a:r>
            <a:endParaRPr lang="es-MX" dirty="0"/>
          </a:p>
        </p:txBody>
      </p:sp>
    </p:spTree>
    <p:extLst>
      <p:ext uri="{BB962C8B-B14F-4D97-AF65-F5344CB8AC3E}">
        <p14:creationId xmlns:p14="http://schemas.microsoft.com/office/powerpoint/2010/main" val="392942241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a:solidFill>
                  <a:srgbClr val="FFFFFF"/>
                </a:solidFill>
              </a:rPr>
              <a:t>match  </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116</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5055" y="1700151"/>
            <a:ext cx="11821886" cy="923330"/>
          </a:xfrm>
          <a:prstGeom prst="rect">
            <a:avLst/>
          </a:prstGeom>
          <a:noFill/>
        </p:spPr>
        <p:txBody>
          <a:bodyPr wrap="square">
            <a:spAutoFit/>
          </a:bodyPr>
          <a:lstStyle/>
          <a:p>
            <a:endParaRPr lang="es-MX" dirty="0"/>
          </a:p>
          <a:p>
            <a:r>
              <a:rPr lang="es-MX" dirty="0"/>
              <a:t>En Python 3.10, se incorpora la coincidencia de patrones estructurales mediante las declaraciones match y case. Esto permite asociar acciones específicas basadas en las formas o patrones de tipos de datos complejos.</a:t>
            </a:r>
          </a:p>
        </p:txBody>
      </p:sp>
      <p:pic>
        <p:nvPicPr>
          <p:cNvPr id="7" name="Imagen 6">
            <a:extLst>
              <a:ext uri="{FF2B5EF4-FFF2-40B4-BE49-F238E27FC236}">
                <a16:creationId xmlns:a16="http://schemas.microsoft.com/office/drawing/2014/main" id="{36D2C711-3FDD-3226-0683-913B964C4453}"/>
              </a:ext>
            </a:extLst>
          </p:cNvPr>
          <p:cNvPicPr>
            <a:picLocks noChangeAspect="1"/>
          </p:cNvPicPr>
          <p:nvPr/>
        </p:nvPicPr>
        <p:blipFill>
          <a:blip r:embed="rId2"/>
          <a:stretch>
            <a:fillRect/>
          </a:stretch>
        </p:blipFill>
        <p:spPr>
          <a:xfrm>
            <a:off x="3241835" y="2837102"/>
            <a:ext cx="6155478" cy="2365277"/>
          </a:xfrm>
          <a:prstGeom prst="rect">
            <a:avLst/>
          </a:prstGeom>
        </p:spPr>
      </p:pic>
      <p:sp>
        <p:nvSpPr>
          <p:cNvPr id="10" name="CuadroTexto 9">
            <a:extLst>
              <a:ext uri="{FF2B5EF4-FFF2-40B4-BE49-F238E27FC236}">
                <a16:creationId xmlns:a16="http://schemas.microsoft.com/office/drawing/2014/main" id="{C3E2488E-21BA-6AB5-C8F0-86EB709F744A}"/>
              </a:ext>
            </a:extLst>
          </p:cNvPr>
          <p:cNvSpPr txBox="1"/>
          <p:nvPr/>
        </p:nvSpPr>
        <p:spPr>
          <a:xfrm>
            <a:off x="340085" y="5570911"/>
            <a:ext cx="11666856" cy="923330"/>
          </a:xfrm>
          <a:prstGeom prst="rect">
            <a:avLst/>
          </a:prstGeom>
          <a:noFill/>
        </p:spPr>
        <p:txBody>
          <a:bodyPr wrap="square">
            <a:spAutoFit/>
          </a:bodyPr>
          <a:lstStyle/>
          <a:p>
            <a:r>
              <a:rPr lang="es-MX" dirty="0"/>
              <a:t>Es posible detectar y deconstruir diferentes estructuras de datos: esto quiere decir que los patrones no son únicamente valores literales (strings o números), sino también estructuras de datos, sobre los cuales se buscan coincidencias de construcción. </a:t>
            </a:r>
          </a:p>
        </p:txBody>
      </p:sp>
    </p:spTree>
    <p:extLst>
      <p:ext uri="{BB962C8B-B14F-4D97-AF65-F5344CB8AC3E}">
        <p14:creationId xmlns:p14="http://schemas.microsoft.com/office/powerpoint/2010/main" val="396198514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a:solidFill>
                  <a:srgbClr val="FFFFFF"/>
                </a:solidFill>
              </a:rPr>
              <a:t>Proyecto del día: </a:t>
            </a:r>
            <a:r>
              <a:rPr lang="en-US" sz="4000" dirty="0" err="1">
                <a:solidFill>
                  <a:srgbClr val="FFFFFF"/>
                </a:solidFill>
              </a:rPr>
              <a:t>Adivina</a:t>
            </a:r>
            <a:r>
              <a:rPr lang="en-US" sz="4000" dirty="0">
                <a:solidFill>
                  <a:srgbClr val="FFFFFF"/>
                </a:solidFill>
              </a:rPr>
              <a:t> </a:t>
            </a:r>
            <a:r>
              <a:rPr lang="en-US" sz="4000" dirty="0" err="1">
                <a:solidFill>
                  <a:srgbClr val="FFFFFF"/>
                </a:solidFill>
              </a:rPr>
              <a:t>el</a:t>
            </a:r>
            <a:r>
              <a:rPr lang="en-US" sz="4000" dirty="0">
                <a:solidFill>
                  <a:srgbClr val="FFFFFF"/>
                </a:solidFill>
              </a:rPr>
              <a:t> </a:t>
            </a:r>
            <a:r>
              <a:rPr lang="en-US" sz="4000" dirty="0" err="1">
                <a:solidFill>
                  <a:srgbClr val="FFFFFF"/>
                </a:solidFill>
              </a:rPr>
              <a:t>número</a:t>
            </a:r>
            <a:r>
              <a:rPr lang="en-US" sz="4000" dirty="0">
                <a:solidFill>
                  <a:srgbClr val="FFFFFF"/>
                </a:solidFill>
              </a:rPr>
              <a:t> </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117</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5055" y="1700151"/>
            <a:ext cx="11821886" cy="1754326"/>
          </a:xfrm>
          <a:prstGeom prst="rect">
            <a:avLst/>
          </a:prstGeom>
          <a:noFill/>
        </p:spPr>
        <p:txBody>
          <a:bodyPr wrap="square">
            <a:spAutoFit/>
          </a:bodyPr>
          <a:lstStyle/>
          <a:p>
            <a:r>
              <a:rPr lang="es-MX" dirty="0"/>
              <a:t>Ya sabes usar operadores de comparación, operadores lógicos, hacer control de flujo, hacer </a:t>
            </a:r>
            <a:r>
              <a:rPr lang="es-MX" dirty="0" err="1"/>
              <a:t>loops</a:t>
            </a:r>
            <a:r>
              <a:rPr lang="es-MX" dirty="0"/>
              <a:t>, conoces declaraciones muy útiles como </a:t>
            </a:r>
            <a:r>
              <a:rPr lang="es-MX" dirty="0" err="1"/>
              <a:t>random</a:t>
            </a:r>
            <a:r>
              <a:rPr lang="es-MX" dirty="0"/>
              <a:t>, zip, rango y muchas más. </a:t>
            </a:r>
          </a:p>
          <a:p>
            <a:endParaRPr lang="es-MX" dirty="0"/>
          </a:p>
          <a:p>
            <a:r>
              <a:rPr lang="es-MX" dirty="0"/>
              <a:t>Entonces, ya estás en condiciones de subir de nivel y que te pida que programes algo un poco más complicado de lo que hemos hecho hasta ahora. Y hoy vas a crear por primera vez un juego completamente funcional, con el que podrás divertirte tú mismo un rato. </a:t>
            </a:r>
          </a:p>
        </p:txBody>
      </p:sp>
    </p:spTree>
    <p:extLst>
      <p:ext uri="{BB962C8B-B14F-4D97-AF65-F5344CB8AC3E}">
        <p14:creationId xmlns:p14="http://schemas.microsoft.com/office/powerpoint/2010/main" val="64601947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4C457E-EEA5-E41B-5186-CB6BFA61CCB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dirty="0">
                <a:solidFill>
                  <a:srgbClr val="FFFFFF"/>
                </a:solidFill>
              </a:rPr>
              <a:t>Proyecto del día: </a:t>
            </a:r>
            <a:r>
              <a:rPr lang="en-US" sz="4000" dirty="0" err="1">
                <a:solidFill>
                  <a:srgbClr val="FFFFFF"/>
                </a:solidFill>
              </a:rPr>
              <a:t>Adivina</a:t>
            </a:r>
            <a:r>
              <a:rPr lang="en-US" sz="4000" dirty="0">
                <a:solidFill>
                  <a:srgbClr val="FFFFFF"/>
                </a:solidFill>
              </a:rPr>
              <a:t> </a:t>
            </a:r>
            <a:r>
              <a:rPr lang="en-US" sz="4000" dirty="0" err="1">
                <a:solidFill>
                  <a:srgbClr val="FFFFFF"/>
                </a:solidFill>
              </a:rPr>
              <a:t>el</a:t>
            </a:r>
            <a:r>
              <a:rPr lang="en-US" sz="4000" dirty="0">
                <a:solidFill>
                  <a:srgbClr val="FFFFFF"/>
                </a:solidFill>
              </a:rPr>
              <a:t> </a:t>
            </a:r>
            <a:r>
              <a:rPr lang="en-US" sz="4000" dirty="0" err="1">
                <a:solidFill>
                  <a:srgbClr val="FFFFFF"/>
                </a:solidFill>
              </a:rPr>
              <a:t>número</a:t>
            </a:r>
            <a:r>
              <a:rPr lang="en-US" sz="4000" dirty="0">
                <a:solidFill>
                  <a:srgbClr val="FFFFFF"/>
                </a:solidFill>
              </a:rPr>
              <a:t> </a:t>
            </a:r>
            <a:endParaRPr lang="en-US" sz="4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1F5E7747-9485-CA93-7FBA-0F50B9754533}"/>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defRPr/>
            </a:pPr>
            <a:r>
              <a:rPr lang="en-US" sz="1100" kern="1200">
                <a:solidFill>
                  <a:srgbClr val="FFFFFF"/>
                </a:solidFill>
                <a:latin typeface="+mn-lt"/>
                <a:ea typeface="+mn-ea"/>
                <a:cs typeface="+mn-cs"/>
              </a:rPr>
              <a:t>Arabots Robotics</a:t>
            </a:r>
          </a:p>
        </p:txBody>
      </p:sp>
      <p:sp>
        <p:nvSpPr>
          <p:cNvPr id="8" name="CuadroTexto 7">
            <a:extLst>
              <a:ext uri="{FF2B5EF4-FFF2-40B4-BE49-F238E27FC236}">
                <a16:creationId xmlns:a16="http://schemas.microsoft.com/office/drawing/2014/main" id="{E6FCE303-A3AF-2BE0-5083-F03E35929573}"/>
              </a:ext>
            </a:extLst>
          </p:cNvPr>
          <p:cNvSpPr txBox="1"/>
          <p:nvPr/>
        </p:nvSpPr>
        <p:spPr>
          <a:xfrm>
            <a:off x="1371599" y="2318197"/>
            <a:ext cx="10431625" cy="3683358"/>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endParaRPr kumimoji="0" lang="en-US" altLang="es-MX" sz="2000" i="0" u="none" strike="noStrike" cap="none" normalizeH="0" baseline="0" dirty="0">
              <a:ln>
                <a:noFill/>
              </a:ln>
              <a:effectLst/>
            </a:endParaRPr>
          </a:p>
        </p:txBody>
      </p:sp>
      <p:sp>
        <p:nvSpPr>
          <p:cNvPr id="5" name="Marcador de número de diapositiva 4">
            <a:extLst>
              <a:ext uri="{FF2B5EF4-FFF2-40B4-BE49-F238E27FC236}">
                <a16:creationId xmlns:a16="http://schemas.microsoft.com/office/drawing/2014/main" id="{B647915F-D481-C013-7116-4449C0D1175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defRPr/>
            </a:pPr>
            <a:fld id="{4EA4A3B0-B5DF-4E2B-B48F-E4B7B7872040}" type="slidenum">
              <a:rPr lang="en-US" sz="1100">
                <a:solidFill>
                  <a:schemeClr val="tx1">
                    <a:lumMod val="50000"/>
                    <a:lumOff val="50000"/>
                  </a:schemeClr>
                </a:solidFill>
              </a:rPr>
              <a:pPr>
                <a:spcAft>
                  <a:spcPts val="600"/>
                </a:spcAft>
                <a:defRPr/>
              </a:pPr>
              <a:t>118</a:t>
            </a:fld>
            <a:endParaRPr lang="en-US" sz="1100">
              <a:solidFill>
                <a:schemeClr val="tx1">
                  <a:lumMod val="50000"/>
                  <a:lumOff val="50000"/>
                </a:schemeClr>
              </a:solidFill>
            </a:endParaRPr>
          </a:p>
        </p:txBody>
      </p:sp>
      <p:sp>
        <p:nvSpPr>
          <p:cNvPr id="11" name="Rectangle 4">
            <a:extLst>
              <a:ext uri="{FF2B5EF4-FFF2-40B4-BE49-F238E27FC236}">
                <a16:creationId xmlns:a16="http://schemas.microsoft.com/office/drawing/2014/main" id="{A3CB6FF8-90A2-A0D5-7016-87B51B014B59}"/>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CF13CA4E-2EB8-4F8B-C943-005C8B096718}"/>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CE38E0EF-2292-EBA6-A031-348A9AF6E851}"/>
              </a:ext>
            </a:extLst>
          </p:cNvPr>
          <p:cNvSpPr txBox="1"/>
          <p:nvPr/>
        </p:nvSpPr>
        <p:spPr>
          <a:xfrm>
            <a:off x="185055" y="1700151"/>
            <a:ext cx="11821886" cy="3693319"/>
          </a:xfrm>
          <a:prstGeom prst="rect">
            <a:avLst/>
          </a:prstGeom>
          <a:noFill/>
        </p:spPr>
        <p:txBody>
          <a:bodyPr wrap="square">
            <a:spAutoFit/>
          </a:bodyPr>
          <a:lstStyle/>
          <a:p>
            <a:r>
              <a:rPr lang="es-MX" b="1" dirty="0"/>
              <a:t>El programa le va a preguntar al usuario su nombre, y luego le va a decir algo así como “Bueno, Juan, he pensado un número entre 1 y 100, y tienes solo ocho intentos para adivinar cuál crees que es el número”. Entonces, en cada intento el jugador dirá un número y el programa puede responder cuatro cosas distintas:</a:t>
            </a:r>
          </a:p>
          <a:p>
            <a:endParaRPr lang="es-MX" b="1" dirty="0"/>
          </a:p>
          <a:p>
            <a:pPr marL="285750" indent="-285750">
              <a:buFont typeface="Arial" panose="020B0604020202020204" pitchFamily="34" charset="0"/>
              <a:buChar char="•"/>
            </a:pPr>
            <a:r>
              <a:rPr lang="es-MX" dirty="0"/>
              <a:t>Si el número que dijo el usuario es menor a 1 o superior a 100, le va a decir que ha elegido un número que no está permitido. </a:t>
            </a:r>
          </a:p>
          <a:p>
            <a:pPr marL="285750" indent="-285750">
              <a:buFont typeface="Arial" panose="020B0604020202020204" pitchFamily="34" charset="0"/>
              <a:buChar char="•"/>
            </a:pPr>
            <a:r>
              <a:rPr lang="es-MX" dirty="0"/>
              <a:t>Si el número que ha elegido el usuario es menor al que ha pensado el programa, le va a decir que su respuesta es incorrecta y que ha elegido un número menor al número secreto.</a:t>
            </a:r>
          </a:p>
          <a:p>
            <a:pPr marL="285750" indent="-285750">
              <a:buFont typeface="Arial" panose="020B0604020202020204" pitchFamily="34" charset="0"/>
              <a:buChar char="•"/>
            </a:pPr>
            <a:r>
              <a:rPr lang="es-MX" dirty="0"/>
              <a:t>Si el usuario eligió un número mayor al número secreto, también se lo hará saber de la misma manera.</a:t>
            </a:r>
          </a:p>
          <a:p>
            <a:pPr marL="285750" indent="-285750">
              <a:buFont typeface="Arial" panose="020B0604020202020204" pitchFamily="34" charset="0"/>
              <a:buChar char="•"/>
            </a:pPr>
            <a:r>
              <a:rPr lang="es-MX" dirty="0"/>
              <a:t>Si el usuario acertó el número secreto, se le va a informar que ha ganado y cuántos intentos le ha tomado. </a:t>
            </a:r>
          </a:p>
          <a:p>
            <a:pPr marL="285750" indent="-285750">
              <a:buFont typeface="Arial" panose="020B0604020202020204" pitchFamily="34" charset="0"/>
              <a:buChar char="•"/>
            </a:pPr>
            <a:endParaRPr lang="es-MX" b="1" dirty="0"/>
          </a:p>
          <a:p>
            <a:r>
              <a:rPr lang="es-MX" dirty="0"/>
              <a:t>Si el usuario no ha acertado en este primer intento, se le va a volver a pedir que elija otro número. Y así hasta que gane o hasta que se agoten los ocho intentos. </a:t>
            </a:r>
            <a:endParaRPr lang="es-MX" b="1" dirty="0"/>
          </a:p>
        </p:txBody>
      </p:sp>
    </p:spTree>
    <p:extLst>
      <p:ext uri="{BB962C8B-B14F-4D97-AF65-F5344CB8AC3E}">
        <p14:creationId xmlns:p14="http://schemas.microsoft.com/office/powerpoint/2010/main" val="201459870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Rectangle 23">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6" name="Freeform: Shape 25">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Marcador de pie de página 3">
            <a:extLst>
              <a:ext uri="{FF2B5EF4-FFF2-40B4-BE49-F238E27FC236}">
                <a16:creationId xmlns:a16="http://schemas.microsoft.com/office/drawing/2014/main" id="{63C17D71-9728-0E53-F2E2-85FE1CD28893}"/>
              </a:ext>
            </a:extLst>
          </p:cNvPr>
          <p:cNvSpPr>
            <a:spLocks noGrp="1"/>
          </p:cNvSpPr>
          <p:nvPr>
            <p:ph type="ftr" sz="quarter" idx="11"/>
          </p:nvPr>
        </p:nvSpPr>
        <p:spPr>
          <a:xfrm>
            <a:off x="321733" y="5991225"/>
            <a:ext cx="2568811" cy="365125"/>
          </a:xfrm>
        </p:spPr>
        <p:txBody>
          <a:bodyPr>
            <a:normAutofit/>
          </a:bodyPr>
          <a:lstStyle/>
          <a:p>
            <a:pPr algn="l">
              <a:spcAft>
                <a:spcPts val="600"/>
              </a:spcAft>
            </a:pPr>
            <a:r>
              <a:rPr lang="es-MX">
                <a:solidFill>
                  <a:srgbClr val="FFFFFF"/>
                </a:solidFill>
              </a:rPr>
              <a:t>Arabots Robotics</a:t>
            </a:r>
          </a:p>
        </p:txBody>
      </p:sp>
      <p:sp>
        <p:nvSpPr>
          <p:cNvPr id="5" name="Marcador de número de diapositiva 4">
            <a:extLst>
              <a:ext uri="{FF2B5EF4-FFF2-40B4-BE49-F238E27FC236}">
                <a16:creationId xmlns:a16="http://schemas.microsoft.com/office/drawing/2014/main" id="{9A51CC3F-A0CB-A88E-73BF-4B28D0536F2B}"/>
              </a:ext>
            </a:extLst>
          </p:cNvPr>
          <p:cNvSpPr>
            <a:spLocks noGrp="1"/>
          </p:cNvSpPr>
          <p:nvPr>
            <p:ph type="sldNum" sz="quarter" idx="12"/>
          </p:nvPr>
        </p:nvSpPr>
        <p:spPr>
          <a:xfrm>
            <a:off x="321732" y="6356350"/>
            <a:ext cx="2568811" cy="365125"/>
          </a:xfrm>
        </p:spPr>
        <p:txBody>
          <a:bodyPr>
            <a:normAutofit/>
          </a:bodyPr>
          <a:lstStyle/>
          <a:p>
            <a:pPr algn="l">
              <a:spcAft>
                <a:spcPts val="600"/>
              </a:spcAft>
            </a:pPr>
            <a:fld id="{4EA4A3B0-B5DF-4E2B-B48F-E4B7B7872040}" type="slidenum">
              <a:rPr lang="es-MX">
                <a:solidFill>
                  <a:srgbClr val="FFFFFF"/>
                </a:solidFill>
              </a:rPr>
              <a:pPr algn="l">
                <a:spcAft>
                  <a:spcPts val="600"/>
                </a:spcAft>
              </a:pPr>
              <a:t>119</a:t>
            </a:fld>
            <a:endParaRPr lang="es-MX">
              <a:solidFill>
                <a:srgbClr val="FFFFFF"/>
              </a:solidFill>
            </a:endParaRPr>
          </a:p>
        </p:txBody>
      </p:sp>
      <p:sp>
        <p:nvSpPr>
          <p:cNvPr id="28" name="Freeform: Shape 27">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7" name="Subtítulo 6">
            <a:extLst>
              <a:ext uri="{FF2B5EF4-FFF2-40B4-BE49-F238E27FC236}">
                <a16:creationId xmlns:a16="http://schemas.microsoft.com/office/drawing/2014/main" id="{D5924DB2-8356-FF01-B28A-A8F11B4813C1}"/>
              </a:ext>
            </a:extLst>
          </p:cNvPr>
          <p:cNvSpPr>
            <a:spLocks noGrp="1"/>
          </p:cNvSpPr>
          <p:nvPr>
            <p:ph type="subTitle" idx="1"/>
          </p:nvPr>
        </p:nvSpPr>
        <p:spPr>
          <a:xfrm>
            <a:off x="4439633" y="4518923"/>
            <a:ext cx="3312734" cy="1141851"/>
          </a:xfrm>
          <a:noFill/>
        </p:spPr>
        <p:txBody>
          <a:bodyPr>
            <a:normAutofit/>
          </a:bodyPr>
          <a:lstStyle/>
          <a:p>
            <a:r>
              <a:rPr lang="es-MX" sz="2000" dirty="0">
                <a:solidFill>
                  <a:srgbClr val="080808"/>
                </a:solidFill>
              </a:rPr>
              <a:t>20/01/2023</a:t>
            </a:r>
          </a:p>
        </p:txBody>
      </p:sp>
      <p:sp>
        <p:nvSpPr>
          <p:cNvPr id="6" name="Título 5">
            <a:extLst>
              <a:ext uri="{FF2B5EF4-FFF2-40B4-BE49-F238E27FC236}">
                <a16:creationId xmlns:a16="http://schemas.microsoft.com/office/drawing/2014/main" id="{08854A5E-F42D-4B4D-1968-AC6E3672D1FF}"/>
              </a:ext>
            </a:extLst>
          </p:cNvPr>
          <p:cNvSpPr>
            <a:spLocks noGrp="1"/>
          </p:cNvSpPr>
          <p:nvPr>
            <p:ph type="ctrTitle"/>
          </p:nvPr>
        </p:nvSpPr>
        <p:spPr>
          <a:xfrm>
            <a:off x="3204642" y="2353641"/>
            <a:ext cx="5782716" cy="2150719"/>
          </a:xfrm>
          <a:noFill/>
        </p:spPr>
        <p:txBody>
          <a:bodyPr anchor="ctr">
            <a:normAutofit/>
          </a:bodyPr>
          <a:lstStyle/>
          <a:p>
            <a:r>
              <a:rPr lang="es-MX" sz="3600">
                <a:solidFill>
                  <a:srgbClr val="080808"/>
                </a:solidFill>
              </a:rPr>
              <a:t>Clase 4 </a:t>
            </a:r>
          </a:p>
        </p:txBody>
      </p:sp>
      <p:sp>
        <p:nvSpPr>
          <p:cNvPr id="30" name="Freeform: Shape 29">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Rectangle 31">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92100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F08BA68-B24A-FE50-FBEE-138E98BE8B1D}"/>
              </a:ext>
            </a:extLst>
          </p:cNvPr>
          <p:cNvSpPr>
            <a:spLocks noGrp="1"/>
          </p:cNvSpPr>
          <p:nvPr>
            <p:ph type="title"/>
          </p:nvPr>
        </p:nvSpPr>
        <p:spPr>
          <a:xfrm>
            <a:off x="1171074" y="1396686"/>
            <a:ext cx="3240506" cy="4064628"/>
          </a:xfrm>
        </p:spPr>
        <p:txBody>
          <a:bodyPr>
            <a:normAutofit/>
          </a:bodyPr>
          <a:lstStyle/>
          <a:p>
            <a:r>
              <a:rPr lang="es-MX" sz="3700">
                <a:solidFill>
                  <a:srgbClr val="FFFFFF"/>
                </a:solidFill>
              </a:rPr>
              <a:t>Documentación</a:t>
            </a:r>
            <a:br>
              <a:rPr lang="es-MX" sz="3700">
                <a:solidFill>
                  <a:srgbClr val="FFFFFF"/>
                </a:solidFill>
              </a:rPr>
            </a:br>
            <a:endParaRPr lang="es-MX" sz="3700">
              <a:solidFill>
                <a:srgbClr val="FFFFFF"/>
              </a:solidFill>
            </a:endParaRPr>
          </a:p>
        </p:txBody>
      </p:sp>
      <p:sp>
        <p:nvSpPr>
          <p:cNvPr id="23" name="Arc 22">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F958257D-29FB-F3E4-FDEE-E1ADCEAD3405}"/>
              </a:ext>
            </a:extLst>
          </p:cNvPr>
          <p:cNvSpPr>
            <a:spLocks noGrp="1"/>
          </p:cNvSpPr>
          <p:nvPr>
            <p:ph idx="1"/>
          </p:nvPr>
        </p:nvSpPr>
        <p:spPr>
          <a:xfrm>
            <a:off x="5370153" y="1526033"/>
            <a:ext cx="5536397" cy="3935281"/>
          </a:xfrm>
        </p:spPr>
        <p:txBody>
          <a:bodyPr>
            <a:normAutofit/>
          </a:bodyPr>
          <a:lstStyle/>
          <a:p>
            <a:pPr marL="0" indent="0">
              <a:buNone/>
            </a:pPr>
            <a:r>
              <a:rPr lang="es-MX" sz="2200"/>
              <a:t>La documentación es nuestra biblioteca de consulta en Python. Al escribir código, es de uso permanentemente para solucionar dudas relacionadas al funcionamiento de métodos y los argumentos que reciben									</a:t>
            </a:r>
          </a:p>
          <a:p>
            <a:pPr marL="0" indent="0">
              <a:buNone/>
            </a:pPr>
            <a:r>
              <a:rPr lang="es-MX" sz="2200"/>
              <a:t>Si utilizas </a:t>
            </a:r>
            <a:r>
              <a:rPr lang="es-MX" sz="2200" err="1"/>
              <a:t>PyCharm</a:t>
            </a:r>
            <a:r>
              <a:rPr lang="es-MX" sz="2200"/>
              <a:t>:</a:t>
            </a:r>
          </a:p>
          <a:p>
            <a:pPr marL="0" indent="0">
              <a:buNone/>
            </a:pPr>
            <a:r>
              <a:rPr lang="es-MX" sz="2200"/>
              <a:t>Sostén el cursor sobre el nombre del método del que deseas obtener información. Se desplegará una ventana flotante</a:t>
            </a:r>
          </a:p>
          <a:p>
            <a:pPr marL="0" indent="0">
              <a:buNone/>
            </a:pPr>
            <a:endParaRPr lang="es-MX" sz="2200"/>
          </a:p>
        </p:txBody>
      </p:sp>
      <p:sp>
        <p:nvSpPr>
          <p:cNvPr id="4" name="Marcador de pie de página 3">
            <a:extLst>
              <a:ext uri="{FF2B5EF4-FFF2-40B4-BE49-F238E27FC236}">
                <a16:creationId xmlns:a16="http://schemas.microsoft.com/office/drawing/2014/main" id="{8F1EC2B7-7ECA-AF17-898A-69642C290895}"/>
              </a:ext>
            </a:extLst>
          </p:cNvPr>
          <p:cNvSpPr>
            <a:spLocks noGrp="1"/>
          </p:cNvSpPr>
          <p:nvPr>
            <p:ph type="ftr" sz="quarter" idx="11"/>
          </p:nvPr>
        </p:nvSpPr>
        <p:spPr>
          <a:xfrm>
            <a:off x="4038600" y="6356350"/>
            <a:ext cx="4114800" cy="365125"/>
          </a:xfrm>
        </p:spPr>
        <p:txBody>
          <a:bodyPr>
            <a:normAutofit/>
          </a:bodyPr>
          <a:lstStyle/>
          <a:p>
            <a:pPr>
              <a:spcAft>
                <a:spcPts val="600"/>
              </a:spcAft>
            </a:pPr>
            <a:r>
              <a:rPr lang="es-MX"/>
              <a:t>Arabots Robotics</a:t>
            </a:r>
          </a:p>
        </p:txBody>
      </p:sp>
      <p:sp>
        <p:nvSpPr>
          <p:cNvPr id="5" name="Marcador de número de diapositiva 4">
            <a:extLst>
              <a:ext uri="{FF2B5EF4-FFF2-40B4-BE49-F238E27FC236}">
                <a16:creationId xmlns:a16="http://schemas.microsoft.com/office/drawing/2014/main" id="{BD9961FB-92B7-20D6-6FAE-C1E320A1B1BB}"/>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smtClean="0"/>
              <a:pPr>
                <a:spcAft>
                  <a:spcPts val="600"/>
                </a:spcAft>
              </a:pPr>
              <a:t>120</a:t>
            </a:fld>
            <a:endParaRPr lang="es-MX"/>
          </a:p>
        </p:txBody>
      </p:sp>
    </p:spTree>
    <p:extLst>
      <p:ext uri="{BB962C8B-B14F-4D97-AF65-F5344CB8AC3E}">
        <p14:creationId xmlns:p14="http://schemas.microsoft.com/office/powerpoint/2010/main" val="199235564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35CAA76-F9D1-949A-50DC-1A8AA67624A4}"/>
              </a:ext>
            </a:extLst>
          </p:cNvPr>
          <p:cNvSpPr>
            <a:spLocks noGrp="1"/>
          </p:cNvSpPr>
          <p:nvPr>
            <p:ph type="title"/>
          </p:nvPr>
        </p:nvSpPr>
        <p:spPr>
          <a:xfrm>
            <a:off x="1171074" y="1396686"/>
            <a:ext cx="3240506" cy="4064628"/>
          </a:xfrm>
        </p:spPr>
        <p:txBody>
          <a:bodyPr vert="horz" lIns="91440" tIns="45720" rIns="91440" bIns="45720" rtlCol="0" anchor="ctr">
            <a:normAutofit/>
          </a:bodyPr>
          <a:lstStyle/>
          <a:p>
            <a:r>
              <a:rPr lang="en-US" sz="4400" kern="1200" dirty="0" err="1">
                <a:solidFill>
                  <a:srgbClr val="FFFFFF"/>
                </a:solidFill>
                <a:latin typeface="+mj-lt"/>
                <a:ea typeface="+mj-ea"/>
                <a:cs typeface="+mj-cs"/>
              </a:rPr>
              <a:t>Buscar</a:t>
            </a:r>
            <a:r>
              <a:rPr lang="en-US" sz="4400" kern="1200" dirty="0">
                <a:solidFill>
                  <a:srgbClr val="FFFFFF"/>
                </a:solidFill>
                <a:latin typeface="+mj-lt"/>
                <a:ea typeface="+mj-ea"/>
                <a:cs typeface="+mj-cs"/>
              </a:rPr>
              <a:t> en </a:t>
            </a:r>
            <a:r>
              <a:rPr lang="en-US" sz="4400" kern="1200" dirty="0" err="1">
                <a:solidFill>
                  <a:srgbClr val="FFFFFF"/>
                </a:solidFill>
                <a:latin typeface="+mj-lt"/>
                <a:ea typeface="+mj-ea"/>
                <a:cs typeface="+mj-cs"/>
              </a:rPr>
              <a:t>documentacion</a:t>
            </a:r>
            <a:endParaRPr lang="en-US" sz="4400" kern="1200" dirty="0">
              <a:solidFill>
                <a:srgbClr val="FFFFFF"/>
              </a:solidFill>
              <a:latin typeface="+mj-lt"/>
              <a:ea typeface="+mj-ea"/>
              <a:cs typeface="+mj-cs"/>
            </a:endParaRPr>
          </a:p>
        </p:txBody>
      </p:sp>
      <p:sp>
        <p:nvSpPr>
          <p:cNvPr id="17" name="Arc 16">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5EA5CBC9-0837-2984-D144-81320720A64D}"/>
              </a:ext>
            </a:extLst>
          </p:cNvPr>
          <p:cNvSpPr>
            <a:spLocks noGrp="1"/>
          </p:cNvSpPr>
          <p:nvPr>
            <p:ph idx="1"/>
          </p:nvPr>
        </p:nvSpPr>
        <p:spPr>
          <a:xfrm>
            <a:off x="5370153" y="1526033"/>
            <a:ext cx="5536397" cy="3935281"/>
          </a:xfrm>
        </p:spPr>
        <p:txBody>
          <a:bodyPr vert="horz" lIns="91440" tIns="45720" rIns="91440" bIns="45720" rtlCol="0">
            <a:normAutofit/>
          </a:bodyPr>
          <a:lstStyle/>
          <a:p>
            <a:pPr marL="0" marR="0" lvl="0" fontAlgn="base">
              <a:spcBef>
                <a:spcPct val="0"/>
              </a:spcBef>
              <a:spcAft>
                <a:spcPts val="600"/>
              </a:spcAft>
              <a:buClrTx/>
              <a:buSzTx/>
              <a:tabLst/>
            </a:pPr>
            <a:r>
              <a:rPr kumimoji="0" lang="en-US" altLang="es-MX" sz="2000" b="0" i="0" u="none" strike="noStrike" cap="none" normalizeH="0" baseline="0" dirty="0" err="1">
                <a:ln>
                  <a:noFill/>
                </a:ln>
                <a:effectLst/>
              </a:rPr>
              <a:t>Verifica</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si</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los</a:t>
            </a:r>
            <a:r>
              <a:rPr kumimoji="0" lang="en-US" altLang="es-MX" sz="2000" b="0" i="0" u="none" strike="noStrike" cap="none" normalizeH="0" baseline="0" dirty="0">
                <a:ln>
                  <a:noFill/>
                </a:ln>
                <a:effectLst/>
              </a:rPr>
              <a:t> </a:t>
            </a:r>
            <a:r>
              <a:rPr kumimoji="0" lang="en-US" altLang="es-MX" sz="2000" b="1" i="0" u="none" strike="noStrike" cap="none" normalizeH="0" baseline="0" dirty="0">
                <a:ln>
                  <a:noFill/>
                </a:ln>
                <a:effectLst/>
              </a:rPr>
              <a:t>sets </a:t>
            </a:r>
            <a:r>
              <a:rPr kumimoji="0" lang="en-US" altLang="es-MX" sz="2000" b="0" i="0" u="none" strike="noStrike" cap="none" normalizeH="0" baseline="0" dirty="0">
                <a:ln>
                  <a:noFill/>
                </a:ln>
                <a:effectLst/>
              </a:rPr>
              <a:t>a </a:t>
            </a:r>
            <a:r>
              <a:rPr kumimoji="0" lang="en-US" altLang="es-MX" sz="2000" b="0" i="0" u="none" strike="noStrike" cap="none" normalizeH="0" baseline="0" dirty="0" err="1">
                <a:ln>
                  <a:noFill/>
                </a:ln>
                <a:effectLst/>
              </a:rPr>
              <a:t>continuación</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forman</a:t>
            </a:r>
            <a:r>
              <a:rPr kumimoji="0" lang="en-US" altLang="es-MX" sz="2000" b="0" i="0" u="none" strike="noStrike" cap="none" normalizeH="0" baseline="0" dirty="0">
                <a:ln>
                  <a:noFill/>
                </a:ln>
                <a:effectLst/>
              </a:rPr>
              <a:t> conjuntos </a:t>
            </a:r>
            <a:r>
              <a:rPr kumimoji="0" lang="en-US" altLang="es-MX" sz="2000" b="0" i="0" u="none" strike="noStrike" cap="none" normalizeH="0" baseline="0" dirty="0" err="1">
                <a:ln>
                  <a:noFill/>
                </a:ln>
                <a:effectLst/>
              </a:rPr>
              <a:t>aislados</a:t>
            </a:r>
            <a:r>
              <a:rPr kumimoji="0" lang="en-US" altLang="es-MX" sz="2000" b="0" i="0" u="none" strike="noStrike" cap="none" normalizeH="0" baseline="0" dirty="0">
                <a:ln>
                  <a:noFill/>
                </a:ln>
                <a:effectLst/>
              </a:rPr>
              <a:t> (es </a:t>
            </a:r>
            <a:r>
              <a:rPr kumimoji="0" lang="en-US" altLang="es-MX" sz="2000" b="0" i="0" u="none" strike="noStrike" cap="none" normalizeH="0" baseline="0" dirty="0" err="1">
                <a:ln>
                  <a:noFill/>
                </a:ln>
                <a:effectLst/>
              </a:rPr>
              <a:t>decir</a:t>
            </a:r>
            <a:r>
              <a:rPr kumimoji="0" lang="en-US" altLang="es-MX" sz="2000" b="0" i="0" u="none" strike="noStrike" cap="none" normalizeH="0" baseline="0" dirty="0">
                <a:ln>
                  <a:noFill/>
                </a:ln>
                <a:effectLst/>
              </a:rPr>
              <a:t>, que no </a:t>
            </a:r>
            <a:r>
              <a:rPr kumimoji="0" lang="en-US" altLang="es-MX" sz="2000" b="0" i="0" u="none" strike="noStrike" cap="none" normalizeH="0" baseline="0" dirty="0" err="1">
                <a:ln>
                  <a:noFill/>
                </a:ln>
                <a:effectLst/>
              </a:rPr>
              <a:t>tienen</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elementos</a:t>
            </a:r>
            <a:r>
              <a:rPr kumimoji="0" lang="en-US" altLang="es-MX" sz="2000" b="0" i="0" u="none" strike="noStrike" cap="none" normalizeH="0" baseline="0" dirty="0">
                <a:ln>
                  <a:noFill/>
                </a:ln>
                <a:effectLst/>
              </a:rPr>
              <a:t> en </a:t>
            </a:r>
            <a:r>
              <a:rPr kumimoji="0" lang="en-US" altLang="es-MX" sz="2000" b="0" i="0" u="none" strike="noStrike" cap="none" normalizeH="0" baseline="0" dirty="0" err="1">
                <a:ln>
                  <a:noFill/>
                </a:ln>
                <a:effectLst/>
              </a:rPr>
              <a:t>común</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utilizando</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el</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método</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isdisjoint</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Almacena</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dicho</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resultado</a:t>
            </a:r>
            <a:r>
              <a:rPr kumimoji="0" lang="en-US" altLang="es-MX" sz="2000" b="0" i="0" u="none" strike="noStrike" cap="none" normalizeH="0" baseline="0" dirty="0">
                <a:ln>
                  <a:noFill/>
                </a:ln>
                <a:effectLst/>
              </a:rPr>
              <a:t> en la variable </a:t>
            </a:r>
            <a:r>
              <a:rPr kumimoji="0" lang="en-US" altLang="es-MX" sz="2000" b="0" i="0" u="none" strike="noStrike" cap="none" normalizeH="0" baseline="0" dirty="0" err="1">
                <a:ln>
                  <a:noFill/>
                </a:ln>
                <a:effectLst/>
              </a:rPr>
              <a:t>conjuntos_aislados</a:t>
            </a:r>
            <a:r>
              <a:rPr kumimoji="0" lang="en-US" altLang="es-MX" sz="2000" b="0" i="0" u="none" strike="noStrike" cap="none" normalizeH="0" baseline="0" dirty="0">
                <a:ln>
                  <a:noFill/>
                </a:ln>
                <a:effectLst/>
              </a:rPr>
              <a:t>:</a:t>
            </a:r>
          </a:p>
          <a:p>
            <a:pPr marL="0" marR="0" lvl="0" fontAlgn="base">
              <a:spcBef>
                <a:spcPct val="0"/>
              </a:spcBef>
              <a:spcAft>
                <a:spcPts val="600"/>
              </a:spcAft>
              <a:buClrTx/>
              <a:buSzTx/>
              <a:tabLst/>
            </a:pPr>
            <a:r>
              <a:rPr kumimoji="0" lang="en-US" altLang="es-MX" sz="2000" b="0" i="0" u="none" strike="noStrike" cap="none" normalizeH="0" baseline="0" dirty="0" err="1">
                <a:ln>
                  <a:noFill/>
                </a:ln>
                <a:effectLst/>
              </a:rPr>
              <a:t>marcas_smartphones</a:t>
            </a:r>
            <a:r>
              <a:rPr kumimoji="0" lang="en-US" altLang="es-MX" sz="2000" b="0" i="0" u="none" strike="noStrike" cap="none" normalizeH="0" baseline="0" dirty="0">
                <a:ln>
                  <a:noFill/>
                </a:ln>
                <a:effectLst/>
              </a:rPr>
              <a:t> = {"Samsung", "Xiaomi", "Apple", "Huawei", "LG"}</a:t>
            </a:r>
          </a:p>
          <a:p>
            <a:pPr marL="0" marR="0" lvl="0" fontAlgn="base">
              <a:spcBef>
                <a:spcPct val="0"/>
              </a:spcBef>
              <a:spcAft>
                <a:spcPts val="600"/>
              </a:spcAft>
              <a:buClrTx/>
              <a:buSzTx/>
              <a:tabLst/>
            </a:pPr>
            <a:r>
              <a:rPr kumimoji="0" lang="en-US" altLang="es-MX" sz="2000" b="0" i="0" u="none" strike="noStrike" cap="none" normalizeH="0" baseline="0" dirty="0" err="1">
                <a:ln>
                  <a:noFill/>
                </a:ln>
                <a:effectLst/>
              </a:rPr>
              <a:t>marcas_tv</a:t>
            </a:r>
            <a:r>
              <a:rPr kumimoji="0" lang="en-US" altLang="es-MX" sz="2000" b="0" i="0" u="none" strike="noStrike" cap="none" normalizeH="0" baseline="0" dirty="0">
                <a:ln>
                  <a:noFill/>
                </a:ln>
                <a:effectLst/>
              </a:rPr>
              <a:t> = {"Sony", "Philips", "Samsung", "LG"}</a:t>
            </a:r>
          </a:p>
          <a:p>
            <a:pPr marL="0" marR="0" lvl="0" fontAlgn="base">
              <a:spcBef>
                <a:spcPct val="0"/>
              </a:spcBef>
              <a:spcAft>
                <a:spcPts val="600"/>
              </a:spcAft>
              <a:buClrTx/>
              <a:buSzTx/>
              <a:tabLst/>
            </a:pPr>
            <a:r>
              <a:rPr kumimoji="0" lang="en-US" altLang="es-MX" sz="2000" b="0" i="0" u="none" strike="noStrike" cap="none" normalizeH="0" baseline="0" dirty="0" err="1">
                <a:ln>
                  <a:noFill/>
                </a:ln>
                <a:effectLst/>
              </a:rPr>
              <a:t>Busca</a:t>
            </a:r>
            <a:r>
              <a:rPr kumimoji="0" lang="en-US" altLang="es-MX" sz="2000" b="0" i="0" u="none" strike="noStrike" cap="none" normalizeH="0" baseline="0" dirty="0">
                <a:ln>
                  <a:noFill/>
                </a:ln>
                <a:effectLst/>
              </a:rPr>
              <a:t> en la </a:t>
            </a:r>
            <a:r>
              <a:rPr kumimoji="0" lang="en-US" altLang="es-MX" sz="2000" b="0" i="0" u="none" strike="noStrike" cap="none" normalizeH="0" baseline="0" dirty="0" err="1">
                <a:ln>
                  <a:noFill/>
                </a:ln>
                <a:effectLst/>
              </a:rPr>
              <a:t>documentación</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acerca</a:t>
            </a:r>
            <a:r>
              <a:rPr kumimoji="0" lang="en-US" altLang="es-MX" sz="2000" b="0" i="0" u="none" strike="noStrike" cap="none" normalizeH="0" baseline="0" dirty="0">
                <a:ln>
                  <a:noFill/>
                </a:ln>
                <a:effectLst/>
              </a:rPr>
              <a:t> del </a:t>
            </a:r>
            <a:r>
              <a:rPr kumimoji="0" lang="en-US" altLang="es-MX" sz="2000" b="0" i="0" u="none" strike="noStrike" cap="none" normalizeH="0" baseline="0" dirty="0" err="1">
                <a:ln>
                  <a:noFill/>
                </a:ln>
                <a:effectLst/>
              </a:rPr>
              <a:t>funcionamiento</a:t>
            </a:r>
            <a:r>
              <a:rPr kumimoji="0" lang="en-US" altLang="es-MX" sz="2000" b="0" i="0" u="none" strike="noStrike" cap="none" normalizeH="0" baseline="0" dirty="0">
                <a:ln>
                  <a:noFill/>
                </a:ln>
                <a:effectLst/>
              </a:rPr>
              <a:t> del </a:t>
            </a:r>
            <a:r>
              <a:rPr kumimoji="0" lang="en-US" altLang="es-MX" sz="2000" b="0" i="0" u="none" strike="noStrike" cap="none" normalizeH="0" baseline="0" dirty="0" err="1">
                <a:ln>
                  <a:noFill/>
                </a:ln>
                <a:effectLst/>
              </a:rPr>
              <a:t>método</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solicitado</a:t>
            </a:r>
            <a:r>
              <a:rPr kumimoji="0" lang="en-US" altLang="es-MX" sz="2000" b="0" i="0" u="none" strike="noStrike" cap="none" normalizeH="0" baseline="0" dirty="0">
                <a:ln>
                  <a:noFill/>
                </a:ln>
                <a:effectLst/>
              </a:rPr>
              <a:t> para saber </a:t>
            </a:r>
            <a:r>
              <a:rPr kumimoji="0" lang="en-US" altLang="es-MX" sz="2000" b="0" i="0" u="none" strike="noStrike" cap="none" normalizeH="0" baseline="0" dirty="0" err="1">
                <a:ln>
                  <a:noFill/>
                </a:ln>
                <a:effectLst/>
              </a:rPr>
              <a:t>cómo</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actúa</a:t>
            </a:r>
            <a:r>
              <a:rPr kumimoji="0" lang="en-US" altLang="es-MX" sz="2000" b="0" i="0" u="none" strike="noStrike" cap="none" normalizeH="0" baseline="0" dirty="0">
                <a:ln>
                  <a:noFill/>
                </a:ln>
                <a:effectLst/>
              </a:rPr>
              <a:t> y </a:t>
            </a:r>
            <a:r>
              <a:rPr kumimoji="0" lang="en-US" altLang="es-MX" sz="2000" b="0" i="0" u="none" strike="noStrike" cap="none" normalizeH="0" baseline="0" dirty="0" err="1">
                <a:ln>
                  <a:noFill/>
                </a:ln>
                <a:effectLst/>
              </a:rPr>
              <a:t>cómo</a:t>
            </a:r>
            <a:r>
              <a:rPr kumimoji="0" lang="en-US" altLang="es-MX" sz="2000" b="0" i="0" u="none" strike="noStrike" cap="none" normalizeH="0" baseline="0" dirty="0">
                <a:ln>
                  <a:noFill/>
                </a:ln>
                <a:effectLst/>
              </a:rPr>
              <a:t> es </a:t>
            </a:r>
            <a:r>
              <a:rPr kumimoji="0" lang="en-US" altLang="es-MX" sz="2000" b="0" i="0" u="none" strike="noStrike" cap="none" normalizeH="0" baseline="0" dirty="0" err="1">
                <a:ln>
                  <a:noFill/>
                </a:ln>
                <a:effectLst/>
              </a:rPr>
              <a:t>su</a:t>
            </a:r>
            <a:r>
              <a:rPr kumimoji="0" lang="en-US" altLang="es-MX" sz="2000" b="0" i="0" u="none" strike="noStrike" cap="none" normalizeH="0" baseline="0" dirty="0">
                <a:ln>
                  <a:noFill/>
                </a:ln>
                <a:effectLst/>
              </a:rPr>
              <a:t> </a:t>
            </a:r>
            <a:r>
              <a:rPr kumimoji="0" lang="en-US" altLang="es-MX" sz="2000" b="0" i="0" u="none" strike="noStrike" cap="none" normalizeH="0" baseline="0" dirty="0" err="1">
                <a:ln>
                  <a:noFill/>
                </a:ln>
                <a:effectLst/>
              </a:rPr>
              <a:t>funcionamiento</a:t>
            </a:r>
            <a:endParaRPr kumimoji="0" lang="en-US" altLang="es-MX" sz="2000" b="0" i="0" u="none" strike="noStrike" cap="none" normalizeH="0" baseline="0" dirty="0">
              <a:ln>
                <a:noFill/>
              </a:ln>
              <a:effectLst/>
            </a:endParaRPr>
          </a:p>
        </p:txBody>
      </p:sp>
      <p:sp>
        <p:nvSpPr>
          <p:cNvPr id="4" name="Marcador de pie de página 3">
            <a:extLst>
              <a:ext uri="{FF2B5EF4-FFF2-40B4-BE49-F238E27FC236}">
                <a16:creationId xmlns:a16="http://schemas.microsoft.com/office/drawing/2014/main" id="{211719B1-0C8B-4EDF-52F9-7249974E79EE}"/>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Arabots Robotics</a:t>
            </a:r>
          </a:p>
        </p:txBody>
      </p:sp>
      <p:sp>
        <p:nvSpPr>
          <p:cNvPr id="5" name="Marcador de número de diapositiva 4">
            <a:extLst>
              <a:ext uri="{FF2B5EF4-FFF2-40B4-BE49-F238E27FC236}">
                <a16:creationId xmlns:a16="http://schemas.microsoft.com/office/drawing/2014/main" id="{8887408A-7967-BD50-ED13-E0643FAB136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4EA4A3B0-B5DF-4E2B-B48F-E4B7B7872040}" type="slidenum">
              <a:rPr lang="en-US" smtClean="0"/>
              <a:pPr>
                <a:spcAft>
                  <a:spcPts val="600"/>
                </a:spcAft>
              </a:pPr>
              <a:t>121</a:t>
            </a:fld>
            <a:endParaRPr lang="en-US"/>
          </a:p>
        </p:txBody>
      </p:sp>
    </p:spTree>
    <p:extLst>
      <p:ext uri="{BB962C8B-B14F-4D97-AF65-F5344CB8AC3E}">
        <p14:creationId xmlns:p14="http://schemas.microsoft.com/office/powerpoint/2010/main" val="100673273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7C4865F-5B67-9D53-250E-FD1C6992EF58}"/>
              </a:ext>
            </a:extLst>
          </p:cNvPr>
          <p:cNvSpPr>
            <a:spLocks noGrp="1"/>
          </p:cNvSpPr>
          <p:nvPr>
            <p:ph type="title"/>
          </p:nvPr>
        </p:nvSpPr>
        <p:spPr>
          <a:xfrm>
            <a:off x="1171074" y="1396686"/>
            <a:ext cx="3240506" cy="4064628"/>
          </a:xfrm>
        </p:spPr>
        <p:txBody>
          <a:bodyPr>
            <a:normAutofit/>
          </a:bodyPr>
          <a:lstStyle/>
          <a:p>
            <a:r>
              <a:rPr kumimoji="0" lang="es-MX" altLang="es-MX" sz="4100" b="0" i="0" u="none" strike="noStrike" cap="none" normalizeH="0" baseline="0">
                <a:ln>
                  <a:noFill/>
                </a:ln>
                <a:solidFill>
                  <a:srgbClr val="FFFFFF"/>
                </a:solidFill>
                <a:effectLst/>
                <a:latin typeface="udemy sans"/>
              </a:rPr>
              <a:t>Remueve los caracteres a la izquierda de nuestro texto principal:</a:t>
            </a:r>
            <a:br>
              <a:rPr kumimoji="0" lang="es-MX" altLang="es-MX" sz="4100" b="0" i="0" u="none" strike="noStrike" cap="none" normalizeH="0" baseline="0">
                <a:ln>
                  <a:noFill/>
                </a:ln>
                <a:solidFill>
                  <a:srgbClr val="FFFFFF"/>
                </a:solidFill>
                <a:effectLst/>
                <a:latin typeface="udemy sans"/>
              </a:rPr>
            </a:br>
            <a:endParaRPr lang="es-MX" sz="4100">
              <a:solidFill>
                <a:srgbClr val="FFFFFF"/>
              </a:solidFill>
            </a:endParaRPr>
          </a:p>
        </p:txBody>
      </p:sp>
      <p:sp>
        <p:nvSpPr>
          <p:cNvPr id="18" name="Arc 17">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C6F9D570-966F-3762-0760-867A10ADB607}"/>
              </a:ext>
            </a:extLst>
          </p:cNvPr>
          <p:cNvSpPr>
            <a:spLocks noGrp="1"/>
          </p:cNvSpPr>
          <p:nvPr>
            <p:ph idx="1"/>
          </p:nvPr>
        </p:nvSpPr>
        <p:spPr>
          <a:xfrm>
            <a:off x="5370153" y="1526033"/>
            <a:ext cx="5536397" cy="3935281"/>
          </a:xfrm>
        </p:spPr>
        <p:txBody>
          <a:bodyPr>
            <a:normAutofit/>
          </a:bodyPr>
          <a:lstStyle/>
          <a:p>
            <a:pPr marL="0" marR="0" lvl="0" indent="0" defTabSz="914400" rtl="0" eaLnBrk="0" fontAlgn="base" latinLnBrk="0" hangingPunct="0">
              <a:spcBef>
                <a:spcPct val="0"/>
              </a:spcBef>
              <a:spcAft>
                <a:spcPct val="0"/>
              </a:spcAft>
              <a:buClrTx/>
              <a:buSzTx/>
              <a:buFontTx/>
              <a:buChar char="•"/>
              <a:tabLst/>
            </a:pPr>
            <a:r>
              <a:rPr kumimoji="0" lang="es-MX" altLang="es-MX" sz="1500" b="0" i="0" u="none" strike="noStrike" cap="none" normalizeH="0" baseline="0" dirty="0">
                <a:ln>
                  <a:noFill/>
                </a:ln>
                <a:effectLst/>
                <a:latin typeface="udemy sans"/>
              </a:rPr>
              <a:t>,</a:t>
            </a:r>
          </a:p>
          <a:p>
            <a:pPr marL="0" marR="0" lvl="0" indent="0" defTabSz="914400" rtl="0" eaLnBrk="0" fontAlgn="base" latinLnBrk="0" hangingPunct="0">
              <a:spcBef>
                <a:spcPct val="0"/>
              </a:spcBef>
              <a:spcAft>
                <a:spcPct val="0"/>
              </a:spcAft>
              <a:buClrTx/>
              <a:buSzTx/>
              <a:buFontTx/>
              <a:buChar char="•"/>
              <a:tabLst/>
            </a:pPr>
            <a:r>
              <a:rPr kumimoji="0" lang="es-MX" altLang="es-MX" sz="1500" b="0" i="0" u="none" strike="noStrike" cap="none" normalizeH="0" baseline="0" dirty="0">
                <a:ln>
                  <a:noFill/>
                </a:ln>
                <a:effectLst/>
                <a:latin typeface="udemy sans"/>
              </a:rPr>
              <a:t>:</a:t>
            </a:r>
          </a:p>
          <a:p>
            <a:pPr marL="0" marR="0" lvl="0" indent="0" defTabSz="914400" rtl="0" eaLnBrk="0" fontAlgn="base" latinLnBrk="0" hangingPunct="0">
              <a:spcBef>
                <a:spcPct val="0"/>
              </a:spcBef>
              <a:spcAft>
                <a:spcPct val="0"/>
              </a:spcAft>
              <a:buClrTx/>
              <a:buSzTx/>
              <a:buFontTx/>
              <a:buChar char="•"/>
              <a:tabLst/>
            </a:pPr>
            <a:r>
              <a:rPr kumimoji="0" lang="es-MX" altLang="es-MX" sz="1500" b="0" i="0" u="none" strike="noStrike" cap="none" normalizeH="0" baseline="0" dirty="0">
                <a:ln>
                  <a:noFill/>
                </a:ln>
                <a:effectLst/>
                <a:latin typeface="udemy sans"/>
              </a:rPr>
              <a:t>%</a:t>
            </a:r>
          </a:p>
          <a:p>
            <a:pPr marL="0" marR="0" lvl="0" indent="0" defTabSz="914400" rtl="0" eaLnBrk="0" fontAlgn="base" latinLnBrk="0" hangingPunct="0">
              <a:spcBef>
                <a:spcPct val="0"/>
              </a:spcBef>
              <a:spcAft>
                <a:spcPct val="0"/>
              </a:spcAft>
              <a:buClrTx/>
              <a:buSzTx/>
              <a:buFontTx/>
              <a:buChar char="•"/>
              <a:tabLst/>
            </a:pPr>
            <a:r>
              <a:rPr kumimoji="0" lang="es-MX" altLang="es-MX" sz="1500" b="0" i="0" u="none" strike="noStrike" cap="none" normalizeH="0" baseline="0" dirty="0">
                <a:ln>
                  <a:noFill/>
                </a:ln>
                <a:effectLst/>
                <a:latin typeface="udemy sans"/>
              </a:rPr>
              <a:t>_</a:t>
            </a:r>
          </a:p>
          <a:p>
            <a:pPr marL="0" marR="0" lvl="0" indent="0" defTabSz="914400" rtl="0" eaLnBrk="0" fontAlgn="base" latinLnBrk="0" hangingPunct="0">
              <a:spcBef>
                <a:spcPct val="0"/>
              </a:spcBef>
              <a:spcAft>
                <a:spcPct val="0"/>
              </a:spcAft>
              <a:buClrTx/>
              <a:buSzTx/>
              <a:buFontTx/>
              <a:buChar char="•"/>
              <a:tabLst/>
            </a:pPr>
            <a:r>
              <a:rPr kumimoji="0" lang="es-MX" altLang="es-MX" sz="1500" b="0" i="0" u="none" strike="noStrike" cap="none" normalizeH="0" baseline="0" dirty="0">
                <a:ln>
                  <a:noFill/>
                </a:ln>
                <a:effectLst/>
                <a:latin typeface="udemy sans"/>
              </a:rPr>
              <a:t>#</a:t>
            </a:r>
          </a:p>
          <a:p>
            <a:pPr marL="0" marR="0" lvl="0" indent="0" defTabSz="914400" rtl="0" eaLnBrk="0" fontAlgn="base" latinLnBrk="0" hangingPunct="0">
              <a:spcBef>
                <a:spcPct val="0"/>
              </a:spcBef>
              <a:spcAft>
                <a:spcPct val="0"/>
              </a:spcAft>
              <a:buClrTx/>
              <a:buSzTx/>
              <a:buFontTx/>
              <a:buNone/>
              <a:tabLst/>
            </a:pPr>
            <a:r>
              <a:rPr kumimoji="0" lang="es-MX" altLang="es-MX" sz="1500" b="0" i="0" u="none" strike="noStrike" cap="none" normalizeH="0" baseline="0" dirty="0">
                <a:ln>
                  <a:noFill/>
                </a:ln>
                <a:effectLst/>
                <a:latin typeface="udemy sans"/>
              </a:rPr>
              <a:t>Utiliza el método </a:t>
            </a:r>
            <a:r>
              <a:rPr kumimoji="0" lang="es-MX" altLang="es-MX" sz="1500" b="0" i="0" u="none" strike="noStrike" cap="none" normalizeH="0" baseline="0" dirty="0" err="1">
                <a:ln>
                  <a:noFill/>
                </a:ln>
                <a:effectLst/>
                <a:latin typeface="sfmono-regular"/>
              </a:rPr>
              <a:t>lstrip</a:t>
            </a:r>
            <a:r>
              <a:rPr kumimoji="0" lang="es-MX" altLang="es-MX" sz="1500" b="0" i="0" u="none" strike="noStrike" cap="none" normalizeH="0" baseline="0" dirty="0">
                <a:ln>
                  <a:noFill/>
                </a:ln>
                <a:effectLst/>
                <a:latin typeface="sfmono-regular"/>
              </a:rPr>
              <a:t>()</a:t>
            </a:r>
            <a:r>
              <a:rPr kumimoji="0" lang="es-MX" altLang="es-MX" sz="1500" b="0" i="0" u="none" strike="noStrike" cap="none" normalizeH="0" baseline="0" dirty="0">
                <a:ln>
                  <a:noFill/>
                </a:ln>
                <a:effectLst/>
                <a:latin typeface="udemy sans"/>
              </a:rPr>
              <a:t>. </a:t>
            </a:r>
            <a:r>
              <a:rPr kumimoji="0" lang="es-MX" altLang="es-MX" sz="1500" b="1" i="0" u="none" strike="noStrike" cap="none" normalizeH="0" baseline="0" dirty="0">
                <a:ln>
                  <a:noFill/>
                </a:ln>
                <a:effectLst/>
                <a:latin typeface="udemy sans"/>
              </a:rPr>
              <a:t>Imprime </a:t>
            </a:r>
            <a:r>
              <a:rPr kumimoji="0" lang="es-MX" altLang="es-MX" sz="1500" b="0" i="0" u="none" strike="noStrike" cap="none" normalizeH="0" baseline="0" dirty="0">
                <a:ln>
                  <a:noFill/>
                </a:ln>
                <a:effectLst/>
                <a:latin typeface="udemy sans"/>
              </a:rPr>
              <a:t>el resultado en pantalla:</a:t>
            </a:r>
          </a:p>
          <a:p>
            <a:pPr marL="0" marR="0" lvl="0" indent="0" defTabSz="914400" rtl="0" eaLnBrk="0" fontAlgn="base" latinLnBrk="0" hangingPunct="0">
              <a:spcBef>
                <a:spcPct val="0"/>
              </a:spcBef>
              <a:spcAft>
                <a:spcPct val="0"/>
              </a:spcAft>
              <a:buClrTx/>
              <a:buSzTx/>
              <a:buFontTx/>
              <a:buNone/>
              <a:tabLst/>
            </a:pPr>
            <a:r>
              <a:rPr kumimoji="0" lang="es-MX" altLang="es-MX" sz="1500" b="1" i="0" u="none" strike="noStrike" cap="none" normalizeH="0" baseline="0" dirty="0">
                <a:ln>
                  <a:noFill/>
                </a:ln>
                <a:effectLst/>
                <a:latin typeface="sfmono-regular"/>
              </a:rPr>
              <a:t>",:_#,,,,,,:::____##Pyt%on_ _Total,,,,,,::#"</a:t>
            </a:r>
            <a:endParaRPr kumimoji="0" lang="es-MX" altLang="es-MX" sz="1500" b="0" i="0" u="none" strike="noStrike" cap="none" normalizeH="0" baseline="0" dirty="0">
              <a:ln>
                <a:noFill/>
              </a:ln>
              <a:effectLst/>
              <a:latin typeface="udemy sans"/>
            </a:endParaRPr>
          </a:p>
          <a:p>
            <a:pPr marL="0" marR="0" lvl="0" indent="0" defTabSz="914400" rtl="0" eaLnBrk="0" fontAlgn="base" latinLnBrk="0" hangingPunct="0">
              <a:spcBef>
                <a:spcPct val="0"/>
              </a:spcBef>
              <a:spcAft>
                <a:spcPct val="0"/>
              </a:spcAft>
              <a:buClrTx/>
              <a:buSzTx/>
              <a:buFontTx/>
              <a:buNone/>
              <a:tabLst/>
            </a:pPr>
            <a:r>
              <a:rPr kumimoji="0" lang="es-MX" altLang="es-MX" sz="1500" b="0" i="0" u="none" strike="noStrike" cap="none" normalizeH="0" baseline="0" dirty="0">
                <a:ln>
                  <a:noFill/>
                </a:ln>
                <a:effectLst/>
                <a:latin typeface="udemy sans"/>
              </a:rPr>
              <a:t>Busca en la documentación acerca del funcionamiento del método solicitado para saber cómo actúa. Puedes utilizar variables intermedias si las necesitas.</a:t>
            </a:r>
            <a:endParaRPr kumimoji="0" lang="es-MX" altLang="es-MX" sz="1500" b="0" i="0" u="none" strike="noStrike" cap="none" normalizeH="0" baseline="0" dirty="0">
              <a:ln>
                <a:noFill/>
              </a:ln>
              <a:effectLst/>
            </a:endParaRPr>
          </a:p>
          <a:p>
            <a:pPr marL="0" marR="0" lvl="0" indent="0" defTabSz="914400" rtl="0" eaLnBrk="0" fontAlgn="base" latinLnBrk="0" hangingPunct="0">
              <a:spcBef>
                <a:spcPct val="0"/>
              </a:spcBef>
              <a:spcAft>
                <a:spcPct val="0"/>
              </a:spcAft>
              <a:buClrTx/>
              <a:buSzTx/>
              <a:buFontTx/>
              <a:buNone/>
              <a:tabLst/>
            </a:pPr>
            <a:endParaRPr kumimoji="0" lang="es-MX" altLang="es-MX" sz="1500" b="0" i="0" u="none" strike="noStrike" cap="none" normalizeH="0" baseline="0" dirty="0">
              <a:ln>
                <a:noFill/>
              </a:ln>
              <a:effectLst/>
              <a:latin typeface="udemy sans"/>
            </a:endParaRPr>
          </a:p>
          <a:p>
            <a:pPr marL="0" marR="0" lvl="0" indent="0" defTabSz="914400" rtl="0" eaLnBrk="0" fontAlgn="base" latinLnBrk="0" hangingPunct="0">
              <a:spcBef>
                <a:spcPct val="0"/>
              </a:spcBef>
              <a:spcAft>
                <a:spcPct val="0"/>
              </a:spcAft>
              <a:buClrTx/>
              <a:buSzTx/>
              <a:buFontTx/>
              <a:buNone/>
              <a:tabLst/>
            </a:pPr>
            <a:r>
              <a:rPr kumimoji="0" lang="es-MX" altLang="es-MX" sz="1500" b="0" i="0" u="none" strike="noStrike" cap="none" normalizeH="0" baseline="0" dirty="0">
                <a:ln>
                  <a:noFill/>
                </a:ln>
                <a:effectLst/>
                <a:latin typeface="udemy sans"/>
              </a:rPr>
              <a:t>Añade el elemento "</a:t>
            </a:r>
            <a:r>
              <a:rPr kumimoji="0" lang="es-MX" altLang="es-MX" sz="1500" b="1" i="0" u="none" strike="noStrike" cap="none" normalizeH="0" baseline="0" dirty="0">
                <a:ln>
                  <a:noFill/>
                </a:ln>
                <a:effectLst/>
                <a:latin typeface="udemy sans"/>
              </a:rPr>
              <a:t>naranja</a:t>
            </a:r>
            <a:r>
              <a:rPr kumimoji="0" lang="es-MX" altLang="es-MX" sz="1500" b="0" i="0" u="none" strike="noStrike" cap="none" normalizeH="0" baseline="0" dirty="0">
                <a:ln>
                  <a:noFill/>
                </a:ln>
                <a:effectLst/>
                <a:latin typeface="udemy sans"/>
              </a:rPr>
              <a:t>" como el </a:t>
            </a:r>
            <a:r>
              <a:rPr kumimoji="0" lang="es-MX" altLang="es-MX" sz="1500" b="1" i="0" u="none" strike="noStrike" cap="none" normalizeH="0" baseline="0" dirty="0">
                <a:ln>
                  <a:noFill/>
                </a:ln>
                <a:effectLst/>
                <a:latin typeface="udemy sans"/>
              </a:rPr>
              <a:t>cuarto </a:t>
            </a:r>
            <a:r>
              <a:rPr kumimoji="0" lang="es-MX" altLang="es-MX" sz="1500" b="0" i="0" u="none" strike="noStrike" cap="none" normalizeH="0" baseline="0" dirty="0">
                <a:ln>
                  <a:noFill/>
                </a:ln>
                <a:effectLst/>
                <a:latin typeface="udemy sans"/>
              </a:rPr>
              <a:t>elemento de la siguiente lista "frutas", utilizando</a:t>
            </a:r>
            <a:endParaRPr kumimoji="0" lang="es-MX" altLang="es-MX" sz="1500" b="0" i="0" u="none" strike="noStrike" cap="none" normalizeH="0" baseline="0" dirty="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1500" b="0" i="0" u="none" strike="noStrike" cap="none" normalizeH="0" baseline="0" dirty="0">
                <a:ln>
                  <a:noFill/>
                </a:ln>
                <a:effectLst/>
                <a:latin typeface="udemy sans"/>
              </a:rPr>
              <a:t>el método </a:t>
            </a:r>
            <a:r>
              <a:rPr kumimoji="0" lang="es-MX" altLang="es-MX" sz="1500" b="0" i="0" u="none" strike="noStrike" cap="none" normalizeH="0" baseline="0" dirty="0" err="1">
                <a:ln>
                  <a:noFill/>
                </a:ln>
                <a:effectLst/>
                <a:latin typeface="sfmono-regular"/>
              </a:rPr>
              <a:t>insert</a:t>
            </a:r>
            <a:r>
              <a:rPr kumimoji="0" lang="es-MX" altLang="es-MX" sz="1500" b="0" i="0" u="none" strike="noStrike" cap="none" normalizeH="0" baseline="0" dirty="0">
                <a:ln>
                  <a:noFill/>
                </a:ln>
                <a:effectLst/>
                <a:latin typeface="sfmono-regular"/>
              </a:rPr>
              <a:t>()</a:t>
            </a:r>
            <a:r>
              <a:rPr kumimoji="0" lang="es-MX" altLang="es-MX" sz="1500" b="0" i="0" u="none" strike="noStrike" cap="none" normalizeH="0" baseline="0" dirty="0">
                <a:ln>
                  <a:noFill/>
                </a:ln>
                <a:effectLst/>
                <a:latin typeface="udemy sans"/>
              </a:rPr>
              <a:t>:</a:t>
            </a:r>
            <a:endParaRPr kumimoji="0" lang="es-MX" altLang="es-MX" sz="1500" b="0" i="0" u="none" strike="noStrike" cap="none" normalizeH="0" baseline="0" dirty="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1500" b="0" i="0" u="none" strike="noStrike" cap="none" normalizeH="0" baseline="0" dirty="0">
                <a:ln>
                  <a:noFill/>
                </a:ln>
                <a:effectLst/>
                <a:latin typeface="sfmono-regular"/>
              </a:rPr>
              <a:t>frutas = ["mango", "banana", "cereza", "ciruela", "pomelo"]</a:t>
            </a:r>
            <a:endParaRPr kumimoji="0" lang="es-MX" altLang="es-MX" sz="1500" b="0" i="0" u="none" strike="noStrike" cap="none" normalizeH="0" baseline="0" dirty="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1500" b="0" i="0" u="none" strike="noStrike" cap="none" normalizeH="0" baseline="0" dirty="0">
                <a:ln>
                  <a:noFill/>
                </a:ln>
                <a:effectLst/>
                <a:latin typeface="udemy sans"/>
              </a:rPr>
              <a:t>Busca en la documentación acerca del funcionamiento del método solicitado para saber cómo actúa y cómo es su funcionamiento</a:t>
            </a:r>
            <a:endParaRPr kumimoji="0" lang="es-MX" altLang="es-MX" sz="1500" b="0" i="0" u="none" strike="noStrike" cap="none" normalizeH="0" baseline="0" dirty="0">
              <a:ln>
                <a:noFill/>
              </a:ln>
              <a:effectLst/>
              <a:latin typeface="Arial" panose="020B0604020202020204" pitchFamily="34" charset="0"/>
            </a:endParaRPr>
          </a:p>
          <a:p>
            <a:pPr marL="0" indent="0">
              <a:buNone/>
            </a:pPr>
            <a:endParaRPr lang="es-MX" sz="1500" dirty="0"/>
          </a:p>
        </p:txBody>
      </p:sp>
      <p:sp>
        <p:nvSpPr>
          <p:cNvPr id="4" name="Marcador de pie de página 3">
            <a:extLst>
              <a:ext uri="{FF2B5EF4-FFF2-40B4-BE49-F238E27FC236}">
                <a16:creationId xmlns:a16="http://schemas.microsoft.com/office/drawing/2014/main" id="{D1267285-FB4C-C46D-42A7-F86C29ECF64D}"/>
              </a:ext>
            </a:extLst>
          </p:cNvPr>
          <p:cNvSpPr>
            <a:spLocks noGrp="1"/>
          </p:cNvSpPr>
          <p:nvPr>
            <p:ph type="ftr" sz="quarter" idx="11"/>
          </p:nvPr>
        </p:nvSpPr>
        <p:spPr>
          <a:xfrm>
            <a:off x="4038600" y="6356350"/>
            <a:ext cx="4114800" cy="365125"/>
          </a:xfrm>
        </p:spPr>
        <p:txBody>
          <a:bodyPr>
            <a:normAutofit/>
          </a:bodyPr>
          <a:lstStyle/>
          <a:p>
            <a:pPr>
              <a:spcAft>
                <a:spcPts val="600"/>
              </a:spcAft>
            </a:pPr>
            <a:r>
              <a:rPr lang="es-MX"/>
              <a:t>Arabots Robotics</a:t>
            </a:r>
          </a:p>
        </p:txBody>
      </p:sp>
      <p:sp>
        <p:nvSpPr>
          <p:cNvPr id="5" name="Marcador de número de diapositiva 4">
            <a:extLst>
              <a:ext uri="{FF2B5EF4-FFF2-40B4-BE49-F238E27FC236}">
                <a16:creationId xmlns:a16="http://schemas.microsoft.com/office/drawing/2014/main" id="{2E296CA4-5B37-855E-D1F4-A57CDC5D9ED1}"/>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smtClean="0"/>
              <a:pPr>
                <a:spcAft>
                  <a:spcPts val="600"/>
                </a:spcAft>
              </a:pPr>
              <a:t>122</a:t>
            </a:fld>
            <a:endParaRPr lang="es-MX"/>
          </a:p>
        </p:txBody>
      </p:sp>
      <p:sp>
        <p:nvSpPr>
          <p:cNvPr id="6" name="Rectangle 1">
            <a:extLst>
              <a:ext uri="{FF2B5EF4-FFF2-40B4-BE49-F238E27FC236}">
                <a16:creationId xmlns:a16="http://schemas.microsoft.com/office/drawing/2014/main" id="{4E0DFD21-EF22-0264-7565-44251C1EF588}"/>
              </a:ext>
            </a:extLst>
          </p:cNvPr>
          <p:cNvSpPr>
            <a:spLocks noChangeArrowheads="1"/>
          </p:cNvSpPr>
          <p:nvPr/>
        </p:nvSpPr>
        <p:spPr bwMode="auto">
          <a:xfrm>
            <a:off x="0" y="90100"/>
            <a:ext cx="65" cy="276999"/>
          </a:xfrm>
          <a:prstGeom prst="rect">
            <a:avLst/>
          </a:prstGeom>
          <a:solidFill>
            <a:srgbClr val="F7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9" name="Rectangle 4">
            <a:extLst>
              <a:ext uri="{FF2B5EF4-FFF2-40B4-BE49-F238E27FC236}">
                <a16:creationId xmlns:a16="http://schemas.microsoft.com/office/drawing/2014/main" id="{C45B7EB5-5CB6-BCB7-B938-B661B7AE7812}"/>
              </a:ext>
            </a:extLst>
          </p:cNvPr>
          <p:cNvSpPr>
            <a:spLocks noChangeArrowheads="1"/>
          </p:cNvSpPr>
          <p:nvPr/>
        </p:nvSpPr>
        <p:spPr bwMode="auto">
          <a:xfrm>
            <a:off x="0" y="-200055"/>
            <a:ext cx="6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s-MX" altLang="es-MX" sz="800" b="0" i="0" u="none" strike="noStrike" cap="none" normalizeH="0" baseline="0">
                <a:ln>
                  <a:noFill/>
                </a:ln>
                <a:solidFill>
                  <a:srgbClr val="6A6F73"/>
                </a:solidFill>
                <a:effectLst/>
                <a:latin typeface="udemy sans"/>
              </a:rPr>
            </a:br>
            <a:endParaRPr kumimoji="0" lang="es-MX" altLang="es-MX"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405453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23B505-A8D7-24A4-7ED8-5A6A9EDAFD1B}"/>
              </a:ext>
            </a:extLst>
          </p:cNvPr>
          <p:cNvSpPr>
            <a:spLocks noGrp="1"/>
          </p:cNvSpPr>
          <p:nvPr>
            <p:ph type="title"/>
          </p:nvPr>
        </p:nvSpPr>
        <p:spPr/>
        <p:txBody>
          <a:bodyPr/>
          <a:lstStyle/>
          <a:p>
            <a:r>
              <a:rPr lang="es-MX" dirty="0"/>
              <a:t>Funciones</a:t>
            </a:r>
            <a:br>
              <a:rPr lang="es-MX" dirty="0"/>
            </a:br>
            <a:endParaRPr lang="es-MX" dirty="0"/>
          </a:p>
        </p:txBody>
      </p:sp>
      <p:graphicFrame>
        <p:nvGraphicFramePr>
          <p:cNvPr id="12" name="Marcador de contenido 2">
            <a:extLst>
              <a:ext uri="{FF2B5EF4-FFF2-40B4-BE49-F238E27FC236}">
                <a16:creationId xmlns:a16="http://schemas.microsoft.com/office/drawing/2014/main" id="{D39EC86B-2767-E1B7-2A21-886E7C65C578}"/>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Marcador de pie de página 3">
            <a:extLst>
              <a:ext uri="{FF2B5EF4-FFF2-40B4-BE49-F238E27FC236}">
                <a16:creationId xmlns:a16="http://schemas.microsoft.com/office/drawing/2014/main" id="{CB534C0A-C3E9-560A-F22A-93AF85A4623C}"/>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97B3FE12-A829-2645-23A3-422456CFFAFD}"/>
              </a:ext>
            </a:extLst>
          </p:cNvPr>
          <p:cNvSpPr>
            <a:spLocks noGrp="1"/>
          </p:cNvSpPr>
          <p:nvPr>
            <p:ph type="sldNum" sz="quarter" idx="12"/>
          </p:nvPr>
        </p:nvSpPr>
        <p:spPr/>
        <p:txBody>
          <a:bodyPr/>
          <a:lstStyle/>
          <a:p>
            <a:fld id="{4EA4A3B0-B5DF-4E2B-B48F-E4B7B7872040}" type="slidenum">
              <a:rPr lang="es-MX" smtClean="0"/>
              <a:t>123</a:t>
            </a:fld>
            <a:endParaRPr lang="es-MX"/>
          </a:p>
        </p:txBody>
      </p:sp>
      <mc:AlternateContent xmlns:mc="http://schemas.openxmlformats.org/markup-compatibility/2006" xmlns:p14="http://schemas.microsoft.com/office/powerpoint/2010/main">
        <mc:Choice Requires="p14">
          <p:contentPart p14:bwMode="auto" r:id="rId7">
            <p14:nvContentPartPr>
              <p14:cNvPr id="6" name="Entrada de lápiz 5">
                <a:extLst>
                  <a:ext uri="{FF2B5EF4-FFF2-40B4-BE49-F238E27FC236}">
                    <a16:creationId xmlns:a16="http://schemas.microsoft.com/office/drawing/2014/main" id="{6B989FA1-96E5-BEFA-A905-00C16340DAAE}"/>
                  </a:ext>
                </a:extLst>
              </p14:cNvPr>
              <p14:cNvContentPartPr/>
              <p14:nvPr/>
            </p14:nvContentPartPr>
            <p14:xfrm>
              <a:off x="6688888" y="4524950"/>
              <a:ext cx="244080" cy="503280"/>
            </p14:xfrm>
          </p:contentPart>
        </mc:Choice>
        <mc:Fallback xmlns="">
          <p:pic>
            <p:nvPicPr>
              <p:cNvPr id="6" name="Entrada de lápiz 5">
                <a:extLst>
                  <a:ext uri="{FF2B5EF4-FFF2-40B4-BE49-F238E27FC236}">
                    <a16:creationId xmlns:a16="http://schemas.microsoft.com/office/drawing/2014/main" id="{6B989FA1-96E5-BEFA-A905-00C16340DAAE}"/>
                  </a:ext>
                </a:extLst>
              </p:cNvPr>
              <p:cNvPicPr/>
              <p:nvPr/>
            </p:nvPicPr>
            <p:blipFill>
              <a:blip r:embed="rId8"/>
              <a:stretch>
                <a:fillRect/>
              </a:stretch>
            </p:blipFill>
            <p:spPr>
              <a:xfrm>
                <a:off x="6679888" y="4516310"/>
                <a:ext cx="261720" cy="520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Entrada de lápiz 6">
                <a:extLst>
                  <a:ext uri="{FF2B5EF4-FFF2-40B4-BE49-F238E27FC236}">
                    <a16:creationId xmlns:a16="http://schemas.microsoft.com/office/drawing/2014/main" id="{9CECFD0A-5DF2-EFA6-79A6-721C9C0E42E3}"/>
                  </a:ext>
                </a:extLst>
              </p14:cNvPr>
              <p14:cNvContentPartPr/>
              <p14:nvPr/>
            </p14:nvContentPartPr>
            <p14:xfrm>
              <a:off x="6547408" y="4889270"/>
              <a:ext cx="518760" cy="417960"/>
            </p14:xfrm>
          </p:contentPart>
        </mc:Choice>
        <mc:Fallback xmlns="">
          <p:pic>
            <p:nvPicPr>
              <p:cNvPr id="7" name="Entrada de lápiz 6">
                <a:extLst>
                  <a:ext uri="{FF2B5EF4-FFF2-40B4-BE49-F238E27FC236}">
                    <a16:creationId xmlns:a16="http://schemas.microsoft.com/office/drawing/2014/main" id="{9CECFD0A-5DF2-EFA6-79A6-721C9C0E42E3}"/>
                  </a:ext>
                </a:extLst>
              </p:cNvPr>
              <p:cNvPicPr/>
              <p:nvPr/>
            </p:nvPicPr>
            <p:blipFill>
              <a:blip r:embed="rId10"/>
              <a:stretch>
                <a:fillRect/>
              </a:stretch>
            </p:blipFill>
            <p:spPr>
              <a:xfrm>
                <a:off x="6538768" y="4880270"/>
                <a:ext cx="536400" cy="435600"/>
              </a:xfrm>
              <a:prstGeom prst="rect">
                <a:avLst/>
              </a:prstGeom>
            </p:spPr>
          </p:pic>
        </mc:Fallback>
      </mc:AlternateContent>
    </p:spTree>
    <p:extLst>
      <p:ext uri="{BB962C8B-B14F-4D97-AF65-F5344CB8AC3E}">
        <p14:creationId xmlns:p14="http://schemas.microsoft.com/office/powerpoint/2010/main" val="213001211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6447E8-1503-B8D1-BF5C-415648BD5593}"/>
              </a:ext>
            </a:extLst>
          </p:cNvPr>
          <p:cNvSpPr>
            <a:spLocks noGrp="1"/>
          </p:cNvSpPr>
          <p:nvPr>
            <p:ph type="title"/>
          </p:nvPr>
        </p:nvSpPr>
        <p:spPr/>
        <p:txBody>
          <a:bodyPr/>
          <a:lstStyle/>
          <a:p>
            <a:r>
              <a:rPr lang="es-MX" dirty="0"/>
              <a:t>Funciones</a:t>
            </a:r>
          </a:p>
        </p:txBody>
      </p:sp>
      <p:graphicFrame>
        <p:nvGraphicFramePr>
          <p:cNvPr id="10" name="Marcador de contenido 2">
            <a:extLst>
              <a:ext uri="{FF2B5EF4-FFF2-40B4-BE49-F238E27FC236}">
                <a16:creationId xmlns:a16="http://schemas.microsoft.com/office/drawing/2014/main" id="{BB27F5E0-4B1A-2547-58B5-1AE60AC27FC1}"/>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Marcador de pie de página 3">
            <a:extLst>
              <a:ext uri="{FF2B5EF4-FFF2-40B4-BE49-F238E27FC236}">
                <a16:creationId xmlns:a16="http://schemas.microsoft.com/office/drawing/2014/main" id="{BB109219-A63B-5BCA-3603-015CB54ADAF0}"/>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091D8BF6-C370-6E73-038A-08BE50BC4E92}"/>
              </a:ext>
            </a:extLst>
          </p:cNvPr>
          <p:cNvSpPr>
            <a:spLocks noGrp="1"/>
          </p:cNvSpPr>
          <p:nvPr>
            <p:ph type="sldNum" sz="quarter" idx="12"/>
          </p:nvPr>
        </p:nvSpPr>
        <p:spPr/>
        <p:txBody>
          <a:bodyPr/>
          <a:lstStyle/>
          <a:p>
            <a:fld id="{4EA4A3B0-B5DF-4E2B-B48F-E4B7B7872040}" type="slidenum">
              <a:rPr lang="es-MX" smtClean="0"/>
              <a:t>124</a:t>
            </a:fld>
            <a:endParaRPr lang="es-MX"/>
          </a:p>
        </p:txBody>
      </p:sp>
    </p:spTree>
    <p:extLst>
      <p:ext uri="{BB962C8B-B14F-4D97-AF65-F5344CB8AC3E}">
        <p14:creationId xmlns:p14="http://schemas.microsoft.com/office/powerpoint/2010/main" val="326728756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1927FEA-D8A3-5DA9-585C-2DA08558A749}"/>
              </a:ext>
            </a:extLst>
          </p:cNvPr>
          <p:cNvSpPr>
            <a:spLocks noGrp="1"/>
          </p:cNvSpPr>
          <p:nvPr>
            <p:ph type="title"/>
          </p:nvPr>
        </p:nvSpPr>
        <p:spPr>
          <a:xfrm>
            <a:off x="1171074" y="1396686"/>
            <a:ext cx="3240506" cy="4064628"/>
          </a:xfrm>
        </p:spPr>
        <p:txBody>
          <a:bodyPr vert="horz" lIns="91440" tIns="45720" rIns="91440" bIns="45720" rtlCol="0" anchor="ctr">
            <a:normAutofit/>
          </a:bodyPr>
          <a:lstStyle/>
          <a:p>
            <a:r>
              <a:rPr lang="en-US" sz="4400" kern="1200" dirty="0" err="1">
                <a:solidFill>
                  <a:srgbClr val="FFFFFF"/>
                </a:solidFill>
                <a:latin typeface="+mj-lt"/>
                <a:ea typeface="+mj-ea"/>
                <a:cs typeface="+mj-cs"/>
              </a:rPr>
              <a:t>Ejercicios</a:t>
            </a:r>
            <a:r>
              <a:rPr lang="en-US" sz="4400" kern="1200" dirty="0">
                <a:solidFill>
                  <a:srgbClr val="FFFFFF"/>
                </a:solidFill>
                <a:latin typeface="+mj-lt"/>
                <a:ea typeface="+mj-ea"/>
                <a:cs typeface="+mj-cs"/>
              </a:rPr>
              <a:t> </a:t>
            </a:r>
            <a:r>
              <a:rPr lang="en-US" sz="4400" kern="1200" dirty="0" err="1">
                <a:solidFill>
                  <a:srgbClr val="FFFFFF"/>
                </a:solidFill>
                <a:latin typeface="+mj-lt"/>
                <a:ea typeface="+mj-ea"/>
                <a:cs typeface="+mj-cs"/>
              </a:rPr>
              <a:t>definicion</a:t>
            </a:r>
            <a:r>
              <a:rPr lang="en-US" sz="4400" kern="1200" dirty="0">
                <a:solidFill>
                  <a:srgbClr val="FFFFFF"/>
                </a:solidFill>
                <a:latin typeface="+mj-lt"/>
                <a:ea typeface="+mj-ea"/>
                <a:cs typeface="+mj-cs"/>
              </a:rPr>
              <a:t> de </a:t>
            </a:r>
            <a:r>
              <a:rPr lang="en-US" sz="4400" kern="1200" dirty="0" err="1">
                <a:solidFill>
                  <a:srgbClr val="FFFFFF"/>
                </a:solidFill>
                <a:latin typeface="+mj-lt"/>
                <a:ea typeface="+mj-ea"/>
                <a:cs typeface="+mj-cs"/>
              </a:rPr>
              <a:t>funciones</a:t>
            </a:r>
            <a:endParaRPr lang="en-US" sz="4400" kern="1200" dirty="0">
              <a:solidFill>
                <a:srgbClr val="FFFFFF"/>
              </a:solidFill>
              <a:latin typeface="+mj-lt"/>
              <a:ea typeface="+mj-ea"/>
              <a:cs typeface="+mj-cs"/>
            </a:endParaRPr>
          </a:p>
        </p:txBody>
      </p:sp>
      <p:sp>
        <p:nvSpPr>
          <p:cNvPr id="22" name="Arc 2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 name="CuadroTexto 9">
            <a:extLst>
              <a:ext uri="{FF2B5EF4-FFF2-40B4-BE49-F238E27FC236}">
                <a16:creationId xmlns:a16="http://schemas.microsoft.com/office/drawing/2014/main" id="{9227D62C-F5C6-12EE-A3D9-FE329A5B2638}"/>
              </a:ext>
            </a:extLst>
          </p:cNvPr>
          <p:cNvSpPr txBox="1"/>
          <p:nvPr/>
        </p:nvSpPr>
        <p:spPr>
          <a:xfrm>
            <a:off x="5370153" y="1526033"/>
            <a:ext cx="5536397" cy="3935281"/>
          </a:xfrm>
          <a:prstGeom prst="rect">
            <a:avLst/>
          </a:prstGeom>
        </p:spPr>
        <p:txBody>
          <a:bodyPr vert="horz" lIns="91440" tIns="45720" rIns="91440" bIns="45720" rtlCol="0">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100" b="0" i="0" u="none" strike="noStrike" cap="none" normalizeH="0" baseline="0">
                <a:ln>
                  <a:noFill/>
                </a:ln>
                <a:effectLst/>
              </a:rPr>
              <a:t>Declara una función llamada saludar, que cada vez que sea llamada imprima en pantalla "¡Hola mundo!"</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100" b="0" i="1" u="none" strike="noStrike" cap="none" normalizeH="0" baseline="0">
                <a:ln>
                  <a:noFill/>
                </a:ln>
                <a:effectLst/>
              </a:rPr>
              <a:t>Solo debes definir la función, no debes invocarla luego</a:t>
            </a: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s-MX" sz="1100" i="1"/>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100" b="0" i="0" u="none" strike="noStrike" cap="none" normalizeH="0" baseline="0">
                <a:ln>
                  <a:noFill/>
                </a:ln>
                <a:effectLst/>
              </a:rPr>
              <a:t>Declara una función llamada bienvenida, que tome como </a:t>
            </a:r>
            <a:r>
              <a:rPr kumimoji="0" lang="en-US" altLang="es-MX" sz="1100" b="1" i="0" u="none" strike="noStrike" cap="none" normalizeH="0" baseline="0">
                <a:ln>
                  <a:noFill/>
                </a:ln>
                <a:effectLst/>
              </a:rPr>
              <a:t>argumento </a:t>
            </a:r>
            <a:r>
              <a:rPr kumimoji="0" lang="en-US" altLang="es-MX" sz="1100" b="0" i="0" u="none" strike="noStrike" cap="none" normalizeH="0" baseline="0">
                <a:ln>
                  <a:noFill/>
                </a:ln>
                <a:effectLst/>
              </a:rPr>
              <a:t>el nombre de una persona, y que cada vez que sea llamada </a:t>
            </a:r>
            <a:r>
              <a:rPr kumimoji="0" lang="en-US" altLang="es-MX" sz="1100" b="1" i="0" u="none" strike="noStrike" cap="none" normalizeH="0" baseline="0">
                <a:ln>
                  <a:noFill/>
                </a:ln>
                <a:effectLst/>
              </a:rPr>
              <a:t>imprima </a:t>
            </a:r>
            <a:r>
              <a:rPr kumimoji="0" lang="en-US" altLang="es-MX" sz="1100" b="0" i="0" u="none" strike="noStrike" cap="none" normalizeH="0" baseline="0">
                <a:ln>
                  <a:noFill/>
                </a:ln>
                <a:effectLst/>
              </a:rPr>
              <a:t>en pantalla </a:t>
            </a:r>
            <a:r>
              <a:rPr kumimoji="0" lang="en-US" altLang="es-MX" sz="1100" b="1" i="0" u="none" strike="noStrike" cap="none" normalizeH="0" baseline="0">
                <a:ln>
                  <a:noFill/>
                </a:ln>
                <a:effectLst/>
              </a:rPr>
              <a:t>"¡Bienvenido {nombre_persona}!"</a:t>
            </a:r>
            <a:endParaRPr kumimoji="0" lang="en-US" altLang="es-MX" sz="1100" b="0" i="0" u="none" strike="noStrike" cap="none" normalizeH="0" baseline="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100" b="0" i="0" u="none" strike="noStrike" cap="none" normalizeH="0" baseline="0">
                <a:ln>
                  <a:noFill/>
                </a:ln>
                <a:effectLst/>
              </a:rPr>
              <a:t>Crea la </a:t>
            </a:r>
            <a:r>
              <a:rPr kumimoji="0" lang="en-US" altLang="es-MX" sz="1100" b="1" i="0" u="none" strike="noStrike" cap="none" normalizeH="0" baseline="0">
                <a:ln>
                  <a:noFill/>
                </a:ln>
                <a:effectLst/>
              </a:rPr>
              <a:t>variable </a:t>
            </a:r>
            <a:r>
              <a:rPr kumimoji="0" lang="en-US" altLang="es-MX" sz="1100" b="0" i="0" u="none" strike="noStrike" cap="none" normalizeH="0" baseline="0">
                <a:ln>
                  <a:noFill/>
                </a:ln>
                <a:effectLst/>
              </a:rPr>
              <a:t>nombre_persona, y almacena dentro de la misma el nombre que prefieras.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100" b="0" i="1" u="none" strike="noStrike" cap="none" normalizeH="0" baseline="0">
                <a:ln>
                  <a:noFill/>
                </a:ln>
                <a:effectLst/>
              </a:rPr>
              <a:t>Solo debes definir la función y crear la variable, no debes invocar la función luego</a:t>
            </a:r>
            <a:endParaRPr kumimoji="0" lang="en-US" altLang="es-MX" sz="1100" b="0" i="0" u="none" strike="noStrike" cap="none" normalizeH="0" baseline="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s-MX" sz="1100" b="0" i="0" u="none" strike="noStrike" cap="none" normalizeH="0" baseline="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s-MX" sz="1100"/>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100" b="0" i="0" u="none" strike="noStrike" cap="none" normalizeH="0" baseline="0">
                <a:ln>
                  <a:noFill/>
                </a:ln>
                <a:effectLst/>
              </a:rPr>
              <a:t>Declara una función llamada cuadrado, que tome como </a:t>
            </a:r>
            <a:r>
              <a:rPr kumimoji="0" lang="en-US" altLang="es-MX" sz="1100" b="1" i="0" u="none" strike="noStrike" cap="none" normalizeH="0" baseline="0">
                <a:ln>
                  <a:noFill/>
                </a:ln>
                <a:effectLst/>
              </a:rPr>
              <a:t>argumento </a:t>
            </a:r>
            <a:r>
              <a:rPr kumimoji="0" lang="en-US" altLang="es-MX" sz="1100" b="0" i="0" u="none" strike="noStrike" cap="none" normalizeH="0" baseline="0">
                <a:ln>
                  <a:noFill/>
                </a:ln>
                <a:effectLst/>
              </a:rPr>
              <a:t>un </a:t>
            </a:r>
            <a:r>
              <a:rPr kumimoji="0" lang="en-US" altLang="es-MX" sz="1100" b="0" i="1" u="none" strike="noStrike" cap="none" normalizeH="0" baseline="0">
                <a:ln>
                  <a:noFill/>
                </a:ln>
                <a:effectLst/>
              </a:rPr>
              <a:t>número </a:t>
            </a:r>
            <a:r>
              <a:rPr kumimoji="0" lang="en-US" altLang="es-MX" sz="1100" b="0" i="0" u="none" strike="noStrike" cap="none" normalizeH="0" baseline="0">
                <a:ln>
                  <a:noFill/>
                </a:ln>
                <a:effectLst/>
              </a:rPr>
              <a:t>cualquiera, y que cada vez que sea llamada, </a:t>
            </a:r>
            <a:r>
              <a:rPr kumimoji="0" lang="en-US" altLang="es-MX" sz="1100" b="1" i="0" u="none" strike="noStrike" cap="none" normalizeH="0" baseline="0">
                <a:ln>
                  <a:noFill/>
                </a:ln>
                <a:effectLst/>
              </a:rPr>
              <a:t>imprima </a:t>
            </a:r>
            <a:r>
              <a:rPr kumimoji="0" lang="en-US" altLang="es-MX" sz="1100" b="0" i="0" u="none" strike="noStrike" cap="none" normalizeH="0" baseline="0">
                <a:ln>
                  <a:noFill/>
                </a:ln>
                <a:effectLst/>
              </a:rPr>
              <a:t>en pantalla el cuadrado de dicho número (es decir, la potencia 2 del valor).</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100" b="0" i="0" u="none" strike="noStrike" cap="none" normalizeH="0" baseline="0">
                <a:ln>
                  <a:noFill/>
                </a:ln>
                <a:effectLst/>
              </a:rPr>
              <a:t>El nombre del argumento que debe tomar dicha función es </a:t>
            </a:r>
            <a:r>
              <a:rPr kumimoji="0" lang="en-US" altLang="es-MX" sz="1100" b="1" i="0" u="none" strike="noStrike" cap="none" normalizeH="0" baseline="0">
                <a:ln>
                  <a:noFill/>
                </a:ln>
                <a:effectLst/>
              </a:rPr>
              <a:t>un_numero</a:t>
            </a:r>
            <a:r>
              <a:rPr kumimoji="0" lang="en-US" altLang="es-MX" sz="1100" b="0" i="0" u="none" strike="noStrike" cap="none" normalizeH="0" baseline="0">
                <a:ln>
                  <a:noFill/>
                </a:ln>
                <a:effectLst/>
              </a:rPr>
              <a:t>. Crea dicha </a:t>
            </a:r>
            <a:r>
              <a:rPr kumimoji="0" lang="en-US" altLang="es-MX" sz="1100" b="1" i="0" u="none" strike="noStrike" cap="none" normalizeH="0" baseline="0">
                <a:ln>
                  <a:noFill/>
                </a:ln>
                <a:effectLst/>
              </a:rPr>
              <a:t>variable </a:t>
            </a:r>
            <a:r>
              <a:rPr kumimoji="0" lang="en-US" altLang="es-MX" sz="1100" b="0" i="0" u="none" strike="noStrike" cap="none" normalizeH="0" baseline="0">
                <a:ln>
                  <a:noFill/>
                </a:ln>
                <a:effectLst/>
              </a:rPr>
              <a:t>y asígnale un número cualquiera.</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s-MX" sz="1100" b="0" i="1" u="none" strike="noStrike" cap="none" normalizeH="0" baseline="0">
                <a:ln>
                  <a:noFill/>
                </a:ln>
                <a:effectLst/>
              </a:rPr>
              <a:t>Solo debes definir la función y crear la variable, no debes invocar la función luego</a:t>
            </a:r>
            <a:endParaRPr kumimoji="0" lang="en-US" altLang="es-MX" sz="1100" b="0" i="0" u="none" strike="noStrike" cap="none" normalizeH="0" baseline="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s-MX" sz="1100" b="0" i="0" u="none" strike="noStrike" cap="none" normalizeH="0" baseline="0">
              <a:ln>
                <a:noFill/>
              </a:ln>
              <a:effectLst/>
            </a:endParaRPr>
          </a:p>
        </p:txBody>
      </p:sp>
      <p:sp>
        <p:nvSpPr>
          <p:cNvPr id="4" name="Marcador de pie de página 3">
            <a:extLst>
              <a:ext uri="{FF2B5EF4-FFF2-40B4-BE49-F238E27FC236}">
                <a16:creationId xmlns:a16="http://schemas.microsoft.com/office/drawing/2014/main" id="{0E43ADBA-AECF-6C23-A916-EA4534E81898}"/>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Arabots Robotics</a:t>
            </a:r>
          </a:p>
        </p:txBody>
      </p:sp>
      <p:sp>
        <p:nvSpPr>
          <p:cNvPr id="5" name="Marcador de número de diapositiva 4">
            <a:extLst>
              <a:ext uri="{FF2B5EF4-FFF2-40B4-BE49-F238E27FC236}">
                <a16:creationId xmlns:a16="http://schemas.microsoft.com/office/drawing/2014/main" id="{7C617255-FFA4-B6F9-4E63-AEA6452BF03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4EA4A3B0-B5DF-4E2B-B48F-E4B7B7872040}" type="slidenum">
              <a:rPr lang="en-US" smtClean="0"/>
              <a:pPr>
                <a:spcAft>
                  <a:spcPts val="600"/>
                </a:spcAft>
              </a:pPr>
              <a:t>125</a:t>
            </a:fld>
            <a:endParaRPr lang="en-US"/>
          </a:p>
        </p:txBody>
      </p:sp>
      <p:sp>
        <p:nvSpPr>
          <p:cNvPr id="13" name="Rectangle 3">
            <a:extLst>
              <a:ext uri="{FF2B5EF4-FFF2-40B4-BE49-F238E27FC236}">
                <a16:creationId xmlns:a16="http://schemas.microsoft.com/office/drawing/2014/main" id="{F5EB78EB-43ED-0C6F-07DD-E2753E4E1A8E}"/>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6499448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B9050C-231E-34B0-CC76-1B1D84C41302}"/>
              </a:ext>
            </a:extLst>
          </p:cNvPr>
          <p:cNvSpPr>
            <a:spLocks noGrp="1"/>
          </p:cNvSpPr>
          <p:nvPr>
            <p:ph type="title"/>
          </p:nvPr>
        </p:nvSpPr>
        <p:spPr>
          <a:xfrm>
            <a:off x="4965430" y="629268"/>
            <a:ext cx="6586491" cy="1286160"/>
          </a:xfrm>
        </p:spPr>
        <p:txBody>
          <a:bodyPr anchor="b">
            <a:normAutofit/>
          </a:bodyPr>
          <a:lstStyle/>
          <a:p>
            <a:r>
              <a:rPr lang="es-MX" dirty="0" err="1"/>
              <a:t>Return</a:t>
            </a:r>
            <a:endParaRPr lang="es-MX" dirty="0"/>
          </a:p>
        </p:txBody>
      </p:sp>
      <p:sp>
        <p:nvSpPr>
          <p:cNvPr id="3" name="Marcador de contenido 2">
            <a:extLst>
              <a:ext uri="{FF2B5EF4-FFF2-40B4-BE49-F238E27FC236}">
                <a16:creationId xmlns:a16="http://schemas.microsoft.com/office/drawing/2014/main" id="{DC0B1A82-B4D1-EB9F-D90A-A3E5906F4CCD}"/>
              </a:ext>
            </a:extLst>
          </p:cNvPr>
          <p:cNvSpPr>
            <a:spLocks noGrp="1"/>
          </p:cNvSpPr>
          <p:nvPr>
            <p:ph idx="1"/>
          </p:nvPr>
        </p:nvSpPr>
        <p:spPr>
          <a:xfrm>
            <a:off x="4965431" y="2438400"/>
            <a:ext cx="6586489" cy="3785419"/>
          </a:xfrm>
        </p:spPr>
        <p:txBody>
          <a:bodyPr>
            <a:normAutofit/>
          </a:bodyPr>
          <a:lstStyle/>
          <a:p>
            <a:pPr marL="0" indent="0">
              <a:buNone/>
            </a:pPr>
            <a:r>
              <a:rPr lang="es-MX" sz="2000"/>
              <a:t> Para que una función pueda devolver un valor (y que pueda ser almacenado en una variable, por ejemplo), utilizamos la declaración return.</a:t>
            </a:r>
          </a:p>
          <a:p>
            <a:pPr marL="0" indent="0">
              <a:buNone/>
            </a:pPr>
            <a:endParaRPr lang="es-MX" sz="2000"/>
          </a:p>
          <a:p>
            <a:pPr marL="0" indent="0">
              <a:buNone/>
            </a:pPr>
            <a:r>
              <a:rPr lang="es-MX" sz="2000"/>
              <a:t>                                 def mi_funcion(): </a:t>
            </a:r>
          </a:p>
          <a:p>
            <a:pPr marL="0" indent="0">
              <a:buNone/>
            </a:pPr>
            <a:r>
              <a:rPr lang="es-MX" sz="2000"/>
              <a:t>                                        return [algo]</a:t>
            </a:r>
          </a:p>
          <a:p>
            <a:pPr marL="0" indent="0">
              <a:buNone/>
            </a:pPr>
            <a:r>
              <a:rPr lang="es-MX" sz="2000"/>
              <a:t>La declaración return provoca la salida de la función def mi_funcion(): return [algo] Cualquier código que se encuentre después en el bloque de la función, no se ejecutará</a:t>
            </a:r>
          </a:p>
        </p:txBody>
      </p:sp>
      <p:pic>
        <p:nvPicPr>
          <p:cNvPr id="7" name="Picture 6" descr="Fórmulas matemáticas complejas en una pizarra">
            <a:extLst>
              <a:ext uri="{FF2B5EF4-FFF2-40B4-BE49-F238E27FC236}">
                <a16:creationId xmlns:a16="http://schemas.microsoft.com/office/drawing/2014/main" id="{66BE5BB6-3A15-FDA2-80CB-855FA314AB7B}"/>
              </a:ext>
            </a:extLst>
          </p:cNvPr>
          <p:cNvPicPr>
            <a:picLocks noChangeAspect="1"/>
          </p:cNvPicPr>
          <p:nvPr/>
        </p:nvPicPr>
        <p:blipFill rotWithShape="1">
          <a:blip r:embed="rId2"/>
          <a:srcRect l="32290" r="18366" b="-1"/>
          <a:stretch/>
        </p:blipFill>
        <p:spPr>
          <a:xfrm>
            <a:off x="20" y="10"/>
            <a:ext cx="4635571" cy="6857990"/>
          </a:xfrm>
          <a:prstGeom prst="rect">
            <a:avLst/>
          </a:prstGeom>
          <a:effectLst/>
        </p:spPr>
      </p:pic>
      <p:cxnSp>
        <p:nvCxnSpPr>
          <p:cNvPr id="11" name="Straight Connector 10">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Marcador de pie de página 3">
            <a:extLst>
              <a:ext uri="{FF2B5EF4-FFF2-40B4-BE49-F238E27FC236}">
                <a16:creationId xmlns:a16="http://schemas.microsoft.com/office/drawing/2014/main" id="{F5A91374-3766-193D-5015-605B9DF8A353}"/>
              </a:ext>
            </a:extLst>
          </p:cNvPr>
          <p:cNvSpPr>
            <a:spLocks noGrp="1"/>
          </p:cNvSpPr>
          <p:nvPr>
            <p:ph type="ftr" sz="quarter" idx="11"/>
          </p:nvPr>
        </p:nvSpPr>
        <p:spPr>
          <a:xfrm>
            <a:off x="4965430" y="6356350"/>
            <a:ext cx="4139134" cy="365125"/>
          </a:xfrm>
        </p:spPr>
        <p:txBody>
          <a:bodyPr>
            <a:normAutofit/>
          </a:bodyPr>
          <a:lstStyle/>
          <a:p>
            <a:pPr algn="l">
              <a:spcAft>
                <a:spcPts val="600"/>
              </a:spcAft>
            </a:pPr>
            <a:r>
              <a:rPr lang="es-MX"/>
              <a:t>Arabots Robotics</a:t>
            </a:r>
          </a:p>
        </p:txBody>
      </p:sp>
      <p:sp>
        <p:nvSpPr>
          <p:cNvPr id="5" name="Marcador de número de diapositiva 4">
            <a:extLst>
              <a:ext uri="{FF2B5EF4-FFF2-40B4-BE49-F238E27FC236}">
                <a16:creationId xmlns:a16="http://schemas.microsoft.com/office/drawing/2014/main" id="{655FFA78-36C1-4057-DB32-978D3FDF85F3}"/>
              </a:ext>
            </a:extLst>
          </p:cNvPr>
          <p:cNvSpPr>
            <a:spLocks noGrp="1"/>
          </p:cNvSpPr>
          <p:nvPr>
            <p:ph type="sldNum" sz="quarter" idx="12"/>
          </p:nvPr>
        </p:nvSpPr>
        <p:spPr>
          <a:xfrm>
            <a:off x="10167042" y="6356350"/>
            <a:ext cx="1186758" cy="365125"/>
          </a:xfrm>
        </p:spPr>
        <p:txBody>
          <a:bodyPr>
            <a:normAutofit/>
          </a:bodyPr>
          <a:lstStyle/>
          <a:p>
            <a:pPr>
              <a:spcAft>
                <a:spcPts val="600"/>
              </a:spcAft>
            </a:pPr>
            <a:fld id="{4EA4A3B0-B5DF-4E2B-B48F-E4B7B7872040}" type="slidenum">
              <a:rPr lang="es-MX" smtClean="0"/>
              <a:pPr>
                <a:spcAft>
                  <a:spcPts val="600"/>
                </a:spcAft>
              </a:pPr>
              <a:t>126</a:t>
            </a:fld>
            <a:endParaRPr lang="es-MX"/>
          </a:p>
        </p:txBody>
      </p:sp>
    </p:spTree>
    <p:extLst>
      <p:ext uri="{BB962C8B-B14F-4D97-AF65-F5344CB8AC3E}">
        <p14:creationId xmlns:p14="http://schemas.microsoft.com/office/powerpoint/2010/main" val="31555436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2E26F7-1EFF-6974-E689-14866EA7E705}"/>
              </a:ext>
            </a:extLst>
          </p:cNvPr>
          <p:cNvSpPr>
            <a:spLocks noGrp="1"/>
          </p:cNvSpPr>
          <p:nvPr>
            <p:ph type="title"/>
          </p:nvPr>
        </p:nvSpPr>
        <p:spPr>
          <a:xfrm>
            <a:off x="4965430" y="629268"/>
            <a:ext cx="6586491" cy="1286160"/>
          </a:xfrm>
        </p:spPr>
        <p:txBody>
          <a:bodyPr anchor="b">
            <a:normAutofit/>
          </a:bodyPr>
          <a:lstStyle/>
          <a:p>
            <a:endParaRPr lang="es-MX"/>
          </a:p>
        </p:txBody>
      </p:sp>
      <p:sp>
        <p:nvSpPr>
          <p:cNvPr id="3" name="Marcador de contenido 2">
            <a:extLst>
              <a:ext uri="{FF2B5EF4-FFF2-40B4-BE49-F238E27FC236}">
                <a16:creationId xmlns:a16="http://schemas.microsoft.com/office/drawing/2014/main" id="{DCEEE37E-A48A-ABD4-5FBE-D4D2DD07E95A}"/>
              </a:ext>
            </a:extLst>
          </p:cNvPr>
          <p:cNvSpPr>
            <a:spLocks noGrp="1"/>
          </p:cNvSpPr>
          <p:nvPr>
            <p:ph idx="1"/>
          </p:nvPr>
        </p:nvSpPr>
        <p:spPr>
          <a:xfrm>
            <a:off x="4965431" y="2438400"/>
            <a:ext cx="6586489" cy="3785419"/>
          </a:xfrm>
        </p:spPr>
        <p:txBody>
          <a:bodyPr>
            <a:normAutofit/>
          </a:bodyPr>
          <a:lstStyle/>
          <a:p>
            <a:pPr marL="0" indent="0">
              <a:buNone/>
            </a:pPr>
            <a:r>
              <a:rPr lang="es-MX" sz="2000"/>
              <a:t>                         resultado = mi_funcion()</a:t>
            </a:r>
          </a:p>
          <a:p>
            <a:pPr marL="0" indent="0">
              <a:buNone/>
            </a:pPr>
            <a:r>
              <a:rPr lang="es-MX" sz="2000"/>
              <a:t>La variable resultado almacenará el valor devuelto por la función mi_funcion( )</a:t>
            </a:r>
          </a:p>
        </p:txBody>
      </p:sp>
      <p:pic>
        <p:nvPicPr>
          <p:cNvPr id="7" name="Picture 6" descr="Marca de exclamación sobre fondo amarillo">
            <a:extLst>
              <a:ext uri="{FF2B5EF4-FFF2-40B4-BE49-F238E27FC236}">
                <a16:creationId xmlns:a16="http://schemas.microsoft.com/office/drawing/2014/main" id="{600F53F3-9E1B-B5DB-747E-890DEF8094B2}"/>
              </a:ext>
            </a:extLst>
          </p:cNvPr>
          <p:cNvPicPr>
            <a:picLocks noChangeAspect="1"/>
          </p:cNvPicPr>
          <p:nvPr/>
        </p:nvPicPr>
        <p:blipFill rotWithShape="1">
          <a:blip r:embed="rId2"/>
          <a:srcRect l="31111" r="18194"/>
          <a:stretch/>
        </p:blipFill>
        <p:spPr>
          <a:xfrm>
            <a:off x="20" y="10"/>
            <a:ext cx="4635571" cy="6857990"/>
          </a:xfrm>
          <a:prstGeom prst="rect">
            <a:avLst/>
          </a:prstGeom>
          <a:effectLst/>
        </p:spPr>
      </p:pic>
      <p:cxnSp>
        <p:nvCxnSpPr>
          <p:cNvPr id="11" name="Straight Connector 10">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D7A121"/>
            </a:solidFill>
          </a:ln>
        </p:spPr>
        <p:style>
          <a:lnRef idx="1">
            <a:schemeClr val="accent1"/>
          </a:lnRef>
          <a:fillRef idx="0">
            <a:schemeClr val="accent1"/>
          </a:fillRef>
          <a:effectRef idx="0">
            <a:schemeClr val="accent1"/>
          </a:effectRef>
          <a:fontRef idx="minor">
            <a:schemeClr val="tx1"/>
          </a:fontRef>
        </p:style>
      </p:cxnSp>
      <p:sp>
        <p:nvSpPr>
          <p:cNvPr id="4" name="Marcador de pie de página 3">
            <a:extLst>
              <a:ext uri="{FF2B5EF4-FFF2-40B4-BE49-F238E27FC236}">
                <a16:creationId xmlns:a16="http://schemas.microsoft.com/office/drawing/2014/main" id="{4C2EBBBE-801A-4DD1-8C8A-EAD99774FCB1}"/>
              </a:ext>
            </a:extLst>
          </p:cNvPr>
          <p:cNvSpPr>
            <a:spLocks noGrp="1"/>
          </p:cNvSpPr>
          <p:nvPr>
            <p:ph type="ftr" sz="quarter" idx="11"/>
          </p:nvPr>
        </p:nvSpPr>
        <p:spPr>
          <a:xfrm>
            <a:off x="4965430" y="6356350"/>
            <a:ext cx="4139134" cy="365125"/>
          </a:xfrm>
        </p:spPr>
        <p:txBody>
          <a:bodyPr>
            <a:normAutofit/>
          </a:bodyPr>
          <a:lstStyle/>
          <a:p>
            <a:pPr algn="l">
              <a:spcAft>
                <a:spcPts val="600"/>
              </a:spcAft>
            </a:pPr>
            <a:r>
              <a:rPr lang="es-MX"/>
              <a:t>Arabots Robotics</a:t>
            </a:r>
          </a:p>
        </p:txBody>
      </p:sp>
      <p:sp>
        <p:nvSpPr>
          <p:cNvPr id="5" name="Marcador de número de diapositiva 4">
            <a:extLst>
              <a:ext uri="{FF2B5EF4-FFF2-40B4-BE49-F238E27FC236}">
                <a16:creationId xmlns:a16="http://schemas.microsoft.com/office/drawing/2014/main" id="{0D7B3E29-C3C5-5CA9-92C4-DB2320EDD0E3}"/>
              </a:ext>
            </a:extLst>
          </p:cNvPr>
          <p:cNvSpPr>
            <a:spLocks noGrp="1"/>
          </p:cNvSpPr>
          <p:nvPr>
            <p:ph type="sldNum" sz="quarter" idx="12"/>
          </p:nvPr>
        </p:nvSpPr>
        <p:spPr>
          <a:xfrm>
            <a:off x="10167042" y="6356350"/>
            <a:ext cx="1186758" cy="365125"/>
          </a:xfrm>
        </p:spPr>
        <p:txBody>
          <a:bodyPr>
            <a:normAutofit/>
          </a:bodyPr>
          <a:lstStyle/>
          <a:p>
            <a:pPr>
              <a:spcAft>
                <a:spcPts val="600"/>
              </a:spcAft>
            </a:pPr>
            <a:fld id="{4EA4A3B0-B5DF-4E2B-B48F-E4B7B7872040}" type="slidenum">
              <a:rPr lang="es-MX" smtClean="0"/>
              <a:pPr>
                <a:spcAft>
                  <a:spcPts val="600"/>
                </a:spcAft>
              </a:pPr>
              <a:t>127</a:t>
            </a:fld>
            <a:endParaRPr lang="es-MX"/>
          </a:p>
        </p:txBody>
      </p:sp>
    </p:spTree>
    <p:extLst>
      <p:ext uri="{BB962C8B-B14F-4D97-AF65-F5344CB8AC3E}">
        <p14:creationId xmlns:p14="http://schemas.microsoft.com/office/powerpoint/2010/main" val="30255138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Shape 17">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FE059356-363E-CDF7-D93B-551F98E29688}"/>
              </a:ext>
            </a:extLst>
          </p:cNvPr>
          <p:cNvSpPr>
            <a:spLocks noGrp="1"/>
          </p:cNvSpPr>
          <p:nvPr>
            <p:ph type="title"/>
          </p:nvPr>
        </p:nvSpPr>
        <p:spPr>
          <a:xfrm>
            <a:off x="934872" y="982272"/>
            <a:ext cx="3388419" cy="4560970"/>
          </a:xfrm>
        </p:spPr>
        <p:txBody>
          <a:bodyPr vert="horz" lIns="91440" tIns="45720" rIns="91440" bIns="45720" rtlCol="0" anchor="ctr">
            <a:normAutofit/>
          </a:bodyPr>
          <a:lstStyle/>
          <a:p>
            <a:r>
              <a:rPr lang="en-US" sz="4000" kern="1200">
                <a:solidFill>
                  <a:srgbClr val="FFFFFF"/>
                </a:solidFill>
                <a:latin typeface="+mj-lt"/>
                <a:ea typeface="+mj-ea"/>
                <a:cs typeface="+mj-cs"/>
              </a:rPr>
              <a:t>Ejercicios</a:t>
            </a:r>
          </a:p>
        </p:txBody>
      </p:sp>
      <p:sp>
        <p:nvSpPr>
          <p:cNvPr id="20"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Rectangle 2">
            <a:extLst>
              <a:ext uri="{FF2B5EF4-FFF2-40B4-BE49-F238E27FC236}">
                <a16:creationId xmlns:a16="http://schemas.microsoft.com/office/drawing/2014/main" id="{07FFAE4A-0DEF-6664-7DA5-3AEE76391EBC}"/>
              </a:ext>
            </a:extLst>
          </p:cNvPr>
          <p:cNvSpPr>
            <a:spLocks noChangeArrowheads="1"/>
          </p:cNvSpPr>
          <p:nvPr/>
        </p:nvSpPr>
        <p:spPr bwMode="auto">
          <a:xfrm>
            <a:off x="5221862" y="1719618"/>
            <a:ext cx="5948831" cy="4334629"/>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28600" indent="-228600" eaLnBrk="1" hangingPunct="1">
              <a:lnSpc>
                <a:spcPct val="90000"/>
              </a:lnSpc>
              <a:spcAft>
                <a:spcPts val="600"/>
              </a:spcAft>
              <a:buFont typeface="Arial" panose="020B0604020202020204" pitchFamily="34" charset="0"/>
              <a:buChar char="•"/>
            </a:pPr>
            <a:r>
              <a:rPr lang="en-US" altLang="es-MX" sz="1100" dirty="0" err="1">
                <a:solidFill>
                  <a:srgbClr val="FEFFFF"/>
                </a:solidFill>
                <a:latin typeface="+mn-lt"/>
              </a:rPr>
              <a:t>Crea</a:t>
            </a:r>
            <a:r>
              <a:rPr lang="en-US" altLang="es-MX" sz="1100" dirty="0">
                <a:solidFill>
                  <a:srgbClr val="FEFFFF"/>
                </a:solidFill>
                <a:latin typeface="+mn-lt"/>
              </a:rPr>
              <a:t> una </a:t>
            </a:r>
            <a:r>
              <a:rPr lang="en-US" altLang="es-MX" sz="1100" dirty="0" err="1">
                <a:solidFill>
                  <a:srgbClr val="FEFFFF"/>
                </a:solidFill>
                <a:latin typeface="+mn-lt"/>
              </a:rPr>
              <a:t>función</a:t>
            </a:r>
            <a:r>
              <a:rPr lang="en-US" altLang="es-MX" sz="1100" dirty="0">
                <a:solidFill>
                  <a:srgbClr val="FEFFFF"/>
                </a:solidFill>
                <a:latin typeface="+mn-lt"/>
              </a:rPr>
              <a:t> </a:t>
            </a:r>
            <a:r>
              <a:rPr lang="en-US" altLang="es-MX" sz="1100" dirty="0" err="1">
                <a:solidFill>
                  <a:srgbClr val="FEFFFF"/>
                </a:solidFill>
                <a:latin typeface="+mn-lt"/>
              </a:rPr>
              <a:t>llamada</a:t>
            </a:r>
            <a:r>
              <a:rPr lang="en-US" altLang="es-MX" sz="1100" dirty="0">
                <a:solidFill>
                  <a:srgbClr val="FEFFFF"/>
                </a:solidFill>
                <a:latin typeface="+mn-lt"/>
              </a:rPr>
              <a:t> </a:t>
            </a:r>
            <a:r>
              <a:rPr lang="en-US" altLang="es-MX" sz="1100" dirty="0" err="1">
                <a:solidFill>
                  <a:srgbClr val="FEFFFF"/>
                </a:solidFill>
                <a:latin typeface="+mn-lt"/>
              </a:rPr>
              <a:t>potencia</a:t>
            </a:r>
            <a:r>
              <a:rPr lang="en-US" altLang="es-MX" sz="1100" dirty="0">
                <a:solidFill>
                  <a:srgbClr val="FEFFFF"/>
                </a:solidFill>
                <a:latin typeface="+mn-lt"/>
              </a:rPr>
              <a:t> que tome dos </a:t>
            </a:r>
            <a:r>
              <a:rPr lang="en-US" altLang="es-MX" sz="1100" dirty="0" err="1">
                <a:solidFill>
                  <a:srgbClr val="FEFFFF"/>
                </a:solidFill>
                <a:latin typeface="+mn-lt"/>
              </a:rPr>
              <a:t>valores</a:t>
            </a:r>
            <a:r>
              <a:rPr lang="en-US" altLang="es-MX" sz="1100" dirty="0">
                <a:solidFill>
                  <a:srgbClr val="FEFFFF"/>
                </a:solidFill>
                <a:latin typeface="+mn-lt"/>
              </a:rPr>
              <a:t> </a:t>
            </a:r>
            <a:r>
              <a:rPr lang="en-US" altLang="es-MX" sz="1100" b="1" dirty="0" err="1">
                <a:solidFill>
                  <a:srgbClr val="FEFFFF"/>
                </a:solidFill>
                <a:latin typeface="+mn-lt"/>
              </a:rPr>
              <a:t>numéricos</a:t>
            </a:r>
            <a:r>
              <a:rPr lang="en-US" altLang="es-MX" sz="1100" b="1" dirty="0">
                <a:solidFill>
                  <a:srgbClr val="FEFFFF"/>
                </a:solidFill>
                <a:latin typeface="+mn-lt"/>
              </a:rPr>
              <a:t> </a:t>
            </a:r>
            <a:r>
              <a:rPr lang="en-US" altLang="es-MX" sz="1100" dirty="0">
                <a:solidFill>
                  <a:srgbClr val="FEFFFF"/>
                </a:solidFill>
                <a:latin typeface="+mn-lt"/>
              </a:rPr>
              <a:t>como </a:t>
            </a:r>
            <a:r>
              <a:rPr lang="en-US" altLang="es-MX" sz="1100" i="1" dirty="0" err="1">
                <a:solidFill>
                  <a:srgbClr val="FEFFFF"/>
                </a:solidFill>
                <a:latin typeface="+mn-lt"/>
              </a:rPr>
              <a:t>argumentos</a:t>
            </a:r>
            <a:r>
              <a:rPr lang="en-US" altLang="es-MX" sz="1100" dirty="0">
                <a:solidFill>
                  <a:srgbClr val="FEFFFF"/>
                </a:solidFill>
                <a:latin typeface="+mn-lt"/>
              </a:rPr>
              <a:t>. </a:t>
            </a:r>
            <a:r>
              <a:rPr lang="en-US" altLang="es-MX" sz="1100" dirty="0" err="1">
                <a:solidFill>
                  <a:srgbClr val="FEFFFF"/>
                </a:solidFill>
                <a:latin typeface="+mn-lt"/>
              </a:rPr>
              <a:t>Deberá</a:t>
            </a:r>
            <a:r>
              <a:rPr lang="en-US" altLang="es-MX" sz="1100" dirty="0">
                <a:solidFill>
                  <a:srgbClr val="FEFFFF"/>
                </a:solidFill>
                <a:latin typeface="+mn-lt"/>
              </a:rPr>
              <a:t> </a:t>
            </a:r>
            <a:r>
              <a:rPr lang="en-US" altLang="es-MX" sz="1100" i="1" dirty="0" err="1">
                <a:solidFill>
                  <a:srgbClr val="FEFFFF"/>
                </a:solidFill>
                <a:latin typeface="+mn-lt"/>
              </a:rPr>
              <a:t>devolver</a:t>
            </a:r>
            <a:r>
              <a:rPr lang="en-US" altLang="es-MX" sz="1100" i="1" dirty="0">
                <a:solidFill>
                  <a:srgbClr val="FEFFFF"/>
                </a:solidFill>
                <a:latin typeface="+mn-lt"/>
              </a:rPr>
              <a:t> </a:t>
            </a:r>
            <a:r>
              <a:rPr lang="en-US" altLang="es-MX" sz="1100" dirty="0" err="1">
                <a:solidFill>
                  <a:srgbClr val="FEFFFF"/>
                </a:solidFill>
                <a:latin typeface="+mn-lt"/>
              </a:rPr>
              <a:t>el</a:t>
            </a:r>
            <a:r>
              <a:rPr lang="en-US" altLang="es-MX" sz="1100" dirty="0">
                <a:solidFill>
                  <a:srgbClr val="FEFFFF"/>
                </a:solidFill>
                <a:latin typeface="+mn-lt"/>
              </a:rPr>
              <a:t> </a:t>
            </a:r>
            <a:r>
              <a:rPr lang="en-US" altLang="es-MX" sz="1100" dirty="0" err="1">
                <a:solidFill>
                  <a:srgbClr val="FEFFFF"/>
                </a:solidFill>
                <a:latin typeface="+mn-lt"/>
              </a:rPr>
              <a:t>número</a:t>
            </a:r>
            <a:r>
              <a:rPr lang="en-US" altLang="es-MX" sz="1100" dirty="0">
                <a:solidFill>
                  <a:srgbClr val="FEFFFF"/>
                </a:solidFill>
                <a:latin typeface="+mn-lt"/>
              </a:rPr>
              <a:t> que </a:t>
            </a:r>
            <a:r>
              <a:rPr lang="en-US" altLang="es-MX" sz="1100" dirty="0" err="1">
                <a:solidFill>
                  <a:srgbClr val="FEFFFF"/>
                </a:solidFill>
                <a:latin typeface="+mn-lt"/>
              </a:rPr>
              <a:t>resulte</a:t>
            </a:r>
            <a:r>
              <a:rPr lang="en-US" altLang="es-MX" sz="1100" dirty="0">
                <a:solidFill>
                  <a:srgbClr val="FEFFFF"/>
                </a:solidFill>
                <a:latin typeface="+mn-lt"/>
              </a:rPr>
              <a:t> de </a:t>
            </a:r>
            <a:r>
              <a:rPr lang="en-US" altLang="es-MX" sz="1100" b="1" dirty="0">
                <a:solidFill>
                  <a:srgbClr val="FEFFFF"/>
                </a:solidFill>
                <a:latin typeface="+mn-lt"/>
              </a:rPr>
              <a:t>resolver una </a:t>
            </a:r>
            <a:r>
              <a:rPr lang="en-US" altLang="es-MX" sz="1100" b="1" dirty="0" err="1">
                <a:solidFill>
                  <a:srgbClr val="FEFFFF"/>
                </a:solidFill>
                <a:latin typeface="+mn-lt"/>
              </a:rPr>
              <a:t>potencia</a:t>
            </a:r>
            <a:r>
              <a:rPr lang="en-US" altLang="es-MX" sz="1100" dirty="0">
                <a:solidFill>
                  <a:srgbClr val="FEFFFF"/>
                </a:solidFill>
                <a:latin typeface="+mn-lt"/>
              </a:rPr>
              <a:t>, </a:t>
            </a:r>
            <a:r>
              <a:rPr lang="en-US" altLang="es-MX" sz="1100" dirty="0" err="1">
                <a:solidFill>
                  <a:srgbClr val="FEFFFF"/>
                </a:solidFill>
                <a:latin typeface="+mn-lt"/>
              </a:rPr>
              <a:t>utilizando</a:t>
            </a:r>
            <a:r>
              <a:rPr lang="en-US" altLang="es-MX" sz="1100" dirty="0">
                <a:solidFill>
                  <a:srgbClr val="FEFFFF"/>
                </a:solidFill>
                <a:latin typeface="+mn-lt"/>
              </a:rPr>
              <a:t> </a:t>
            </a:r>
            <a:r>
              <a:rPr lang="en-US" altLang="es-MX" sz="1100" dirty="0" err="1">
                <a:solidFill>
                  <a:srgbClr val="FEFFFF"/>
                </a:solidFill>
                <a:latin typeface="+mn-lt"/>
              </a:rPr>
              <a:t>el</a:t>
            </a:r>
            <a:r>
              <a:rPr lang="en-US" altLang="es-MX" sz="1100" dirty="0">
                <a:solidFill>
                  <a:srgbClr val="FEFFFF"/>
                </a:solidFill>
                <a:latin typeface="+mn-lt"/>
              </a:rPr>
              <a:t> primer </a:t>
            </a:r>
            <a:r>
              <a:rPr lang="en-US" altLang="es-MX" sz="1100" dirty="0" err="1">
                <a:solidFill>
                  <a:srgbClr val="FEFFFF"/>
                </a:solidFill>
                <a:latin typeface="+mn-lt"/>
              </a:rPr>
              <a:t>número</a:t>
            </a:r>
            <a:r>
              <a:rPr lang="en-US" altLang="es-MX" sz="1100" dirty="0">
                <a:solidFill>
                  <a:srgbClr val="FEFFFF"/>
                </a:solidFill>
                <a:latin typeface="+mn-lt"/>
              </a:rPr>
              <a:t> como base, y </a:t>
            </a:r>
            <a:r>
              <a:rPr lang="en-US" altLang="es-MX" sz="1100" dirty="0" err="1">
                <a:solidFill>
                  <a:srgbClr val="FEFFFF"/>
                </a:solidFill>
                <a:latin typeface="+mn-lt"/>
              </a:rPr>
              <a:t>el</a:t>
            </a:r>
            <a:r>
              <a:rPr lang="en-US" altLang="es-MX" sz="1100" dirty="0">
                <a:solidFill>
                  <a:srgbClr val="FEFFFF"/>
                </a:solidFill>
                <a:latin typeface="+mn-lt"/>
              </a:rPr>
              <a:t> </a:t>
            </a:r>
            <a:r>
              <a:rPr lang="en-US" altLang="es-MX" sz="1100" dirty="0" err="1">
                <a:solidFill>
                  <a:srgbClr val="FEFFFF"/>
                </a:solidFill>
                <a:latin typeface="+mn-lt"/>
              </a:rPr>
              <a:t>segundo</a:t>
            </a:r>
            <a:r>
              <a:rPr lang="en-US" altLang="es-MX" sz="1100" dirty="0">
                <a:solidFill>
                  <a:srgbClr val="FEFFFF"/>
                </a:solidFill>
                <a:latin typeface="+mn-lt"/>
              </a:rPr>
              <a:t> como </a:t>
            </a:r>
            <a:r>
              <a:rPr lang="en-US" altLang="es-MX" sz="1100" dirty="0" err="1">
                <a:solidFill>
                  <a:srgbClr val="FEFFFF"/>
                </a:solidFill>
                <a:latin typeface="+mn-lt"/>
              </a:rPr>
              <a:t>exponente</a:t>
            </a:r>
            <a:r>
              <a:rPr lang="en-US" altLang="es-MX" sz="1100" dirty="0">
                <a:solidFill>
                  <a:srgbClr val="FEFFFF"/>
                </a:solidFill>
                <a:latin typeface="+mn-lt"/>
              </a:rPr>
              <a:t>: </a:t>
            </a:r>
          </a:p>
          <a:p>
            <a:pPr marL="228600" indent="-228600" eaLnBrk="1" hangingPunct="1">
              <a:lnSpc>
                <a:spcPct val="90000"/>
              </a:lnSpc>
              <a:spcAft>
                <a:spcPts val="600"/>
              </a:spcAft>
              <a:buFont typeface="Arial" panose="020B0604020202020204" pitchFamily="34" charset="0"/>
              <a:buChar char="•"/>
            </a:pPr>
            <a:endParaRPr kumimoji="0" lang="en-US" altLang="es-MX" sz="1100" b="0" i="0" u="none" strike="noStrike" cap="none" normalizeH="0" baseline="0" dirty="0">
              <a:ln>
                <a:noFill/>
              </a:ln>
              <a:solidFill>
                <a:srgbClr val="FEFFFF"/>
              </a:solidFill>
              <a:effectLst/>
              <a:latin typeface="+mn-lt"/>
            </a:endParaRPr>
          </a:p>
          <a:p>
            <a:pPr marL="228600" indent="-228600" eaLnBrk="1" hangingPunct="1">
              <a:lnSpc>
                <a:spcPct val="90000"/>
              </a:lnSpc>
              <a:spcAft>
                <a:spcPts val="600"/>
              </a:spcAft>
              <a:buFont typeface="Arial" panose="020B0604020202020204" pitchFamily="34" charset="0"/>
              <a:buChar char="•"/>
            </a:pPr>
            <a:r>
              <a:rPr kumimoji="0" lang="en-US" altLang="es-MX" sz="1100" b="0" i="0" u="none" strike="noStrike" cap="none" normalizeH="0" baseline="0" dirty="0" err="1">
                <a:ln>
                  <a:noFill/>
                </a:ln>
                <a:solidFill>
                  <a:srgbClr val="FEFFFF"/>
                </a:solidFill>
                <a:effectLst/>
                <a:latin typeface="+mn-lt"/>
              </a:rPr>
              <a:t>Crea</a:t>
            </a:r>
            <a:r>
              <a:rPr kumimoji="0" lang="en-US" altLang="es-MX" sz="1100" b="0" i="0" u="none" strike="noStrike" cap="none" normalizeH="0" baseline="0" dirty="0">
                <a:ln>
                  <a:noFill/>
                </a:ln>
                <a:solidFill>
                  <a:srgbClr val="FEFFFF"/>
                </a:solidFill>
                <a:effectLst/>
                <a:latin typeface="+mn-lt"/>
              </a:rPr>
              <a:t> una </a:t>
            </a:r>
            <a:r>
              <a:rPr kumimoji="0" lang="en-US" altLang="es-MX" sz="1100" b="0" i="0" u="none" strike="noStrike" cap="none" normalizeH="0" baseline="0" dirty="0" err="1">
                <a:ln>
                  <a:noFill/>
                </a:ln>
                <a:solidFill>
                  <a:srgbClr val="FEFFFF"/>
                </a:solidFill>
                <a:effectLst/>
                <a:latin typeface="+mn-lt"/>
              </a:rPr>
              <a:t>función</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llamada</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usd_a_eur</a:t>
            </a:r>
            <a:r>
              <a:rPr kumimoji="0" lang="en-US" altLang="es-MX" sz="1100" b="0" i="0" u="none" strike="noStrike" cap="none" normalizeH="0" baseline="0" dirty="0">
                <a:ln>
                  <a:noFill/>
                </a:ln>
                <a:solidFill>
                  <a:srgbClr val="FEFFFF"/>
                </a:solidFill>
                <a:effectLst/>
                <a:latin typeface="+mn-lt"/>
              </a:rPr>
              <a:t> que tome como </a:t>
            </a:r>
            <a:r>
              <a:rPr kumimoji="0" lang="en-US" altLang="es-MX" sz="1100" b="0" i="0" u="none" strike="noStrike" cap="none" normalizeH="0" baseline="0" dirty="0" err="1">
                <a:ln>
                  <a:noFill/>
                </a:ln>
                <a:solidFill>
                  <a:srgbClr val="FEFFFF"/>
                </a:solidFill>
                <a:effectLst/>
                <a:latin typeface="+mn-lt"/>
              </a:rPr>
              <a:t>único</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parámetro</a:t>
            </a:r>
            <a:r>
              <a:rPr kumimoji="0" lang="en-US" altLang="es-MX" sz="1100" b="0" i="0" u="none" strike="noStrike" cap="none" normalizeH="0" baseline="0" dirty="0">
                <a:ln>
                  <a:noFill/>
                </a:ln>
                <a:solidFill>
                  <a:srgbClr val="FEFFFF"/>
                </a:solidFill>
                <a:effectLst/>
                <a:latin typeface="+mn-lt"/>
              </a:rPr>
              <a:t> un </a:t>
            </a:r>
            <a:r>
              <a:rPr kumimoji="0" lang="en-US" altLang="es-MX" sz="1100" b="1" i="0" u="none" strike="noStrike" cap="none" normalizeH="0" baseline="0" dirty="0">
                <a:ln>
                  <a:noFill/>
                </a:ln>
                <a:solidFill>
                  <a:srgbClr val="FEFFFF"/>
                </a:solidFill>
                <a:effectLst/>
                <a:latin typeface="+mn-lt"/>
              </a:rPr>
              <a:t>valor </a:t>
            </a:r>
            <a:r>
              <a:rPr kumimoji="0" lang="en-US" altLang="es-MX" sz="1100" b="0" i="0" u="none" strike="noStrike" cap="none" normalizeH="0" baseline="0" dirty="0" err="1">
                <a:ln>
                  <a:noFill/>
                </a:ln>
                <a:solidFill>
                  <a:srgbClr val="FEFFFF"/>
                </a:solidFill>
                <a:effectLst/>
                <a:latin typeface="+mn-lt"/>
              </a:rPr>
              <a:t>numérico</a:t>
            </a:r>
            <a:r>
              <a:rPr kumimoji="0" lang="en-US" altLang="es-MX" sz="1100" b="0" i="0" u="none" strike="noStrike" cap="none" normalizeH="0" baseline="0" dirty="0">
                <a:ln>
                  <a:noFill/>
                </a:ln>
                <a:solidFill>
                  <a:srgbClr val="FEFFFF"/>
                </a:solidFill>
                <a:effectLst/>
                <a:latin typeface="+mn-lt"/>
              </a:rPr>
              <a:t> (un </a:t>
            </a:r>
            <a:r>
              <a:rPr kumimoji="0" lang="en-US" altLang="es-MX" sz="1100" b="0" i="1" u="none" strike="noStrike" cap="none" normalizeH="0" baseline="0" dirty="0" err="1">
                <a:ln>
                  <a:noFill/>
                </a:ln>
                <a:solidFill>
                  <a:srgbClr val="FEFFFF"/>
                </a:solidFill>
                <a:effectLst/>
                <a:latin typeface="+mn-lt"/>
              </a:rPr>
              <a:t>monto</a:t>
            </a:r>
            <a:r>
              <a:rPr kumimoji="0" lang="en-US" altLang="es-MX" sz="1100" b="0" i="1" u="none" strike="noStrike" cap="none" normalizeH="0" baseline="0" dirty="0">
                <a:ln>
                  <a:noFill/>
                </a:ln>
                <a:solidFill>
                  <a:srgbClr val="FEFFFF"/>
                </a:solidFill>
                <a:effectLst/>
                <a:latin typeface="+mn-lt"/>
              </a:rPr>
              <a:t> en </a:t>
            </a:r>
            <a:r>
              <a:rPr kumimoji="0" lang="en-US" altLang="es-MX" sz="1100" b="0" i="1" u="none" strike="noStrike" cap="none" normalizeH="0" baseline="0" dirty="0" err="1">
                <a:ln>
                  <a:noFill/>
                </a:ln>
                <a:solidFill>
                  <a:srgbClr val="FEFFFF"/>
                </a:solidFill>
                <a:effectLst/>
                <a:latin typeface="+mn-lt"/>
              </a:rPr>
              <a:t>dólares</a:t>
            </a:r>
            <a:r>
              <a:rPr kumimoji="0" lang="en-US" altLang="es-MX" sz="1100" b="0" i="1" u="none" strike="noStrike" cap="none" normalizeH="0" baseline="0" dirty="0">
                <a:ln>
                  <a:noFill/>
                </a:ln>
                <a:solidFill>
                  <a:srgbClr val="FEFFFF"/>
                </a:solidFill>
                <a:effectLst/>
                <a:latin typeface="+mn-lt"/>
              </a:rPr>
              <a:t> </a:t>
            </a:r>
            <a:r>
              <a:rPr kumimoji="0" lang="en-US" altLang="es-MX" sz="1100" b="0" i="1" u="none" strike="noStrike" cap="none" normalizeH="0" baseline="0" dirty="0" err="1">
                <a:ln>
                  <a:noFill/>
                </a:ln>
                <a:solidFill>
                  <a:srgbClr val="FEFFFF"/>
                </a:solidFill>
                <a:effectLst/>
                <a:latin typeface="+mn-lt"/>
              </a:rPr>
              <a:t>estadounidenses</a:t>
            </a:r>
            <a:r>
              <a:rPr kumimoji="0" lang="en-US" altLang="es-MX" sz="1100" b="0" i="0" u="none" strike="noStrike" cap="none" normalizeH="0" baseline="0" dirty="0">
                <a:ln>
                  <a:noFill/>
                </a:ln>
                <a:solidFill>
                  <a:srgbClr val="FEFFFF"/>
                </a:solidFill>
                <a:effectLst/>
                <a:latin typeface="+mn-lt"/>
              </a:rPr>
              <a:t>), y </a:t>
            </a:r>
            <a:r>
              <a:rPr kumimoji="0" lang="en-US" altLang="es-MX" sz="1100" b="0" i="1" u="none" strike="noStrike" cap="none" normalizeH="0" baseline="0" dirty="0" err="1">
                <a:ln>
                  <a:noFill/>
                </a:ln>
                <a:solidFill>
                  <a:srgbClr val="FEFFFF"/>
                </a:solidFill>
                <a:effectLst/>
                <a:latin typeface="+mn-lt"/>
              </a:rPr>
              <a:t>devuelva</a:t>
            </a:r>
            <a:r>
              <a:rPr kumimoji="0" lang="en-US" altLang="es-MX" sz="1100" b="0" i="1" u="none" strike="noStrike" cap="none" normalizeH="0" baseline="0" dirty="0">
                <a:ln>
                  <a:noFill/>
                </a:ln>
                <a:solidFill>
                  <a:srgbClr val="FEFFFF"/>
                </a:solidFill>
                <a:effectLst/>
                <a:latin typeface="+mn-lt"/>
              </a:rPr>
              <a:t> </a:t>
            </a:r>
            <a:r>
              <a:rPr kumimoji="0" lang="en-US" altLang="es-MX" sz="1100" b="0" i="0" u="none" strike="noStrike" cap="none" normalizeH="0" baseline="0" dirty="0">
                <a:ln>
                  <a:noFill/>
                </a:ln>
                <a:solidFill>
                  <a:srgbClr val="FEFFFF"/>
                </a:solidFill>
                <a:effectLst/>
                <a:latin typeface="+mn-lt"/>
              </a:rPr>
              <a:t>como </a:t>
            </a:r>
            <a:r>
              <a:rPr kumimoji="0" lang="en-US" altLang="es-MX" sz="1100" b="0" i="0" u="none" strike="noStrike" cap="none" normalizeH="0" baseline="0" dirty="0" err="1">
                <a:ln>
                  <a:noFill/>
                </a:ln>
                <a:solidFill>
                  <a:srgbClr val="FEFFFF"/>
                </a:solidFill>
                <a:effectLst/>
                <a:latin typeface="+mn-lt"/>
              </a:rPr>
              <a:t>resultado</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el</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monto</a:t>
            </a:r>
            <a:r>
              <a:rPr kumimoji="0" lang="en-US" altLang="es-MX" sz="1100" b="0" i="1" u="none" strike="noStrike" cap="none" normalizeH="0" baseline="0" dirty="0">
                <a:ln>
                  <a:noFill/>
                </a:ln>
                <a:solidFill>
                  <a:srgbClr val="FEFFFF"/>
                </a:solidFill>
                <a:effectLst/>
                <a:latin typeface="+mn-lt"/>
              </a:rPr>
              <a:t> </a:t>
            </a:r>
            <a:r>
              <a:rPr kumimoji="0" lang="en-US" altLang="es-MX" sz="1100" b="0" i="1" u="none" strike="noStrike" cap="none" normalizeH="0" baseline="0" dirty="0" err="1">
                <a:ln>
                  <a:noFill/>
                </a:ln>
                <a:solidFill>
                  <a:srgbClr val="FEFFFF"/>
                </a:solidFill>
                <a:effectLst/>
                <a:latin typeface="+mn-lt"/>
              </a:rPr>
              <a:t>equivalente</a:t>
            </a:r>
            <a:r>
              <a:rPr kumimoji="0" lang="en-US" altLang="es-MX" sz="1100" b="0" i="1" u="none" strike="noStrike" cap="none" normalizeH="0" baseline="0" dirty="0">
                <a:ln>
                  <a:noFill/>
                </a:ln>
                <a:solidFill>
                  <a:srgbClr val="FEFFFF"/>
                </a:solidFill>
                <a:effectLst/>
                <a:latin typeface="+mn-lt"/>
              </a:rPr>
              <a:t> en euros</a:t>
            </a:r>
            <a:r>
              <a:rPr kumimoji="0" lang="en-US" altLang="es-MX" sz="1100" b="0" i="0" u="none" strike="noStrike" cap="none" normalizeH="0" baseline="0" dirty="0">
                <a:ln>
                  <a:noFill/>
                </a:ln>
                <a:solidFill>
                  <a:srgbClr val="FEFFFF"/>
                </a:solidFill>
                <a:effectLst/>
                <a:latin typeface="+mn-lt"/>
              </a:rPr>
              <a:t>. A fines de </a:t>
            </a:r>
            <a:r>
              <a:rPr kumimoji="0" lang="en-US" altLang="es-MX" sz="1100" b="0" i="0" u="none" strike="noStrike" cap="none" normalizeH="0" baseline="0" dirty="0" err="1">
                <a:ln>
                  <a:noFill/>
                </a:ln>
                <a:solidFill>
                  <a:srgbClr val="FEFFFF"/>
                </a:solidFill>
                <a:effectLst/>
                <a:latin typeface="+mn-lt"/>
              </a:rPr>
              <a:t>este</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ejemplo</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tomaremos</a:t>
            </a:r>
            <a:r>
              <a:rPr kumimoji="0" lang="en-US" altLang="es-MX" sz="1100" b="0" i="0" u="none" strike="noStrike" cap="none" normalizeH="0" baseline="0" dirty="0">
                <a:ln>
                  <a:noFill/>
                </a:ln>
                <a:solidFill>
                  <a:srgbClr val="FEFFFF"/>
                </a:solidFill>
                <a:effectLst/>
                <a:latin typeface="+mn-lt"/>
              </a:rPr>
              <a:t> la </a:t>
            </a:r>
            <a:r>
              <a:rPr kumimoji="0" lang="en-US" altLang="es-MX" sz="1100" b="0" i="0" u="none" strike="noStrike" cap="none" normalizeH="0" baseline="0" dirty="0" err="1">
                <a:ln>
                  <a:noFill/>
                </a:ln>
                <a:solidFill>
                  <a:srgbClr val="FEFFFF"/>
                </a:solidFill>
                <a:effectLst/>
                <a:latin typeface="+mn-lt"/>
              </a:rPr>
              <a:t>conversión</a:t>
            </a:r>
            <a:r>
              <a:rPr kumimoji="0" lang="en-US" altLang="es-MX" sz="1100" b="0" i="0" u="none" strike="noStrike" cap="none" normalizeH="0" baseline="0" dirty="0">
                <a:ln>
                  <a:noFill/>
                </a:ln>
                <a:solidFill>
                  <a:srgbClr val="FEFFFF"/>
                </a:solidFill>
                <a:effectLst/>
                <a:latin typeface="+mn-lt"/>
              </a:rPr>
              <a:t> </a:t>
            </a:r>
            <a:r>
              <a:rPr kumimoji="0" lang="en-US" altLang="es-MX" sz="1100" b="1" i="0" u="none" strike="noStrike" cap="none" normalizeH="0" baseline="0" dirty="0">
                <a:ln>
                  <a:noFill/>
                </a:ln>
                <a:solidFill>
                  <a:srgbClr val="FEFFFF"/>
                </a:solidFill>
                <a:effectLst/>
                <a:latin typeface="+mn-lt"/>
              </a:rPr>
              <a:t>1 USD = 0.90 EUR</a:t>
            </a:r>
            <a:r>
              <a:rPr kumimoji="0" lang="en-US" altLang="es-MX" sz="1100" b="0" i="0" u="none" strike="noStrike" cap="none" normalizeH="0" baseline="0" dirty="0">
                <a:ln>
                  <a:noFill/>
                </a:ln>
                <a:solidFill>
                  <a:srgbClr val="FEFFFF"/>
                </a:solidFill>
                <a:effectLst/>
                <a:latin typeface="+mn-lt"/>
              </a:rPr>
              <a:t>.</a:t>
            </a:r>
          </a:p>
          <a:p>
            <a:pPr marL="685800" lvl="1" indent="-228600" eaLnBrk="1" hangingPunct="1">
              <a:lnSpc>
                <a:spcPct val="90000"/>
              </a:lnSpc>
              <a:spcAft>
                <a:spcPts val="600"/>
              </a:spcAft>
              <a:buFont typeface="Arial" panose="020B0604020202020204" pitchFamily="34" charset="0"/>
              <a:buChar char="•"/>
            </a:pPr>
            <a:r>
              <a:rPr kumimoji="0" lang="en-US" altLang="es-MX" sz="1100" b="0" i="0" u="none" strike="noStrike" cap="none" normalizeH="0" baseline="0" dirty="0" err="1">
                <a:ln>
                  <a:noFill/>
                </a:ln>
                <a:solidFill>
                  <a:srgbClr val="FEFFFF"/>
                </a:solidFill>
                <a:effectLst/>
                <a:latin typeface="+mn-lt"/>
              </a:rPr>
              <a:t>Crea</a:t>
            </a:r>
            <a:r>
              <a:rPr kumimoji="0" lang="en-US" altLang="es-MX" sz="1100" b="0" i="0" u="none" strike="noStrike" cap="none" normalizeH="0" baseline="0" dirty="0">
                <a:ln>
                  <a:noFill/>
                </a:ln>
                <a:solidFill>
                  <a:srgbClr val="FEFFFF"/>
                </a:solidFill>
                <a:effectLst/>
                <a:latin typeface="+mn-lt"/>
              </a:rPr>
              <a:t> una variable </a:t>
            </a:r>
            <a:r>
              <a:rPr kumimoji="0" lang="en-US" altLang="es-MX" sz="1100" b="0" i="0" u="none" strike="noStrike" cap="none" normalizeH="0" baseline="0" dirty="0" err="1">
                <a:ln>
                  <a:noFill/>
                </a:ln>
                <a:solidFill>
                  <a:srgbClr val="FEFFFF"/>
                </a:solidFill>
                <a:effectLst/>
                <a:latin typeface="+mn-lt"/>
              </a:rPr>
              <a:t>llamada</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dolares</a:t>
            </a:r>
            <a:r>
              <a:rPr kumimoji="0" lang="en-US" altLang="es-MX" sz="1100" b="0" i="0" u="none" strike="noStrike" cap="none" normalizeH="0" baseline="0" dirty="0">
                <a:ln>
                  <a:noFill/>
                </a:ln>
                <a:solidFill>
                  <a:srgbClr val="FEFFFF"/>
                </a:solidFill>
                <a:effectLst/>
                <a:latin typeface="+mn-lt"/>
              </a:rPr>
              <a:t> y </a:t>
            </a:r>
            <a:r>
              <a:rPr kumimoji="0" lang="en-US" altLang="es-MX" sz="1100" b="0" i="0" u="none" strike="noStrike" cap="none" normalizeH="0" baseline="0" dirty="0" err="1">
                <a:ln>
                  <a:noFill/>
                </a:ln>
                <a:solidFill>
                  <a:srgbClr val="FEFFFF"/>
                </a:solidFill>
                <a:effectLst/>
                <a:latin typeface="+mn-lt"/>
              </a:rPr>
              <a:t>almacena</a:t>
            </a:r>
            <a:r>
              <a:rPr kumimoji="0" lang="en-US" altLang="es-MX" sz="1100" b="0" i="0" u="none" strike="noStrike" cap="none" normalizeH="0" baseline="0" dirty="0">
                <a:ln>
                  <a:noFill/>
                </a:ln>
                <a:solidFill>
                  <a:srgbClr val="FEFFFF"/>
                </a:solidFill>
                <a:effectLst/>
                <a:latin typeface="+mn-lt"/>
              </a:rPr>
              <a:t> en </a:t>
            </a:r>
            <a:r>
              <a:rPr kumimoji="0" lang="en-US" altLang="es-MX" sz="1100" b="0" i="0" u="none" strike="noStrike" cap="none" normalizeH="0" baseline="0" dirty="0" err="1">
                <a:ln>
                  <a:noFill/>
                </a:ln>
                <a:solidFill>
                  <a:srgbClr val="FEFFFF"/>
                </a:solidFill>
                <a:effectLst/>
                <a:latin typeface="+mn-lt"/>
              </a:rPr>
              <a:t>ella</a:t>
            </a:r>
            <a:r>
              <a:rPr kumimoji="0" lang="en-US" altLang="es-MX" sz="1100" b="0" i="0" u="none" strike="noStrike" cap="none" normalizeH="0" baseline="0" dirty="0">
                <a:ln>
                  <a:noFill/>
                </a:ln>
                <a:solidFill>
                  <a:srgbClr val="FEFFFF"/>
                </a:solidFill>
                <a:effectLst/>
                <a:latin typeface="+mn-lt"/>
              </a:rPr>
              <a:t> un </a:t>
            </a:r>
            <a:r>
              <a:rPr kumimoji="0" lang="en-US" altLang="es-MX" sz="1100" b="0" i="0" u="none" strike="noStrike" cap="none" normalizeH="0" baseline="0" dirty="0" err="1">
                <a:ln>
                  <a:noFill/>
                </a:ln>
                <a:solidFill>
                  <a:srgbClr val="FEFFFF"/>
                </a:solidFill>
                <a:effectLst/>
                <a:latin typeface="+mn-lt"/>
              </a:rPr>
              <a:t>monto</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cualquiera</a:t>
            </a:r>
            <a:r>
              <a:rPr kumimoji="0" lang="en-US" altLang="es-MX" sz="1100" b="0" i="0" u="none" strike="noStrike" cap="none" normalizeH="0" baseline="0" dirty="0">
                <a:ln>
                  <a:noFill/>
                </a:ln>
                <a:solidFill>
                  <a:srgbClr val="FEFFFF"/>
                </a:solidFill>
                <a:effectLst/>
                <a:latin typeface="+mn-lt"/>
              </a:rPr>
              <a:t> para </a:t>
            </a:r>
            <a:r>
              <a:rPr kumimoji="0" lang="en-US" altLang="es-MX" sz="1100" b="0" i="0" u="none" strike="noStrike" cap="none" normalizeH="0" baseline="0" dirty="0" err="1">
                <a:ln>
                  <a:noFill/>
                </a:ln>
                <a:solidFill>
                  <a:srgbClr val="FEFFFF"/>
                </a:solidFill>
                <a:effectLst/>
                <a:latin typeface="+mn-lt"/>
              </a:rPr>
              <a:t>entregárselo</a:t>
            </a:r>
            <a:r>
              <a:rPr kumimoji="0" lang="en-US" altLang="es-MX" sz="1100" b="0" i="0" u="none" strike="noStrike" cap="none" normalizeH="0" baseline="0" dirty="0">
                <a:ln>
                  <a:noFill/>
                </a:ln>
                <a:solidFill>
                  <a:srgbClr val="FEFFFF"/>
                </a:solidFill>
                <a:effectLst/>
                <a:latin typeface="+mn-lt"/>
              </a:rPr>
              <a:t> a </a:t>
            </a:r>
            <a:r>
              <a:rPr kumimoji="0" lang="en-US" altLang="es-MX" sz="1100" b="0" i="0" u="none" strike="noStrike" cap="none" normalizeH="0" baseline="0" dirty="0" err="1">
                <a:ln>
                  <a:noFill/>
                </a:ln>
                <a:solidFill>
                  <a:srgbClr val="FEFFFF"/>
                </a:solidFill>
                <a:effectLst/>
                <a:latin typeface="+mn-lt"/>
              </a:rPr>
              <a:t>tu</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función</a:t>
            </a:r>
            <a:r>
              <a:rPr kumimoji="0" lang="en-US" altLang="es-MX" sz="1100" b="0" i="0" u="none" strike="noStrike" cap="none" normalizeH="0" baseline="0" dirty="0">
                <a:ln>
                  <a:noFill/>
                </a:ln>
                <a:solidFill>
                  <a:srgbClr val="FEFFFF"/>
                </a:solidFill>
                <a:effectLst/>
                <a:latin typeface="+mn-lt"/>
              </a:rPr>
              <a:t> y </a:t>
            </a:r>
            <a:r>
              <a:rPr kumimoji="0" lang="en-US" altLang="es-MX" sz="1100" b="0" i="0" u="none" strike="noStrike" cap="none" normalizeH="0" baseline="0" dirty="0" err="1">
                <a:ln>
                  <a:noFill/>
                </a:ln>
                <a:solidFill>
                  <a:srgbClr val="FEFFFF"/>
                </a:solidFill>
                <a:effectLst/>
                <a:latin typeface="+mn-lt"/>
              </a:rPr>
              <a:t>evaluar</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su</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resultado</a:t>
            </a:r>
            <a:r>
              <a:rPr kumimoji="0" lang="en-US" altLang="es-MX" sz="1100" b="0" i="0" u="none" strike="noStrike" cap="none" normalizeH="0" baseline="0" dirty="0">
                <a:ln>
                  <a:noFill/>
                </a:ln>
                <a:solidFill>
                  <a:srgbClr val="FEFFFF"/>
                </a:solidFill>
                <a:effectLst/>
                <a:latin typeface="+mn-lt"/>
              </a:rPr>
              <a:t>.</a:t>
            </a:r>
          </a:p>
          <a:p>
            <a:pPr marL="685800" lvl="1" indent="-228600" eaLnBrk="1" hangingPunct="1">
              <a:lnSpc>
                <a:spcPct val="90000"/>
              </a:lnSpc>
              <a:spcAft>
                <a:spcPts val="600"/>
              </a:spcAft>
              <a:buFont typeface="Arial" panose="020B0604020202020204" pitchFamily="34" charset="0"/>
              <a:buChar char="•"/>
            </a:pPr>
            <a:r>
              <a:rPr kumimoji="0" lang="en-US" altLang="es-MX" sz="1100" b="1" i="1" u="none" strike="noStrike" cap="none" normalizeH="0" baseline="0" dirty="0" err="1">
                <a:ln>
                  <a:noFill/>
                </a:ln>
                <a:solidFill>
                  <a:srgbClr val="FEFFFF"/>
                </a:solidFill>
                <a:effectLst/>
                <a:latin typeface="+mn-lt"/>
              </a:rPr>
              <a:t>Pista</a:t>
            </a:r>
            <a:r>
              <a:rPr kumimoji="0" lang="en-US" altLang="es-MX" sz="1100" b="1" i="1" u="none" strike="noStrike" cap="none" normalizeH="0" baseline="0" dirty="0">
                <a:ln>
                  <a:noFill/>
                </a:ln>
                <a:solidFill>
                  <a:srgbClr val="FEFFFF"/>
                </a:solidFill>
                <a:effectLst/>
                <a:latin typeface="+mn-lt"/>
              </a:rPr>
              <a:t>: para </a:t>
            </a:r>
            <a:r>
              <a:rPr kumimoji="0" lang="en-US" altLang="es-MX" sz="1100" b="1" i="1" u="none" strike="noStrike" cap="none" normalizeH="0" baseline="0" dirty="0" err="1">
                <a:ln>
                  <a:noFill/>
                </a:ln>
                <a:solidFill>
                  <a:srgbClr val="FEFFFF"/>
                </a:solidFill>
                <a:effectLst/>
                <a:latin typeface="+mn-lt"/>
              </a:rPr>
              <a:t>realizar</a:t>
            </a:r>
            <a:r>
              <a:rPr kumimoji="0" lang="en-US" altLang="es-MX" sz="1100" b="1" i="1" u="none" strike="noStrike" cap="none" normalizeH="0" baseline="0" dirty="0">
                <a:ln>
                  <a:noFill/>
                </a:ln>
                <a:solidFill>
                  <a:srgbClr val="FEFFFF"/>
                </a:solidFill>
                <a:effectLst/>
                <a:latin typeface="+mn-lt"/>
              </a:rPr>
              <a:t> la </a:t>
            </a:r>
            <a:r>
              <a:rPr kumimoji="0" lang="en-US" altLang="es-MX" sz="1100" b="1" i="1" u="none" strike="noStrike" cap="none" normalizeH="0" baseline="0" dirty="0" err="1">
                <a:ln>
                  <a:noFill/>
                </a:ln>
                <a:solidFill>
                  <a:srgbClr val="FEFFFF"/>
                </a:solidFill>
                <a:effectLst/>
                <a:latin typeface="+mn-lt"/>
              </a:rPr>
              <a:t>conversión</a:t>
            </a:r>
            <a:r>
              <a:rPr kumimoji="0" lang="en-US" altLang="es-MX" sz="1100" b="1" i="1" u="none" strike="noStrike" cap="none" normalizeH="0" baseline="0" dirty="0">
                <a:ln>
                  <a:noFill/>
                </a:ln>
                <a:solidFill>
                  <a:srgbClr val="FEFFFF"/>
                </a:solidFill>
                <a:effectLst/>
                <a:latin typeface="+mn-lt"/>
              </a:rPr>
              <a:t>, la </a:t>
            </a:r>
            <a:r>
              <a:rPr kumimoji="0" lang="en-US" altLang="es-MX" sz="1100" b="1" i="1" u="none" strike="noStrike" cap="none" normalizeH="0" baseline="0" dirty="0" err="1">
                <a:ln>
                  <a:noFill/>
                </a:ln>
                <a:solidFill>
                  <a:srgbClr val="FEFFFF"/>
                </a:solidFill>
                <a:effectLst/>
                <a:latin typeface="+mn-lt"/>
              </a:rPr>
              <a:t>función</a:t>
            </a:r>
            <a:r>
              <a:rPr kumimoji="0" lang="en-US" altLang="es-MX" sz="1100" b="1" i="1" u="none" strike="noStrike" cap="none" normalizeH="0" baseline="0" dirty="0">
                <a:ln>
                  <a:noFill/>
                </a:ln>
                <a:solidFill>
                  <a:srgbClr val="FEFFFF"/>
                </a:solidFill>
                <a:effectLst/>
                <a:latin typeface="+mn-lt"/>
              </a:rPr>
              <a:t> </a:t>
            </a:r>
            <a:r>
              <a:rPr kumimoji="0" lang="en-US" altLang="es-MX" sz="1100" b="1" i="1" u="none" strike="noStrike" cap="none" normalizeH="0" baseline="0" dirty="0" err="1">
                <a:ln>
                  <a:noFill/>
                </a:ln>
                <a:solidFill>
                  <a:srgbClr val="FEFFFF"/>
                </a:solidFill>
                <a:effectLst/>
                <a:latin typeface="+mn-lt"/>
              </a:rPr>
              <a:t>internamente</a:t>
            </a:r>
            <a:r>
              <a:rPr kumimoji="0" lang="en-US" altLang="es-MX" sz="1100" b="1" i="1" u="none" strike="noStrike" cap="none" normalizeH="0" baseline="0" dirty="0">
                <a:ln>
                  <a:noFill/>
                </a:ln>
                <a:solidFill>
                  <a:srgbClr val="FEFFFF"/>
                </a:solidFill>
                <a:effectLst/>
                <a:latin typeface="+mn-lt"/>
              </a:rPr>
              <a:t> </a:t>
            </a:r>
            <a:r>
              <a:rPr kumimoji="0" lang="en-US" altLang="es-MX" sz="1100" b="1" i="1" u="none" strike="noStrike" cap="none" normalizeH="0" baseline="0" dirty="0" err="1">
                <a:ln>
                  <a:noFill/>
                </a:ln>
                <a:solidFill>
                  <a:srgbClr val="FEFFFF"/>
                </a:solidFill>
                <a:effectLst/>
                <a:latin typeface="+mn-lt"/>
              </a:rPr>
              <a:t>debe</a:t>
            </a:r>
            <a:r>
              <a:rPr kumimoji="0" lang="en-US" altLang="es-MX" sz="1100" b="1" i="1" u="none" strike="noStrike" cap="none" normalizeH="0" baseline="0" dirty="0">
                <a:ln>
                  <a:noFill/>
                </a:ln>
                <a:solidFill>
                  <a:srgbClr val="FEFFFF"/>
                </a:solidFill>
                <a:effectLst/>
                <a:latin typeface="+mn-lt"/>
              </a:rPr>
              <a:t> </a:t>
            </a:r>
            <a:r>
              <a:rPr kumimoji="0" lang="en-US" altLang="es-MX" sz="1100" b="1" i="1" u="none" strike="noStrike" cap="none" normalizeH="0" baseline="0" dirty="0" err="1">
                <a:ln>
                  <a:noFill/>
                </a:ln>
                <a:solidFill>
                  <a:srgbClr val="FEFFFF"/>
                </a:solidFill>
                <a:effectLst/>
                <a:latin typeface="+mn-lt"/>
              </a:rPr>
              <a:t>multiplicar</a:t>
            </a:r>
            <a:r>
              <a:rPr kumimoji="0" lang="en-US" altLang="es-MX" sz="1100" b="1" i="1" u="none" strike="noStrike" cap="none" normalizeH="0" baseline="0" dirty="0">
                <a:ln>
                  <a:noFill/>
                </a:ln>
                <a:solidFill>
                  <a:srgbClr val="FEFFFF"/>
                </a:solidFill>
                <a:effectLst/>
                <a:latin typeface="+mn-lt"/>
              </a:rPr>
              <a:t> </a:t>
            </a:r>
            <a:r>
              <a:rPr kumimoji="0" lang="en-US" altLang="es-MX" sz="1100" b="1" i="1" u="none" strike="noStrike" cap="none" normalizeH="0" baseline="0" dirty="0" err="1">
                <a:ln>
                  <a:noFill/>
                </a:ln>
                <a:solidFill>
                  <a:srgbClr val="FEFFFF"/>
                </a:solidFill>
                <a:effectLst/>
                <a:latin typeface="+mn-lt"/>
              </a:rPr>
              <a:t>este</a:t>
            </a:r>
            <a:r>
              <a:rPr kumimoji="0" lang="en-US" altLang="es-MX" sz="1100" b="1" i="1" u="none" strike="noStrike" cap="none" normalizeH="0" baseline="0" dirty="0">
                <a:ln>
                  <a:noFill/>
                </a:ln>
                <a:solidFill>
                  <a:srgbClr val="FEFFFF"/>
                </a:solidFill>
                <a:effectLst/>
                <a:latin typeface="+mn-lt"/>
              </a:rPr>
              <a:t> valor en </a:t>
            </a:r>
            <a:r>
              <a:rPr kumimoji="0" lang="en-US" altLang="es-MX" sz="1100" b="1" i="1" u="none" strike="noStrike" cap="none" normalizeH="0" baseline="0" dirty="0" err="1">
                <a:ln>
                  <a:noFill/>
                </a:ln>
                <a:solidFill>
                  <a:srgbClr val="FEFFFF"/>
                </a:solidFill>
                <a:effectLst/>
                <a:latin typeface="+mn-lt"/>
              </a:rPr>
              <a:t>dólares</a:t>
            </a:r>
            <a:r>
              <a:rPr kumimoji="0" lang="en-US" altLang="es-MX" sz="1100" b="1" i="1" u="none" strike="noStrike" cap="none" normalizeH="0" baseline="0" dirty="0">
                <a:ln>
                  <a:noFill/>
                </a:ln>
                <a:solidFill>
                  <a:srgbClr val="FEFFFF"/>
                </a:solidFill>
                <a:effectLst/>
                <a:latin typeface="+mn-lt"/>
              </a:rPr>
              <a:t> </a:t>
            </a:r>
            <a:r>
              <a:rPr kumimoji="0" lang="en-US" altLang="es-MX" sz="1100" b="1" i="1" u="none" strike="noStrike" cap="none" normalizeH="0" baseline="0" dirty="0" err="1">
                <a:ln>
                  <a:noFill/>
                </a:ln>
                <a:solidFill>
                  <a:srgbClr val="FEFFFF"/>
                </a:solidFill>
                <a:effectLst/>
                <a:latin typeface="+mn-lt"/>
              </a:rPr>
              <a:t>por</a:t>
            </a:r>
            <a:r>
              <a:rPr kumimoji="0" lang="en-US" altLang="es-MX" sz="1100" b="1" i="1" u="none" strike="noStrike" cap="none" normalizeH="0" baseline="0" dirty="0">
                <a:ln>
                  <a:noFill/>
                </a:ln>
                <a:solidFill>
                  <a:srgbClr val="FEFFFF"/>
                </a:solidFill>
                <a:effectLst/>
                <a:latin typeface="+mn-lt"/>
              </a:rPr>
              <a:t> 0.90 para </a:t>
            </a:r>
            <a:r>
              <a:rPr kumimoji="0" lang="en-US" altLang="es-MX" sz="1100" b="1" i="1" u="none" strike="noStrike" cap="none" normalizeH="0" baseline="0" dirty="0" err="1">
                <a:ln>
                  <a:noFill/>
                </a:ln>
                <a:solidFill>
                  <a:srgbClr val="FEFFFF"/>
                </a:solidFill>
                <a:effectLst/>
                <a:latin typeface="+mn-lt"/>
              </a:rPr>
              <a:t>obtener</a:t>
            </a:r>
            <a:r>
              <a:rPr kumimoji="0" lang="en-US" altLang="es-MX" sz="1100" b="1" i="1" u="none" strike="noStrike" cap="none" normalizeH="0" baseline="0" dirty="0">
                <a:ln>
                  <a:noFill/>
                </a:ln>
                <a:solidFill>
                  <a:srgbClr val="FEFFFF"/>
                </a:solidFill>
                <a:effectLst/>
                <a:latin typeface="+mn-lt"/>
              </a:rPr>
              <a:t> </a:t>
            </a:r>
            <a:r>
              <a:rPr kumimoji="0" lang="en-US" altLang="es-MX" sz="1100" b="1" i="1" u="none" strike="noStrike" cap="none" normalizeH="0" baseline="0" dirty="0" err="1">
                <a:ln>
                  <a:noFill/>
                </a:ln>
                <a:solidFill>
                  <a:srgbClr val="FEFFFF"/>
                </a:solidFill>
                <a:effectLst/>
                <a:latin typeface="+mn-lt"/>
              </a:rPr>
              <a:t>el</a:t>
            </a:r>
            <a:r>
              <a:rPr kumimoji="0" lang="en-US" altLang="es-MX" sz="1100" b="1" i="1" u="none" strike="noStrike" cap="none" normalizeH="0" baseline="0" dirty="0">
                <a:ln>
                  <a:noFill/>
                </a:ln>
                <a:solidFill>
                  <a:srgbClr val="FEFFFF"/>
                </a:solidFill>
                <a:effectLst/>
                <a:latin typeface="+mn-lt"/>
              </a:rPr>
              <a:t> </a:t>
            </a:r>
            <a:r>
              <a:rPr kumimoji="0" lang="en-US" altLang="es-MX" sz="1100" b="1" i="1" u="none" strike="noStrike" cap="none" normalizeH="0" baseline="0" dirty="0" err="1">
                <a:ln>
                  <a:noFill/>
                </a:ln>
                <a:solidFill>
                  <a:srgbClr val="FEFFFF"/>
                </a:solidFill>
                <a:effectLst/>
                <a:latin typeface="+mn-lt"/>
              </a:rPr>
              <a:t>monto</a:t>
            </a:r>
            <a:r>
              <a:rPr kumimoji="0" lang="en-US" altLang="es-MX" sz="1100" b="1" i="1" u="none" strike="noStrike" cap="none" normalizeH="0" baseline="0" dirty="0">
                <a:ln>
                  <a:noFill/>
                </a:ln>
                <a:solidFill>
                  <a:srgbClr val="FEFFFF"/>
                </a:solidFill>
                <a:effectLst/>
                <a:latin typeface="+mn-lt"/>
              </a:rPr>
              <a:t> </a:t>
            </a:r>
            <a:r>
              <a:rPr kumimoji="0" lang="en-US" altLang="es-MX" sz="1100" b="1" i="1" u="none" strike="noStrike" cap="none" normalizeH="0" baseline="0" dirty="0" err="1">
                <a:ln>
                  <a:noFill/>
                </a:ln>
                <a:solidFill>
                  <a:srgbClr val="FEFFFF"/>
                </a:solidFill>
                <a:effectLst/>
                <a:latin typeface="+mn-lt"/>
              </a:rPr>
              <a:t>equivalente</a:t>
            </a:r>
            <a:r>
              <a:rPr kumimoji="0" lang="en-US" altLang="es-MX" sz="1100" b="1" i="1" u="none" strike="noStrike" cap="none" normalizeH="0" baseline="0" dirty="0">
                <a:ln>
                  <a:noFill/>
                </a:ln>
                <a:solidFill>
                  <a:srgbClr val="FEFFFF"/>
                </a:solidFill>
                <a:effectLst/>
                <a:latin typeface="+mn-lt"/>
              </a:rPr>
              <a:t> en euros.</a:t>
            </a:r>
          </a:p>
          <a:p>
            <a:pPr marL="228600" indent="-228600" eaLnBrk="1" hangingPunct="1">
              <a:lnSpc>
                <a:spcPct val="90000"/>
              </a:lnSpc>
              <a:spcAft>
                <a:spcPts val="600"/>
              </a:spcAft>
              <a:buFont typeface="Arial" panose="020B0604020202020204" pitchFamily="34" charset="0"/>
              <a:buChar char="•"/>
            </a:pPr>
            <a:r>
              <a:rPr kumimoji="0" lang="en-US" altLang="es-MX" sz="1100" b="0" i="0" u="none" strike="noStrike" cap="none" normalizeH="0" baseline="0" dirty="0" err="1">
                <a:ln>
                  <a:noFill/>
                </a:ln>
                <a:solidFill>
                  <a:srgbClr val="FEFFFF"/>
                </a:solidFill>
                <a:effectLst/>
                <a:latin typeface="+mn-lt"/>
              </a:rPr>
              <a:t>Crea</a:t>
            </a:r>
            <a:r>
              <a:rPr kumimoji="0" lang="en-US" altLang="es-MX" sz="1100" b="0" i="0" u="none" strike="noStrike" cap="none" normalizeH="0" baseline="0" dirty="0">
                <a:ln>
                  <a:noFill/>
                </a:ln>
                <a:solidFill>
                  <a:srgbClr val="FEFFFF"/>
                </a:solidFill>
                <a:effectLst/>
                <a:latin typeface="+mn-lt"/>
              </a:rPr>
              <a:t> una </a:t>
            </a:r>
            <a:r>
              <a:rPr kumimoji="0" lang="en-US" altLang="es-MX" sz="1100" b="0" i="0" u="none" strike="noStrike" cap="none" normalizeH="0" baseline="0" dirty="0" err="1">
                <a:ln>
                  <a:noFill/>
                </a:ln>
                <a:solidFill>
                  <a:srgbClr val="FEFFFF"/>
                </a:solidFill>
                <a:effectLst/>
                <a:latin typeface="+mn-lt"/>
              </a:rPr>
              <a:t>función</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llamada</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invertir_palabra</a:t>
            </a:r>
            <a:r>
              <a:rPr kumimoji="0" lang="en-US" altLang="es-MX" sz="1100" b="0" i="0" u="none" strike="noStrike" cap="none" normalizeH="0" baseline="0" dirty="0">
                <a:ln>
                  <a:noFill/>
                </a:ln>
                <a:solidFill>
                  <a:srgbClr val="FEFFFF"/>
                </a:solidFill>
                <a:effectLst/>
                <a:latin typeface="+mn-lt"/>
              </a:rPr>
              <a:t> que tome </a:t>
            </a:r>
            <a:r>
              <a:rPr kumimoji="0" lang="en-US" altLang="es-MX" sz="1100" b="0" i="0" u="none" strike="noStrike" cap="none" normalizeH="0" baseline="0" dirty="0" err="1">
                <a:ln>
                  <a:noFill/>
                </a:ln>
                <a:solidFill>
                  <a:srgbClr val="FEFFFF"/>
                </a:solidFill>
                <a:effectLst/>
                <a:latin typeface="+mn-lt"/>
              </a:rPr>
              <a:t>los</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caracteres</a:t>
            </a:r>
            <a:r>
              <a:rPr kumimoji="0" lang="en-US" altLang="es-MX" sz="1100" b="0" i="0" u="none" strike="noStrike" cap="none" normalizeH="0" baseline="0" dirty="0">
                <a:ln>
                  <a:noFill/>
                </a:ln>
                <a:solidFill>
                  <a:srgbClr val="FEFFFF"/>
                </a:solidFill>
                <a:effectLst/>
                <a:latin typeface="+mn-lt"/>
              </a:rPr>
              <a:t> de una palabra dada como </a:t>
            </a:r>
            <a:r>
              <a:rPr kumimoji="0" lang="en-US" altLang="es-MX" sz="1100" b="0" i="0" u="none" strike="noStrike" cap="none" normalizeH="0" baseline="0" dirty="0" err="1">
                <a:ln>
                  <a:noFill/>
                </a:ln>
                <a:solidFill>
                  <a:srgbClr val="FEFFFF"/>
                </a:solidFill>
                <a:effectLst/>
                <a:latin typeface="+mn-lt"/>
              </a:rPr>
              <a:t>argumento</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invierta</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el</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orden</a:t>
            </a:r>
            <a:r>
              <a:rPr kumimoji="0" lang="en-US" altLang="es-MX" sz="1100" b="0" i="0" u="none" strike="noStrike" cap="none" normalizeH="0" baseline="0" dirty="0">
                <a:ln>
                  <a:noFill/>
                </a:ln>
                <a:solidFill>
                  <a:srgbClr val="FEFFFF"/>
                </a:solidFill>
                <a:effectLst/>
                <a:latin typeface="+mn-lt"/>
              </a:rPr>
              <a:t> de sus </a:t>
            </a:r>
            <a:r>
              <a:rPr kumimoji="0" lang="en-US" altLang="es-MX" sz="1100" b="0" i="0" u="none" strike="noStrike" cap="none" normalizeH="0" baseline="0" dirty="0" err="1">
                <a:ln>
                  <a:noFill/>
                </a:ln>
                <a:solidFill>
                  <a:srgbClr val="FEFFFF"/>
                </a:solidFill>
                <a:effectLst/>
                <a:latin typeface="+mn-lt"/>
              </a:rPr>
              <a:t>caracteres</a:t>
            </a:r>
            <a:r>
              <a:rPr kumimoji="0" lang="en-US" altLang="es-MX" sz="1100" b="0" i="0" u="none" strike="noStrike" cap="none" normalizeH="0" baseline="0" dirty="0">
                <a:ln>
                  <a:noFill/>
                </a:ln>
                <a:solidFill>
                  <a:srgbClr val="FEFFFF"/>
                </a:solidFill>
                <a:effectLst/>
                <a:latin typeface="+mn-lt"/>
              </a:rPr>
              <a:t> y </a:t>
            </a:r>
            <a:r>
              <a:rPr kumimoji="0" lang="en-US" altLang="es-MX" sz="1100" b="0" i="0" u="none" strike="noStrike" cap="none" normalizeH="0" baseline="0" dirty="0" err="1">
                <a:ln>
                  <a:noFill/>
                </a:ln>
                <a:solidFill>
                  <a:srgbClr val="FEFFFF"/>
                </a:solidFill>
                <a:effectLst/>
                <a:latin typeface="+mn-lt"/>
              </a:rPr>
              <a:t>los</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devuelva</a:t>
            </a:r>
            <a:r>
              <a:rPr kumimoji="0" lang="en-US" altLang="es-MX" sz="1100" b="0" i="0" u="none" strike="noStrike" cap="none" normalizeH="0" baseline="0" dirty="0">
                <a:ln>
                  <a:noFill/>
                </a:ln>
                <a:solidFill>
                  <a:srgbClr val="FEFFFF"/>
                </a:solidFill>
                <a:effectLst/>
                <a:latin typeface="+mn-lt"/>
              </a:rPr>
              <a:t> de ese modo y en </a:t>
            </a:r>
            <a:r>
              <a:rPr kumimoji="0" lang="en-US" altLang="es-MX" sz="1100" b="0" i="0" u="none" strike="noStrike" cap="none" normalizeH="0" baseline="0" dirty="0" err="1">
                <a:ln>
                  <a:noFill/>
                </a:ln>
                <a:solidFill>
                  <a:srgbClr val="FEFFFF"/>
                </a:solidFill>
                <a:effectLst/>
                <a:latin typeface="+mn-lt"/>
              </a:rPr>
              <a:t>mayúsculas</a:t>
            </a:r>
            <a:r>
              <a:rPr kumimoji="0" lang="en-US" altLang="es-MX" sz="1100" b="0" i="0" u="none" strike="noStrike" cap="none" normalizeH="0" baseline="0" dirty="0">
                <a:ln>
                  <a:noFill/>
                </a:ln>
                <a:solidFill>
                  <a:srgbClr val="FEFFFF"/>
                </a:solidFill>
                <a:effectLst/>
                <a:latin typeface="+mn-lt"/>
              </a:rPr>
              <a:t>.</a:t>
            </a:r>
          </a:p>
          <a:p>
            <a:pPr marL="685800" lvl="1" indent="-228600" eaLnBrk="1" hangingPunct="1">
              <a:lnSpc>
                <a:spcPct val="90000"/>
              </a:lnSpc>
              <a:spcAft>
                <a:spcPts val="600"/>
              </a:spcAft>
              <a:buFont typeface="Arial" panose="020B0604020202020204" pitchFamily="34" charset="0"/>
              <a:buChar char="•"/>
            </a:pPr>
            <a:r>
              <a:rPr kumimoji="0" lang="en-US" altLang="es-MX" sz="1100" b="0" i="0" u="none" strike="noStrike" cap="none" normalizeH="0" baseline="0" dirty="0">
                <a:ln>
                  <a:noFill/>
                </a:ln>
                <a:solidFill>
                  <a:srgbClr val="FEFFFF"/>
                </a:solidFill>
                <a:effectLst/>
                <a:latin typeface="+mn-lt"/>
              </a:rPr>
              <a:t>Por </a:t>
            </a:r>
            <a:r>
              <a:rPr kumimoji="0" lang="en-US" altLang="es-MX" sz="1100" b="0" i="0" u="none" strike="noStrike" cap="none" normalizeH="0" baseline="0" dirty="0" err="1">
                <a:ln>
                  <a:noFill/>
                </a:ln>
                <a:solidFill>
                  <a:srgbClr val="FEFFFF"/>
                </a:solidFill>
                <a:effectLst/>
                <a:latin typeface="+mn-lt"/>
              </a:rPr>
              <a:t>ejemplo</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si</a:t>
            </a:r>
            <a:r>
              <a:rPr kumimoji="0" lang="en-US" altLang="es-MX" sz="1100" b="0" i="0" u="none" strike="noStrike" cap="none" normalizeH="0" baseline="0" dirty="0">
                <a:ln>
                  <a:noFill/>
                </a:ln>
                <a:solidFill>
                  <a:srgbClr val="FEFFFF"/>
                </a:solidFill>
                <a:effectLst/>
                <a:latin typeface="+mn-lt"/>
              </a:rPr>
              <a:t> le </a:t>
            </a:r>
            <a:r>
              <a:rPr kumimoji="0" lang="en-US" altLang="es-MX" sz="1100" b="0" i="0" u="none" strike="noStrike" cap="none" normalizeH="0" baseline="0" dirty="0" err="1">
                <a:ln>
                  <a:noFill/>
                </a:ln>
                <a:solidFill>
                  <a:srgbClr val="FEFFFF"/>
                </a:solidFill>
                <a:effectLst/>
                <a:latin typeface="+mn-lt"/>
              </a:rPr>
              <a:t>proporcionamos</a:t>
            </a:r>
            <a:r>
              <a:rPr kumimoji="0" lang="en-US" altLang="es-MX" sz="1100" b="0" i="0" u="none" strike="noStrike" cap="none" normalizeH="0" baseline="0" dirty="0">
                <a:ln>
                  <a:noFill/>
                </a:ln>
                <a:solidFill>
                  <a:srgbClr val="FEFFFF"/>
                </a:solidFill>
                <a:effectLst/>
                <a:latin typeface="+mn-lt"/>
              </a:rPr>
              <a:t> la palabra "</a:t>
            </a:r>
            <a:r>
              <a:rPr kumimoji="0" lang="en-US" altLang="es-MX" sz="1100" b="1" i="1" u="none" strike="noStrike" cap="none" normalizeH="0" baseline="0" dirty="0">
                <a:ln>
                  <a:noFill/>
                </a:ln>
                <a:solidFill>
                  <a:srgbClr val="FEFFFF"/>
                </a:solidFill>
                <a:effectLst/>
                <a:latin typeface="+mn-lt"/>
              </a:rPr>
              <a:t>Python</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deberá</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devolver</a:t>
            </a:r>
            <a:r>
              <a:rPr kumimoji="0" lang="en-US" altLang="es-MX" sz="1100" b="0" i="0" u="none" strike="noStrike" cap="none" normalizeH="0" baseline="0" dirty="0">
                <a:ln>
                  <a:noFill/>
                </a:ln>
                <a:solidFill>
                  <a:srgbClr val="FEFFFF"/>
                </a:solidFill>
                <a:effectLst/>
                <a:latin typeface="+mn-lt"/>
              </a:rPr>
              <a:t>: "</a:t>
            </a:r>
            <a:r>
              <a:rPr kumimoji="0" lang="en-US" altLang="es-MX" sz="1100" b="1" i="1" u="none" strike="noStrike" cap="none" normalizeH="0" baseline="0" dirty="0">
                <a:ln>
                  <a:noFill/>
                </a:ln>
                <a:solidFill>
                  <a:srgbClr val="FEFFFF"/>
                </a:solidFill>
                <a:effectLst/>
                <a:latin typeface="+mn-lt"/>
              </a:rPr>
              <a:t>NOHTYP</a:t>
            </a:r>
            <a:r>
              <a:rPr kumimoji="0" lang="en-US" altLang="es-MX" sz="1100" b="0" i="0" u="none" strike="noStrike" cap="none" normalizeH="0" baseline="0" dirty="0">
                <a:ln>
                  <a:noFill/>
                </a:ln>
                <a:solidFill>
                  <a:srgbClr val="FEFFFF"/>
                </a:solidFill>
                <a:effectLst/>
                <a:latin typeface="+mn-lt"/>
              </a:rPr>
              <a:t>"</a:t>
            </a:r>
          </a:p>
          <a:p>
            <a:pPr marL="685800" lvl="1" indent="-228600" eaLnBrk="1" hangingPunct="1">
              <a:lnSpc>
                <a:spcPct val="90000"/>
              </a:lnSpc>
              <a:spcAft>
                <a:spcPts val="600"/>
              </a:spcAft>
              <a:buFont typeface="Arial" panose="020B0604020202020204" pitchFamily="34" charset="0"/>
              <a:buChar char="•"/>
            </a:pPr>
            <a:r>
              <a:rPr kumimoji="0" lang="en-US" altLang="es-MX" sz="1100" b="0" i="0" u="none" strike="noStrike" cap="none" normalizeH="0" baseline="0" dirty="0" err="1">
                <a:ln>
                  <a:noFill/>
                </a:ln>
                <a:solidFill>
                  <a:srgbClr val="FEFFFF"/>
                </a:solidFill>
                <a:effectLst/>
                <a:latin typeface="+mn-lt"/>
              </a:rPr>
              <a:t>También</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deberás</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crear</a:t>
            </a:r>
            <a:r>
              <a:rPr kumimoji="0" lang="en-US" altLang="es-MX" sz="1100" b="0" i="0" u="none" strike="noStrike" cap="none" normalizeH="0" baseline="0" dirty="0">
                <a:ln>
                  <a:noFill/>
                </a:ln>
                <a:solidFill>
                  <a:srgbClr val="FEFFFF"/>
                </a:solidFill>
                <a:effectLst/>
                <a:latin typeface="+mn-lt"/>
              </a:rPr>
              <a:t> una </a:t>
            </a:r>
            <a:r>
              <a:rPr kumimoji="0" lang="en-US" altLang="es-MX" sz="1100" b="1" i="0" u="none" strike="noStrike" cap="none" normalizeH="0" baseline="0" dirty="0">
                <a:ln>
                  <a:noFill/>
                </a:ln>
                <a:solidFill>
                  <a:srgbClr val="FEFFFF"/>
                </a:solidFill>
                <a:effectLst/>
                <a:latin typeface="+mn-lt"/>
              </a:rPr>
              <a:t>variable </a:t>
            </a:r>
            <a:r>
              <a:rPr kumimoji="0" lang="en-US" altLang="es-MX" sz="1100" b="0" i="0" u="none" strike="noStrike" cap="none" normalizeH="0" baseline="0" dirty="0" err="1">
                <a:ln>
                  <a:noFill/>
                </a:ln>
                <a:solidFill>
                  <a:srgbClr val="FEFFFF"/>
                </a:solidFill>
                <a:effectLst/>
                <a:latin typeface="+mn-lt"/>
              </a:rPr>
              <a:t>llamada</a:t>
            </a:r>
            <a:r>
              <a:rPr kumimoji="0" lang="en-US" altLang="es-MX" sz="1100" b="0" i="0" u="none" strike="noStrike" cap="none" normalizeH="0" baseline="0" dirty="0">
                <a:ln>
                  <a:noFill/>
                </a:ln>
                <a:solidFill>
                  <a:srgbClr val="FEFFFF"/>
                </a:solidFill>
                <a:effectLst/>
                <a:latin typeface="+mn-lt"/>
              </a:rPr>
              <a:t> palabra, que </a:t>
            </a:r>
            <a:r>
              <a:rPr kumimoji="0" lang="en-US" altLang="es-MX" sz="1100" b="0" i="0" u="none" strike="noStrike" cap="none" normalizeH="0" baseline="0" dirty="0" err="1">
                <a:ln>
                  <a:noFill/>
                </a:ln>
                <a:solidFill>
                  <a:srgbClr val="FEFFFF"/>
                </a:solidFill>
                <a:effectLst/>
                <a:latin typeface="+mn-lt"/>
              </a:rPr>
              <a:t>contenga</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el</a:t>
            </a:r>
            <a:r>
              <a:rPr kumimoji="0" lang="en-US" altLang="es-MX" sz="1100" b="0" i="0" u="none" strike="noStrike" cap="none" normalizeH="0" baseline="0" dirty="0">
                <a:ln>
                  <a:noFill/>
                </a:ln>
                <a:solidFill>
                  <a:srgbClr val="FEFFFF"/>
                </a:solidFill>
                <a:effectLst/>
                <a:latin typeface="+mn-lt"/>
              </a:rPr>
              <a:t> string que </a:t>
            </a:r>
            <a:r>
              <a:rPr kumimoji="0" lang="en-US" altLang="es-MX" sz="1100" b="0" i="0" u="none" strike="noStrike" cap="none" normalizeH="0" baseline="0" dirty="0" err="1">
                <a:ln>
                  <a:noFill/>
                </a:ln>
                <a:solidFill>
                  <a:srgbClr val="FEFFFF"/>
                </a:solidFill>
                <a:effectLst/>
                <a:latin typeface="+mn-lt"/>
              </a:rPr>
              <a:t>tú</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prefieras</a:t>
            </a:r>
            <a:r>
              <a:rPr kumimoji="0" lang="en-US" altLang="es-MX" sz="1100" b="0" i="0" u="none" strike="noStrike" cap="none" normalizeH="0" baseline="0" dirty="0">
                <a:ln>
                  <a:noFill/>
                </a:ln>
                <a:solidFill>
                  <a:srgbClr val="FEFFFF"/>
                </a:solidFill>
                <a:effectLst/>
                <a:latin typeface="+mn-lt"/>
              </a:rPr>
              <a:t>, para </a:t>
            </a:r>
            <a:r>
              <a:rPr kumimoji="0" lang="en-US" altLang="es-MX" sz="1100" b="0" i="0" u="none" strike="noStrike" cap="none" normalizeH="0" baseline="0" dirty="0" err="1">
                <a:ln>
                  <a:noFill/>
                </a:ln>
                <a:solidFill>
                  <a:srgbClr val="FEFFFF"/>
                </a:solidFill>
                <a:effectLst/>
                <a:latin typeface="+mn-lt"/>
              </a:rPr>
              <a:t>sumisitrarle</a:t>
            </a:r>
            <a:r>
              <a:rPr kumimoji="0" lang="en-US" altLang="es-MX" sz="1100" b="0" i="0" u="none" strike="noStrike" cap="none" normalizeH="0" baseline="0" dirty="0">
                <a:ln>
                  <a:noFill/>
                </a:ln>
                <a:solidFill>
                  <a:srgbClr val="FEFFFF"/>
                </a:solidFill>
                <a:effectLst/>
                <a:latin typeface="+mn-lt"/>
              </a:rPr>
              <a:t> como </a:t>
            </a:r>
            <a:r>
              <a:rPr kumimoji="0" lang="en-US" altLang="es-MX" sz="1100" b="0" i="0" u="none" strike="noStrike" cap="none" normalizeH="0" baseline="0" dirty="0" err="1">
                <a:ln>
                  <a:noFill/>
                </a:ln>
                <a:solidFill>
                  <a:srgbClr val="FEFFFF"/>
                </a:solidFill>
                <a:effectLst/>
                <a:latin typeface="+mn-lt"/>
              </a:rPr>
              <a:t>argumento</a:t>
            </a:r>
            <a:r>
              <a:rPr kumimoji="0" lang="en-US" altLang="es-MX" sz="1100" b="0" i="0" u="none" strike="noStrike" cap="none" normalizeH="0" baseline="0" dirty="0">
                <a:ln>
                  <a:noFill/>
                </a:ln>
                <a:solidFill>
                  <a:srgbClr val="FEFFFF"/>
                </a:solidFill>
                <a:effectLst/>
                <a:latin typeface="+mn-lt"/>
              </a:rPr>
              <a:t> a la </a:t>
            </a:r>
            <a:r>
              <a:rPr kumimoji="0" lang="en-US" altLang="es-MX" sz="1100" b="0" i="0" u="none" strike="noStrike" cap="none" normalizeH="0" baseline="0" dirty="0" err="1">
                <a:ln>
                  <a:noFill/>
                </a:ln>
                <a:solidFill>
                  <a:srgbClr val="FEFFFF"/>
                </a:solidFill>
                <a:effectLst/>
                <a:latin typeface="+mn-lt"/>
              </a:rPr>
              <a:t>función</a:t>
            </a:r>
            <a:r>
              <a:rPr kumimoji="0" lang="en-US" altLang="es-MX" sz="1100" b="0" i="0" u="none" strike="noStrike" cap="none" normalizeH="0" baseline="0" dirty="0">
                <a:ln>
                  <a:noFill/>
                </a:ln>
                <a:solidFill>
                  <a:srgbClr val="FEFFFF"/>
                </a:solidFill>
                <a:effectLst/>
                <a:latin typeface="+mn-lt"/>
              </a:rPr>
              <a:t> </a:t>
            </a:r>
            <a:r>
              <a:rPr kumimoji="0" lang="en-US" altLang="es-MX" sz="1100" b="0" i="0" u="none" strike="noStrike" cap="none" normalizeH="0" baseline="0" dirty="0" err="1">
                <a:ln>
                  <a:noFill/>
                </a:ln>
                <a:solidFill>
                  <a:srgbClr val="FEFFFF"/>
                </a:solidFill>
                <a:effectLst/>
                <a:latin typeface="+mn-lt"/>
              </a:rPr>
              <a:t>creada</a:t>
            </a:r>
            <a:r>
              <a:rPr kumimoji="0" lang="en-US" altLang="es-MX" sz="1100" b="0" i="0" u="none" strike="noStrike" cap="none" normalizeH="0" baseline="0" dirty="0">
                <a:ln>
                  <a:noFill/>
                </a:ln>
                <a:solidFill>
                  <a:srgbClr val="FEFFFF"/>
                </a:solidFill>
                <a:effectLst/>
                <a:latin typeface="+mn-lt"/>
              </a:rPr>
              <a:t>.</a:t>
            </a:r>
          </a:p>
          <a:p>
            <a:pPr marL="685800" lvl="1" indent="-228600" eaLnBrk="1" hangingPunct="1">
              <a:lnSpc>
                <a:spcPct val="90000"/>
              </a:lnSpc>
              <a:spcAft>
                <a:spcPts val="600"/>
              </a:spcAft>
              <a:buFont typeface="Arial" panose="020B0604020202020204" pitchFamily="34" charset="0"/>
              <a:buChar char="•"/>
            </a:pPr>
            <a:r>
              <a:rPr kumimoji="0" lang="en-US" altLang="es-MX" sz="1100" b="1" i="1" u="none" strike="noStrike" cap="none" normalizeH="0" baseline="0" dirty="0" err="1">
                <a:ln>
                  <a:noFill/>
                </a:ln>
                <a:solidFill>
                  <a:srgbClr val="FEFFFF"/>
                </a:solidFill>
                <a:effectLst/>
                <a:latin typeface="+mn-lt"/>
              </a:rPr>
              <a:t>Pista</a:t>
            </a:r>
            <a:r>
              <a:rPr kumimoji="0" lang="en-US" altLang="es-MX" sz="1100" b="1" i="1" u="none" strike="noStrike" cap="none" normalizeH="0" baseline="0" dirty="0">
                <a:ln>
                  <a:noFill/>
                </a:ln>
                <a:solidFill>
                  <a:srgbClr val="FEFFFF"/>
                </a:solidFill>
                <a:effectLst/>
                <a:latin typeface="+mn-lt"/>
              </a:rPr>
              <a:t>: </a:t>
            </a:r>
            <a:r>
              <a:rPr kumimoji="0" lang="en-US" altLang="es-MX" sz="1100" b="1" i="1" u="none" strike="noStrike" cap="none" normalizeH="0" baseline="0" dirty="0" err="1">
                <a:ln>
                  <a:noFill/>
                </a:ln>
                <a:solidFill>
                  <a:srgbClr val="FEFFFF"/>
                </a:solidFill>
                <a:effectLst/>
                <a:latin typeface="+mn-lt"/>
              </a:rPr>
              <a:t>dentro</a:t>
            </a:r>
            <a:r>
              <a:rPr kumimoji="0" lang="en-US" altLang="es-MX" sz="1100" b="1" i="1" u="none" strike="noStrike" cap="none" normalizeH="0" baseline="0" dirty="0">
                <a:ln>
                  <a:noFill/>
                </a:ln>
                <a:solidFill>
                  <a:srgbClr val="FEFFFF"/>
                </a:solidFill>
                <a:effectLst/>
                <a:latin typeface="+mn-lt"/>
              </a:rPr>
              <a:t> de la </a:t>
            </a:r>
            <a:r>
              <a:rPr kumimoji="0" lang="en-US" altLang="es-MX" sz="1100" b="1" i="1" u="none" strike="noStrike" cap="none" normalizeH="0" baseline="0" dirty="0" err="1">
                <a:ln>
                  <a:noFill/>
                </a:ln>
                <a:solidFill>
                  <a:srgbClr val="FEFFFF"/>
                </a:solidFill>
                <a:effectLst/>
                <a:latin typeface="+mn-lt"/>
              </a:rPr>
              <a:t>función</a:t>
            </a:r>
            <a:r>
              <a:rPr kumimoji="0" lang="en-US" altLang="es-MX" sz="1100" b="1" i="1" u="none" strike="noStrike" cap="none" normalizeH="0" baseline="0" dirty="0">
                <a:ln>
                  <a:noFill/>
                </a:ln>
                <a:solidFill>
                  <a:srgbClr val="FEFFFF"/>
                </a:solidFill>
                <a:effectLst/>
                <a:latin typeface="+mn-lt"/>
              </a:rPr>
              <a:t> </a:t>
            </a:r>
            <a:r>
              <a:rPr kumimoji="0" lang="en-US" altLang="es-MX" sz="1100" b="1" i="1" u="none" strike="noStrike" cap="none" normalizeH="0" baseline="0" dirty="0" err="1">
                <a:ln>
                  <a:noFill/>
                </a:ln>
                <a:solidFill>
                  <a:srgbClr val="FEFFFF"/>
                </a:solidFill>
                <a:effectLst/>
                <a:latin typeface="+mn-lt"/>
              </a:rPr>
              <a:t>creada</a:t>
            </a:r>
            <a:r>
              <a:rPr kumimoji="0" lang="en-US" altLang="es-MX" sz="1100" b="1" i="1" u="none" strike="noStrike" cap="none" normalizeH="0" baseline="0" dirty="0">
                <a:ln>
                  <a:noFill/>
                </a:ln>
                <a:solidFill>
                  <a:srgbClr val="FEFFFF"/>
                </a:solidFill>
                <a:effectLst/>
                <a:latin typeface="+mn-lt"/>
              </a:rPr>
              <a:t>, </a:t>
            </a:r>
            <a:r>
              <a:rPr kumimoji="0" lang="en-US" altLang="es-MX" sz="1100" b="1" i="1" u="none" strike="noStrike" cap="none" normalizeH="0" baseline="0" dirty="0" err="1">
                <a:ln>
                  <a:noFill/>
                </a:ln>
                <a:solidFill>
                  <a:srgbClr val="FEFFFF"/>
                </a:solidFill>
                <a:effectLst/>
                <a:latin typeface="+mn-lt"/>
              </a:rPr>
              <a:t>deberás</a:t>
            </a:r>
            <a:r>
              <a:rPr kumimoji="0" lang="en-US" altLang="es-MX" sz="1100" b="1" i="1" u="none" strike="noStrike" cap="none" normalizeH="0" baseline="0" dirty="0">
                <a:ln>
                  <a:noFill/>
                </a:ln>
                <a:solidFill>
                  <a:srgbClr val="FEFFFF"/>
                </a:solidFill>
                <a:effectLst/>
                <a:latin typeface="+mn-lt"/>
              </a:rPr>
              <a:t> </a:t>
            </a:r>
            <a:r>
              <a:rPr kumimoji="0" lang="en-US" altLang="es-MX" sz="1100" b="1" i="1" u="none" strike="noStrike" cap="none" normalizeH="0" baseline="0" dirty="0" err="1">
                <a:ln>
                  <a:noFill/>
                </a:ln>
                <a:solidFill>
                  <a:srgbClr val="FEFFFF"/>
                </a:solidFill>
                <a:effectLst/>
                <a:latin typeface="+mn-lt"/>
              </a:rPr>
              <a:t>utilizar</a:t>
            </a:r>
            <a:r>
              <a:rPr kumimoji="0" lang="en-US" altLang="es-MX" sz="1100" b="1" i="1" u="none" strike="noStrike" cap="none" normalizeH="0" baseline="0" dirty="0">
                <a:ln>
                  <a:noFill/>
                </a:ln>
                <a:solidFill>
                  <a:srgbClr val="FEFFFF"/>
                </a:solidFill>
                <a:effectLst/>
                <a:latin typeface="+mn-lt"/>
              </a:rPr>
              <a:t> </a:t>
            </a:r>
            <a:r>
              <a:rPr kumimoji="0" lang="en-US" altLang="es-MX" sz="1100" b="1" i="1" u="none" strike="noStrike" cap="none" normalizeH="0" baseline="0" dirty="0" err="1">
                <a:ln>
                  <a:noFill/>
                </a:ln>
                <a:solidFill>
                  <a:srgbClr val="FEFFFF"/>
                </a:solidFill>
                <a:effectLst/>
                <a:latin typeface="+mn-lt"/>
              </a:rPr>
              <a:t>métodos</a:t>
            </a:r>
            <a:r>
              <a:rPr kumimoji="0" lang="en-US" altLang="es-MX" sz="1100" b="1" i="1" u="none" strike="noStrike" cap="none" normalizeH="0" baseline="0" dirty="0">
                <a:ln>
                  <a:noFill/>
                </a:ln>
                <a:solidFill>
                  <a:srgbClr val="FEFFFF"/>
                </a:solidFill>
                <a:effectLst/>
                <a:latin typeface="+mn-lt"/>
              </a:rPr>
              <a:t> de strings </a:t>
            </a:r>
            <a:r>
              <a:rPr kumimoji="0" lang="en-US" altLang="es-MX" sz="1100" b="1" i="1" u="none" strike="noStrike" cap="none" normalizeH="0" baseline="0" dirty="0" err="1">
                <a:ln>
                  <a:noFill/>
                </a:ln>
                <a:solidFill>
                  <a:srgbClr val="FEFFFF"/>
                </a:solidFill>
                <a:effectLst/>
                <a:latin typeface="+mn-lt"/>
              </a:rPr>
              <a:t>ya</a:t>
            </a:r>
            <a:r>
              <a:rPr kumimoji="0" lang="en-US" altLang="es-MX" sz="1100" b="1" i="1" u="none" strike="noStrike" cap="none" normalizeH="0" baseline="0" dirty="0">
                <a:ln>
                  <a:noFill/>
                </a:ln>
                <a:solidFill>
                  <a:srgbClr val="FEFFFF"/>
                </a:solidFill>
                <a:effectLst/>
                <a:latin typeface="+mn-lt"/>
              </a:rPr>
              <a:t> vistos.</a:t>
            </a:r>
            <a:endParaRPr kumimoji="0" lang="en-US" altLang="es-MX" sz="1100" b="0" i="0" u="none" strike="noStrike" cap="none" normalizeH="0" baseline="0" dirty="0">
              <a:ln>
                <a:noFill/>
              </a:ln>
              <a:solidFill>
                <a:srgbClr val="FEFFFF"/>
              </a:solidFill>
              <a:effectLst/>
              <a:latin typeface="+mn-lt"/>
            </a:endParaRP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s-MX" sz="1100" b="0" i="0" u="none" strike="noStrike" cap="none" normalizeH="0" baseline="0" dirty="0">
              <a:ln>
                <a:noFill/>
              </a:ln>
              <a:solidFill>
                <a:srgbClr val="FEFFFF"/>
              </a:solidFill>
              <a:effectLst/>
              <a:latin typeface="+mn-lt"/>
            </a:endParaRPr>
          </a:p>
        </p:txBody>
      </p:sp>
      <p:sp>
        <p:nvSpPr>
          <p:cNvPr id="4" name="Marcador de pie de página 3">
            <a:extLst>
              <a:ext uri="{FF2B5EF4-FFF2-40B4-BE49-F238E27FC236}">
                <a16:creationId xmlns:a16="http://schemas.microsoft.com/office/drawing/2014/main" id="{5AB8C3E3-A32A-04E1-AA5B-7484851FD8A7}"/>
              </a:ext>
            </a:extLst>
          </p:cNvPr>
          <p:cNvSpPr>
            <a:spLocks noGrp="1"/>
          </p:cNvSpPr>
          <p:nvPr>
            <p:ph type="ftr" sz="quarter" idx="11"/>
          </p:nvPr>
        </p:nvSpPr>
        <p:spPr>
          <a:xfrm>
            <a:off x="795528" y="6382512"/>
            <a:ext cx="6757416" cy="320040"/>
          </a:xfrm>
        </p:spPr>
        <p:txBody>
          <a:bodyPr vert="horz" lIns="91440" tIns="45720" rIns="91440" bIns="45720" rtlCol="0" anchor="ctr">
            <a:normAutofit/>
          </a:bodyPr>
          <a:lstStyle/>
          <a:p>
            <a:pPr algn="l">
              <a:spcAft>
                <a:spcPts val="600"/>
              </a:spcAft>
            </a:pPr>
            <a:r>
              <a:rPr lang="en-US" sz="1000" kern="1200">
                <a:solidFill>
                  <a:schemeClr val="tx1">
                    <a:tint val="75000"/>
                  </a:schemeClr>
                </a:solidFill>
                <a:latin typeface="+mn-lt"/>
                <a:ea typeface="+mn-ea"/>
                <a:cs typeface="+mn-cs"/>
              </a:rPr>
              <a:t>Arabots Robotics</a:t>
            </a:r>
          </a:p>
        </p:txBody>
      </p:sp>
      <p:sp>
        <p:nvSpPr>
          <p:cNvPr id="5" name="Marcador de número de diapositiva 4">
            <a:extLst>
              <a:ext uri="{FF2B5EF4-FFF2-40B4-BE49-F238E27FC236}">
                <a16:creationId xmlns:a16="http://schemas.microsoft.com/office/drawing/2014/main" id="{6E8EA197-D780-E812-A4E8-FD68E9009DDC}"/>
              </a:ext>
            </a:extLst>
          </p:cNvPr>
          <p:cNvSpPr>
            <a:spLocks noGrp="1"/>
          </p:cNvSpPr>
          <p:nvPr>
            <p:ph type="sldNum" sz="quarter" idx="12"/>
          </p:nvPr>
        </p:nvSpPr>
        <p:spPr>
          <a:xfrm>
            <a:off x="10707624" y="6175188"/>
            <a:ext cx="685800" cy="320040"/>
          </a:xfrm>
        </p:spPr>
        <p:txBody>
          <a:bodyPr vert="horz" lIns="91440" tIns="45720" rIns="91440" bIns="45720" rtlCol="0" anchor="ctr">
            <a:normAutofit/>
          </a:bodyPr>
          <a:lstStyle/>
          <a:p>
            <a:pPr>
              <a:spcAft>
                <a:spcPts val="600"/>
              </a:spcAft>
            </a:pPr>
            <a:fld id="{4EA4A3B0-B5DF-4E2B-B48F-E4B7B7872040}" type="slidenum">
              <a:rPr lang="en-US" sz="1000">
                <a:solidFill>
                  <a:srgbClr val="FFFFFF"/>
                </a:solidFill>
              </a:rPr>
              <a:pPr>
                <a:spcAft>
                  <a:spcPts val="600"/>
                </a:spcAft>
              </a:pPr>
              <a:t>128</a:t>
            </a:fld>
            <a:endParaRPr lang="en-US" sz="1000">
              <a:solidFill>
                <a:srgbClr val="FFFFFF"/>
              </a:solidFill>
            </a:endParaRPr>
          </a:p>
        </p:txBody>
      </p:sp>
    </p:spTree>
    <p:extLst>
      <p:ext uri="{BB962C8B-B14F-4D97-AF65-F5344CB8AC3E}">
        <p14:creationId xmlns:p14="http://schemas.microsoft.com/office/powerpoint/2010/main" val="24482944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ítulo 1">
            <a:extLst>
              <a:ext uri="{FF2B5EF4-FFF2-40B4-BE49-F238E27FC236}">
                <a16:creationId xmlns:a16="http://schemas.microsoft.com/office/drawing/2014/main" id="{1A4200A7-4C2B-D4E3-6828-B547544C8415}"/>
              </a:ext>
            </a:extLst>
          </p:cNvPr>
          <p:cNvSpPr>
            <a:spLocks noGrp="1"/>
          </p:cNvSpPr>
          <p:nvPr>
            <p:ph type="title"/>
          </p:nvPr>
        </p:nvSpPr>
        <p:spPr>
          <a:xfrm>
            <a:off x="479394" y="1070800"/>
            <a:ext cx="3939688" cy="5583126"/>
          </a:xfrm>
        </p:spPr>
        <p:txBody>
          <a:bodyPr>
            <a:normAutofit/>
          </a:bodyPr>
          <a:lstStyle/>
          <a:p>
            <a:pPr algn="r"/>
            <a:r>
              <a:rPr lang="es-MX" sz="6800"/>
              <a:t>funciones dinámicas</a:t>
            </a:r>
          </a:p>
        </p:txBody>
      </p:sp>
      <p:sp>
        <p:nvSpPr>
          <p:cNvPr id="4" name="Marcador de pie de página 3">
            <a:extLst>
              <a:ext uri="{FF2B5EF4-FFF2-40B4-BE49-F238E27FC236}">
                <a16:creationId xmlns:a16="http://schemas.microsoft.com/office/drawing/2014/main" id="{E0BC3E48-4015-E0B9-E3A4-85CBA2CBC273}"/>
              </a:ext>
            </a:extLst>
          </p:cNvPr>
          <p:cNvSpPr>
            <a:spLocks noGrp="1"/>
          </p:cNvSpPr>
          <p:nvPr>
            <p:ph type="ftr" sz="quarter" idx="11"/>
          </p:nvPr>
        </p:nvSpPr>
        <p:spPr>
          <a:xfrm>
            <a:off x="4038600" y="320400"/>
            <a:ext cx="4114800" cy="365125"/>
          </a:xfrm>
        </p:spPr>
        <p:txBody>
          <a:bodyPr>
            <a:normAutofit/>
          </a:bodyPr>
          <a:lstStyle/>
          <a:p>
            <a:pPr>
              <a:spcAft>
                <a:spcPts val="600"/>
              </a:spcAft>
            </a:pPr>
            <a:r>
              <a:rPr lang="es-MX">
                <a:solidFill>
                  <a:schemeClr val="tx1">
                    <a:alpha val="60000"/>
                  </a:schemeClr>
                </a:solidFill>
              </a:rPr>
              <a:t>Arabots Robotics</a:t>
            </a:r>
          </a:p>
        </p:txBody>
      </p:sp>
      <p:sp>
        <p:nvSpPr>
          <p:cNvPr id="5" name="Marcador de número de diapositiva 4">
            <a:extLst>
              <a:ext uri="{FF2B5EF4-FFF2-40B4-BE49-F238E27FC236}">
                <a16:creationId xmlns:a16="http://schemas.microsoft.com/office/drawing/2014/main" id="{B5A6702D-0386-1E60-16D1-4367FFFC5AB0}"/>
              </a:ext>
            </a:extLst>
          </p:cNvPr>
          <p:cNvSpPr>
            <a:spLocks noGrp="1"/>
          </p:cNvSpPr>
          <p:nvPr>
            <p:ph type="sldNum" sz="quarter" idx="12"/>
          </p:nvPr>
        </p:nvSpPr>
        <p:spPr>
          <a:xfrm>
            <a:off x="8610600" y="320400"/>
            <a:ext cx="2743200" cy="365125"/>
          </a:xfrm>
        </p:spPr>
        <p:txBody>
          <a:bodyPr>
            <a:normAutofit/>
          </a:bodyPr>
          <a:lstStyle/>
          <a:p>
            <a:pPr>
              <a:spcAft>
                <a:spcPts val="600"/>
              </a:spcAft>
            </a:pPr>
            <a:fld id="{4EA4A3B0-B5DF-4E2B-B48F-E4B7B7872040}" type="slidenum">
              <a:rPr lang="es-MX">
                <a:solidFill>
                  <a:schemeClr val="tx1">
                    <a:alpha val="60000"/>
                  </a:schemeClr>
                </a:solidFill>
              </a:rPr>
              <a:pPr>
                <a:spcAft>
                  <a:spcPts val="600"/>
                </a:spcAft>
              </a:pPr>
              <a:t>129</a:t>
            </a:fld>
            <a:endParaRPr lang="es-MX">
              <a:solidFill>
                <a:schemeClr val="tx1">
                  <a:alpha val="60000"/>
                </a:schemeClr>
              </a:solidFill>
            </a:endParaRPr>
          </a:p>
        </p:txBody>
      </p:sp>
      <p:cxnSp>
        <p:nvCxnSpPr>
          <p:cNvPr id="13" name="Straight Connector 1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7" name="Marcador de contenido 2">
            <a:extLst>
              <a:ext uri="{FF2B5EF4-FFF2-40B4-BE49-F238E27FC236}">
                <a16:creationId xmlns:a16="http://schemas.microsoft.com/office/drawing/2014/main" id="{CB0E415B-6BCF-F1AD-E1E6-6599D8E27DC9}"/>
              </a:ext>
            </a:extLst>
          </p:cNvPr>
          <p:cNvGraphicFramePr>
            <a:graphicFrameLocks noGrp="1"/>
          </p:cNvGraphicFramePr>
          <p:nvPr>
            <p:ph idx="1"/>
            <p:extLst>
              <p:ext uri="{D42A27DB-BD31-4B8C-83A1-F6EECF244321}">
                <p14:modId xmlns:p14="http://schemas.microsoft.com/office/powerpoint/2010/main" val="2637587881"/>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727650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84FFB4A-D0D8-05D2-5B51-868BBD9B1388}"/>
              </a:ext>
            </a:extLst>
          </p:cNvPr>
          <p:cNvSpPr>
            <a:spLocks noGrp="1"/>
          </p:cNvSpPr>
          <p:nvPr>
            <p:ph idx="1"/>
          </p:nvPr>
        </p:nvSpPr>
        <p:spPr>
          <a:xfrm>
            <a:off x="838200" y="581025"/>
            <a:ext cx="10515600" cy="5595938"/>
          </a:xfrm>
        </p:spPr>
        <p:txBody>
          <a:bodyPr>
            <a:normAutofit/>
          </a:bodyPr>
          <a:lstStyle/>
          <a:p>
            <a:pPr marL="0" indent="0">
              <a:buNone/>
            </a:pPr>
            <a:r>
              <a:rPr lang="en-US" sz="4000" dirty="0">
                <a:solidFill>
                  <a:schemeClr val="bg1"/>
                </a:solidFill>
              </a:rPr>
              <a:t>def </a:t>
            </a:r>
            <a:r>
              <a:rPr lang="en-US" sz="4000" dirty="0" err="1">
                <a:solidFill>
                  <a:schemeClr val="bg1"/>
                </a:solidFill>
              </a:rPr>
              <a:t>mi_funcion</a:t>
            </a:r>
            <a:r>
              <a:rPr lang="en-US" sz="4000" dirty="0">
                <a:solidFill>
                  <a:schemeClr val="bg1"/>
                </a:solidFill>
              </a:rPr>
              <a:t>(</a:t>
            </a:r>
            <a:r>
              <a:rPr lang="en-US" sz="4000" dirty="0" err="1">
                <a:solidFill>
                  <a:schemeClr val="bg1"/>
                </a:solidFill>
              </a:rPr>
              <a:t>argumento</a:t>
            </a:r>
            <a:r>
              <a:rPr lang="en-US" sz="4000" dirty="0">
                <a:solidFill>
                  <a:schemeClr val="bg1"/>
                </a:solidFill>
              </a:rPr>
              <a:t>): </a:t>
            </a:r>
          </a:p>
          <a:p>
            <a:pPr marL="0" indent="0">
              <a:buNone/>
            </a:pPr>
            <a:r>
              <a:rPr lang="en-US" sz="4000" dirty="0">
                <a:solidFill>
                  <a:schemeClr val="bg1"/>
                </a:solidFill>
              </a:rPr>
              <a:t>for item in ... </a:t>
            </a:r>
          </a:p>
          <a:p>
            <a:pPr marL="0" indent="0">
              <a:buNone/>
            </a:pPr>
            <a:r>
              <a:rPr lang="en-US" sz="4000" dirty="0">
                <a:solidFill>
                  <a:schemeClr val="bg1"/>
                </a:solidFill>
              </a:rPr>
              <a:t>if a == b ... </a:t>
            </a:r>
          </a:p>
          <a:p>
            <a:pPr marL="0" indent="0">
              <a:buNone/>
            </a:pPr>
            <a:r>
              <a:rPr lang="en-US" sz="4000" dirty="0">
                <a:solidFill>
                  <a:schemeClr val="bg1"/>
                </a:solidFill>
              </a:rPr>
              <a:t>... </a:t>
            </a:r>
          </a:p>
          <a:p>
            <a:pPr marL="0" indent="0">
              <a:buNone/>
            </a:pPr>
            <a:r>
              <a:rPr lang="en-US" sz="4000" dirty="0">
                <a:solidFill>
                  <a:schemeClr val="bg1"/>
                </a:solidFill>
              </a:rPr>
              <a:t>else: </a:t>
            </a:r>
          </a:p>
          <a:p>
            <a:pPr marL="0" indent="0">
              <a:buNone/>
            </a:pPr>
            <a:r>
              <a:rPr lang="en-US" sz="4000" dirty="0">
                <a:solidFill>
                  <a:schemeClr val="bg1"/>
                </a:solidFill>
              </a:rPr>
              <a:t>                            return ... </a:t>
            </a:r>
          </a:p>
          <a:p>
            <a:pPr marL="0" indent="0">
              <a:buNone/>
            </a:pPr>
            <a:r>
              <a:rPr lang="en-US" sz="4000" dirty="0">
                <a:solidFill>
                  <a:schemeClr val="bg1"/>
                </a:solidFill>
              </a:rPr>
              <a:t>return ...</a:t>
            </a:r>
            <a:endParaRPr lang="es-MX" sz="4000" dirty="0">
              <a:solidFill>
                <a:schemeClr val="bg1"/>
              </a:solidFill>
            </a:endParaRPr>
          </a:p>
        </p:txBody>
      </p:sp>
      <p:sp>
        <p:nvSpPr>
          <p:cNvPr id="4" name="Marcador de pie de página 3">
            <a:extLst>
              <a:ext uri="{FF2B5EF4-FFF2-40B4-BE49-F238E27FC236}">
                <a16:creationId xmlns:a16="http://schemas.microsoft.com/office/drawing/2014/main" id="{824D49F5-3C30-1F42-C451-0EEA174792C6}"/>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D0FB0213-4AC9-4992-6BAC-18DA7489604C}"/>
              </a:ext>
            </a:extLst>
          </p:cNvPr>
          <p:cNvSpPr>
            <a:spLocks noGrp="1"/>
          </p:cNvSpPr>
          <p:nvPr>
            <p:ph type="sldNum" sz="quarter" idx="12"/>
          </p:nvPr>
        </p:nvSpPr>
        <p:spPr/>
        <p:txBody>
          <a:bodyPr/>
          <a:lstStyle/>
          <a:p>
            <a:fld id="{4EA4A3B0-B5DF-4E2B-B48F-E4B7B7872040}" type="slidenum">
              <a:rPr lang="es-MX" smtClean="0"/>
              <a:t>130</a:t>
            </a:fld>
            <a:endParaRPr lang="es-MX"/>
          </a:p>
        </p:txBody>
      </p:sp>
    </p:spTree>
    <p:extLst>
      <p:ext uri="{BB962C8B-B14F-4D97-AF65-F5344CB8AC3E}">
        <p14:creationId xmlns:p14="http://schemas.microsoft.com/office/powerpoint/2010/main" val="131174110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ítulo 1">
            <a:extLst>
              <a:ext uri="{FF2B5EF4-FFF2-40B4-BE49-F238E27FC236}">
                <a16:creationId xmlns:a16="http://schemas.microsoft.com/office/drawing/2014/main" id="{30CF4D70-B5CE-7FFB-2B80-DF262FAB710F}"/>
              </a:ext>
            </a:extLst>
          </p:cNvPr>
          <p:cNvSpPr>
            <a:spLocks noGrp="1"/>
          </p:cNvSpPr>
          <p:nvPr>
            <p:ph type="title"/>
          </p:nvPr>
        </p:nvSpPr>
        <p:spPr>
          <a:xfrm>
            <a:off x="479394" y="1070800"/>
            <a:ext cx="3939688" cy="5583126"/>
          </a:xfrm>
        </p:spPr>
        <p:txBody>
          <a:bodyPr>
            <a:normAutofit/>
          </a:bodyPr>
          <a:lstStyle/>
          <a:p>
            <a:pPr algn="r"/>
            <a:r>
              <a:rPr lang="es-MX" sz="7400"/>
              <a:t>Ejercicios</a:t>
            </a:r>
            <a:br>
              <a:rPr lang="es-MX" sz="7400"/>
            </a:br>
            <a:endParaRPr lang="es-MX" sz="7400"/>
          </a:p>
        </p:txBody>
      </p:sp>
      <p:sp>
        <p:nvSpPr>
          <p:cNvPr id="4" name="Marcador de pie de página 3">
            <a:extLst>
              <a:ext uri="{FF2B5EF4-FFF2-40B4-BE49-F238E27FC236}">
                <a16:creationId xmlns:a16="http://schemas.microsoft.com/office/drawing/2014/main" id="{BB997EFC-3A97-C053-EBC7-C6EBE8A90A7D}"/>
              </a:ext>
            </a:extLst>
          </p:cNvPr>
          <p:cNvSpPr>
            <a:spLocks noGrp="1"/>
          </p:cNvSpPr>
          <p:nvPr>
            <p:ph type="ftr" sz="quarter" idx="11"/>
          </p:nvPr>
        </p:nvSpPr>
        <p:spPr>
          <a:xfrm>
            <a:off x="4038600" y="320400"/>
            <a:ext cx="4114800" cy="365125"/>
          </a:xfrm>
        </p:spPr>
        <p:txBody>
          <a:bodyPr>
            <a:normAutofit/>
          </a:bodyPr>
          <a:lstStyle/>
          <a:p>
            <a:pPr>
              <a:spcAft>
                <a:spcPts val="600"/>
              </a:spcAft>
            </a:pPr>
            <a:r>
              <a:rPr lang="es-MX">
                <a:solidFill>
                  <a:schemeClr val="tx1">
                    <a:alpha val="60000"/>
                  </a:schemeClr>
                </a:solidFill>
              </a:rPr>
              <a:t>Arabots Robotics</a:t>
            </a:r>
          </a:p>
        </p:txBody>
      </p:sp>
      <p:sp>
        <p:nvSpPr>
          <p:cNvPr id="5" name="Marcador de número de diapositiva 4">
            <a:extLst>
              <a:ext uri="{FF2B5EF4-FFF2-40B4-BE49-F238E27FC236}">
                <a16:creationId xmlns:a16="http://schemas.microsoft.com/office/drawing/2014/main" id="{DD4072BC-25BE-AFEC-5879-F6CB08E48CBE}"/>
              </a:ext>
            </a:extLst>
          </p:cNvPr>
          <p:cNvSpPr>
            <a:spLocks noGrp="1"/>
          </p:cNvSpPr>
          <p:nvPr>
            <p:ph type="sldNum" sz="quarter" idx="12"/>
          </p:nvPr>
        </p:nvSpPr>
        <p:spPr>
          <a:xfrm>
            <a:off x="8610600" y="320400"/>
            <a:ext cx="2743200" cy="365125"/>
          </a:xfrm>
        </p:spPr>
        <p:txBody>
          <a:bodyPr>
            <a:normAutofit/>
          </a:bodyPr>
          <a:lstStyle/>
          <a:p>
            <a:pPr>
              <a:spcAft>
                <a:spcPts val="600"/>
              </a:spcAft>
            </a:pPr>
            <a:fld id="{4EA4A3B0-B5DF-4E2B-B48F-E4B7B7872040}" type="slidenum">
              <a:rPr lang="es-MX">
                <a:solidFill>
                  <a:schemeClr val="tx1">
                    <a:alpha val="60000"/>
                  </a:schemeClr>
                </a:solidFill>
              </a:rPr>
              <a:pPr>
                <a:spcAft>
                  <a:spcPts val="600"/>
                </a:spcAft>
              </a:pPr>
              <a:t>131</a:t>
            </a:fld>
            <a:endParaRPr lang="es-MX">
              <a:solidFill>
                <a:schemeClr val="tx1">
                  <a:alpha val="60000"/>
                </a:schemeClr>
              </a:solidFill>
            </a:endParaRPr>
          </a:p>
        </p:txBody>
      </p:sp>
      <p:cxnSp>
        <p:nvCxnSpPr>
          <p:cNvPr id="13" name="Straight Connector 1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7" name="Marcador de contenido 2">
            <a:extLst>
              <a:ext uri="{FF2B5EF4-FFF2-40B4-BE49-F238E27FC236}">
                <a16:creationId xmlns:a16="http://schemas.microsoft.com/office/drawing/2014/main" id="{454C4FAB-AE6C-05E4-1E80-75FBF76B7A68}"/>
              </a:ext>
            </a:extLst>
          </p:cNvPr>
          <p:cNvGraphicFramePr>
            <a:graphicFrameLocks noGrp="1"/>
          </p:cNvGraphicFramePr>
          <p:nvPr>
            <p:ph idx="1"/>
            <p:extLst>
              <p:ext uri="{D42A27DB-BD31-4B8C-83A1-F6EECF244321}">
                <p14:modId xmlns:p14="http://schemas.microsoft.com/office/powerpoint/2010/main" val="246941848"/>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32784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3EB60A5-FB49-A083-EB09-2F954CBEE276}"/>
              </a:ext>
            </a:extLst>
          </p:cNvPr>
          <p:cNvSpPr>
            <a:spLocks noGrp="1"/>
          </p:cNvSpPr>
          <p:nvPr>
            <p:ph type="title"/>
          </p:nvPr>
        </p:nvSpPr>
        <p:spPr>
          <a:xfrm>
            <a:off x="1245072" y="1289765"/>
            <a:ext cx="3651101" cy="4270963"/>
          </a:xfrm>
        </p:spPr>
        <p:txBody>
          <a:bodyPr anchor="ctr">
            <a:normAutofit/>
          </a:bodyPr>
          <a:lstStyle/>
          <a:p>
            <a:pPr algn="ctr"/>
            <a:r>
              <a:rPr lang="es-MX" sz="5600">
                <a:solidFill>
                  <a:srgbClr val="FFFFFF"/>
                </a:solidFill>
              </a:rPr>
              <a:t>Interacción entre funciones</a:t>
            </a:r>
          </a:p>
        </p:txBody>
      </p:sp>
      <p:sp>
        <p:nvSpPr>
          <p:cNvPr id="1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Marcador de contenido 2">
            <a:extLst>
              <a:ext uri="{FF2B5EF4-FFF2-40B4-BE49-F238E27FC236}">
                <a16:creationId xmlns:a16="http://schemas.microsoft.com/office/drawing/2014/main" id="{E1B6DFE1-DF82-5C77-C09B-2E5FCD3E5560}"/>
              </a:ext>
            </a:extLst>
          </p:cNvPr>
          <p:cNvSpPr>
            <a:spLocks noGrp="1"/>
          </p:cNvSpPr>
          <p:nvPr>
            <p:ph idx="1"/>
          </p:nvPr>
        </p:nvSpPr>
        <p:spPr>
          <a:xfrm>
            <a:off x="6297233" y="518400"/>
            <a:ext cx="4771607" cy="5837949"/>
          </a:xfrm>
        </p:spPr>
        <p:txBody>
          <a:bodyPr anchor="ctr">
            <a:normAutofit/>
          </a:bodyPr>
          <a:lstStyle/>
          <a:p>
            <a:pPr marL="0" indent="0">
              <a:buNone/>
            </a:pPr>
            <a:r>
              <a:rPr lang="es-MX" sz="1400">
                <a:solidFill>
                  <a:schemeClr val="tx1">
                    <a:alpha val="80000"/>
                  </a:schemeClr>
                </a:solidFill>
              </a:rPr>
              <a:t>Las salidas de una determinada función pueden convertirse en entradas de otras funciones. De esa manera, cada función realiza una tarea definida, y el programa se construye a partir de la interacción entre funciones. </a:t>
            </a:r>
          </a:p>
          <a:p>
            <a:pPr marL="0" indent="0">
              <a:buNone/>
            </a:pPr>
            <a:r>
              <a:rPr lang="es-MX" sz="1400">
                <a:solidFill>
                  <a:schemeClr val="tx1">
                    <a:alpha val="80000"/>
                  </a:schemeClr>
                </a:solidFill>
              </a:rPr>
              <a:t>def funcion_1():                                                                           def funcion_4(a,c): </a:t>
            </a:r>
          </a:p>
          <a:p>
            <a:pPr marL="0" indent="0">
              <a:buNone/>
            </a:pPr>
            <a:r>
              <a:rPr lang="es-MX" sz="1400">
                <a:solidFill>
                  <a:schemeClr val="tx1">
                    <a:alpha val="80000"/>
                  </a:schemeClr>
                </a:solidFill>
              </a:rPr>
              <a:t>                                                                                                                                 |... </a:t>
            </a:r>
          </a:p>
          <a:p>
            <a:pPr marL="0" indent="0">
              <a:buNone/>
            </a:pPr>
            <a:r>
              <a:rPr lang="es-MX" sz="1400">
                <a:solidFill>
                  <a:schemeClr val="tx1">
                    <a:alpha val="80000"/>
                  </a:schemeClr>
                </a:solidFill>
              </a:rPr>
              <a:t>                                                                                                                                 |return d                                             </a:t>
            </a:r>
          </a:p>
          <a:p>
            <a:pPr marL="0" indent="0">
              <a:buNone/>
            </a:pPr>
            <a:r>
              <a:rPr lang="es-MX" sz="1400">
                <a:solidFill>
                  <a:schemeClr val="tx1">
                    <a:alpha val="80000"/>
                  </a:schemeClr>
                </a:solidFill>
              </a:rPr>
              <a:t>|... </a:t>
            </a:r>
          </a:p>
          <a:p>
            <a:pPr marL="0" indent="0">
              <a:buNone/>
            </a:pPr>
            <a:r>
              <a:rPr lang="es-MX" sz="1400">
                <a:solidFill>
                  <a:schemeClr val="tx1">
                    <a:alpha val="80000"/>
                  </a:schemeClr>
                </a:solidFill>
              </a:rPr>
              <a:t>|return a</a:t>
            </a:r>
          </a:p>
          <a:p>
            <a:pPr marL="0" indent="0">
              <a:buNone/>
            </a:pPr>
            <a:endParaRPr lang="es-MX" sz="1400">
              <a:solidFill>
                <a:schemeClr val="tx1">
                  <a:alpha val="80000"/>
                </a:schemeClr>
              </a:solidFill>
            </a:endParaRPr>
          </a:p>
          <a:p>
            <a:pPr marL="0" indent="0">
              <a:buNone/>
            </a:pPr>
            <a:r>
              <a:rPr lang="en-US" sz="1400">
                <a:solidFill>
                  <a:schemeClr val="tx1">
                    <a:alpha val="80000"/>
                  </a:schemeClr>
                </a:solidFill>
              </a:rPr>
              <a:t>def funcion_2(a): </a:t>
            </a:r>
          </a:p>
          <a:p>
            <a:pPr marL="0" indent="0">
              <a:buNone/>
            </a:pPr>
            <a:r>
              <a:rPr lang="en-US" sz="1400">
                <a:solidFill>
                  <a:schemeClr val="tx1">
                    <a:alpha val="80000"/>
                  </a:schemeClr>
                </a:solidFill>
              </a:rPr>
              <a:t>|... </a:t>
            </a:r>
          </a:p>
          <a:p>
            <a:pPr marL="0" indent="0">
              <a:buNone/>
            </a:pPr>
            <a:r>
              <a:rPr lang="en-US" sz="1400">
                <a:solidFill>
                  <a:schemeClr val="tx1">
                    <a:alpha val="80000"/>
                  </a:schemeClr>
                </a:solidFill>
              </a:rPr>
              <a:t>|return b</a:t>
            </a:r>
          </a:p>
          <a:p>
            <a:pPr marL="0" indent="0">
              <a:buNone/>
            </a:pPr>
            <a:endParaRPr lang="en-US" sz="1400">
              <a:solidFill>
                <a:schemeClr val="tx1">
                  <a:alpha val="80000"/>
                </a:schemeClr>
              </a:solidFill>
            </a:endParaRPr>
          </a:p>
          <a:p>
            <a:pPr marL="0" indent="0">
              <a:buNone/>
            </a:pPr>
            <a:r>
              <a:rPr lang="en-US" sz="1400">
                <a:solidFill>
                  <a:schemeClr val="tx1">
                    <a:alpha val="80000"/>
                  </a:schemeClr>
                </a:solidFill>
              </a:rPr>
              <a:t>def funcion_3(b): </a:t>
            </a:r>
          </a:p>
          <a:p>
            <a:pPr marL="0" indent="0">
              <a:buNone/>
            </a:pPr>
            <a:r>
              <a:rPr lang="en-US" sz="1400">
                <a:solidFill>
                  <a:schemeClr val="tx1">
                    <a:alpha val="80000"/>
                  </a:schemeClr>
                </a:solidFill>
              </a:rPr>
              <a:t>|... </a:t>
            </a:r>
          </a:p>
          <a:p>
            <a:pPr marL="0" indent="0">
              <a:buNone/>
            </a:pPr>
            <a:r>
              <a:rPr lang="en-US" sz="1400">
                <a:solidFill>
                  <a:schemeClr val="tx1">
                    <a:alpha val="80000"/>
                  </a:schemeClr>
                </a:solidFill>
              </a:rPr>
              <a:t>|return c </a:t>
            </a:r>
            <a:endParaRPr lang="es-MX" sz="1400">
              <a:solidFill>
                <a:schemeClr val="tx1">
                  <a:alpha val="80000"/>
                </a:schemeClr>
              </a:solidFill>
            </a:endParaRPr>
          </a:p>
        </p:txBody>
      </p:sp>
      <p:sp>
        <p:nvSpPr>
          <p:cNvPr id="4" name="Marcador de pie de página 3">
            <a:extLst>
              <a:ext uri="{FF2B5EF4-FFF2-40B4-BE49-F238E27FC236}">
                <a16:creationId xmlns:a16="http://schemas.microsoft.com/office/drawing/2014/main" id="{3AD3915C-D803-F38B-4D34-47D1BBC8CED1}"/>
              </a:ext>
            </a:extLst>
          </p:cNvPr>
          <p:cNvSpPr>
            <a:spLocks noGrp="1"/>
          </p:cNvSpPr>
          <p:nvPr>
            <p:ph type="ftr" sz="quarter" idx="11"/>
          </p:nvPr>
        </p:nvSpPr>
        <p:spPr>
          <a:xfrm rot="16200000">
            <a:off x="9812115" y="1591485"/>
            <a:ext cx="3548094" cy="365125"/>
          </a:xfrm>
        </p:spPr>
        <p:txBody>
          <a:bodyPr>
            <a:normAutofit/>
          </a:bodyPr>
          <a:lstStyle/>
          <a:p>
            <a:pPr>
              <a:spcAft>
                <a:spcPts val="600"/>
              </a:spcAft>
            </a:pPr>
            <a:r>
              <a:rPr lang="es-MX">
                <a:solidFill>
                  <a:schemeClr val="tx1">
                    <a:alpha val="60000"/>
                  </a:schemeClr>
                </a:solidFill>
              </a:rPr>
              <a:t>Arabots Robotics</a:t>
            </a:r>
          </a:p>
        </p:txBody>
      </p:sp>
      <p:sp>
        <p:nvSpPr>
          <p:cNvPr id="1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5" name="Marcador de número de diapositiva 4">
            <a:extLst>
              <a:ext uri="{FF2B5EF4-FFF2-40B4-BE49-F238E27FC236}">
                <a16:creationId xmlns:a16="http://schemas.microsoft.com/office/drawing/2014/main" id="{FB06A0C2-3111-7A6B-24A7-53EC94D1F47E}"/>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a:solidFill>
                  <a:schemeClr val="tx1">
                    <a:alpha val="60000"/>
                  </a:schemeClr>
                </a:solidFill>
              </a:rPr>
              <a:pPr>
                <a:spcAft>
                  <a:spcPts val="600"/>
                </a:spcAft>
              </a:pPr>
              <a:t>132</a:t>
            </a:fld>
            <a:endParaRPr lang="es-MX">
              <a:solidFill>
                <a:schemeClr val="tx1">
                  <a:alpha val="60000"/>
                </a:schemeClr>
              </a:solidFill>
            </a:endParaRPr>
          </a:p>
        </p:txBody>
      </p:sp>
      <p:cxnSp>
        <p:nvCxnSpPr>
          <p:cNvPr id="20" name="Straight Connector 19">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996376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D067A41-B9EF-AF8B-0F75-8F506E960522}"/>
              </a:ext>
            </a:extLst>
          </p:cNvPr>
          <p:cNvSpPr>
            <a:spLocks noGrp="1"/>
          </p:cNvSpPr>
          <p:nvPr>
            <p:ph type="title"/>
          </p:nvPr>
        </p:nvSpPr>
        <p:spPr>
          <a:xfrm>
            <a:off x="1245072" y="1289765"/>
            <a:ext cx="3651101" cy="4270963"/>
          </a:xfrm>
        </p:spPr>
        <p:txBody>
          <a:bodyPr anchor="ctr">
            <a:normAutofit/>
          </a:bodyPr>
          <a:lstStyle/>
          <a:p>
            <a:pPr algn="ctr"/>
            <a:r>
              <a:rPr lang="es-MX" sz="5600">
                <a:solidFill>
                  <a:srgbClr val="FFFFFF"/>
                </a:solidFill>
              </a:rPr>
              <a:t>Ejercicios</a:t>
            </a:r>
          </a:p>
        </p:txBody>
      </p:sp>
      <p:sp>
        <p:nvSpPr>
          <p:cNvPr id="16"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8"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Marcador de contenido 2">
            <a:extLst>
              <a:ext uri="{FF2B5EF4-FFF2-40B4-BE49-F238E27FC236}">
                <a16:creationId xmlns:a16="http://schemas.microsoft.com/office/drawing/2014/main" id="{5486F37C-D322-73B1-58AE-23A1C3A282AD}"/>
              </a:ext>
            </a:extLst>
          </p:cNvPr>
          <p:cNvSpPr>
            <a:spLocks noGrp="1"/>
          </p:cNvSpPr>
          <p:nvPr>
            <p:ph idx="1"/>
          </p:nvPr>
        </p:nvSpPr>
        <p:spPr>
          <a:xfrm>
            <a:off x="6096001" y="518400"/>
            <a:ext cx="4972840" cy="5837949"/>
          </a:xfrm>
        </p:spPr>
        <p:txBody>
          <a:bodyPr anchor="ctr">
            <a:normAutofit/>
          </a:bodyPr>
          <a:lstStyle/>
          <a:p>
            <a:pPr marL="0" marR="0" lvl="0" indent="0" defTabSz="914400" rtl="0" eaLnBrk="0" fontAlgn="base" latinLnBrk="0" hangingPunct="0">
              <a:spcBef>
                <a:spcPct val="0"/>
              </a:spcBef>
              <a:spcAft>
                <a:spcPts val="600"/>
              </a:spcAft>
              <a:buClrTx/>
              <a:buSzTx/>
              <a:buFontTx/>
              <a:buNone/>
              <a:tabLst/>
            </a:pPr>
            <a:r>
              <a:rPr kumimoji="0" lang="es-MX" altLang="es-MX" sz="1400" b="0" i="0" u="none" strike="noStrike" cap="none" normalizeH="0" baseline="0">
                <a:ln>
                  <a:noFill/>
                </a:ln>
                <a:solidFill>
                  <a:schemeClr val="tx1">
                    <a:alpha val="80000"/>
                  </a:schemeClr>
                </a:solidFill>
                <a:effectLst/>
                <a:latin typeface="udemy sans"/>
              </a:rPr>
              <a:t>Crea una función (</a:t>
            </a:r>
            <a:r>
              <a:rPr kumimoji="0" lang="es-MX" altLang="es-MX" sz="1400" b="0" i="0" u="none" strike="noStrike" cap="none" normalizeH="0" baseline="0">
                <a:ln>
                  <a:noFill/>
                </a:ln>
                <a:solidFill>
                  <a:schemeClr val="tx1">
                    <a:alpha val="80000"/>
                  </a:schemeClr>
                </a:solidFill>
                <a:effectLst/>
                <a:latin typeface="sfmono-regular"/>
              </a:rPr>
              <a:t>lanzar_dados</a:t>
            </a:r>
            <a:r>
              <a:rPr kumimoji="0" lang="es-MX" altLang="es-MX" sz="1400" b="0" i="0" u="none" strike="noStrike" cap="none" normalizeH="0" baseline="0">
                <a:ln>
                  <a:noFill/>
                </a:ln>
                <a:solidFill>
                  <a:schemeClr val="tx1">
                    <a:alpha val="80000"/>
                  </a:schemeClr>
                </a:solidFill>
                <a:effectLst/>
                <a:latin typeface="udemy sans"/>
              </a:rPr>
              <a:t>) que arroje </a:t>
            </a:r>
            <a:r>
              <a:rPr kumimoji="0" lang="es-MX" altLang="es-MX" sz="1400" b="1" i="0" u="none" strike="noStrike" cap="none" normalizeH="0" baseline="0">
                <a:ln>
                  <a:noFill/>
                </a:ln>
                <a:solidFill>
                  <a:schemeClr val="tx1">
                    <a:alpha val="80000"/>
                  </a:schemeClr>
                </a:solidFill>
                <a:effectLst/>
                <a:latin typeface="udemy sans"/>
              </a:rPr>
              <a:t>dos dados al azar y devuelva sus resultados</a:t>
            </a:r>
            <a:r>
              <a:rPr kumimoji="0" lang="es-MX" altLang="es-MX" sz="1400" b="0" i="0" u="none" strike="noStrike" cap="none" normalizeH="0" baseline="0">
                <a:ln>
                  <a:noFill/>
                </a:ln>
                <a:solidFill>
                  <a:schemeClr val="tx1">
                    <a:alpha val="80000"/>
                  </a:schemeClr>
                </a:solidFill>
                <a:effectLst/>
                <a:latin typeface="udemy sans"/>
              </a:rPr>
              <a:t>:</a:t>
            </a:r>
            <a:endParaRPr kumimoji="0" lang="es-MX" altLang="es-MX" sz="1400" b="0" i="0" u="none" strike="noStrike" cap="none" normalizeH="0" baseline="0">
              <a:ln>
                <a:noFill/>
              </a:ln>
              <a:solidFill>
                <a:schemeClr val="tx1">
                  <a:alpha val="80000"/>
                </a:schemeClr>
              </a:solidFill>
              <a:effectLst/>
            </a:endParaRPr>
          </a:p>
          <a:p>
            <a:pPr marL="0" marR="0" lvl="0" indent="0" defTabSz="914400" rtl="0" eaLnBrk="0" fontAlgn="base" latinLnBrk="0" hangingPunct="0">
              <a:spcBef>
                <a:spcPct val="0"/>
              </a:spcBef>
              <a:spcAft>
                <a:spcPts val="600"/>
              </a:spcAft>
              <a:buClrTx/>
              <a:buSzTx/>
              <a:buFontTx/>
              <a:buChar char="•"/>
              <a:tabLst/>
            </a:pPr>
            <a:r>
              <a:rPr kumimoji="0" lang="es-MX" altLang="es-MX" sz="1400" b="0" i="0" u="none" strike="noStrike" cap="none" normalizeH="0" baseline="0">
                <a:ln>
                  <a:noFill/>
                </a:ln>
                <a:solidFill>
                  <a:schemeClr val="tx1">
                    <a:alpha val="80000"/>
                  </a:schemeClr>
                </a:solidFill>
                <a:effectLst/>
                <a:latin typeface="udemy sans"/>
              </a:rPr>
              <a:t>La función </a:t>
            </a:r>
            <a:r>
              <a:rPr kumimoji="0" lang="es-MX" altLang="es-MX" sz="1400" b="1" i="0" u="none" strike="noStrike" cap="none" normalizeH="0" baseline="0">
                <a:ln>
                  <a:noFill/>
                </a:ln>
                <a:solidFill>
                  <a:schemeClr val="tx1">
                    <a:alpha val="80000"/>
                  </a:schemeClr>
                </a:solidFill>
                <a:effectLst/>
                <a:latin typeface="udemy sans"/>
              </a:rPr>
              <a:t>debe retornar dos valores resultado</a:t>
            </a:r>
            <a:r>
              <a:rPr kumimoji="0" lang="es-MX" altLang="es-MX" sz="1400" b="0" i="0" u="none" strike="noStrike" cap="none" normalizeH="0" baseline="0">
                <a:ln>
                  <a:noFill/>
                </a:ln>
                <a:solidFill>
                  <a:schemeClr val="tx1">
                    <a:alpha val="80000"/>
                  </a:schemeClr>
                </a:solidFill>
                <a:effectLst/>
                <a:latin typeface="udemy sans"/>
              </a:rPr>
              <a:t>, que se encuentren </a:t>
            </a:r>
            <a:r>
              <a:rPr kumimoji="0" lang="es-MX" altLang="es-MX" sz="1400" b="0" i="1" u="none" strike="noStrike" cap="none" normalizeH="0" baseline="0">
                <a:ln>
                  <a:noFill/>
                </a:ln>
                <a:solidFill>
                  <a:schemeClr val="tx1">
                    <a:alpha val="80000"/>
                  </a:schemeClr>
                </a:solidFill>
                <a:effectLst/>
                <a:latin typeface="udemy sans"/>
              </a:rPr>
              <a:t>entre 1 y 6</a:t>
            </a:r>
            <a:r>
              <a:rPr kumimoji="0" lang="es-MX" altLang="es-MX" sz="1400" b="0" i="0" u="none" strike="noStrike" cap="none" normalizeH="0" baseline="0">
                <a:ln>
                  <a:noFill/>
                </a:ln>
                <a:solidFill>
                  <a:schemeClr val="tx1">
                    <a:alpha val="80000"/>
                  </a:schemeClr>
                </a:solidFill>
                <a:effectLst/>
                <a:latin typeface="udemy sans"/>
              </a:rPr>
              <a:t>).</a:t>
            </a:r>
          </a:p>
          <a:p>
            <a:pPr marL="0" marR="0" lvl="0" indent="0" defTabSz="914400" rtl="0" eaLnBrk="0" fontAlgn="base" latinLnBrk="0" hangingPunct="0">
              <a:spcBef>
                <a:spcPct val="0"/>
              </a:spcBef>
              <a:spcAft>
                <a:spcPts val="600"/>
              </a:spcAft>
              <a:buClrTx/>
              <a:buSzTx/>
              <a:buFontTx/>
              <a:buChar char="•"/>
              <a:tabLst/>
            </a:pPr>
            <a:r>
              <a:rPr kumimoji="0" lang="es-MX" altLang="es-MX" sz="1400" b="0" i="0" u="none" strike="noStrike" cap="none" normalizeH="0" baseline="0">
                <a:ln>
                  <a:noFill/>
                </a:ln>
                <a:solidFill>
                  <a:schemeClr val="tx1">
                    <a:alpha val="80000"/>
                  </a:schemeClr>
                </a:solidFill>
                <a:effectLst/>
                <a:latin typeface="udemy sans"/>
              </a:rPr>
              <a:t>Dicha función no debe requerir argumentos para funcionar, sino que debe generar internamente los valores aleatorios.</a:t>
            </a:r>
          </a:p>
          <a:p>
            <a:pPr marL="0" marR="0" lvl="0" indent="0" defTabSz="914400" rtl="0" eaLnBrk="0" fontAlgn="base" latinLnBrk="0" hangingPunct="0">
              <a:spcBef>
                <a:spcPct val="0"/>
              </a:spcBef>
              <a:spcAft>
                <a:spcPts val="600"/>
              </a:spcAft>
              <a:buClrTx/>
              <a:buSzTx/>
              <a:buFontTx/>
              <a:buNone/>
              <a:tabLst/>
            </a:pPr>
            <a:r>
              <a:rPr kumimoji="0" lang="es-MX" altLang="es-MX" sz="1400" b="0" i="0" u="none" strike="noStrike" cap="none" normalizeH="0" baseline="0">
                <a:ln>
                  <a:noFill/>
                </a:ln>
                <a:solidFill>
                  <a:schemeClr val="tx1">
                    <a:alpha val="80000"/>
                  </a:schemeClr>
                </a:solidFill>
                <a:effectLst/>
                <a:latin typeface="udemy sans"/>
              </a:rPr>
              <a:t>Proporciona el resultado de estos dos dados a una función que se llame </a:t>
            </a:r>
            <a:r>
              <a:rPr kumimoji="0" lang="es-MX" altLang="es-MX" sz="1400" b="0" i="0" u="none" strike="noStrike" cap="none" normalizeH="0" baseline="0">
                <a:ln>
                  <a:noFill/>
                </a:ln>
                <a:solidFill>
                  <a:schemeClr val="tx1">
                    <a:alpha val="80000"/>
                  </a:schemeClr>
                </a:solidFill>
                <a:effectLst/>
                <a:latin typeface="sfmono-regular"/>
              </a:rPr>
              <a:t>evaluar_jugada</a:t>
            </a:r>
            <a:r>
              <a:rPr kumimoji="0" lang="es-MX" altLang="es-MX" sz="1400" b="0" i="0" u="none" strike="noStrike" cap="none" normalizeH="0" baseline="0">
                <a:ln>
                  <a:noFill/>
                </a:ln>
                <a:solidFill>
                  <a:schemeClr val="tx1">
                    <a:alpha val="80000"/>
                  </a:schemeClr>
                </a:solidFill>
                <a:effectLst/>
                <a:latin typeface="udemy sans"/>
              </a:rPr>
              <a:t> (es decir, esta</a:t>
            </a:r>
            <a:r>
              <a:rPr kumimoji="0" lang="es-MX" altLang="es-MX" sz="1400" b="1" i="0" u="none" strike="noStrike" cap="none" normalizeH="0" baseline="0">
                <a:ln>
                  <a:noFill/>
                </a:ln>
                <a:solidFill>
                  <a:schemeClr val="tx1">
                    <a:alpha val="80000"/>
                  </a:schemeClr>
                </a:solidFill>
                <a:effectLst/>
                <a:latin typeface="udemy sans"/>
              </a:rPr>
              <a:t> segunda función debe recibir dos argumentos</a:t>
            </a:r>
            <a:r>
              <a:rPr kumimoji="0" lang="es-MX" altLang="es-MX" sz="1400" b="0" i="0" u="none" strike="noStrike" cap="none" normalizeH="0" baseline="0">
                <a:ln>
                  <a:noFill/>
                </a:ln>
                <a:solidFill>
                  <a:schemeClr val="tx1">
                    <a:alpha val="80000"/>
                  </a:schemeClr>
                </a:solidFill>
                <a:effectLst/>
                <a:latin typeface="udemy sans"/>
              </a:rPr>
              <a:t>) y que </a:t>
            </a:r>
            <a:r>
              <a:rPr kumimoji="0" lang="es-MX" altLang="es-MX" sz="1400" b="1" i="0" u="none" strike="noStrike" cap="none" normalizeH="0" baseline="0">
                <a:ln>
                  <a:noFill/>
                </a:ln>
                <a:solidFill>
                  <a:schemeClr val="tx1">
                    <a:alpha val="80000"/>
                  </a:schemeClr>
                </a:solidFill>
                <a:effectLst/>
                <a:latin typeface="udemy sans"/>
              </a:rPr>
              <a:t>retorne </a:t>
            </a:r>
            <a:r>
              <a:rPr kumimoji="0" lang="es-MX" altLang="es-MX" sz="1400" b="1" i="1" u="none" strike="noStrike" cap="none" normalizeH="0" baseline="0">
                <a:ln>
                  <a:noFill/>
                </a:ln>
                <a:solidFill>
                  <a:schemeClr val="tx1">
                    <a:alpha val="80000"/>
                  </a:schemeClr>
                </a:solidFill>
                <a:effectLst/>
                <a:latin typeface="udemy sans"/>
              </a:rPr>
              <a:t>-sin imprimirlo-</a:t>
            </a:r>
            <a:r>
              <a:rPr kumimoji="0" lang="es-MX" altLang="es-MX" sz="1400" b="1" i="0" u="none" strike="noStrike" cap="none" normalizeH="0" baseline="0">
                <a:ln>
                  <a:noFill/>
                </a:ln>
                <a:solidFill>
                  <a:schemeClr val="tx1">
                    <a:alpha val="80000"/>
                  </a:schemeClr>
                </a:solidFill>
                <a:effectLst/>
                <a:latin typeface="udemy sans"/>
              </a:rPr>
              <a:t> un mensaje</a:t>
            </a:r>
            <a:r>
              <a:rPr kumimoji="0" lang="es-MX" altLang="es-MX" sz="1400" b="0" i="0" u="none" strike="noStrike" cap="none" normalizeH="0" baseline="0">
                <a:ln>
                  <a:noFill/>
                </a:ln>
                <a:solidFill>
                  <a:schemeClr val="tx1">
                    <a:alpha val="80000"/>
                  </a:schemeClr>
                </a:solidFill>
                <a:effectLst/>
                <a:latin typeface="udemy sans"/>
              </a:rPr>
              <a:t> según la suma de estos valores:</a:t>
            </a:r>
            <a:endParaRPr kumimoji="0" lang="es-MX" altLang="es-MX" sz="1400" b="0" i="0" u="none" strike="noStrike" cap="none" normalizeH="0" baseline="0">
              <a:ln>
                <a:noFill/>
              </a:ln>
              <a:solidFill>
                <a:schemeClr val="tx1">
                  <a:alpha val="80000"/>
                </a:schemeClr>
              </a:solidFill>
              <a:effectLst/>
            </a:endParaRPr>
          </a:p>
          <a:p>
            <a:pPr marL="0" marR="0" lvl="0" indent="0" defTabSz="914400" rtl="0" eaLnBrk="0" fontAlgn="base" latinLnBrk="0" hangingPunct="0">
              <a:spcBef>
                <a:spcPct val="0"/>
              </a:spcBef>
              <a:spcAft>
                <a:spcPts val="600"/>
              </a:spcAft>
              <a:buClrTx/>
              <a:buSzTx/>
              <a:buFontTx/>
              <a:buNone/>
              <a:tabLst/>
            </a:pPr>
            <a:r>
              <a:rPr kumimoji="0" lang="es-MX" altLang="es-MX" sz="1400" b="0" i="0" u="none" strike="noStrike" cap="none" normalizeH="0" baseline="0">
                <a:ln>
                  <a:noFill/>
                </a:ln>
                <a:solidFill>
                  <a:schemeClr val="tx1">
                    <a:alpha val="80000"/>
                  </a:schemeClr>
                </a:solidFill>
                <a:effectLst/>
                <a:latin typeface="udemy sans"/>
              </a:rPr>
              <a:t>Si la </a:t>
            </a:r>
            <a:r>
              <a:rPr kumimoji="0" lang="es-MX" altLang="es-MX" sz="1400" b="1" i="0" u="none" strike="noStrike" cap="none" normalizeH="0" baseline="0">
                <a:ln>
                  <a:noFill/>
                </a:ln>
                <a:solidFill>
                  <a:schemeClr val="tx1">
                    <a:alpha val="80000"/>
                  </a:schemeClr>
                </a:solidFill>
                <a:effectLst/>
                <a:latin typeface="udemy sans"/>
              </a:rPr>
              <a:t>suma es menor o igual a 6</a:t>
            </a:r>
            <a:r>
              <a:rPr kumimoji="0" lang="es-MX" altLang="es-MX" sz="1400" b="0" i="0" u="none" strike="noStrike" cap="none" normalizeH="0" baseline="0">
                <a:ln>
                  <a:noFill/>
                </a:ln>
                <a:solidFill>
                  <a:schemeClr val="tx1">
                    <a:alpha val="80000"/>
                  </a:schemeClr>
                </a:solidFill>
                <a:effectLst/>
                <a:latin typeface="udemy sans"/>
              </a:rPr>
              <a:t>:</a:t>
            </a:r>
            <a:endParaRPr kumimoji="0" lang="es-MX" altLang="es-MX" sz="1400" b="0" i="0" u="none" strike="noStrike" cap="none" normalizeH="0" baseline="0">
              <a:ln>
                <a:noFill/>
              </a:ln>
              <a:solidFill>
                <a:schemeClr val="tx1">
                  <a:alpha val="80000"/>
                </a:schemeClr>
              </a:solidFill>
              <a:effectLst/>
            </a:endParaRPr>
          </a:p>
          <a:p>
            <a:pPr marL="0" marR="0" lvl="0" indent="0" defTabSz="914400" rtl="0" eaLnBrk="0" fontAlgn="base" latinLnBrk="0" hangingPunct="0">
              <a:spcBef>
                <a:spcPct val="0"/>
              </a:spcBef>
              <a:spcAft>
                <a:spcPts val="600"/>
              </a:spcAft>
              <a:buClrTx/>
              <a:buSzTx/>
              <a:buFontTx/>
              <a:buChar char="•"/>
              <a:tabLst/>
            </a:pPr>
            <a:r>
              <a:rPr kumimoji="0" lang="es-MX" altLang="es-MX" sz="1400" b="0" i="0" u="none" strike="noStrike" cap="none" normalizeH="0" baseline="0">
                <a:ln>
                  <a:noFill/>
                </a:ln>
                <a:solidFill>
                  <a:schemeClr val="tx1">
                    <a:alpha val="80000"/>
                  </a:schemeClr>
                </a:solidFill>
                <a:effectLst/>
                <a:latin typeface="sfmono-regular"/>
              </a:rPr>
              <a:t>"La suma de tus dados es {suma_dados}. Lamentable"</a:t>
            </a:r>
            <a:endParaRPr kumimoji="0" lang="es-MX" altLang="es-MX" sz="1400" b="0" i="0" u="none" strike="noStrike" cap="none" normalizeH="0" baseline="0">
              <a:ln>
                <a:noFill/>
              </a:ln>
              <a:solidFill>
                <a:schemeClr val="tx1">
                  <a:alpha val="80000"/>
                </a:schemeClr>
              </a:solidFill>
              <a:effectLst/>
              <a:latin typeface="udemy sans"/>
            </a:endParaRPr>
          </a:p>
          <a:p>
            <a:pPr marL="0" marR="0" lvl="0" indent="0" defTabSz="914400" rtl="0" eaLnBrk="0" fontAlgn="base" latinLnBrk="0" hangingPunct="0">
              <a:spcBef>
                <a:spcPct val="0"/>
              </a:spcBef>
              <a:spcAft>
                <a:spcPts val="600"/>
              </a:spcAft>
              <a:buClrTx/>
              <a:buSzTx/>
              <a:buFontTx/>
              <a:buNone/>
              <a:tabLst/>
            </a:pPr>
            <a:r>
              <a:rPr kumimoji="0" lang="es-MX" altLang="es-MX" sz="1400" b="0" i="0" u="none" strike="noStrike" cap="none" normalizeH="0" baseline="0">
                <a:ln>
                  <a:noFill/>
                </a:ln>
                <a:solidFill>
                  <a:schemeClr val="tx1">
                    <a:alpha val="80000"/>
                  </a:schemeClr>
                </a:solidFill>
                <a:effectLst/>
                <a:latin typeface="udemy sans"/>
              </a:rPr>
              <a:t>Si la suma es </a:t>
            </a:r>
            <a:r>
              <a:rPr kumimoji="0" lang="es-MX" altLang="es-MX" sz="1400" b="1" i="0" u="none" strike="noStrike" cap="none" normalizeH="0" baseline="0">
                <a:ln>
                  <a:noFill/>
                </a:ln>
                <a:solidFill>
                  <a:schemeClr val="tx1">
                    <a:alpha val="80000"/>
                  </a:schemeClr>
                </a:solidFill>
                <a:effectLst/>
                <a:latin typeface="udemy sans"/>
              </a:rPr>
              <a:t>mayor a 6 y menor a 10</a:t>
            </a:r>
            <a:r>
              <a:rPr kumimoji="0" lang="es-MX" altLang="es-MX" sz="1400" b="0" i="0" u="none" strike="noStrike" cap="none" normalizeH="0" baseline="0">
                <a:ln>
                  <a:noFill/>
                </a:ln>
                <a:solidFill>
                  <a:schemeClr val="tx1">
                    <a:alpha val="80000"/>
                  </a:schemeClr>
                </a:solidFill>
                <a:effectLst/>
                <a:latin typeface="udemy sans"/>
              </a:rPr>
              <a:t>:</a:t>
            </a:r>
            <a:endParaRPr kumimoji="0" lang="es-MX" altLang="es-MX" sz="1400" b="0" i="0" u="none" strike="noStrike" cap="none" normalizeH="0" baseline="0">
              <a:ln>
                <a:noFill/>
              </a:ln>
              <a:solidFill>
                <a:schemeClr val="tx1">
                  <a:alpha val="80000"/>
                </a:schemeClr>
              </a:solidFill>
              <a:effectLst/>
            </a:endParaRPr>
          </a:p>
          <a:p>
            <a:pPr marL="0" marR="0" lvl="0" indent="0" defTabSz="914400" rtl="0" eaLnBrk="0" fontAlgn="base" latinLnBrk="0" hangingPunct="0">
              <a:spcBef>
                <a:spcPct val="0"/>
              </a:spcBef>
              <a:spcAft>
                <a:spcPts val="600"/>
              </a:spcAft>
              <a:buClrTx/>
              <a:buSzTx/>
              <a:buFontTx/>
              <a:buChar char="•"/>
              <a:tabLst/>
            </a:pPr>
            <a:r>
              <a:rPr kumimoji="0" lang="es-MX" altLang="es-MX" sz="1400" b="0" i="0" u="none" strike="noStrike" cap="none" normalizeH="0" baseline="0">
                <a:ln>
                  <a:noFill/>
                </a:ln>
                <a:solidFill>
                  <a:schemeClr val="tx1">
                    <a:alpha val="80000"/>
                  </a:schemeClr>
                </a:solidFill>
                <a:effectLst/>
                <a:latin typeface="sfmono-regular"/>
              </a:rPr>
              <a:t>"La suma de tus dados es {suma_dados}. Tienes buenas chances"</a:t>
            </a:r>
            <a:endParaRPr kumimoji="0" lang="es-MX" altLang="es-MX" sz="1400" b="0" i="0" u="none" strike="noStrike" cap="none" normalizeH="0" baseline="0">
              <a:ln>
                <a:noFill/>
              </a:ln>
              <a:solidFill>
                <a:schemeClr val="tx1">
                  <a:alpha val="80000"/>
                </a:schemeClr>
              </a:solidFill>
              <a:effectLst/>
              <a:latin typeface="udemy sans"/>
            </a:endParaRPr>
          </a:p>
          <a:p>
            <a:pPr marL="0" marR="0" lvl="0" indent="0" defTabSz="914400" rtl="0" eaLnBrk="0" fontAlgn="base" latinLnBrk="0" hangingPunct="0">
              <a:spcBef>
                <a:spcPct val="0"/>
              </a:spcBef>
              <a:spcAft>
                <a:spcPts val="600"/>
              </a:spcAft>
              <a:buClrTx/>
              <a:buSzTx/>
              <a:buFontTx/>
              <a:buNone/>
              <a:tabLst/>
            </a:pPr>
            <a:r>
              <a:rPr kumimoji="0" lang="es-MX" altLang="es-MX" sz="1400" b="0" i="0" u="none" strike="noStrike" cap="none" normalizeH="0" baseline="0">
                <a:ln>
                  <a:noFill/>
                </a:ln>
                <a:solidFill>
                  <a:schemeClr val="tx1">
                    <a:alpha val="80000"/>
                  </a:schemeClr>
                </a:solidFill>
                <a:effectLst/>
                <a:latin typeface="udemy sans"/>
              </a:rPr>
              <a:t>Si la suma es </a:t>
            </a:r>
            <a:r>
              <a:rPr kumimoji="0" lang="es-MX" altLang="es-MX" sz="1400" b="1" i="0" u="none" strike="noStrike" cap="none" normalizeH="0" baseline="0">
                <a:ln>
                  <a:noFill/>
                </a:ln>
                <a:solidFill>
                  <a:schemeClr val="tx1">
                    <a:alpha val="80000"/>
                  </a:schemeClr>
                </a:solidFill>
                <a:effectLst/>
                <a:latin typeface="udemy sans"/>
              </a:rPr>
              <a:t>mayor o igual a 10</a:t>
            </a:r>
            <a:r>
              <a:rPr kumimoji="0" lang="es-MX" altLang="es-MX" sz="1400" b="0" i="0" u="none" strike="noStrike" cap="none" normalizeH="0" baseline="0">
                <a:ln>
                  <a:noFill/>
                </a:ln>
                <a:solidFill>
                  <a:schemeClr val="tx1">
                    <a:alpha val="80000"/>
                  </a:schemeClr>
                </a:solidFill>
                <a:effectLst/>
                <a:latin typeface="udemy sans"/>
              </a:rPr>
              <a:t>:</a:t>
            </a:r>
            <a:endParaRPr kumimoji="0" lang="es-MX" altLang="es-MX" sz="1400" b="0" i="0" u="none" strike="noStrike" cap="none" normalizeH="0" baseline="0">
              <a:ln>
                <a:noFill/>
              </a:ln>
              <a:solidFill>
                <a:schemeClr val="tx1">
                  <a:alpha val="80000"/>
                </a:schemeClr>
              </a:solidFill>
              <a:effectLst/>
            </a:endParaRPr>
          </a:p>
          <a:p>
            <a:pPr marL="0" marR="0" lvl="0" indent="0" defTabSz="914400" rtl="0" eaLnBrk="0" fontAlgn="base" latinLnBrk="0" hangingPunct="0">
              <a:spcBef>
                <a:spcPct val="0"/>
              </a:spcBef>
              <a:spcAft>
                <a:spcPts val="600"/>
              </a:spcAft>
              <a:buClrTx/>
              <a:buSzTx/>
              <a:buFontTx/>
              <a:buChar char="•"/>
              <a:tabLst/>
            </a:pPr>
            <a:r>
              <a:rPr kumimoji="0" lang="es-MX" altLang="es-MX" sz="1400" b="0" i="0" u="none" strike="noStrike" cap="none" normalizeH="0" baseline="0">
                <a:ln>
                  <a:noFill/>
                </a:ln>
                <a:solidFill>
                  <a:schemeClr val="tx1">
                    <a:alpha val="80000"/>
                  </a:schemeClr>
                </a:solidFill>
                <a:effectLst/>
                <a:latin typeface="sfmono-regular"/>
              </a:rPr>
              <a:t>"La suma de tus dados es {suma_dados}. Parece una jugada ganadora"</a:t>
            </a:r>
            <a:endParaRPr kumimoji="0" lang="es-MX" altLang="es-MX" sz="1400" b="0" i="0" u="none" strike="noStrike" cap="none" normalizeH="0" baseline="0">
              <a:ln>
                <a:noFill/>
              </a:ln>
              <a:solidFill>
                <a:schemeClr val="tx1">
                  <a:alpha val="80000"/>
                </a:schemeClr>
              </a:solidFill>
              <a:effectLst/>
              <a:latin typeface="udemy sans"/>
            </a:endParaRPr>
          </a:p>
          <a:p>
            <a:pPr marL="0" marR="0" lvl="0" indent="0" defTabSz="914400" rtl="0" eaLnBrk="0" fontAlgn="base" latinLnBrk="0" hangingPunct="0">
              <a:spcBef>
                <a:spcPct val="0"/>
              </a:spcBef>
              <a:spcAft>
                <a:spcPts val="600"/>
              </a:spcAft>
              <a:buClrTx/>
              <a:buSzTx/>
              <a:buFontTx/>
              <a:buNone/>
              <a:tabLst/>
            </a:pPr>
            <a:r>
              <a:rPr kumimoji="0" lang="es-MX" altLang="es-MX" sz="1400" b="1" i="1" u="none" strike="noStrike" cap="none" normalizeH="0" baseline="0">
                <a:ln>
                  <a:noFill/>
                </a:ln>
                <a:solidFill>
                  <a:schemeClr val="tx1">
                    <a:alpha val="80000"/>
                  </a:schemeClr>
                </a:solidFill>
                <a:effectLst/>
                <a:latin typeface="udemy sans"/>
              </a:rPr>
              <a:t>Pistas: utiliza el método choice o randint de la biblioteca random para elegir un valor al azar entre 1 y 6</a:t>
            </a:r>
            <a:endParaRPr lang="es-MX" sz="1400">
              <a:solidFill>
                <a:schemeClr val="tx1">
                  <a:alpha val="80000"/>
                </a:schemeClr>
              </a:solidFill>
            </a:endParaRPr>
          </a:p>
        </p:txBody>
      </p:sp>
      <p:sp>
        <p:nvSpPr>
          <p:cNvPr id="4" name="Marcador de pie de página 3">
            <a:extLst>
              <a:ext uri="{FF2B5EF4-FFF2-40B4-BE49-F238E27FC236}">
                <a16:creationId xmlns:a16="http://schemas.microsoft.com/office/drawing/2014/main" id="{A157A650-231D-B027-1F2D-73C6BE067F4C}"/>
              </a:ext>
            </a:extLst>
          </p:cNvPr>
          <p:cNvSpPr>
            <a:spLocks noGrp="1"/>
          </p:cNvSpPr>
          <p:nvPr>
            <p:ph type="ftr" sz="quarter" idx="11"/>
          </p:nvPr>
        </p:nvSpPr>
        <p:spPr>
          <a:xfrm rot="16200000">
            <a:off x="9812115" y="1591485"/>
            <a:ext cx="3548094" cy="365125"/>
          </a:xfrm>
        </p:spPr>
        <p:txBody>
          <a:bodyPr>
            <a:normAutofit/>
          </a:bodyPr>
          <a:lstStyle/>
          <a:p>
            <a:pPr>
              <a:spcAft>
                <a:spcPts val="600"/>
              </a:spcAft>
            </a:pPr>
            <a:r>
              <a:rPr lang="es-MX">
                <a:solidFill>
                  <a:schemeClr val="tx1">
                    <a:alpha val="60000"/>
                  </a:schemeClr>
                </a:solidFill>
              </a:rPr>
              <a:t>Arabots Robotics</a:t>
            </a:r>
          </a:p>
        </p:txBody>
      </p:sp>
      <p:sp>
        <p:nvSpPr>
          <p:cNvPr id="20"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5" name="Marcador de número de diapositiva 4">
            <a:extLst>
              <a:ext uri="{FF2B5EF4-FFF2-40B4-BE49-F238E27FC236}">
                <a16:creationId xmlns:a16="http://schemas.microsoft.com/office/drawing/2014/main" id="{3612AE6D-1C2A-D88A-2A67-CE82887363A2}"/>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a:solidFill>
                  <a:schemeClr val="tx1">
                    <a:alpha val="60000"/>
                  </a:schemeClr>
                </a:solidFill>
              </a:rPr>
              <a:pPr>
                <a:spcAft>
                  <a:spcPts val="600"/>
                </a:spcAft>
              </a:pPr>
              <a:t>133</a:t>
            </a:fld>
            <a:endParaRPr lang="es-MX">
              <a:solidFill>
                <a:schemeClr val="tx1">
                  <a:alpha val="60000"/>
                </a:schemeClr>
              </a:solidFill>
            </a:endParaRPr>
          </a:p>
        </p:txBody>
      </p:sp>
      <p:cxnSp>
        <p:nvCxnSpPr>
          <p:cNvPr id="22" name="Straight Connector 21">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
        <p:nvSpPr>
          <p:cNvPr id="7" name="Rectangle 2">
            <a:extLst>
              <a:ext uri="{FF2B5EF4-FFF2-40B4-BE49-F238E27FC236}">
                <a16:creationId xmlns:a16="http://schemas.microsoft.com/office/drawing/2014/main" id="{F66E7386-E13A-CF78-2B93-535B551A4384}"/>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27020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B683AE-D283-D613-FF0C-4430247BAB56}"/>
              </a:ext>
            </a:extLst>
          </p:cNvPr>
          <p:cNvSpPr>
            <a:spLocks noGrp="1"/>
          </p:cNvSpPr>
          <p:nvPr>
            <p:ph type="title"/>
          </p:nvPr>
        </p:nvSpPr>
        <p:spPr/>
        <p:txBody>
          <a:bodyPr/>
          <a:lstStyle/>
          <a:p>
            <a:r>
              <a:rPr lang="es-MX" dirty="0">
                <a:solidFill>
                  <a:schemeClr val="bg1"/>
                </a:solidFill>
              </a:rPr>
              <a:t>*</a:t>
            </a:r>
            <a:r>
              <a:rPr lang="es-MX" dirty="0" err="1">
                <a:solidFill>
                  <a:schemeClr val="bg1"/>
                </a:solidFill>
              </a:rPr>
              <a:t>args</a:t>
            </a:r>
            <a:endParaRPr lang="es-MX" dirty="0">
              <a:solidFill>
                <a:schemeClr val="bg1"/>
              </a:solidFill>
            </a:endParaRPr>
          </a:p>
        </p:txBody>
      </p:sp>
      <p:sp>
        <p:nvSpPr>
          <p:cNvPr id="3" name="Marcador de contenido 2">
            <a:extLst>
              <a:ext uri="{FF2B5EF4-FFF2-40B4-BE49-F238E27FC236}">
                <a16:creationId xmlns:a16="http://schemas.microsoft.com/office/drawing/2014/main" id="{144B73C7-1C11-02D2-3D56-4A9BC5BAC27C}"/>
              </a:ext>
            </a:extLst>
          </p:cNvPr>
          <p:cNvSpPr>
            <a:spLocks noGrp="1"/>
          </p:cNvSpPr>
          <p:nvPr>
            <p:ph idx="1"/>
          </p:nvPr>
        </p:nvSpPr>
        <p:spPr/>
        <p:txBody>
          <a:bodyPr>
            <a:normAutofit/>
          </a:bodyPr>
          <a:lstStyle/>
          <a:p>
            <a:pPr marL="0" indent="0">
              <a:buNone/>
            </a:pPr>
            <a:r>
              <a:rPr lang="es-MX" sz="1800" dirty="0">
                <a:solidFill>
                  <a:schemeClr val="bg1"/>
                </a:solidFill>
              </a:rPr>
              <a:t>En aquellos casos en los que no se conoce de antemano el número exacto de argumentos que se deben pasar a una función, se debe utilizar la sintaxis *</a:t>
            </a:r>
            <a:r>
              <a:rPr lang="es-MX" sz="1800" dirty="0" err="1">
                <a:solidFill>
                  <a:schemeClr val="bg1"/>
                </a:solidFill>
              </a:rPr>
              <a:t>args</a:t>
            </a:r>
            <a:r>
              <a:rPr lang="es-MX" sz="1800" dirty="0">
                <a:solidFill>
                  <a:schemeClr val="bg1"/>
                </a:solidFill>
              </a:rPr>
              <a:t> para referirse a todos los argumentos adicionales luego de los obligatorios. </a:t>
            </a:r>
          </a:p>
          <a:p>
            <a:pPr marL="0" indent="0">
              <a:buNone/>
            </a:pPr>
            <a:r>
              <a:rPr lang="es-MX" sz="1800" dirty="0">
                <a:solidFill>
                  <a:schemeClr val="bg1"/>
                </a:solidFill>
              </a:rPr>
              <a:t>El nombre *</a:t>
            </a:r>
            <a:r>
              <a:rPr lang="es-MX" sz="1800" dirty="0" err="1">
                <a:solidFill>
                  <a:schemeClr val="bg1"/>
                </a:solidFill>
              </a:rPr>
              <a:t>args</a:t>
            </a:r>
            <a:r>
              <a:rPr lang="es-MX" sz="1800" dirty="0">
                <a:solidFill>
                  <a:schemeClr val="bg1"/>
                </a:solidFill>
              </a:rPr>
              <a:t> no es mandatorio pero si es sugerido como buena práctica. Cualquier nombre iniciado en * referirá a estos argumentos de cantidad variable. </a:t>
            </a:r>
          </a:p>
          <a:p>
            <a:pPr marL="0" indent="0">
              <a:buNone/>
            </a:pPr>
            <a:r>
              <a:rPr lang="es-MX" sz="1800" dirty="0">
                <a:solidFill>
                  <a:schemeClr val="bg1"/>
                </a:solidFill>
              </a:rPr>
              <a:t>La función recibirá los argumentos indefinidos *</a:t>
            </a:r>
            <a:r>
              <a:rPr lang="es-MX" sz="1800" dirty="0" err="1">
                <a:solidFill>
                  <a:schemeClr val="bg1"/>
                </a:solidFill>
              </a:rPr>
              <a:t>args</a:t>
            </a:r>
            <a:r>
              <a:rPr lang="es-MX" sz="1800" dirty="0">
                <a:solidFill>
                  <a:schemeClr val="bg1"/>
                </a:solidFill>
              </a:rPr>
              <a:t> en forma de tupla, a los que se podrá acceder o iterar de las formas habituales dentro del bloque de código de la función.</a:t>
            </a:r>
          </a:p>
          <a:p>
            <a:pPr marL="0" indent="0">
              <a:buNone/>
            </a:pPr>
            <a:r>
              <a:rPr lang="es-MX" sz="1800" dirty="0" err="1">
                <a:solidFill>
                  <a:schemeClr val="bg1"/>
                </a:solidFill>
              </a:rPr>
              <a:t>def</a:t>
            </a:r>
            <a:r>
              <a:rPr lang="es-MX" sz="1800" dirty="0">
                <a:solidFill>
                  <a:schemeClr val="bg1"/>
                </a:solidFill>
              </a:rPr>
              <a:t> </a:t>
            </a:r>
            <a:r>
              <a:rPr lang="es-MX" sz="1800" dirty="0" err="1">
                <a:solidFill>
                  <a:schemeClr val="bg1"/>
                </a:solidFill>
              </a:rPr>
              <a:t>mi_funcion</a:t>
            </a:r>
            <a:r>
              <a:rPr lang="es-MX" sz="1800" dirty="0">
                <a:solidFill>
                  <a:schemeClr val="bg1"/>
                </a:solidFill>
              </a:rPr>
              <a:t>(arg_1, arg_2, *</a:t>
            </a:r>
            <a:r>
              <a:rPr lang="es-MX" sz="1800" dirty="0" err="1">
                <a:solidFill>
                  <a:schemeClr val="bg1"/>
                </a:solidFill>
              </a:rPr>
              <a:t>args</a:t>
            </a:r>
            <a:r>
              <a:rPr lang="es-MX" sz="1800" dirty="0">
                <a:solidFill>
                  <a:schemeClr val="bg1"/>
                </a:solidFill>
              </a:rPr>
              <a:t>):</a:t>
            </a:r>
          </a:p>
          <a:p>
            <a:pPr marL="0" indent="0">
              <a:buNone/>
            </a:pPr>
            <a:r>
              <a:rPr lang="es-MX" sz="1800" dirty="0" err="1">
                <a:solidFill>
                  <a:schemeClr val="bg1"/>
                </a:solidFill>
              </a:rPr>
              <a:t>mi_funcion</a:t>
            </a:r>
            <a:r>
              <a:rPr lang="es-MX" sz="1800" dirty="0">
                <a:solidFill>
                  <a:schemeClr val="bg1"/>
                </a:solidFill>
              </a:rPr>
              <a:t>("ejemplo" , 25, 40, 75, 10):</a:t>
            </a:r>
          </a:p>
          <a:p>
            <a:pPr marL="0" indent="0">
              <a:buNone/>
            </a:pPr>
            <a:r>
              <a:rPr lang="es-MX" sz="1800" dirty="0">
                <a:solidFill>
                  <a:schemeClr val="bg1"/>
                </a:solidFill>
              </a:rPr>
              <a:t>                     </a:t>
            </a:r>
          </a:p>
          <a:p>
            <a:pPr marL="0" indent="0">
              <a:buNone/>
            </a:pPr>
            <a:r>
              <a:rPr lang="es-MX" sz="1800" dirty="0">
                <a:solidFill>
                  <a:schemeClr val="bg1"/>
                </a:solidFill>
              </a:rPr>
              <a:t>                        </a:t>
            </a:r>
            <a:r>
              <a:rPr lang="es-MX" sz="1800" dirty="0" err="1">
                <a:solidFill>
                  <a:schemeClr val="bg1"/>
                </a:solidFill>
              </a:rPr>
              <a:t>arg</a:t>
            </a:r>
            <a:r>
              <a:rPr lang="es-MX" sz="1800" dirty="0">
                <a:solidFill>
                  <a:schemeClr val="bg1"/>
                </a:solidFill>
              </a:rPr>
              <a:t>_ 1      </a:t>
            </a:r>
            <a:r>
              <a:rPr lang="es-MX" sz="1800" dirty="0" err="1">
                <a:solidFill>
                  <a:schemeClr val="bg1"/>
                </a:solidFill>
              </a:rPr>
              <a:t>arg</a:t>
            </a:r>
            <a:r>
              <a:rPr lang="es-MX" sz="1800" dirty="0">
                <a:solidFill>
                  <a:schemeClr val="bg1"/>
                </a:solidFill>
              </a:rPr>
              <a:t>_ 2</a:t>
            </a:r>
          </a:p>
        </p:txBody>
      </p:sp>
      <p:sp>
        <p:nvSpPr>
          <p:cNvPr id="4" name="Marcador de pie de página 3">
            <a:extLst>
              <a:ext uri="{FF2B5EF4-FFF2-40B4-BE49-F238E27FC236}">
                <a16:creationId xmlns:a16="http://schemas.microsoft.com/office/drawing/2014/main" id="{FD1CE9C0-4D0B-F6FF-1897-CBA0A4DB1E94}"/>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DB3F5046-6A48-8E11-88F9-59BC3C4CC6F3}"/>
              </a:ext>
            </a:extLst>
          </p:cNvPr>
          <p:cNvSpPr>
            <a:spLocks noGrp="1"/>
          </p:cNvSpPr>
          <p:nvPr>
            <p:ph type="sldNum" sz="quarter" idx="12"/>
          </p:nvPr>
        </p:nvSpPr>
        <p:spPr/>
        <p:txBody>
          <a:bodyPr/>
          <a:lstStyle/>
          <a:p>
            <a:fld id="{4EA4A3B0-B5DF-4E2B-B48F-E4B7B7872040}" type="slidenum">
              <a:rPr lang="es-MX" smtClean="0"/>
              <a:t>134</a:t>
            </a:fld>
            <a:endParaRPr lang="es-MX"/>
          </a:p>
        </p:txBody>
      </p:sp>
      <p:grpSp>
        <p:nvGrpSpPr>
          <p:cNvPr id="8" name="Grupo 7">
            <a:extLst>
              <a:ext uri="{FF2B5EF4-FFF2-40B4-BE49-F238E27FC236}">
                <a16:creationId xmlns:a16="http://schemas.microsoft.com/office/drawing/2014/main" id="{6BB6F9B4-0D89-67BF-3C9B-22276915178B}"/>
              </a:ext>
            </a:extLst>
          </p:cNvPr>
          <p:cNvGrpSpPr/>
          <p:nvPr/>
        </p:nvGrpSpPr>
        <p:grpSpPr>
          <a:xfrm>
            <a:off x="2232448" y="4590830"/>
            <a:ext cx="147960" cy="333000"/>
            <a:chOff x="2232448" y="4590830"/>
            <a:chExt cx="147960" cy="333000"/>
          </a:xfrm>
        </p:grpSpPr>
        <mc:AlternateContent xmlns:mc="http://schemas.openxmlformats.org/markup-compatibility/2006" xmlns:p14="http://schemas.microsoft.com/office/powerpoint/2010/main">
          <mc:Choice Requires="p14">
            <p:contentPart p14:bwMode="auto" r:id="rId2">
              <p14:nvContentPartPr>
                <p14:cNvPr id="6" name="Entrada de lápiz 5">
                  <a:extLst>
                    <a:ext uri="{FF2B5EF4-FFF2-40B4-BE49-F238E27FC236}">
                      <a16:creationId xmlns:a16="http://schemas.microsoft.com/office/drawing/2014/main" id="{44F2FCD8-7802-EBCC-6914-E9A87A4E0E77}"/>
                    </a:ext>
                  </a:extLst>
                </p14:cNvPr>
                <p14:cNvContentPartPr/>
                <p14:nvPr/>
              </p14:nvContentPartPr>
              <p14:xfrm>
                <a:off x="2338288" y="4590830"/>
                <a:ext cx="42120" cy="280440"/>
              </p14:xfrm>
            </p:contentPart>
          </mc:Choice>
          <mc:Fallback xmlns="">
            <p:pic>
              <p:nvPicPr>
                <p:cNvPr id="6" name="Entrada de lápiz 5">
                  <a:extLst>
                    <a:ext uri="{FF2B5EF4-FFF2-40B4-BE49-F238E27FC236}">
                      <a16:creationId xmlns:a16="http://schemas.microsoft.com/office/drawing/2014/main" id="{44F2FCD8-7802-EBCC-6914-E9A87A4E0E77}"/>
                    </a:ext>
                  </a:extLst>
                </p:cNvPr>
                <p:cNvPicPr/>
                <p:nvPr/>
              </p:nvPicPr>
              <p:blipFill>
                <a:blip r:embed="rId3"/>
                <a:stretch>
                  <a:fillRect/>
                </a:stretch>
              </p:blipFill>
              <p:spPr>
                <a:xfrm>
                  <a:off x="2329648" y="4581830"/>
                  <a:ext cx="5976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Entrada de lápiz 6">
                  <a:extLst>
                    <a:ext uri="{FF2B5EF4-FFF2-40B4-BE49-F238E27FC236}">
                      <a16:creationId xmlns:a16="http://schemas.microsoft.com/office/drawing/2014/main" id="{B0C060F2-337E-FAFA-B8AB-EE7FAD71034E}"/>
                    </a:ext>
                  </a:extLst>
                </p14:cNvPr>
                <p14:cNvContentPartPr/>
                <p14:nvPr/>
              </p14:nvContentPartPr>
              <p14:xfrm>
                <a:off x="2232448" y="4842470"/>
                <a:ext cx="128880" cy="81360"/>
              </p14:xfrm>
            </p:contentPart>
          </mc:Choice>
          <mc:Fallback xmlns="">
            <p:pic>
              <p:nvPicPr>
                <p:cNvPr id="7" name="Entrada de lápiz 6">
                  <a:extLst>
                    <a:ext uri="{FF2B5EF4-FFF2-40B4-BE49-F238E27FC236}">
                      <a16:creationId xmlns:a16="http://schemas.microsoft.com/office/drawing/2014/main" id="{B0C060F2-337E-FAFA-B8AB-EE7FAD71034E}"/>
                    </a:ext>
                  </a:extLst>
                </p:cNvPr>
                <p:cNvPicPr/>
                <p:nvPr/>
              </p:nvPicPr>
              <p:blipFill>
                <a:blip r:embed="rId5"/>
                <a:stretch>
                  <a:fillRect/>
                </a:stretch>
              </p:blipFill>
              <p:spPr>
                <a:xfrm>
                  <a:off x="2223448" y="4833470"/>
                  <a:ext cx="146520" cy="99000"/>
                </a:xfrm>
                <a:prstGeom prst="rect">
                  <a:avLst/>
                </a:prstGeom>
              </p:spPr>
            </p:pic>
          </mc:Fallback>
        </mc:AlternateContent>
      </p:grpSp>
      <p:grpSp>
        <p:nvGrpSpPr>
          <p:cNvPr id="11" name="Grupo 10">
            <a:extLst>
              <a:ext uri="{FF2B5EF4-FFF2-40B4-BE49-F238E27FC236}">
                <a16:creationId xmlns:a16="http://schemas.microsoft.com/office/drawing/2014/main" id="{70519069-4280-0236-58D8-68754622C211}"/>
              </a:ext>
            </a:extLst>
          </p:cNvPr>
          <p:cNvGrpSpPr/>
          <p:nvPr/>
        </p:nvGrpSpPr>
        <p:grpSpPr>
          <a:xfrm>
            <a:off x="3088168" y="4640510"/>
            <a:ext cx="151920" cy="388800"/>
            <a:chOff x="3088168" y="4640510"/>
            <a:chExt cx="151920" cy="388800"/>
          </a:xfrm>
        </p:grpSpPr>
        <mc:AlternateContent xmlns:mc="http://schemas.openxmlformats.org/markup-compatibility/2006" xmlns:p14="http://schemas.microsoft.com/office/powerpoint/2010/main">
          <mc:Choice Requires="p14">
            <p:contentPart p14:bwMode="auto" r:id="rId6">
              <p14:nvContentPartPr>
                <p14:cNvPr id="9" name="Entrada de lápiz 8">
                  <a:extLst>
                    <a:ext uri="{FF2B5EF4-FFF2-40B4-BE49-F238E27FC236}">
                      <a16:creationId xmlns:a16="http://schemas.microsoft.com/office/drawing/2014/main" id="{DD4E46E2-91D5-45A6-49EC-212EFD33AC6F}"/>
                    </a:ext>
                  </a:extLst>
                </p14:cNvPr>
                <p14:cNvContentPartPr/>
                <p14:nvPr/>
              </p14:nvContentPartPr>
              <p14:xfrm>
                <a:off x="3134248" y="4678670"/>
                <a:ext cx="25560" cy="350640"/>
              </p14:xfrm>
            </p:contentPart>
          </mc:Choice>
          <mc:Fallback xmlns="">
            <p:pic>
              <p:nvPicPr>
                <p:cNvPr id="9" name="Entrada de lápiz 8">
                  <a:extLst>
                    <a:ext uri="{FF2B5EF4-FFF2-40B4-BE49-F238E27FC236}">
                      <a16:creationId xmlns:a16="http://schemas.microsoft.com/office/drawing/2014/main" id="{DD4E46E2-91D5-45A6-49EC-212EFD33AC6F}"/>
                    </a:ext>
                  </a:extLst>
                </p:cNvPr>
                <p:cNvPicPr/>
                <p:nvPr/>
              </p:nvPicPr>
              <p:blipFill>
                <a:blip r:embed="rId7"/>
                <a:stretch>
                  <a:fillRect/>
                </a:stretch>
              </p:blipFill>
              <p:spPr>
                <a:xfrm>
                  <a:off x="3125248" y="4669670"/>
                  <a:ext cx="4320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Entrada de lápiz 9">
                  <a:extLst>
                    <a:ext uri="{FF2B5EF4-FFF2-40B4-BE49-F238E27FC236}">
                      <a16:creationId xmlns:a16="http://schemas.microsoft.com/office/drawing/2014/main" id="{44D08F60-56C3-C742-798E-CFD2B05EEBC1}"/>
                    </a:ext>
                  </a:extLst>
                </p14:cNvPr>
                <p14:cNvContentPartPr/>
                <p14:nvPr/>
              </p14:nvContentPartPr>
              <p14:xfrm>
                <a:off x="3088168" y="4640510"/>
                <a:ext cx="151920" cy="34200"/>
              </p14:xfrm>
            </p:contentPart>
          </mc:Choice>
          <mc:Fallback xmlns="">
            <p:pic>
              <p:nvPicPr>
                <p:cNvPr id="10" name="Entrada de lápiz 9">
                  <a:extLst>
                    <a:ext uri="{FF2B5EF4-FFF2-40B4-BE49-F238E27FC236}">
                      <a16:creationId xmlns:a16="http://schemas.microsoft.com/office/drawing/2014/main" id="{44D08F60-56C3-C742-798E-CFD2B05EEBC1}"/>
                    </a:ext>
                  </a:extLst>
                </p:cNvPr>
                <p:cNvPicPr/>
                <p:nvPr/>
              </p:nvPicPr>
              <p:blipFill>
                <a:blip r:embed="rId9"/>
                <a:stretch>
                  <a:fillRect/>
                </a:stretch>
              </p:blipFill>
              <p:spPr>
                <a:xfrm>
                  <a:off x="3079528" y="4631870"/>
                  <a:ext cx="169560" cy="51840"/>
                </a:xfrm>
                <a:prstGeom prst="rect">
                  <a:avLst/>
                </a:prstGeom>
              </p:spPr>
            </p:pic>
          </mc:Fallback>
        </mc:AlternateContent>
      </p:grpSp>
      <p:sp>
        <p:nvSpPr>
          <p:cNvPr id="18" name="CuadroTexto 17">
            <a:extLst>
              <a:ext uri="{FF2B5EF4-FFF2-40B4-BE49-F238E27FC236}">
                <a16:creationId xmlns:a16="http://schemas.microsoft.com/office/drawing/2014/main" id="{D6571F32-2CBD-FF25-BF20-A492CB46837B}"/>
              </a:ext>
            </a:extLst>
          </p:cNvPr>
          <p:cNvSpPr txBox="1"/>
          <p:nvPr/>
        </p:nvSpPr>
        <p:spPr>
          <a:xfrm>
            <a:off x="3409547" y="4739164"/>
            <a:ext cx="6097554" cy="369332"/>
          </a:xfrm>
          <a:prstGeom prst="rect">
            <a:avLst/>
          </a:prstGeom>
          <a:noFill/>
        </p:spPr>
        <p:txBody>
          <a:bodyPr wrap="square">
            <a:spAutoFit/>
          </a:bodyPr>
          <a:lstStyle/>
          <a:p>
            <a:r>
              <a:rPr lang="es-MX" dirty="0" err="1"/>
              <a:t>args</a:t>
            </a:r>
            <a:r>
              <a:rPr lang="es-MX" dirty="0"/>
              <a:t> = (40, 75, 10)</a:t>
            </a:r>
          </a:p>
        </p:txBody>
      </p:sp>
      <p:grpSp>
        <p:nvGrpSpPr>
          <p:cNvPr id="21" name="Grupo 20">
            <a:extLst>
              <a:ext uri="{FF2B5EF4-FFF2-40B4-BE49-F238E27FC236}">
                <a16:creationId xmlns:a16="http://schemas.microsoft.com/office/drawing/2014/main" id="{A2E9ADAA-274D-EB3F-80D7-C2254851CA02}"/>
              </a:ext>
            </a:extLst>
          </p:cNvPr>
          <p:cNvGrpSpPr/>
          <p:nvPr/>
        </p:nvGrpSpPr>
        <p:grpSpPr>
          <a:xfrm>
            <a:off x="3442768" y="4590830"/>
            <a:ext cx="984240" cy="224280"/>
            <a:chOff x="3442768" y="4590830"/>
            <a:chExt cx="984240" cy="224280"/>
          </a:xfrm>
        </p:grpSpPr>
        <mc:AlternateContent xmlns:mc="http://schemas.openxmlformats.org/markup-compatibility/2006" xmlns:p14="http://schemas.microsoft.com/office/powerpoint/2010/main">
          <mc:Choice Requires="p14">
            <p:contentPart p14:bwMode="auto" r:id="rId10">
              <p14:nvContentPartPr>
                <p14:cNvPr id="19" name="Entrada de lápiz 18">
                  <a:extLst>
                    <a:ext uri="{FF2B5EF4-FFF2-40B4-BE49-F238E27FC236}">
                      <a16:creationId xmlns:a16="http://schemas.microsoft.com/office/drawing/2014/main" id="{1FD284E4-F2CE-5493-18EC-E2FDB641C6B3}"/>
                    </a:ext>
                  </a:extLst>
                </p14:cNvPr>
                <p14:cNvContentPartPr/>
                <p14:nvPr/>
              </p14:nvContentPartPr>
              <p14:xfrm>
                <a:off x="3442768" y="4590830"/>
                <a:ext cx="656640" cy="215640"/>
              </p14:xfrm>
            </p:contentPart>
          </mc:Choice>
          <mc:Fallback xmlns="">
            <p:pic>
              <p:nvPicPr>
                <p:cNvPr id="19" name="Entrada de lápiz 18">
                  <a:extLst>
                    <a:ext uri="{FF2B5EF4-FFF2-40B4-BE49-F238E27FC236}">
                      <a16:creationId xmlns:a16="http://schemas.microsoft.com/office/drawing/2014/main" id="{1FD284E4-F2CE-5493-18EC-E2FDB641C6B3}"/>
                    </a:ext>
                  </a:extLst>
                </p:cNvPr>
                <p:cNvPicPr/>
                <p:nvPr/>
              </p:nvPicPr>
              <p:blipFill>
                <a:blip r:embed="rId11"/>
                <a:stretch>
                  <a:fillRect/>
                </a:stretch>
              </p:blipFill>
              <p:spPr>
                <a:xfrm>
                  <a:off x="3433768" y="4581830"/>
                  <a:ext cx="67428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0" name="Entrada de lápiz 19">
                  <a:extLst>
                    <a:ext uri="{FF2B5EF4-FFF2-40B4-BE49-F238E27FC236}">
                      <a16:creationId xmlns:a16="http://schemas.microsoft.com/office/drawing/2014/main" id="{46BC138D-121C-E9F8-FD79-A30EC0E9523E}"/>
                    </a:ext>
                  </a:extLst>
                </p14:cNvPr>
                <p14:cNvContentPartPr/>
                <p14:nvPr/>
              </p14:nvContentPartPr>
              <p14:xfrm>
                <a:off x="4124248" y="4601270"/>
                <a:ext cx="302760" cy="213840"/>
              </p14:xfrm>
            </p:contentPart>
          </mc:Choice>
          <mc:Fallback xmlns="">
            <p:pic>
              <p:nvPicPr>
                <p:cNvPr id="20" name="Entrada de lápiz 19">
                  <a:extLst>
                    <a:ext uri="{FF2B5EF4-FFF2-40B4-BE49-F238E27FC236}">
                      <a16:creationId xmlns:a16="http://schemas.microsoft.com/office/drawing/2014/main" id="{46BC138D-121C-E9F8-FD79-A30EC0E9523E}"/>
                    </a:ext>
                  </a:extLst>
                </p:cNvPr>
                <p:cNvPicPr/>
                <p:nvPr/>
              </p:nvPicPr>
              <p:blipFill>
                <a:blip r:embed="rId13"/>
                <a:stretch>
                  <a:fillRect/>
                </a:stretch>
              </p:blipFill>
              <p:spPr>
                <a:xfrm>
                  <a:off x="4115248" y="4592270"/>
                  <a:ext cx="320400" cy="231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23" name="Entrada de lápiz 22">
                <a:extLst>
                  <a:ext uri="{FF2B5EF4-FFF2-40B4-BE49-F238E27FC236}">
                    <a16:creationId xmlns:a16="http://schemas.microsoft.com/office/drawing/2014/main" id="{AE82B3DB-EE48-E919-6F19-A3BA792A846A}"/>
                  </a:ext>
                </a:extLst>
              </p14:cNvPr>
              <p14:cNvContentPartPr/>
              <p14:nvPr/>
            </p14:nvContentPartPr>
            <p14:xfrm>
              <a:off x="-690392" y="4142990"/>
              <a:ext cx="360" cy="360"/>
            </p14:xfrm>
          </p:contentPart>
        </mc:Choice>
        <mc:Fallback xmlns="">
          <p:pic>
            <p:nvPicPr>
              <p:cNvPr id="23" name="Entrada de lápiz 22">
                <a:extLst>
                  <a:ext uri="{FF2B5EF4-FFF2-40B4-BE49-F238E27FC236}">
                    <a16:creationId xmlns:a16="http://schemas.microsoft.com/office/drawing/2014/main" id="{AE82B3DB-EE48-E919-6F19-A3BA792A846A}"/>
                  </a:ext>
                </a:extLst>
              </p:cNvPr>
              <p:cNvPicPr/>
              <p:nvPr/>
            </p:nvPicPr>
            <p:blipFill>
              <a:blip r:embed="rId15"/>
              <a:stretch>
                <a:fillRect/>
              </a:stretch>
            </p:blipFill>
            <p:spPr>
              <a:xfrm>
                <a:off x="-699392" y="413399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4" name="Entrada de lápiz 23">
                <a:extLst>
                  <a:ext uri="{FF2B5EF4-FFF2-40B4-BE49-F238E27FC236}">
                    <a16:creationId xmlns:a16="http://schemas.microsoft.com/office/drawing/2014/main" id="{A48B84D9-9A23-0FFD-5B0D-E98B7F95D59B}"/>
                  </a:ext>
                </a:extLst>
              </p14:cNvPr>
              <p14:cNvContentPartPr/>
              <p14:nvPr/>
            </p14:nvContentPartPr>
            <p14:xfrm>
              <a:off x="326608" y="550190"/>
              <a:ext cx="360" cy="360"/>
            </p14:xfrm>
          </p:contentPart>
        </mc:Choice>
        <mc:Fallback xmlns="">
          <p:pic>
            <p:nvPicPr>
              <p:cNvPr id="24" name="Entrada de lápiz 23">
                <a:extLst>
                  <a:ext uri="{FF2B5EF4-FFF2-40B4-BE49-F238E27FC236}">
                    <a16:creationId xmlns:a16="http://schemas.microsoft.com/office/drawing/2014/main" id="{A48B84D9-9A23-0FFD-5B0D-E98B7F95D59B}"/>
                  </a:ext>
                </a:extLst>
              </p:cNvPr>
              <p:cNvPicPr/>
              <p:nvPr/>
            </p:nvPicPr>
            <p:blipFill>
              <a:blip r:embed="rId15"/>
              <a:stretch>
                <a:fillRect/>
              </a:stretch>
            </p:blipFill>
            <p:spPr>
              <a:xfrm>
                <a:off x="317608" y="541190"/>
                <a:ext cx="18000" cy="18000"/>
              </a:xfrm>
              <a:prstGeom prst="rect">
                <a:avLst/>
              </a:prstGeom>
            </p:spPr>
          </p:pic>
        </mc:Fallback>
      </mc:AlternateContent>
    </p:spTree>
    <p:extLst>
      <p:ext uri="{BB962C8B-B14F-4D97-AF65-F5344CB8AC3E}">
        <p14:creationId xmlns:p14="http://schemas.microsoft.com/office/powerpoint/2010/main" val="285354648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D72F00F-3596-86B5-3A8F-F47D4F4A22A9}"/>
              </a:ext>
            </a:extLst>
          </p:cNvPr>
          <p:cNvSpPr>
            <a:spLocks noGrp="1"/>
          </p:cNvSpPr>
          <p:nvPr>
            <p:ph type="title"/>
          </p:nvPr>
        </p:nvSpPr>
        <p:spPr>
          <a:xfrm>
            <a:off x="1245072" y="1289765"/>
            <a:ext cx="3651101" cy="4270963"/>
          </a:xfrm>
        </p:spPr>
        <p:txBody>
          <a:bodyPr anchor="ctr">
            <a:normAutofit/>
          </a:bodyPr>
          <a:lstStyle/>
          <a:p>
            <a:pPr algn="ctr"/>
            <a:r>
              <a:rPr lang="es-MX" sz="5600" dirty="0">
                <a:solidFill>
                  <a:srgbClr val="FFFFFF"/>
                </a:solidFill>
              </a:rPr>
              <a:t>Ejercicios</a:t>
            </a:r>
          </a:p>
        </p:txBody>
      </p:sp>
      <p:sp>
        <p:nvSpPr>
          <p:cNvPr id="1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Marcador de contenido 2">
            <a:extLst>
              <a:ext uri="{FF2B5EF4-FFF2-40B4-BE49-F238E27FC236}">
                <a16:creationId xmlns:a16="http://schemas.microsoft.com/office/drawing/2014/main" id="{FC440992-FFD0-19BA-957A-486E1C99C358}"/>
              </a:ext>
            </a:extLst>
          </p:cNvPr>
          <p:cNvSpPr>
            <a:spLocks noGrp="1"/>
          </p:cNvSpPr>
          <p:nvPr>
            <p:ph idx="1"/>
          </p:nvPr>
        </p:nvSpPr>
        <p:spPr>
          <a:xfrm>
            <a:off x="6297233" y="518400"/>
            <a:ext cx="4771607" cy="5837949"/>
          </a:xfrm>
        </p:spPr>
        <p:txBody>
          <a:bodyPr anchor="ctr">
            <a:normAutofit/>
          </a:bodyPr>
          <a:lstStyle/>
          <a:p>
            <a:pPr marL="0" marR="0" lvl="0" indent="0" defTabSz="914400" rtl="0" eaLnBrk="0" fontAlgn="base" latinLnBrk="0" hangingPunct="0">
              <a:spcBef>
                <a:spcPct val="0"/>
              </a:spcBef>
              <a:spcAft>
                <a:spcPct val="0"/>
              </a:spcAft>
              <a:buClrTx/>
              <a:buSzTx/>
              <a:buFontTx/>
              <a:buNone/>
              <a:tabLst/>
            </a:pPr>
            <a:r>
              <a:rPr kumimoji="0" lang="es-MX" altLang="es-MX" sz="1700" b="0" i="0" u="none" strike="noStrike" cap="none" normalizeH="0" baseline="0">
                <a:ln>
                  <a:noFill/>
                </a:ln>
                <a:solidFill>
                  <a:schemeClr val="tx1">
                    <a:alpha val="80000"/>
                  </a:schemeClr>
                </a:solidFill>
                <a:effectLst/>
                <a:latin typeface="udemy sans"/>
              </a:rPr>
              <a:t>Crea una función llamada </a:t>
            </a:r>
            <a:r>
              <a:rPr kumimoji="0" lang="es-MX" altLang="es-MX" sz="1700" b="0" i="0" u="none" strike="noStrike" cap="none" normalizeH="0" baseline="0">
                <a:ln>
                  <a:noFill/>
                </a:ln>
                <a:solidFill>
                  <a:schemeClr val="tx1">
                    <a:alpha val="80000"/>
                  </a:schemeClr>
                </a:solidFill>
                <a:effectLst/>
                <a:latin typeface="sfmono-regular"/>
              </a:rPr>
              <a:t>suma_cuadrados</a:t>
            </a:r>
            <a:r>
              <a:rPr kumimoji="0" lang="es-MX" altLang="es-MX" sz="1700" b="0" i="0" u="none" strike="noStrike" cap="none" normalizeH="0" baseline="0">
                <a:ln>
                  <a:noFill/>
                </a:ln>
                <a:solidFill>
                  <a:schemeClr val="tx1">
                    <a:alpha val="80000"/>
                  </a:schemeClr>
                </a:solidFill>
                <a:effectLst/>
                <a:latin typeface="udemy sans"/>
              </a:rPr>
              <a:t> que tome una cantidad indeterminada de argumentos numéricos, y que retorne la suma de sus valores al cuadrado.</a:t>
            </a:r>
            <a:endParaRPr kumimoji="0" lang="es-MX" altLang="es-MX" sz="1700" b="0" i="0" u="none" strike="noStrike" cap="none" normalizeH="0" baseline="0">
              <a:ln>
                <a:noFill/>
              </a:ln>
              <a:solidFill>
                <a:schemeClr val="tx1">
                  <a:alpha val="80000"/>
                </a:schemeClr>
              </a:solidFill>
              <a:effectLst/>
            </a:endParaRPr>
          </a:p>
          <a:p>
            <a:pPr marL="0" marR="0" lvl="0" indent="0" defTabSz="914400" rtl="0" eaLnBrk="0" fontAlgn="base" latinLnBrk="0" hangingPunct="0">
              <a:spcBef>
                <a:spcPct val="0"/>
              </a:spcBef>
              <a:spcAft>
                <a:spcPct val="0"/>
              </a:spcAft>
              <a:buClrTx/>
              <a:buSzTx/>
              <a:buFontTx/>
              <a:buNone/>
              <a:tabLst/>
            </a:pPr>
            <a:br>
              <a:rPr kumimoji="0" lang="es-MX" altLang="es-MX" sz="1700" b="0" i="0" u="none" strike="noStrike" cap="none" normalizeH="0" baseline="0">
                <a:ln>
                  <a:noFill/>
                </a:ln>
                <a:solidFill>
                  <a:schemeClr val="tx1">
                    <a:alpha val="80000"/>
                  </a:schemeClr>
                </a:solidFill>
                <a:effectLst/>
                <a:latin typeface="udemy sans"/>
              </a:rPr>
            </a:br>
            <a:r>
              <a:rPr kumimoji="0" lang="es-MX" altLang="es-MX" sz="1700" b="0" i="0" u="none" strike="noStrike" cap="none" normalizeH="0" baseline="0">
                <a:ln>
                  <a:noFill/>
                </a:ln>
                <a:solidFill>
                  <a:schemeClr val="tx1">
                    <a:alpha val="80000"/>
                  </a:schemeClr>
                </a:solidFill>
                <a:effectLst/>
                <a:latin typeface="udemy sans"/>
              </a:rPr>
              <a:t>Por ejemplo para los argumentos </a:t>
            </a:r>
            <a:r>
              <a:rPr kumimoji="0" lang="es-MX" altLang="es-MX" sz="1700" b="0" i="0" u="none" strike="noStrike" cap="none" normalizeH="0" baseline="0">
                <a:ln>
                  <a:noFill/>
                </a:ln>
                <a:solidFill>
                  <a:schemeClr val="tx1">
                    <a:alpha val="80000"/>
                  </a:schemeClr>
                </a:solidFill>
                <a:effectLst/>
                <a:latin typeface="sfmono-regular"/>
              </a:rPr>
              <a:t>suma_cuadrados(1,2,3)</a:t>
            </a:r>
            <a:r>
              <a:rPr kumimoji="0" lang="es-MX" altLang="es-MX" sz="1700" b="0" i="0" u="none" strike="noStrike" cap="none" normalizeH="0" baseline="0">
                <a:ln>
                  <a:noFill/>
                </a:ln>
                <a:solidFill>
                  <a:schemeClr val="tx1">
                    <a:alpha val="80000"/>
                  </a:schemeClr>
                </a:solidFill>
                <a:effectLst/>
                <a:latin typeface="udemy sans"/>
              </a:rPr>
              <a:t> deberá retornar 14 (1+4+9)</a:t>
            </a:r>
            <a:endParaRPr kumimoji="0" lang="es-MX" altLang="es-MX" sz="1700" b="0" i="0" u="none" strike="noStrike" cap="none" normalizeH="0" baseline="0">
              <a:ln>
                <a:noFill/>
              </a:ln>
              <a:solidFill>
                <a:schemeClr val="tx1">
                  <a:alpha val="80000"/>
                </a:schemeClr>
              </a:solidFill>
              <a:effectLst/>
              <a:latin typeface="Arial" panose="020B0604020202020204" pitchFamily="34" charset="0"/>
            </a:endParaRPr>
          </a:p>
          <a:p>
            <a:pPr marL="0" indent="0">
              <a:buNone/>
            </a:pPr>
            <a:endParaRPr kumimoji="0" lang="es-MX" altLang="es-MX" sz="1700" b="0" i="0" u="none" strike="noStrike" cap="none" normalizeH="0" baseline="0">
              <a:ln>
                <a:noFill/>
              </a:ln>
              <a:solidFill>
                <a:schemeClr val="tx1">
                  <a:alpha val="80000"/>
                </a:schemeClr>
              </a:solidFill>
              <a:effectLst/>
              <a:latin typeface="udemy sans"/>
            </a:endParaRPr>
          </a:p>
          <a:p>
            <a:pPr marL="0" indent="0">
              <a:buNone/>
            </a:pPr>
            <a:r>
              <a:rPr kumimoji="0" lang="es-MX" altLang="es-MX" sz="1700" b="0" i="0" u="none" strike="noStrike" cap="none" normalizeH="0" baseline="0">
                <a:ln>
                  <a:noFill/>
                </a:ln>
                <a:solidFill>
                  <a:schemeClr val="tx1">
                    <a:alpha val="80000"/>
                  </a:schemeClr>
                </a:solidFill>
                <a:effectLst/>
                <a:latin typeface="udemy sans"/>
              </a:rPr>
              <a:t>Crea una función llamada </a:t>
            </a:r>
            <a:r>
              <a:rPr kumimoji="0" lang="es-MX" altLang="es-MX" sz="1700" b="0" i="0" u="none" strike="noStrike" cap="none" normalizeH="0" baseline="0">
                <a:ln>
                  <a:noFill/>
                </a:ln>
                <a:solidFill>
                  <a:schemeClr val="tx1">
                    <a:alpha val="80000"/>
                  </a:schemeClr>
                </a:solidFill>
                <a:effectLst/>
                <a:latin typeface="sfmono-regular"/>
              </a:rPr>
              <a:t>suma_absolutos</a:t>
            </a:r>
            <a:r>
              <a:rPr kumimoji="0" lang="es-MX" altLang="es-MX" sz="1700" b="0" i="0" u="none" strike="noStrike" cap="none" normalizeH="0" baseline="0">
                <a:ln>
                  <a:noFill/>
                </a:ln>
                <a:solidFill>
                  <a:schemeClr val="tx1">
                    <a:alpha val="80000"/>
                  </a:schemeClr>
                </a:solidFill>
                <a:effectLst/>
                <a:latin typeface="udemy sans"/>
              </a:rPr>
              <a:t>, que tome un conjunto de argumentos de cualquier extensión, y retorne la suma de sus valores absolutos (es decir, que tome los valores sin signo y los sume, o lo que es lo mismo, los considere a todos </a:t>
            </a:r>
            <a:r>
              <a:rPr kumimoji="0" lang="es-MX" altLang="es-MX" sz="1700" b="0" i="1" u="none" strike="noStrike" cap="none" normalizeH="0" baseline="0">
                <a:ln>
                  <a:noFill/>
                </a:ln>
                <a:solidFill>
                  <a:schemeClr val="tx1">
                    <a:alpha val="80000"/>
                  </a:schemeClr>
                </a:solidFill>
                <a:effectLst/>
                <a:latin typeface="udemy sans"/>
              </a:rPr>
              <a:t>-negativos y positivos-</a:t>
            </a:r>
            <a:r>
              <a:rPr kumimoji="0" lang="es-MX" altLang="es-MX" sz="1700" b="0" i="0" u="none" strike="noStrike" cap="none" normalizeH="0" baseline="0">
                <a:ln>
                  <a:noFill/>
                </a:ln>
                <a:solidFill>
                  <a:schemeClr val="tx1">
                    <a:alpha val="80000"/>
                  </a:schemeClr>
                </a:solidFill>
                <a:effectLst/>
                <a:latin typeface="udemy sans"/>
              </a:rPr>
              <a:t> como positivos)</a:t>
            </a:r>
            <a:r>
              <a:rPr kumimoji="0" lang="es-MX" altLang="es-MX" sz="1700" b="0" i="0" u="none" strike="noStrike" cap="none" normalizeH="0" baseline="0">
                <a:ln>
                  <a:noFill/>
                </a:ln>
                <a:solidFill>
                  <a:schemeClr val="tx1">
                    <a:alpha val="80000"/>
                  </a:schemeClr>
                </a:solidFill>
                <a:effectLst/>
              </a:rPr>
              <a:t> </a:t>
            </a:r>
            <a:endParaRPr kumimoji="0" lang="es-MX" altLang="es-MX" sz="1700" b="0" i="0" u="none" strike="noStrike" cap="none" normalizeH="0" baseline="0">
              <a:ln>
                <a:noFill/>
              </a:ln>
              <a:solidFill>
                <a:schemeClr val="tx1">
                  <a:alpha val="80000"/>
                </a:schemeClr>
              </a:solidFill>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endParaRPr kumimoji="0" lang="es-MX" altLang="es-MX" sz="1700" b="0" i="0" u="none" strike="noStrike" cap="none" normalizeH="0" baseline="0">
              <a:ln>
                <a:noFill/>
              </a:ln>
              <a:solidFill>
                <a:schemeClr val="tx1">
                  <a:alpha val="80000"/>
                </a:schemeClr>
              </a:solidFill>
              <a:effectLst/>
              <a:latin typeface="udemy sans"/>
            </a:endParaRPr>
          </a:p>
          <a:p>
            <a:pPr marL="0" marR="0" lvl="0" indent="0" defTabSz="914400" rtl="0" eaLnBrk="0" fontAlgn="base" latinLnBrk="0" hangingPunct="0">
              <a:spcBef>
                <a:spcPct val="0"/>
              </a:spcBef>
              <a:spcAft>
                <a:spcPct val="0"/>
              </a:spcAft>
              <a:buClrTx/>
              <a:buSzTx/>
              <a:buFontTx/>
              <a:buNone/>
              <a:tabLst/>
            </a:pPr>
            <a:r>
              <a:rPr kumimoji="0" lang="es-MX" altLang="es-MX" sz="1700" b="0" i="0" u="none" strike="noStrike" cap="none" normalizeH="0" baseline="0">
                <a:ln>
                  <a:noFill/>
                </a:ln>
                <a:solidFill>
                  <a:schemeClr val="tx1">
                    <a:alpha val="80000"/>
                  </a:schemeClr>
                </a:solidFill>
                <a:effectLst/>
                <a:latin typeface="udemy sans"/>
              </a:rPr>
              <a:t>Crea una función llamada </a:t>
            </a:r>
            <a:r>
              <a:rPr kumimoji="0" lang="es-MX" altLang="es-MX" sz="1700" b="0" i="0" u="none" strike="noStrike" cap="none" normalizeH="0" baseline="0">
                <a:ln>
                  <a:noFill/>
                </a:ln>
                <a:solidFill>
                  <a:schemeClr val="tx1">
                    <a:alpha val="80000"/>
                  </a:schemeClr>
                </a:solidFill>
                <a:effectLst/>
                <a:latin typeface="sfmono-regular"/>
              </a:rPr>
              <a:t>numeros_persona</a:t>
            </a:r>
            <a:r>
              <a:rPr kumimoji="0" lang="es-MX" altLang="es-MX" sz="1700" b="0" i="0" u="none" strike="noStrike" cap="none" normalizeH="0" baseline="0">
                <a:ln>
                  <a:noFill/>
                </a:ln>
                <a:solidFill>
                  <a:schemeClr val="tx1">
                    <a:alpha val="80000"/>
                  </a:schemeClr>
                </a:solidFill>
                <a:effectLst/>
                <a:latin typeface="udemy sans"/>
              </a:rPr>
              <a:t> que reciba, como primer argumento, un nombre, y a continuación, una cantidad indefinida de números.</a:t>
            </a:r>
          </a:p>
          <a:p>
            <a:pPr marL="0" marR="0" lvl="0" indent="0" defTabSz="914400" rtl="0" eaLnBrk="0" fontAlgn="base" latinLnBrk="0" hangingPunct="0">
              <a:spcBef>
                <a:spcPct val="0"/>
              </a:spcBef>
              <a:spcAft>
                <a:spcPct val="0"/>
              </a:spcAft>
              <a:buClrTx/>
              <a:buSzTx/>
              <a:buFontTx/>
              <a:buNone/>
              <a:tabLst/>
            </a:pPr>
            <a:r>
              <a:rPr kumimoji="0" lang="es-MX" altLang="es-MX" sz="1700" b="0" i="0" u="none" strike="noStrike" cap="none" normalizeH="0" baseline="0">
                <a:ln>
                  <a:noFill/>
                </a:ln>
                <a:solidFill>
                  <a:schemeClr val="tx1">
                    <a:alpha val="80000"/>
                  </a:schemeClr>
                </a:solidFill>
                <a:effectLst/>
                <a:latin typeface="udemy sans"/>
              </a:rPr>
              <a:t>La función debe </a:t>
            </a:r>
            <a:r>
              <a:rPr kumimoji="0" lang="es-MX" altLang="es-MX" sz="1700" b="1" i="1" u="none" strike="noStrike" cap="none" normalizeH="0" baseline="0">
                <a:ln>
                  <a:noFill/>
                </a:ln>
                <a:solidFill>
                  <a:schemeClr val="tx1">
                    <a:alpha val="80000"/>
                  </a:schemeClr>
                </a:solidFill>
                <a:effectLst/>
                <a:latin typeface="udemy sans"/>
              </a:rPr>
              <a:t>devolver </a:t>
            </a:r>
            <a:r>
              <a:rPr kumimoji="0" lang="es-MX" altLang="es-MX" sz="1700" b="0" i="0" u="none" strike="noStrike" cap="none" normalizeH="0" baseline="0">
                <a:ln>
                  <a:noFill/>
                </a:ln>
                <a:solidFill>
                  <a:schemeClr val="tx1">
                    <a:alpha val="80000"/>
                  </a:schemeClr>
                </a:solidFill>
                <a:effectLst/>
                <a:latin typeface="udemy sans"/>
              </a:rPr>
              <a:t>el siguiente mensaje:</a:t>
            </a:r>
          </a:p>
          <a:p>
            <a:pPr marL="0" marR="0" lvl="0" indent="0" defTabSz="914400" rtl="0" eaLnBrk="0" fontAlgn="base" latinLnBrk="0" hangingPunct="0">
              <a:spcBef>
                <a:spcPct val="0"/>
              </a:spcBef>
              <a:spcAft>
                <a:spcPct val="0"/>
              </a:spcAft>
              <a:buClrTx/>
              <a:buSzTx/>
              <a:buFontTx/>
              <a:buNone/>
              <a:tabLst/>
            </a:pPr>
            <a:r>
              <a:rPr kumimoji="0" lang="es-MX" altLang="es-MX" sz="1700" b="0" i="0" u="none" strike="noStrike" cap="none" normalizeH="0" baseline="0">
                <a:ln>
                  <a:noFill/>
                </a:ln>
                <a:solidFill>
                  <a:schemeClr val="tx1">
                    <a:alpha val="80000"/>
                  </a:schemeClr>
                </a:solidFill>
                <a:effectLst/>
                <a:latin typeface="sfmono-regular"/>
              </a:rPr>
              <a:t>"{nombre}, la suma de tus números es {suma_numeros}"</a:t>
            </a:r>
            <a:endParaRPr kumimoji="0" lang="es-MX" altLang="es-MX" sz="1700" b="0" i="0" u="none" strike="noStrike" cap="none" normalizeH="0" baseline="0">
              <a:ln>
                <a:noFill/>
              </a:ln>
              <a:solidFill>
                <a:schemeClr val="tx1">
                  <a:alpha val="80000"/>
                </a:schemeClr>
              </a:solidFill>
              <a:effectLst/>
              <a:latin typeface="Arial" panose="020B0604020202020204" pitchFamily="34" charset="0"/>
            </a:endParaRPr>
          </a:p>
          <a:p>
            <a:pPr marL="0" indent="0">
              <a:buNone/>
            </a:pPr>
            <a:endParaRPr lang="es-MX" sz="1700">
              <a:solidFill>
                <a:schemeClr val="tx1">
                  <a:alpha val="80000"/>
                </a:schemeClr>
              </a:solidFill>
            </a:endParaRPr>
          </a:p>
        </p:txBody>
      </p:sp>
      <p:sp>
        <p:nvSpPr>
          <p:cNvPr id="4" name="Marcador de pie de página 3">
            <a:extLst>
              <a:ext uri="{FF2B5EF4-FFF2-40B4-BE49-F238E27FC236}">
                <a16:creationId xmlns:a16="http://schemas.microsoft.com/office/drawing/2014/main" id="{6EB6522E-BE9F-8E1C-447E-A11C50FAF57A}"/>
              </a:ext>
            </a:extLst>
          </p:cNvPr>
          <p:cNvSpPr>
            <a:spLocks noGrp="1"/>
          </p:cNvSpPr>
          <p:nvPr>
            <p:ph type="ftr" sz="quarter" idx="11"/>
          </p:nvPr>
        </p:nvSpPr>
        <p:spPr>
          <a:xfrm rot="16200000">
            <a:off x="9812115" y="1591485"/>
            <a:ext cx="3548094" cy="365125"/>
          </a:xfrm>
        </p:spPr>
        <p:txBody>
          <a:bodyPr>
            <a:normAutofit/>
          </a:bodyPr>
          <a:lstStyle/>
          <a:p>
            <a:pPr>
              <a:spcAft>
                <a:spcPts val="600"/>
              </a:spcAft>
            </a:pPr>
            <a:r>
              <a:rPr lang="es-MX">
                <a:solidFill>
                  <a:schemeClr val="tx1">
                    <a:alpha val="60000"/>
                  </a:schemeClr>
                </a:solidFill>
              </a:rPr>
              <a:t>Arabots Robotics</a:t>
            </a:r>
          </a:p>
        </p:txBody>
      </p:sp>
      <p:sp>
        <p:nvSpPr>
          <p:cNvPr id="1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5" name="Marcador de número de diapositiva 4">
            <a:extLst>
              <a:ext uri="{FF2B5EF4-FFF2-40B4-BE49-F238E27FC236}">
                <a16:creationId xmlns:a16="http://schemas.microsoft.com/office/drawing/2014/main" id="{48F2872E-3BF8-A50B-528B-7D1928FA7681}"/>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a:solidFill>
                  <a:schemeClr val="tx1">
                    <a:alpha val="60000"/>
                  </a:schemeClr>
                </a:solidFill>
              </a:rPr>
              <a:pPr>
                <a:spcAft>
                  <a:spcPts val="600"/>
                </a:spcAft>
              </a:pPr>
              <a:t>135</a:t>
            </a:fld>
            <a:endParaRPr lang="es-MX">
              <a:solidFill>
                <a:schemeClr val="tx1">
                  <a:alpha val="60000"/>
                </a:schemeClr>
              </a:solidFill>
            </a:endParaRPr>
          </a:p>
        </p:txBody>
      </p:sp>
      <p:cxnSp>
        <p:nvCxnSpPr>
          <p:cNvPr id="20" name="Straight Connector 19">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702976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2FC98C-9B20-B4BE-92B4-A49083FEED1E}"/>
              </a:ext>
            </a:extLst>
          </p:cNvPr>
          <p:cNvSpPr>
            <a:spLocks noGrp="1"/>
          </p:cNvSpPr>
          <p:nvPr>
            <p:ph type="title"/>
          </p:nvPr>
        </p:nvSpPr>
        <p:spPr/>
        <p:txBody>
          <a:bodyPr/>
          <a:lstStyle/>
          <a:p>
            <a:r>
              <a:rPr lang="es-MX" dirty="0"/>
              <a:t>**</a:t>
            </a:r>
            <a:r>
              <a:rPr lang="es-MX" dirty="0" err="1"/>
              <a:t>kwargs</a:t>
            </a:r>
            <a:r>
              <a:rPr lang="es-MX" dirty="0"/>
              <a:t> </a:t>
            </a:r>
            <a:br>
              <a:rPr lang="es-MX" dirty="0"/>
            </a:br>
            <a:endParaRPr lang="es-MX" dirty="0"/>
          </a:p>
        </p:txBody>
      </p:sp>
      <p:sp>
        <p:nvSpPr>
          <p:cNvPr id="3" name="Marcador de contenido 2">
            <a:extLst>
              <a:ext uri="{FF2B5EF4-FFF2-40B4-BE49-F238E27FC236}">
                <a16:creationId xmlns:a16="http://schemas.microsoft.com/office/drawing/2014/main" id="{E40814FF-A3F1-E9E4-7DE1-AD05F3177C78}"/>
              </a:ext>
            </a:extLst>
          </p:cNvPr>
          <p:cNvSpPr>
            <a:spLocks noGrp="1"/>
          </p:cNvSpPr>
          <p:nvPr>
            <p:ph idx="1"/>
          </p:nvPr>
        </p:nvSpPr>
        <p:spPr/>
        <p:txBody>
          <a:bodyPr>
            <a:normAutofit/>
          </a:bodyPr>
          <a:lstStyle/>
          <a:p>
            <a:pPr marL="0" indent="0">
              <a:buNone/>
            </a:pPr>
            <a:r>
              <a:rPr lang="es-MX" sz="1800" dirty="0"/>
              <a:t>Los argumentos con palabras clave (</a:t>
            </a:r>
            <a:r>
              <a:rPr lang="es-MX" sz="1800" dirty="0" err="1"/>
              <a:t>keyword</a:t>
            </a:r>
            <a:r>
              <a:rPr lang="es-MX" sz="1800" dirty="0"/>
              <a:t> </a:t>
            </a:r>
            <a:r>
              <a:rPr lang="es-MX" sz="1800" dirty="0" err="1"/>
              <a:t>arguments</a:t>
            </a:r>
            <a:r>
              <a:rPr lang="es-MX" sz="1800" dirty="0"/>
              <a:t>, abreviado </a:t>
            </a:r>
            <a:r>
              <a:rPr lang="es-MX" sz="1800" dirty="0" err="1"/>
              <a:t>kwargs</a:t>
            </a:r>
            <a:r>
              <a:rPr lang="es-MX" sz="1800" dirty="0"/>
              <a:t>), sirven para identificar el argumento por su nombre, independientemente de la posición en la que se pasen a su función. Si no se conoce de antemano su cantidad, se utiliza el parámetro **</a:t>
            </a:r>
            <a:r>
              <a:rPr lang="es-MX" sz="1800" dirty="0" err="1"/>
              <a:t>kwargs</a:t>
            </a:r>
            <a:r>
              <a:rPr lang="es-MX" sz="1800" dirty="0"/>
              <a:t> que los agrupa en un diccionario. </a:t>
            </a:r>
          </a:p>
          <a:p>
            <a:pPr marL="0" indent="0">
              <a:buNone/>
            </a:pPr>
            <a:endParaRPr lang="es-MX" sz="1800" dirty="0"/>
          </a:p>
          <a:p>
            <a:pPr marL="0" indent="0">
              <a:buNone/>
            </a:pPr>
            <a:r>
              <a:rPr lang="es-MX" sz="1800" dirty="0"/>
              <a:t>**</a:t>
            </a:r>
            <a:r>
              <a:rPr lang="es-MX" sz="1800" dirty="0" err="1"/>
              <a:t>kwargs</a:t>
            </a:r>
            <a:r>
              <a:rPr lang="es-MX" sz="1800" dirty="0"/>
              <a:t> Al igual que para *</a:t>
            </a:r>
            <a:r>
              <a:rPr lang="es-MX" sz="1800" dirty="0" err="1"/>
              <a:t>args</a:t>
            </a:r>
            <a:r>
              <a:rPr lang="es-MX" sz="1800" dirty="0"/>
              <a:t>, el nombre **</a:t>
            </a:r>
            <a:r>
              <a:rPr lang="es-MX" sz="1800" dirty="0" err="1"/>
              <a:t>kwargs</a:t>
            </a:r>
            <a:r>
              <a:rPr lang="es-MX" sz="1800" dirty="0"/>
              <a:t> no es mandatorio pero si es sugerido como buena práctica. Cualquier nombre iniciado en ** referirá a estos argumentos de cantidad variable.</a:t>
            </a:r>
          </a:p>
          <a:p>
            <a:pPr marL="0" indent="0">
              <a:buNone/>
            </a:pPr>
            <a:endParaRPr lang="es-MX" sz="1800" dirty="0"/>
          </a:p>
          <a:p>
            <a:pPr marL="0" indent="0">
              <a:buNone/>
            </a:pPr>
            <a:r>
              <a:rPr lang="es-MX" sz="1800" dirty="0" err="1"/>
              <a:t>def</a:t>
            </a:r>
            <a:r>
              <a:rPr lang="es-MX" sz="1800" dirty="0"/>
              <a:t> </a:t>
            </a:r>
            <a:r>
              <a:rPr lang="es-MX" sz="1800" dirty="0" err="1"/>
              <a:t>atributos_persona</a:t>
            </a:r>
            <a:r>
              <a:rPr lang="es-MX" sz="1800" dirty="0"/>
              <a:t>(**</a:t>
            </a:r>
            <a:r>
              <a:rPr lang="es-MX" sz="1800" dirty="0" err="1"/>
              <a:t>kwargs</a:t>
            </a:r>
            <a:r>
              <a:rPr lang="es-MX" sz="1800" dirty="0"/>
              <a:t>): </a:t>
            </a:r>
          </a:p>
          <a:p>
            <a:pPr marL="0" indent="0">
              <a:buNone/>
            </a:pPr>
            <a:endParaRPr lang="es-MX" sz="1800" dirty="0"/>
          </a:p>
          <a:p>
            <a:pPr marL="0" indent="0">
              <a:buNone/>
            </a:pPr>
            <a:r>
              <a:rPr lang="es-MX" sz="1800" dirty="0" err="1"/>
              <a:t>atributos_persona</a:t>
            </a:r>
            <a:r>
              <a:rPr lang="es-MX" sz="1800" dirty="0"/>
              <a:t>(ojos= "azules" , pelo= "corto")</a:t>
            </a:r>
          </a:p>
          <a:p>
            <a:pPr marL="0" indent="0">
              <a:buNone/>
            </a:pPr>
            <a:endParaRPr lang="es-MX" sz="1800" dirty="0"/>
          </a:p>
          <a:p>
            <a:pPr marL="0" indent="0">
              <a:buNone/>
            </a:pPr>
            <a:r>
              <a:rPr lang="es-MX" sz="1800" dirty="0"/>
              <a:t>                      </a:t>
            </a:r>
            <a:r>
              <a:rPr lang="es-MX" sz="1800" dirty="0" err="1"/>
              <a:t>kwargs</a:t>
            </a:r>
            <a:r>
              <a:rPr lang="es-MX" sz="1800" dirty="0"/>
              <a:t> = {'ojos': 'azules' , 'pelo': 'rubio'}</a:t>
            </a:r>
          </a:p>
        </p:txBody>
      </p:sp>
      <p:sp>
        <p:nvSpPr>
          <p:cNvPr id="4" name="Marcador de pie de página 3">
            <a:extLst>
              <a:ext uri="{FF2B5EF4-FFF2-40B4-BE49-F238E27FC236}">
                <a16:creationId xmlns:a16="http://schemas.microsoft.com/office/drawing/2014/main" id="{E4F67F50-F4C0-07DF-2E13-0F3946BC7082}"/>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5FB9721A-C5B7-C120-3BF8-3ED06B10C82F}"/>
              </a:ext>
            </a:extLst>
          </p:cNvPr>
          <p:cNvSpPr>
            <a:spLocks noGrp="1"/>
          </p:cNvSpPr>
          <p:nvPr>
            <p:ph type="sldNum" sz="quarter" idx="12"/>
          </p:nvPr>
        </p:nvSpPr>
        <p:spPr/>
        <p:txBody>
          <a:bodyPr/>
          <a:lstStyle/>
          <a:p>
            <a:fld id="{4EA4A3B0-B5DF-4E2B-B48F-E4B7B7872040}" type="slidenum">
              <a:rPr lang="es-MX" smtClean="0"/>
              <a:t>136</a:t>
            </a:fld>
            <a:endParaRPr lang="es-MX"/>
          </a:p>
        </p:txBody>
      </p:sp>
      <p:grpSp>
        <p:nvGrpSpPr>
          <p:cNvPr id="11" name="Grupo 10">
            <a:extLst>
              <a:ext uri="{FF2B5EF4-FFF2-40B4-BE49-F238E27FC236}">
                <a16:creationId xmlns:a16="http://schemas.microsoft.com/office/drawing/2014/main" id="{6FA7EA58-3AE7-77EE-ACA6-B44755E445FD}"/>
              </a:ext>
            </a:extLst>
          </p:cNvPr>
          <p:cNvGrpSpPr/>
          <p:nvPr/>
        </p:nvGrpSpPr>
        <p:grpSpPr>
          <a:xfrm>
            <a:off x="3293728" y="5094470"/>
            <a:ext cx="1244520" cy="354240"/>
            <a:chOff x="3293728" y="5094470"/>
            <a:chExt cx="1244520" cy="354240"/>
          </a:xfrm>
        </p:grpSpPr>
        <mc:AlternateContent xmlns:mc="http://schemas.openxmlformats.org/markup-compatibility/2006" xmlns:p14="http://schemas.microsoft.com/office/powerpoint/2010/main">
          <mc:Choice Requires="p14">
            <p:contentPart p14:bwMode="auto" r:id="rId2">
              <p14:nvContentPartPr>
                <p14:cNvPr id="7" name="Entrada de lápiz 6">
                  <a:extLst>
                    <a:ext uri="{FF2B5EF4-FFF2-40B4-BE49-F238E27FC236}">
                      <a16:creationId xmlns:a16="http://schemas.microsoft.com/office/drawing/2014/main" id="{82B0C2D8-9A70-016F-2424-8474B4EF4718}"/>
                    </a:ext>
                  </a:extLst>
                </p14:cNvPr>
                <p14:cNvContentPartPr/>
                <p14:nvPr/>
              </p14:nvContentPartPr>
              <p14:xfrm>
                <a:off x="3293728" y="5094470"/>
                <a:ext cx="607680" cy="354240"/>
              </p14:xfrm>
            </p:contentPart>
          </mc:Choice>
          <mc:Fallback xmlns="">
            <p:pic>
              <p:nvPicPr>
                <p:cNvPr id="7" name="Entrada de lápiz 6">
                  <a:extLst>
                    <a:ext uri="{FF2B5EF4-FFF2-40B4-BE49-F238E27FC236}">
                      <a16:creationId xmlns:a16="http://schemas.microsoft.com/office/drawing/2014/main" id="{82B0C2D8-9A70-016F-2424-8474B4EF4718}"/>
                    </a:ext>
                  </a:extLst>
                </p:cNvPr>
                <p:cNvPicPr/>
                <p:nvPr/>
              </p:nvPicPr>
              <p:blipFill>
                <a:blip r:embed="rId3"/>
                <a:stretch>
                  <a:fillRect/>
                </a:stretch>
              </p:blipFill>
              <p:spPr>
                <a:xfrm>
                  <a:off x="3284728" y="5085830"/>
                  <a:ext cx="625320" cy="371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Entrada de lápiz 7">
                  <a:extLst>
                    <a:ext uri="{FF2B5EF4-FFF2-40B4-BE49-F238E27FC236}">
                      <a16:creationId xmlns:a16="http://schemas.microsoft.com/office/drawing/2014/main" id="{4A5C5000-3431-EE43-EF82-BB4E8B27F97C}"/>
                    </a:ext>
                  </a:extLst>
                </p14:cNvPr>
                <p14:cNvContentPartPr/>
                <p14:nvPr/>
              </p14:nvContentPartPr>
              <p14:xfrm>
                <a:off x="3900328" y="5139830"/>
                <a:ext cx="637920" cy="281520"/>
              </p14:xfrm>
            </p:contentPart>
          </mc:Choice>
          <mc:Fallback xmlns="">
            <p:pic>
              <p:nvPicPr>
                <p:cNvPr id="8" name="Entrada de lápiz 7">
                  <a:extLst>
                    <a:ext uri="{FF2B5EF4-FFF2-40B4-BE49-F238E27FC236}">
                      <a16:creationId xmlns:a16="http://schemas.microsoft.com/office/drawing/2014/main" id="{4A5C5000-3431-EE43-EF82-BB4E8B27F97C}"/>
                    </a:ext>
                  </a:extLst>
                </p:cNvPr>
                <p:cNvPicPr/>
                <p:nvPr/>
              </p:nvPicPr>
              <p:blipFill>
                <a:blip r:embed="rId5"/>
                <a:stretch>
                  <a:fillRect/>
                </a:stretch>
              </p:blipFill>
              <p:spPr>
                <a:xfrm>
                  <a:off x="3891328" y="5130830"/>
                  <a:ext cx="65556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Entrada de lápiz 9">
                  <a:extLst>
                    <a:ext uri="{FF2B5EF4-FFF2-40B4-BE49-F238E27FC236}">
                      <a16:creationId xmlns:a16="http://schemas.microsoft.com/office/drawing/2014/main" id="{29F0D186-A9EC-B533-2BC2-E8814E4E9264}"/>
                    </a:ext>
                  </a:extLst>
                </p14:cNvPr>
                <p14:cNvContentPartPr/>
                <p14:nvPr/>
              </p14:nvContentPartPr>
              <p14:xfrm>
                <a:off x="3356008" y="5141630"/>
                <a:ext cx="534960" cy="237960"/>
              </p14:xfrm>
            </p:contentPart>
          </mc:Choice>
          <mc:Fallback xmlns="">
            <p:pic>
              <p:nvPicPr>
                <p:cNvPr id="10" name="Entrada de lápiz 9">
                  <a:extLst>
                    <a:ext uri="{FF2B5EF4-FFF2-40B4-BE49-F238E27FC236}">
                      <a16:creationId xmlns:a16="http://schemas.microsoft.com/office/drawing/2014/main" id="{29F0D186-A9EC-B533-2BC2-E8814E4E9264}"/>
                    </a:ext>
                  </a:extLst>
                </p:cNvPr>
                <p:cNvPicPr/>
                <p:nvPr/>
              </p:nvPicPr>
              <p:blipFill>
                <a:blip r:embed="rId7"/>
                <a:stretch>
                  <a:fillRect/>
                </a:stretch>
              </p:blipFill>
              <p:spPr>
                <a:xfrm>
                  <a:off x="3347368" y="5132990"/>
                  <a:ext cx="552600" cy="255600"/>
                </a:xfrm>
                <a:prstGeom prst="rect">
                  <a:avLst/>
                </a:prstGeom>
              </p:spPr>
            </p:pic>
          </mc:Fallback>
        </mc:AlternateContent>
      </p:grpSp>
    </p:spTree>
    <p:extLst>
      <p:ext uri="{BB962C8B-B14F-4D97-AF65-F5344CB8AC3E}">
        <p14:creationId xmlns:p14="http://schemas.microsoft.com/office/powerpoint/2010/main" val="15615717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49E738A-36DF-BBAE-157F-C81D617D250E}"/>
              </a:ext>
            </a:extLst>
          </p:cNvPr>
          <p:cNvSpPr>
            <a:spLocks noGrp="1"/>
          </p:cNvSpPr>
          <p:nvPr>
            <p:ph type="title"/>
          </p:nvPr>
        </p:nvSpPr>
        <p:spPr>
          <a:xfrm>
            <a:off x="1245072" y="1289765"/>
            <a:ext cx="3651101" cy="4270963"/>
          </a:xfrm>
        </p:spPr>
        <p:txBody>
          <a:bodyPr anchor="ctr">
            <a:normAutofit/>
          </a:bodyPr>
          <a:lstStyle/>
          <a:p>
            <a:pPr algn="ctr"/>
            <a:r>
              <a:rPr lang="es-MX" sz="5600">
                <a:solidFill>
                  <a:srgbClr val="FFFFFF"/>
                </a:solidFill>
              </a:rPr>
              <a:t>Ejercicios </a:t>
            </a:r>
          </a:p>
        </p:txBody>
      </p:sp>
      <p:sp>
        <p:nvSpPr>
          <p:cNvPr id="1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Marcador de contenido 2">
            <a:extLst>
              <a:ext uri="{FF2B5EF4-FFF2-40B4-BE49-F238E27FC236}">
                <a16:creationId xmlns:a16="http://schemas.microsoft.com/office/drawing/2014/main" id="{2AF6C826-773B-1638-4BB0-E15715FCDD2E}"/>
              </a:ext>
            </a:extLst>
          </p:cNvPr>
          <p:cNvSpPr>
            <a:spLocks noGrp="1"/>
          </p:cNvSpPr>
          <p:nvPr>
            <p:ph idx="1"/>
          </p:nvPr>
        </p:nvSpPr>
        <p:spPr>
          <a:xfrm>
            <a:off x="6297233" y="518400"/>
            <a:ext cx="4771607" cy="5837949"/>
          </a:xfrm>
        </p:spPr>
        <p:txBody>
          <a:bodyPr anchor="ctr">
            <a:normAutofit/>
          </a:bodyPr>
          <a:lstStyle/>
          <a:p>
            <a:pPr marL="0" indent="0">
              <a:buNone/>
            </a:pPr>
            <a:r>
              <a:rPr kumimoji="0" lang="es-MX" altLang="es-MX" sz="1700" b="0" i="0" u="none" strike="noStrike" cap="none" normalizeH="0" baseline="0">
                <a:ln>
                  <a:noFill/>
                </a:ln>
                <a:solidFill>
                  <a:schemeClr val="tx1">
                    <a:alpha val="80000"/>
                  </a:schemeClr>
                </a:solidFill>
                <a:effectLst/>
                <a:latin typeface="udemy sans"/>
              </a:rPr>
              <a:t>Crea una función llamada </a:t>
            </a:r>
            <a:r>
              <a:rPr kumimoji="0" lang="es-MX" altLang="es-MX" sz="1700" b="0" i="0" u="none" strike="noStrike" cap="none" normalizeH="0" baseline="0">
                <a:ln>
                  <a:noFill/>
                </a:ln>
                <a:solidFill>
                  <a:schemeClr val="tx1">
                    <a:alpha val="80000"/>
                  </a:schemeClr>
                </a:solidFill>
                <a:effectLst/>
                <a:latin typeface="sfmono-regular"/>
              </a:rPr>
              <a:t>cantidad_atributos</a:t>
            </a:r>
            <a:r>
              <a:rPr kumimoji="0" lang="es-MX" altLang="es-MX" sz="1700" b="0" i="0" u="none" strike="noStrike" cap="none" normalizeH="0" baseline="0">
                <a:ln>
                  <a:noFill/>
                </a:ln>
                <a:solidFill>
                  <a:schemeClr val="tx1">
                    <a:alpha val="80000"/>
                  </a:schemeClr>
                </a:solidFill>
                <a:effectLst/>
                <a:latin typeface="udemy sans"/>
              </a:rPr>
              <a:t> que cuente la cantidad de parémetros que se entregan, y devuelva esa cantidad como resultado</a:t>
            </a:r>
          </a:p>
          <a:p>
            <a:pPr marL="0" indent="0">
              <a:buNone/>
            </a:pPr>
            <a:endParaRPr lang="es-MX" altLang="es-MX" sz="1700">
              <a:solidFill>
                <a:schemeClr val="tx1">
                  <a:alpha val="80000"/>
                </a:schemeClr>
              </a:solidFill>
              <a:latin typeface="udemy sans"/>
            </a:endParaRPr>
          </a:p>
          <a:p>
            <a:pPr marL="0" indent="0">
              <a:buNone/>
            </a:pPr>
            <a:r>
              <a:rPr kumimoji="0" lang="es-MX" altLang="es-MX" sz="1700" b="0" i="0" u="none" strike="noStrike" cap="none" normalizeH="0" baseline="0">
                <a:ln>
                  <a:noFill/>
                </a:ln>
                <a:solidFill>
                  <a:schemeClr val="tx1">
                    <a:alpha val="80000"/>
                  </a:schemeClr>
                </a:solidFill>
                <a:effectLst/>
                <a:latin typeface="udemy sans"/>
              </a:rPr>
              <a:t>Crea una función llamada </a:t>
            </a:r>
            <a:r>
              <a:rPr kumimoji="0" lang="es-MX" altLang="es-MX" sz="1700" b="0" i="0" u="none" strike="noStrike" cap="none" normalizeH="0" baseline="0">
                <a:ln>
                  <a:noFill/>
                </a:ln>
                <a:solidFill>
                  <a:schemeClr val="tx1">
                    <a:alpha val="80000"/>
                  </a:schemeClr>
                </a:solidFill>
                <a:effectLst/>
                <a:latin typeface="sfmono-regular"/>
              </a:rPr>
              <a:t>lista_atributos</a:t>
            </a:r>
            <a:r>
              <a:rPr kumimoji="0" lang="es-MX" altLang="es-MX" sz="1700" b="0" i="0" u="none" strike="noStrike" cap="none" normalizeH="0" baseline="0">
                <a:ln>
                  <a:noFill/>
                </a:ln>
                <a:solidFill>
                  <a:schemeClr val="tx1">
                    <a:alpha val="80000"/>
                  </a:schemeClr>
                </a:solidFill>
                <a:effectLst/>
                <a:latin typeface="udemy sans"/>
              </a:rPr>
              <a:t> que devuelva en forma de </a:t>
            </a:r>
            <a:r>
              <a:rPr kumimoji="0" lang="es-MX" altLang="es-MX" sz="1700" b="1" i="0" u="none" strike="noStrike" cap="none" normalizeH="0" baseline="0">
                <a:ln>
                  <a:noFill/>
                </a:ln>
                <a:solidFill>
                  <a:schemeClr val="tx1">
                    <a:alpha val="80000"/>
                  </a:schemeClr>
                </a:solidFill>
                <a:effectLst/>
                <a:latin typeface="udemy sans"/>
              </a:rPr>
              <a:t>lista </a:t>
            </a:r>
            <a:r>
              <a:rPr kumimoji="0" lang="es-MX" altLang="es-MX" sz="1700" b="0" i="0" u="none" strike="noStrike" cap="none" normalizeH="0" baseline="0">
                <a:ln>
                  <a:noFill/>
                </a:ln>
                <a:solidFill>
                  <a:schemeClr val="tx1">
                    <a:alpha val="80000"/>
                  </a:schemeClr>
                </a:solidFill>
                <a:effectLst/>
                <a:latin typeface="udemy sans"/>
              </a:rPr>
              <a:t>los </a:t>
            </a:r>
            <a:r>
              <a:rPr kumimoji="0" lang="es-MX" altLang="es-MX" sz="1700" b="1" i="0" u="none" strike="noStrike" cap="none" normalizeH="0" baseline="0">
                <a:ln>
                  <a:noFill/>
                </a:ln>
                <a:solidFill>
                  <a:schemeClr val="tx1">
                    <a:alpha val="80000"/>
                  </a:schemeClr>
                </a:solidFill>
                <a:effectLst/>
                <a:latin typeface="udemy sans"/>
              </a:rPr>
              <a:t>valores</a:t>
            </a:r>
            <a:r>
              <a:rPr kumimoji="0" lang="es-MX" altLang="es-MX" sz="1700" b="0" i="0" u="none" strike="noStrike" cap="none" normalizeH="0" baseline="0">
                <a:ln>
                  <a:noFill/>
                </a:ln>
                <a:solidFill>
                  <a:schemeClr val="tx1">
                    <a:alpha val="80000"/>
                  </a:schemeClr>
                </a:solidFill>
                <a:effectLst/>
                <a:latin typeface="udemy sans"/>
              </a:rPr>
              <a:t> de los atributos entregados en forma de palabras clave (</a:t>
            </a:r>
            <a:r>
              <a:rPr kumimoji="0" lang="es-MX" altLang="es-MX" sz="1700" b="0" i="1" u="none" strike="noStrike" cap="none" normalizeH="0" baseline="0">
                <a:ln>
                  <a:noFill/>
                </a:ln>
                <a:solidFill>
                  <a:schemeClr val="tx1">
                    <a:alpha val="80000"/>
                  </a:schemeClr>
                </a:solidFill>
                <a:effectLst/>
                <a:latin typeface="udemy sans"/>
              </a:rPr>
              <a:t>keywords</a:t>
            </a:r>
            <a:r>
              <a:rPr kumimoji="0" lang="es-MX" altLang="es-MX" sz="1700" b="0" i="0" u="none" strike="noStrike" cap="none" normalizeH="0" baseline="0">
                <a:ln>
                  <a:noFill/>
                </a:ln>
                <a:solidFill>
                  <a:schemeClr val="tx1">
                    <a:alpha val="80000"/>
                  </a:schemeClr>
                </a:solidFill>
                <a:effectLst/>
                <a:latin typeface="udemy sans"/>
              </a:rPr>
              <a:t>). La función debe preveer recibir cualquier cantidad de argumentos de este tipo</a:t>
            </a:r>
            <a:r>
              <a:rPr kumimoji="0" lang="es-MX" altLang="es-MX" sz="1700" b="0" i="0" u="none" strike="noStrike" cap="none" normalizeH="0" baseline="0">
                <a:ln>
                  <a:noFill/>
                </a:ln>
                <a:solidFill>
                  <a:schemeClr val="tx1">
                    <a:alpha val="80000"/>
                  </a:schemeClr>
                </a:solidFill>
                <a:effectLst/>
              </a:rPr>
              <a:t> </a:t>
            </a:r>
          </a:p>
          <a:p>
            <a:pPr marL="0" marR="0" lvl="0" indent="0" defTabSz="914400" rtl="0" eaLnBrk="0" fontAlgn="base" latinLnBrk="0" hangingPunct="0">
              <a:spcBef>
                <a:spcPct val="0"/>
              </a:spcBef>
              <a:spcAft>
                <a:spcPct val="0"/>
              </a:spcAft>
              <a:buClrTx/>
              <a:buSzTx/>
              <a:buFontTx/>
              <a:buNone/>
              <a:tabLst/>
            </a:pPr>
            <a:endParaRPr kumimoji="0" lang="es-MX" altLang="es-MX" sz="1700" b="0" i="0" u="none" strike="noStrike" cap="none" normalizeH="0" baseline="0">
              <a:ln>
                <a:noFill/>
              </a:ln>
              <a:solidFill>
                <a:schemeClr val="tx1">
                  <a:alpha val="80000"/>
                </a:schemeClr>
              </a:solidFill>
              <a:effectLst/>
              <a:latin typeface="udemy sans"/>
            </a:endParaRPr>
          </a:p>
          <a:p>
            <a:pPr marL="0" marR="0" lvl="0" indent="0" defTabSz="914400" rtl="0" eaLnBrk="0" fontAlgn="base" latinLnBrk="0" hangingPunct="0">
              <a:spcBef>
                <a:spcPct val="0"/>
              </a:spcBef>
              <a:spcAft>
                <a:spcPct val="0"/>
              </a:spcAft>
              <a:buClrTx/>
              <a:buSzTx/>
              <a:buFontTx/>
              <a:buNone/>
              <a:tabLst/>
            </a:pPr>
            <a:endParaRPr lang="es-MX" altLang="es-MX" sz="1700">
              <a:solidFill>
                <a:schemeClr val="tx1">
                  <a:alpha val="80000"/>
                </a:schemeClr>
              </a:solidFill>
              <a:latin typeface="udemy sans"/>
            </a:endParaRPr>
          </a:p>
          <a:p>
            <a:pPr marL="0" marR="0" lvl="0" indent="0" defTabSz="914400" rtl="0" eaLnBrk="0" fontAlgn="base" latinLnBrk="0" hangingPunct="0">
              <a:spcBef>
                <a:spcPct val="0"/>
              </a:spcBef>
              <a:spcAft>
                <a:spcPct val="0"/>
              </a:spcAft>
              <a:buClrTx/>
              <a:buSzTx/>
              <a:buFontTx/>
              <a:buNone/>
              <a:tabLst/>
            </a:pPr>
            <a:r>
              <a:rPr kumimoji="0" lang="es-MX" altLang="es-MX" sz="1700" b="0" i="0" u="none" strike="noStrike" cap="none" normalizeH="0" baseline="0">
                <a:ln>
                  <a:noFill/>
                </a:ln>
                <a:solidFill>
                  <a:schemeClr val="tx1">
                    <a:alpha val="80000"/>
                  </a:schemeClr>
                </a:solidFill>
                <a:effectLst/>
                <a:latin typeface="udemy sans"/>
              </a:rPr>
              <a:t>Crea una función llamada </a:t>
            </a:r>
            <a:r>
              <a:rPr kumimoji="0" lang="es-MX" altLang="es-MX" sz="1700" b="0" i="0" u="none" strike="noStrike" cap="none" normalizeH="0" baseline="0">
                <a:ln>
                  <a:noFill/>
                </a:ln>
                <a:solidFill>
                  <a:schemeClr val="tx1">
                    <a:alpha val="80000"/>
                  </a:schemeClr>
                </a:solidFill>
                <a:effectLst/>
                <a:latin typeface="sfmono-regular"/>
              </a:rPr>
              <a:t>describir_persona</a:t>
            </a:r>
            <a:r>
              <a:rPr kumimoji="0" lang="es-MX" altLang="es-MX" sz="1700" b="0" i="0" u="none" strike="noStrike" cap="none" normalizeH="0" baseline="0">
                <a:ln>
                  <a:noFill/>
                </a:ln>
                <a:solidFill>
                  <a:schemeClr val="tx1">
                    <a:alpha val="80000"/>
                  </a:schemeClr>
                </a:solidFill>
                <a:effectLst/>
                <a:latin typeface="udemy sans"/>
              </a:rPr>
              <a:t>, que tome como parámetros su nombre y luego una cantidad indetermida de argumentos. Esta función deberá mostrar en pantalla:</a:t>
            </a:r>
            <a:endParaRPr kumimoji="0" lang="es-MX" altLang="es-MX" sz="1700" b="0" i="0" u="none" strike="noStrike" cap="none" normalizeH="0" baseline="0">
              <a:ln>
                <a:noFill/>
              </a:ln>
              <a:solidFill>
                <a:schemeClr val="tx1">
                  <a:alpha val="80000"/>
                </a:schemeClr>
              </a:solidFill>
              <a:effectLst/>
            </a:endParaRPr>
          </a:p>
          <a:p>
            <a:pPr marL="0" marR="0" lvl="0" indent="0" defTabSz="914400" rtl="0" eaLnBrk="0" fontAlgn="base" latinLnBrk="0" hangingPunct="0">
              <a:spcBef>
                <a:spcPct val="0"/>
              </a:spcBef>
              <a:spcAft>
                <a:spcPct val="0"/>
              </a:spcAft>
              <a:buClrTx/>
              <a:buSzTx/>
              <a:buFontTx/>
              <a:buAutoNum type="arabicPeriod"/>
              <a:tabLst/>
            </a:pPr>
            <a:r>
              <a:rPr kumimoji="0" lang="es-MX" altLang="es-MX" sz="1700" b="0" i="0" u="none" strike="noStrike" cap="none" normalizeH="0" baseline="0">
                <a:ln>
                  <a:noFill/>
                </a:ln>
                <a:solidFill>
                  <a:schemeClr val="tx1">
                    <a:alpha val="80000"/>
                  </a:schemeClr>
                </a:solidFill>
                <a:effectLst/>
                <a:latin typeface="sfmono-regular"/>
              </a:rPr>
              <a:t>Características de {nombre}:</a:t>
            </a:r>
          </a:p>
          <a:p>
            <a:pPr marL="0" marR="0" lvl="0" indent="0" defTabSz="914400" rtl="0" eaLnBrk="0" fontAlgn="base" latinLnBrk="0" hangingPunct="0">
              <a:spcBef>
                <a:spcPct val="0"/>
              </a:spcBef>
              <a:spcAft>
                <a:spcPct val="0"/>
              </a:spcAft>
              <a:buClrTx/>
              <a:buSzTx/>
              <a:buFontTx/>
              <a:buAutoNum type="arabicPeriod" startAt="2"/>
              <a:tabLst/>
            </a:pPr>
            <a:r>
              <a:rPr kumimoji="0" lang="es-MX" altLang="es-MX" sz="1700" b="0" i="0" u="none" strike="noStrike" cap="none" normalizeH="0" baseline="0">
                <a:ln>
                  <a:noFill/>
                </a:ln>
                <a:solidFill>
                  <a:schemeClr val="tx1">
                    <a:alpha val="80000"/>
                  </a:schemeClr>
                </a:solidFill>
                <a:effectLst/>
                <a:latin typeface="sfmono-regular"/>
              </a:rPr>
              <a:t>{nombre_argumento}: {valor_argumento}</a:t>
            </a:r>
          </a:p>
          <a:p>
            <a:pPr marL="0" marR="0" lvl="0" indent="0" defTabSz="914400" rtl="0" eaLnBrk="0" fontAlgn="base" latinLnBrk="0" hangingPunct="0">
              <a:spcBef>
                <a:spcPct val="0"/>
              </a:spcBef>
              <a:spcAft>
                <a:spcPct val="0"/>
              </a:spcAft>
              <a:buClrTx/>
              <a:buSzTx/>
              <a:buFontTx/>
              <a:buAutoNum type="arabicPeriod" startAt="3"/>
              <a:tabLst/>
            </a:pPr>
            <a:r>
              <a:rPr kumimoji="0" lang="es-MX" altLang="es-MX" sz="1700" b="0" i="0" u="none" strike="noStrike" cap="none" normalizeH="0" baseline="0">
                <a:ln>
                  <a:noFill/>
                </a:ln>
                <a:solidFill>
                  <a:schemeClr val="tx1">
                    <a:alpha val="80000"/>
                  </a:schemeClr>
                </a:solidFill>
                <a:effectLst/>
                <a:latin typeface="sfmono-regular"/>
              </a:rPr>
              <a:t>{nombre_argumento}: {valor_argumento}</a:t>
            </a:r>
          </a:p>
          <a:p>
            <a:pPr marL="0" marR="0" lvl="0" indent="0" defTabSz="914400" rtl="0" eaLnBrk="0" fontAlgn="base" latinLnBrk="0" hangingPunct="0">
              <a:spcBef>
                <a:spcPct val="0"/>
              </a:spcBef>
              <a:spcAft>
                <a:spcPct val="0"/>
              </a:spcAft>
              <a:buClrTx/>
              <a:buSzTx/>
              <a:buFontTx/>
              <a:buAutoNum type="arabicPeriod" startAt="4"/>
              <a:tabLst/>
            </a:pPr>
            <a:r>
              <a:rPr kumimoji="0" lang="es-MX" altLang="es-MX" sz="1700" b="0" i="0" u="none" strike="noStrike" cap="none" normalizeH="0" baseline="0">
                <a:ln>
                  <a:noFill/>
                </a:ln>
                <a:solidFill>
                  <a:schemeClr val="tx1">
                    <a:alpha val="80000"/>
                  </a:schemeClr>
                </a:solidFill>
                <a:effectLst/>
                <a:latin typeface="sfmono-regular"/>
              </a:rPr>
              <a:t>etc..</a:t>
            </a:r>
          </a:p>
          <a:p>
            <a:pPr marL="0" indent="0">
              <a:buNone/>
            </a:pPr>
            <a:endParaRPr kumimoji="0" lang="es-MX" altLang="es-MX" sz="1700" b="0" i="0" u="none" strike="noStrike" cap="none" normalizeH="0" baseline="0">
              <a:ln>
                <a:noFill/>
              </a:ln>
              <a:solidFill>
                <a:schemeClr val="tx1">
                  <a:alpha val="80000"/>
                </a:schemeClr>
              </a:solidFill>
              <a:effectLst/>
              <a:latin typeface="Arial" panose="020B0604020202020204" pitchFamily="34" charset="0"/>
            </a:endParaRPr>
          </a:p>
          <a:p>
            <a:pPr marL="0" indent="0">
              <a:buNone/>
            </a:pPr>
            <a:endParaRPr kumimoji="0" lang="es-MX" altLang="es-MX" sz="1700" b="0" i="0" u="none" strike="noStrike" cap="none" normalizeH="0" baseline="0">
              <a:ln>
                <a:noFill/>
              </a:ln>
              <a:solidFill>
                <a:schemeClr val="tx1">
                  <a:alpha val="80000"/>
                </a:schemeClr>
              </a:solidFill>
              <a:effectLst/>
              <a:latin typeface="udemy sans"/>
            </a:endParaRPr>
          </a:p>
          <a:p>
            <a:pPr marL="0" indent="0">
              <a:buNone/>
            </a:pPr>
            <a:endParaRPr lang="es-MX" sz="1700">
              <a:solidFill>
                <a:schemeClr val="tx1">
                  <a:alpha val="80000"/>
                </a:schemeClr>
              </a:solidFill>
            </a:endParaRPr>
          </a:p>
        </p:txBody>
      </p:sp>
      <p:sp>
        <p:nvSpPr>
          <p:cNvPr id="4" name="Marcador de pie de página 3">
            <a:extLst>
              <a:ext uri="{FF2B5EF4-FFF2-40B4-BE49-F238E27FC236}">
                <a16:creationId xmlns:a16="http://schemas.microsoft.com/office/drawing/2014/main" id="{995C9205-5804-9D68-5DEA-C068481E1790}"/>
              </a:ext>
            </a:extLst>
          </p:cNvPr>
          <p:cNvSpPr>
            <a:spLocks noGrp="1"/>
          </p:cNvSpPr>
          <p:nvPr>
            <p:ph type="ftr" sz="quarter" idx="11"/>
          </p:nvPr>
        </p:nvSpPr>
        <p:spPr>
          <a:xfrm rot="16200000">
            <a:off x="9812115" y="1591485"/>
            <a:ext cx="3548094" cy="365125"/>
          </a:xfrm>
        </p:spPr>
        <p:txBody>
          <a:bodyPr>
            <a:normAutofit/>
          </a:bodyPr>
          <a:lstStyle/>
          <a:p>
            <a:pPr>
              <a:spcAft>
                <a:spcPts val="600"/>
              </a:spcAft>
            </a:pPr>
            <a:r>
              <a:rPr lang="es-MX">
                <a:solidFill>
                  <a:schemeClr val="tx1">
                    <a:alpha val="60000"/>
                  </a:schemeClr>
                </a:solidFill>
              </a:rPr>
              <a:t>Arabots Robotics</a:t>
            </a:r>
          </a:p>
        </p:txBody>
      </p:sp>
      <p:sp>
        <p:nvSpPr>
          <p:cNvPr id="1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5" name="Marcador de número de diapositiva 4">
            <a:extLst>
              <a:ext uri="{FF2B5EF4-FFF2-40B4-BE49-F238E27FC236}">
                <a16:creationId xmlns:a16="http://schemas.microsoft.com/office/drawing/2014/main" id="{91C9B631-AD6C-6815-A3A5-97BCEFE1FD32}"/>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a:solidFill>
                  <a:schemeClr val="tx1">
                    <a:alpha val="60000"/>
                  </a:schemeClr>
                </a:solidFill>
              </a:rPr>
              <a:pPr>
                <a:spcAft>
                  <a:spcPts val="600"/>
                </a:spcAft>
              </a:pPr>
              <a:t>137</a:t>
            </a:fld>
            <a:endParaRPr lang="es-MX">
              <a:solidFill>
                <a:schemeClr val="tx1">
                  <a:alpha val="60000"/>
                </a:schemeClr>
              </a:solidFill>
            </a:endParaRPr>
          </a:p>
        </p:txBody>
      </p:sp>
      <p:cxnSp>
        <p:nvCxnSpPr>
          <p:cNvPr id="20" name="Straight Connector 19">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833134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A72777D-34BE-6FEF-8A6B-C0F2BF3B0949}"/>
              </a:ext>
            </a:extLst>
          </p:cNvPr>
          <p:cNvSpPr>
            <a:spLocks noGrp="1"/>
          </p:cNvSpPr>
          <p:nvPr>
            <p:ph type="title"/>
          </p:nvPr>
        </p:nvSpPr>
        <p:spPr>
          <a:xfrm>
            <a:off x="838201" y="365125"/>
            <a:ext cx="5251316" cy="1807305"/>
          </a:xfrm>
        </p:spPr>
        <p:txBody>
          <a:bodyPr>
            <a:normAutofit/>
          </a:bodyPr>
          <a:lstStyle/>
          <a:p>
            <a:r>
              <a:rPr lang="es-MX" dirty="0"/>
              <a:t>Problemas prácticos (ejercicios)</a:t>
            </a:r>
          </a:p>
        </p:txBody>
      </p:sp>
      <p:sp>
        <p:nvSpPr>
          <p:cNvPr id="4" name="Marcador de pie de página 3">
            <a:extLst>
              <a:ext uri="{FF2B5EF4-FFF2-40B4-BE49-F238E27FC236}">
                <a16:creationId xmlns:a16="http://schemas.microsoft.com/office/drawing/2014/main" id="{B3D23750-5EF9-12B9-FE32-A970B38BA60D}"/>
              </a:ext>
            </a:extLst>
          </p:cNvPr>
          <p:cNvSpPr>
            <a:spLocks noGrp="1"/>
          </p:cNvSpPr>
          <p:nvPr>
            <p:ph type="ftr" sz="quarter" idx="11"/>
          </p:nvPr>
        </p:nvSpPr>
        <p:spPr>
          <a:xfrm>
            <a:off x="3505200" y="6356350"/>
            <a:ext cx="3429000" cy="365125"/>
          </a:xfrm>
        </p:spPr>
        <p:txBody>
          <a:bodyPr>
            <a:normAutofit/>
          </a:bodyPr>
          <a:lstStyle/>
          <a:p>
            <a:pPr algn="l">
              <a:spcAft>
                <a:spcPts val="600"/>
              </a:spcAft>
            </a:pPr>
            <a:r>
              <a:rPr lang="es-MX"/>
              <a:t>Arabots Robotics</a:t>
            </a:r>
          </a:p>
        </p:txBody>
      </p:sp>
      <p:sp>
        <p:nvSpPr>
          <p:cNvPr id="5" name="Marcador de número de diapositiva 4">
            <a:extLst>
              <a:ext uri="{FF2B5EF4-FFF2-40B4-BE49-F238E27FC236}">
                <a16:creationId xmlns:a16="http://schemas.microsoft.com/office/drawing/2014/main" id="{417FBD3F-DB48-46C9-B2C3-745314DF94A2}"/>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a:solidFill>
                  <a:srgbClr val="FFFFFF"/>
                </a:solidFill>
              </a:rPr>
              <a:pPr>
                <a:spcAft>
                  <a:spcPts val="600"/>
                </a:spcAft>
              </a:pPr>
              <a:t>138</a:t>
            </a:fld>
            <a:endParaRPr lang="es-MX">
              <a:solidFill>
                <a:srgbClr val="FFFFFF"/>
              </a:solidFill>
            </a:endParaRPr>
          </a:p>
        </p:txBody>
      </p:sp>
      <p:pic>
        <p:nvPicPr>
          <p:cNvPr id="7" name="Picture 6" descr="Marca de exclamación sobre fondo amarillo">
            <a:extLst>
              <a:ext uri="{FF2B5EF4-FFF2-40B4-BE49-F238E27FC236}">
                <a16:creationId xmlns:a16="http://schemas.microsoft.com/office/drawing/2014/main" id="{08AE26D2-2078-5560-4E1C-CD6E73F5A74E}"/>
              </a:ext>
            </a:extLst>
          </p:cNvPr>
          <p:cNvPicPr>
            <a:picLocks noChangeAspect="1"/>
          </p:cNvPicPr>
          <p:nvPr/>
        </p:nvPicPr>
        <p:blipFill rotWithShape="1">
          <a:blip r:embed="rId2"/>
          <a:srcRect l="23854" r="10937"/>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3" name="Marcador de contenido 2">
            <a:extLst>
              <a:ext uri="{FF2B5EF4-FFF2-40B4-BE49-F238E27FC236}">
                <a16:creationId xmlns:a16="http://schemas.microsoft.com/office/drawing/2014/main" id="{6EA4CE20-5982-BF40-8E76-15ACC1BEC291}"/>
              </a:ext>
            </a:extLst>
          </p:cNvPr>
          <p:cNvSpPr>
            <a:spLocks noGrp="1"/>
          </p:cNvSpPr>
          <p:nvPr>
            <p:ph idx="1"/>
          </p:nvPr>
        </p:nvSpPr>
        <p:spPr>
          <a:xfrm>
            <a:off x="838200" y="2333297"/>
            <a:ext cx="9496425" cy="3843666"/>
          </a:xfrm>
        </p:spPr>
        <p:txBody>
          <a:bodyPr>
            <a:normAutofit/>
          </a:bodyPr>
          <a:lstStyle/>
          <a:p>
            <a:pPr marL="0" indent="0">
              <a:buNone/>
            </a:pPr>
            <a:r>
              <a:rPr lang="es-MX" sz="1400" dirty="0"/>
              <a:t>Crea una función llamada </a:t>
            </a:r>
            <a:r>
              <a:rPr lang="es-MX" sz="1400" dirty="0" err="1"/>
              <a:t>devolver_distintos</a:t>
            </a:r>
            <a:r>
              <a:rPr lang="es-MX" sz="1400" dirty="0"/>
              <a:t>() que reciba 3 </a:t>
            </a:r>
            <a:r>
              <a:rPr lang="es-MX" sz="1400" dirty="0" err="1"/>
              <a:t>integers</a:t>
            </a:r>
            <a:r>
              <a:rPr lang="es-MX" sz="1400" dirty="0"/>
              <a:t> como parámetros. Si la suma de los 3 </a:t>
            </a:r>
            <a:r>
              <a:rPr lang="es-MX" sz="1400" dirty="0" err="1"/>
              <a:t>numeros</a:t>
            </a:r>
            <a:r>
              <a:rPr lang="es-MX" sz="1400" dirty="0"/>
              <a:t> es mayor a 15, va a devolver el número mayor. Si la suma de los 3 </a:t>
            </a:r>
            <a:r>
              <a:rPr lang="es-MX" sz="1400" dirty="0" err="1"/>
              <a:t>numeros</a:t>
            </a:r>
            <a:r>
              <a:rPr lang="es-MX" sz="1400" dirty="0"/>
              <a:t> es menor a 10, va a devolver el número menor. Si la suma de los 3 números es un valor entre 10 y 15 (incluidos) va a devolver el número de valor intermedio</a:t>
            </a:r>
          </a:p>
          <a:p>
            <a:pPr marL="0" indent="0">
              <a:buNone/>
            </a:pPr>
            <a:endParaRPr lang="es-MX" sz="1400" dirty="0"/>
          </a:p>
          <a:p>
            <a:pPr marL="0" indent="0">
              <a:buNone/>
            </a:pPr>
            <a:r>
              <a:rPr lang="es-MX" sz="1400" dirty="0"/>
              <a:t>Escribe una función (puedes ponerle cualquier nombre que quieras) que reciba cualquier palabra como parámetro, y que devuelva todas sus letras únicas (sin repetir) pero en orden alfabético. Por ejemplo si al invocar esta función pasamos la palabra "entretenido" , debería devolver ['d' , 'e' , 'i' , 'n' , 'o' , 'r' , 't’]</a:t>
            </a:r>
          </a:p>
          <a:p>
            <a:pPr marL="0" indent="0">
              <a:buNone/>
            </a:pPr>
            <a:r>
              <a:rPr lang="es-MX" sz="1400" dirty="0"/>
              <a:t>Escribe una función que requiera una cantidad indefinida de argumentos. Lo que hará esta función es devolver True si en algún momento se ha ingresado al numero cero repetido dos veces consecutivas. </a:t>
            </a:r>
          </a:p>
          <a:p>
            <a:pPr marL="0" indent="0">
              <a:buNone/>
            </a:pPr>
            <a:r>
              <a:rPr lang="es-MX" sz="1400" dirty="0"/>
              <a:t>Por ejemplo: (5,6,1,0,0,9,3,5) &gt;&gt;&gt; True</a:t>
            </a:r>
          </a:p>
          <a:p>
            <a:pPr marL="0" indent="0">
              <a:buNone/>
            </a:pPr>
            <a:r>
              <a:rPr lang="es-MX" sz="1400" dirty="0"/>
              <a:t>(6,0,5,1,0,3,0,1) &gt;&gt;&gt; False</a:t>
            </a:r>
          </a:p>
          <a:p>
            <a:pPr marL="0" indent="0">
              <a:buNone/>
            </a:pPr>
            <a:r>
              <a:rPr lang="es-MX" sz="1400" dirty="0"/>
              <a:t>Escribe una función llamada </a:t>
            </a:r>
            <a:r>
              <a:rPr lang="es-MX" sz="1400" dirty="0" err="1"/>
              <a:t>contar_primos</a:t>
            </a:r>
            <a:r>
              <a:rPr lang="es-MX" sz="1400" dirty="0"/>
              <a:t>() que requiera un solo argumento numérico. Esta función va a mostrar en pantalla cuántos números primos hay en el rango que va desde cero hasta ese número incluido, y va a devolverla cantidad de números primos que encontró. Aclaración, por convención el 0 y el 1 no se consideran primos.</a:t>
            </a:r>
          </a:p>
        </p:txBody>
      </p:sp>
    </p:spTree>
    <p:extLst>
      <p:ext uri="{BB962C8B-B14F-4D97-AF65-F5344CB8AC3E}">
        <p14:creationId xmlns:p14="http://schemas.microsoft.com/office/powerpoint/2010/main" val="28411776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252F2C-6496-C6D3-D628-909869737824}"/>
              </a:ext>
            </a:extLst>
          </p:cNvPr>
          <p:cNvSpPr>
            <a:spLocks noGrp="1"/>
          </p:cNvSpPr>
          <p:nvPr>
            <p:ph type="title"/>
          </p:nvPr>
        </p:nvSpPr>
        <p:spPr/>
        <p:txBody>
          <a:bodyPr/>
          <a:lstStyle/>
          <a:p>
            <a:r>
              <a:rPr lang="es-MX" dirty="0"/>
              <a:t>Proyecto 5</a:t>
            </a:r>
          </a:p>
        </p:txBody>
      </p:sp>
      <p:sp>
        <p:nvSpPr>
          <p:cNvPr id="3" name="Marcador de contenido 2">
            <a:extLst>
              <a:ext uri="{FF2B5EF4-FFF2-40B4-BE49-F238E27FC236}">
                <a16:creationId xmlns:a16="http://schemas.microsoft.com/office/drawing/2014/main" id="{01A0B731-29EC-8992-92E2-158295D6E58F}"/>
              </a:ext>
            </a:extLst>
          </p:cNvPr>
          <p:cNvSpPr>
            <a:spLocks noGrp="1"/>
          </p:cNvSpPr>
          <p:nvPr>
            <p:ph idx="1"/>
          </p:nvPr>
        </p:nvSpPr>
        <p:spPr/>
        <p:txBody>
          <a:bodyPr>
            <a:normAutofit fontScale="62500" lnSpcReduction="20000"/>
          </a:bodyPr>
          <a:lstStyle/>
          <a:p>
            <a:r>
              <a:rPr lang="es-MX" dirty="0"/>
              <a:t>El programa va a elegir una palabra secreta y le va a mostrar al jugador solamente una serie de guiones que representa la cantidad de letras que tiene la palabra. El jugador en cada turno deberá elegir una letra y si la letra se encuentra en la palabra oculta, el sistema le va a mostrar en qué lugares se encuentra. </a:t>
            </a:r>
          </a:p>
          <a:p>
            <a:r>
              <a:rPr lang="es-MX" dirty="0"/>
              <a:t>Pero si el jugador dice una letra que no se encuentra en la palabra oculta, pierde una vida. En el juego real del ahorcado, cada vez que perdemos una vida, se va completando el dibujo del ahorcado miembro por miembro. </a:t>
            </a:r>
          </a:p>
          <a:p>
            <a:r>
              <a:rPr lang="es-MX" dirty="0"/>
              <a:t>Pero en nuestro caso, como aún no tenemos elementos gráficos, simplemente le vamos a decir que tiene seis vidas y se las iremos descontando de una en una, cada vez que el jugador elija una letra incorrecta. Si se agotan las vidas antes de adivinar la palabra, el jugador pierde. </a:t>
            </a:r>
          </a:p>
          <a:p>
            <a:r>
              <a:rPr lang="es-MX" dirty="0"/>
              <a:t>Pero si adivina la palabra completa antes de perder todas las vidas, el jugador gana. Parece sencillo, pero ¿cómo diseñamos todo este código? </a:t>
            </a:r>
          </a:p>
          <a:p>
            <a:r>
              <a:rPr lang="es-MX" dirty="0">
                <a:solidFill>
                  <a:schemeClr val="bg1"/>
                </a:solidFill>
              </a:rPr>
              <a:t>Bueno, aquí van algunas ayudas: </a:t>
            </a:r>
          </a:p>
          <a:p>
            <a:pPr lvl="1"/>
            <a:r>
              <a:rPr lang="es-MX" dirty="0">
                <a:solidFill>
                  <a:schemeClr val="bg1"/>
                </a:solidFill>
              </a:rPr>
              <a:t>Primero vas a crear un código que importe el método </a:t>
            </a:r>
            <a:r>
              <a:rPr lang="es-MX" dirty="0" err="1">
                <a:solidFill>
                  <a:schemeClr val="bg1"/>
                </a:solidFill>
              </a:rPr>
              <a:t>choice</a:t>
            </a:r>
            <a:r>
              <a:rPr lang="es-MX" dirty="0">
                <a:solidFill>
                  <a:schemeClr val="bg1"/>
                </a:solidFill>
              </a:rPr>
              <a:t>, ya que lo vas a necesitar para que el sistema pueda elegir una palabra al azar dentro de una lista de palabras que también vas a crear al comienzo. </a:t>
            </a:r>
          </a:p>
          <a:p>
            <a:pPr lvl="1"/>
            <a:r>
              <a:rPr lang="es-MX" dirty="0">
                <a:solidFill>
                  <a:schemeClr val="bg1"/>
                </a:solidFill>
              </a:rPr>
              <a:t>Luego de eso, vas a crear tantas funciones como creas necesarias para que el programa haga cosas como pedirle al usuario que elija una letra, para corroborar si lo que el usuario ha ingresado es una letra válida, para chequear si la letra ingresada se encuentra en la palabra o no, para verificar si ha ganado o no, etc. </a:t>
            </a:r>
          </a:p>
          <a:p>
            <a:pPr lvl="1"/>
            <a:r>
              <a:rPr lang="es-MX" dirty="0">
                <a:solidFill>
                  <a:schemeClr val="bg1"/>
                </a:solidFill>
              </a:rPr>
              <a:t>Recuerda escribir primero las funciones y luego el código que las implementa ordenadamente. </a:t>
            </a:r>
          </a:p>
        </p:txBody>
      </p:sp>
      <p:sp>
        <p:nvSpPr>
          <p:cNvPr id="4" name="Marcador de pie de página 3">
            <a:extLst>
              <a:ext uri="{FF2B5EF4-FFF2-40B4-BE49-F238E27FC236}">
                <a16:creationId xmlns:a16="http://schemas.microsoft.com/office/drawing/2014/main" id="{FC682605-B012-4C85-058F-D26F0F2F6874}"/>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477CBB1F-5F51-9DC8-6B57-5EC54BD8BEC3}"/>
              </a:ext>
            </a:extLst>
          </p:cNvPr>
          <p:cNvSpPr>
            <a:spLocks noGrp="1"/>
          </p:cNvSpPr>
          <p:nvPr>
            <p:ph type="sldNum" sz="quarter" idx="12"/>
          </p:nvPr>
        </p:nvSpPr>
        <p:spPr/>
        <p:txBody>
          <a:bodyPr/>
          <a:lstStyle/>
          <a:p>
            <a:fld id="{4EA4A3B0-B5DF-4E2B-B48F-E4B7B7872040}" type="slidenum">
              <a:rPr lang="es-MX" smtClean="0"/>
              <a:t>139</a:t>
            </a:fld>
            <a:endParaRPr lang="es-MX" dirty="0"/>
          </a:p>
        </p:txBody>
      </p:sp>
    </p:spTree>
    <p:extLst>
      <p:ext uri="{BB962C8B-B14F-4D97-AF65-F5344CB8AC3E}">
        <p14:creationId xmlns:p14="http://schemas.microsoft.com/office/powerpoint/2010/main" val="270692091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6C9D1EE-B6E6-4AB8-A1DB-EFACAF0EA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a:extLst>
              <a:ext uri="{FF2B5EF4-FFF2-40B4-BE49-F238E27FC236}">
                <a16:creationId xmlns:a16="http://schemas.microsoft.com/office/drawing/2014/main" id="{F4155C20-3F0E-4576-8A0B-C345B62312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9" name="Picture 8" descr="Mesa con manteles">
            <a:extLst>
              <a:ext uri="{FF2B5EF4-FFF2-40B4-BE49-F238E27FC236}">
                <a16:creationId xmlns:a16="http://schemas.microsoft.com/office/drawing/2014/main" id="{62143374-898D-E504-FBEC-691F9F21B653}"/>
              </a:ext>
            </a:extLst>
          </p:cNvPr>
          <p:cNvPicPr>
            <a:picLocks noChangeAspect="1"/>
          </p:cNvPicPr>
          <p:nvPr/>
        </p:nvPicPr>
        <p:blipFill rotWithShape="1">
          <a:blip r:embed="rId2">
            <a:duotone>
              <a:schemeClr val="accent1">
                <a:shade val="45000"/>
                <a:satMod val="135000"/>
              </a:schemeClr>
              <a:prstClr val="white"/>
            </a:duotone>
            <a:alphaModFix amt="35000"/>
          </a:blip>
          <a:srcRect t="13502" b="2229"/>
          <a:stretch/>
        </p:blipFill>
        <p:spPr>
          <a:xfrm>
            <a:off x="20" y="10"/>
            <a:ext cx="12191981" cy="6857989"/>
          </a:xfrm>
          <a:prstGeom prst="rect">
            <a:avLst/>
          </a:prstGeom>
        </p:spPr>
      </p:pic>
      <p:sp>
        <p:nvSpPr>
          <p:cNvPr id="6" name="Título 5">
            <a:extLst>
              <a:ext uri="{FF2B5EF4-FFF2-40B4-BE49-F238E27FC236}">
                <a16:creationId xmlns:a16="http://schemas.microsoft.com/office/drawing/2014/main" id="{B9E2CBAE-6F56-0394-FC4A-0B6EC68FB801}"/>
              </a:ext>
            </a:extLst>
          </p:cNvPr>
          <p:cNvSpPr>
            <a:spLocks noGrp="1"/>
          </p:cNvSpPr>
          <p:nvPr>
            <p:ph type="ctrTitle"/>
          </p:nvPr>
        </p:nvSpPr>
        <p:spPr>
          <a:xfrm>
            <a:off x="466730" y="1598246"/>
            <a:ext cx="4554659" cy="5034817"/>
          </a:xfrm>
        </p:spPr>
        <p:txBody>
          <a:bodyPr anchor="t">
            <a:normAutofit/>
          </a:bodyPr>
          <a:lstStyle/>
          <a:p>
            <a:pPr algn="l"/>
            <a:r>
              <a:rPr lang="es-MX" sz="6800">
                <a:solidFill>
                  <a:srgbClr val="FFFFFF"/>
                </a:solidFill>
              </a:rPr>
              <a:t>Termina Clase 20/01/2023</a:t>
            </a:r>
          </a:p>
        </p:txBody>
      </p:sp>
      <p:sp>
        <p:nvSpPr>
          <p:cNvPr id="7" name="Subtítulo 6">
            <a:extLst>
              <a:ext uri="{FF2B5EF4-FFF2-40B4-BE49-F238E27FC236}">
                <a16:creationId xmlns:a16="http://schemas.microsoft.com/office/drawing/2014/main" id="{A70C9888-E427-5D2A-E6AC-9B0E2F4CF9A5}"/>
              </a:ext>
            </a:extLst>
          </p:cNvPr>
          <p:cNvSpPr>
            <a:spLocks noGrp="1"/>
          </p:cNvSpPr>
          <p:nvPr>
            <p:ph type="subTitle" idx="1"/>
          </p:nvPr>
        </p:nvSpPr>
        <p:spPr>
          <a:xfrm>
            <a:off x="5792994" y="1590840"/>
            <a:ext cx="5010506" cy="5007531"/>
          </a:xfrm>
        </p:spPr>
        <p:txBody>
          <a:bodyPr>
            <a:normAutofit/>
          </a:bodyPr>
          <a:lstStyle/>
          <a:p>
            <a:pPr algn="l"/>
            <a:r>
              <a:rPr lang="es-MX" sz="4400">
                <a:solidFill>
                  <a:srgbClr val="FFFFFF"/>
                </a:solidFill>
              </a:rPr>
              <a:t>Siguiente Clase </a:t>
            </a:r>
          </a:p>
          <a:p>
            <a:pPr algn="l"/>
            <a:r>
              <a:rPr lang="es-MX" sz="4400">
                <a:solidFill>
                  <a:srgbClr val="FFFFFF"/>
                </a:solidFill>
              </a:rPr>
              <a:t>Manipulación de Archivos</a:t>
            </a:r>
          </a:p>
        </p:txBody>
      </p:sp>
      <p:sp>
        <p:nvSpPr>
          <p:cNvPr id="4" name="Marcador de pie de página 3">
            <a:extLst>
              <a:ext uri="{FF2B5EF4-FFF2-40B4-BE49-F238E27FC236}">
                <a16:creationId xmlns:a16="http://schemas.microsoft.com/office/drawing/2014/main" id="{0A337ACE-D00F-11EE-E1D2-BAB1D09C3C0F}"/>
              </a:ext>
            </a:extLst>
          </p:cNvPr>
          <p:cNvSpPr>
            <a:spLocks noGrp="1"/>
          </p:cNvSpPr>
          <p:nvPr>
            <p:ph type="ftr" sz="quarter" idx="11"/>
          </p:nvPr>
        </p:nvSpPr>
        <p:spPr>
          <a:xfrm>
            <a:off x="4038600" y="224937"/>
            <a:ext cx="4114800" cy="365125"/>
          </a:xfrm>
        </p:spPr>
        <p:txBody>
          <a:bodyPr>
            <a:normAutofit/>
          </a:bodyPr>
          <a:lstStyle/>
          <a:p>
            <a:pPr>
              <a:spcAft>
                <a:spcPts val="600"/>
              </a:spcAft>
            </a:pPr>
            <a:r>
              <a:rPr lang="es-MX">
                <a:solidFill>
                  <a:srgbClr val="FFFFFF"/>
                </a:solidFill>
              </a:rPr>
              <a:t>Arabots Robotics</a:t>
            </a:r>
          </a:p>
        </p:txBody>
      </p:sp>
      <p:sp>
        <p:nvSpPr>
          <p:cNvPr id="5" name="Marcador de número de diapositiva 4">
            <a:extLst>
              <a:ext uri="{FF2B5EF4-FFF2-40B4-BE49-F238E27FC236}">
                <a16:creationId xmlns:a16="http://schemas.microsoft.com/office/drawing/2014/main" id="{D76A9E5B-ED12-A6DE-5702-82F58531B990}"/>
              </a:ext>
            </a:extLst>
          </p:cNvPr>
          <p:cNvSpPr>
            <a:spLocks noGrp="1"/>
          </p:cNvSpPr>
          <p:nvPr>
            <p:ph type="sldNum" sz="quarter" idx="12"/>
          </p:nvPr>
        </p:nvSpPr>
        <p:spPr>
          <a:xfrm>
            <a:off x="8610600" y="224937"/>
            <a:ext cx="2743200" cy="365125"/>
          </a:xfrm>
        </p:spPr>
        <p:txBody>
          <a:bodyPr>
            <a:normAutofit/>
          </a:bodyPr>
          <a:lstStyle/>
          <a:p>
            <a:pPr>
              <a:spcAft>
                <a:spcPts val="600"/>
              </a:spcAft>
            </a:pPr>
            <a:fld id="{4EA4A3B0-B5DF-4E2B-B48F-E4B7B7872040}" type="slidenum">
              <a:rPr lang="es-MX">
                <a:solidFill>
                  <a:srgbClr val="FFFFFF"/>
                </a:solidFill>
              </a:rPr>
              <a:pPr>
                <a:spcAft>
                  <a:spcPts val="600"/>
                </a:spcAft>
              </a:pPr>
              <a:t>140</a:t>
            </a:fld>
            <a:endParaRPr lang="es-MX">
              <a:solidFill>
                <a:srgbClr val="FFFFFF"/>
              </a:solidFill>
            </a:endParaRPr>
          </a:p>
        </p:txBody>
      </p:sp>
      <p:cxnSp>
        <p:nvCxnSpPr>
          <p:cNvPr id="17" name="Straight Connector 16">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9" name="Graphic 21">
            <a:extLst>
              <a:ext uri="{FF2B5EF4-FFF2-40B4-BE49-F238E27FC236}">
                <a16:creationId xmlns:a16="http://schemas.microsoft.com/office/drawing/2014/main" id="{0BAEB82B-9A6B-4982-B56B-7529C6EA9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3128" y="1731109"/>
            <a:ext cx="139039" cy="136646"/>
          </a:xfrm>
          <a:custGeom>
            <a:avLst/>
            <a:gdLst>
              <a:gd name="connsiteX0" fmla="*/ 129602 w 139039"/>
              <a:gd name="connsiteY0" fmla="*/ 59048 h 136646"/>
              <a:gd name="connsiteX1" fmla="*/ 78957 w 139039"/>
              <a:gd name="connsiteY1" fmla="*/ 59048 h 136646"/>
              <a:gd name="connsiteX2" fmla="*/ 78957 w 139039"/>
              <a:gd name="connsiteY2" fmla="*/ 9275 h 136646"/>
              <a:gd name="connsiteX3" fmla="*/ 69520 w 139039"/>
              <a:gd name="connsiteY3" fmla="*/ 0 h 136646"/>
              <a:gd name="connsiteX4" fmla="*/ 60082 w 139039"/>
              <a:gd name="connsiteY4" fmla="*/ 9275 h 136646"/>
              <a:gd name="connsiteX5" fmla="*/ 60082 w 139039"/>
              <a:gd name="connsiteY5" fmla="*/ 59048 h 136646"/>
              <a:gd name="connsiteX6" fmla="*/ 9437 w 139039"/>
              <a:gd name="connsiteY6" fmla="*/ 59048 h 136646"/>
              <a:gd name="connsiteX7" fmla="*/ 0 w 139039"/>
              <a:gd name="connsiteY7" fmla="*/ 68323 h 136646"/>
              <a:gd name="connsiteX8" fmla="*/ 9437 w 139039"/>
              <a:gd name="connsiteY8" fmla="*/ 77598 h 136646"/>
              <a:gd name="connsiteX9" fmla="*/ 60082 w 139039"/>
              <a:gd name="connsiteY9" fmla="*/ 77598 h 136646"/>
              <a:gd name="connsiteX10" fmla="*/ 60082 w 139039"/>
              <a:gd name="connsiteY10" fmla="*/ 127371 h 136646"/>
              <a:gd name="connsiteX11" fmla="*/ 69520 w 139039"/>
              <a:gd name="connsiteY11" fmla="*/ 136646 h 136646"/>
              <a:gd name="connsiteX12" fmla="*/ 78957 w 139039"/>
              <a:gd name="connsiteY12" fmla="*/ 127371 h 136646"/>
              <a:gd name="connsiteX13" fmla="*/ 78957 w 139039"/>
              <a:gd name="connsiteY13" fmla="*/ 77598 h 136646"/>
              <a:gd name="connsiteX14" fmla="*/ 129602 w 139039"/>
              <a:gd name="connsiteY14" fmla="*/ 77598 h 136646"/>
              <a:gd name="connsiteX15" fmla="*/ 139039 w 139039"/>
              <a:gd name="connsiteY15" fmla="*/ 68323 h 136646"/>
              <a:gd name="connsiteX16" fmla="*/ 129602 w 139039"/>
              <a:gd name="connsiteY16" fmla="*/ 59048 h 13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6646">
                <a:moveTo>
                  <a:pt x="129602" y="59048"/>
                </a:moveTo>
                <a:lnTo>
                  <a:pt x="78957" y="59048"/>
                </a:lnTo>
                <a:lnTo>
                  <a:pt x="78957" y="9275"/>
                </a:lnTo>
                <a:cubicBezTo>
                  <a:pt x="78957" y="4152"/>
                  <a:pt x="74731" y="0"/>
                  <a:pt x="69520" y="0"/>
                </a:cubicBezTo>
                <a:cubicBezTo>
                  <a:pt x="64308" y="0"/>
                  <a:pt x="60082" y="4152"/>
                  <a:pt x="60082" y="9275"/>
                </a:cubicBezTo>
                <a:lnTo>
                  <a:pt x="60082" y="59048"/>
                </a:lnTo>
                <a:lnTo>
                  <a:pt x="9437" y="59048"/>
                </a:lnTo>
                <a:cubicBezTo>
                  <a:pt x="4225" y="59048"/>
                  <a:pt x="0" y="63201"/>
                  <a:pt x="0" y="68323"/>
                </a:cubicBezTo>
                <a:cubicBezTo>
                  <a:pt x="0" y="73445"/>
                  <a:pt x="4225" y="77598"/>
                  <a:pt x="9437" y="77598"/>
                </a:cubicBezTo>
                <a:lnTo>
                  <a:pt x="60082" y="77598"/>
                </a:lnTo>
                <a:lnTo>
                  <a:pt x="60082" y="127371"/>
                </a:lnTo>
                <a:cubicBezTo>
                  <a:pt x="60082" y="132493"/>
                  <a:pt x="64308" y="136646"/>
                  <a:pt x="69520" y="136646"/>
                </a:cubicBezTo>
                <a:cubicBezTo>
                  <a:pt x="74731" y="136646"/>
                  <a:pt x="78957" y="132493"/>
                  <a:pt x="78957" y="127371"/>
                </a:cubicBezTo>
                <a:lnTo>
                  <a:pt x="78957" y="77598"/>
                </a:lnTo>
                <a:lnTo>
                  <a:pt x="129602" y="77598"/>
                </a:lnTo>
                <a:cubicBezTo>
                  <a:pt x="134814" y="77598"/>
                  <a:pt x="139039" y="73445"/>
                  <a:pt x="139039" y="68323"/>
                </a:cubicBezTo>
                <a:cubicBezTo>
                  <a:pt x="139039" y="63201"/>
                  <a:pt x="134814" y="59048"/>
                  <a:pt x="129602" y="59048"/>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Graphic 17">
            <a:extLst>
              <a:ext uri="{FF2B5EF4-FFF2-40B4-BE49-F238E27FC236}">
                <a16:creationId xmlns:a16="http://schemas.microsoft.com/office/drawing/2014/main" id="{FC71CE45-EECF-4555-AD4B-1B3D0D5D15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1908" y="1956458"/>
            <a:ext cx="91138" cy="89570"/>
          </a:xfrm>
          <a:custGeom>
            <a:avLst/>
            <a:gdLst>
              <a:gd name="connsiteX0" fmla="*/ 91138 w 91138"/>
              <a:gd name="connsiteY0" fmla="*/ 44785 h 89570"/>
              <a:gd name="connsiteX1" fmla="*/ 45569 w 91138"/>
              <a:gd name="connsiteY1" fmla="*/ 89570 h 89570"/>
              <a:gd name="connsiteX2" fmla="*/ 0 w 91138"/>
              <a:gd name="connsiteY2" fmla="*/ 44785 h 89570"/>
              <a:gd name="connsiteX3" fmla="*/ 45569 w 91138"/>
              <a:gd name="connsiteY3" fmla="*/ 0 h 89570"/>
              <a:gd name="connsiteX4" fmla="*/ 91138 w 91138"/>
              <a:gd name="connsiteY4" fmla="*/ 44785 h 89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89570">
                <a:moveTo>
                  <a:pt x="91138" y="44785"/>
                </a:moveTo>
                <a:cubicBezTo>
                  <a:pt x="91138" y="69519"/>
                  <a:pt x="70736" y="89570"/>
                  <a:pt x="45569" y="89570"/>
                </a:cubicBezTo>
                <a:cubicBezTo>
                  <a:pt x="20402" y="89570"/>
                  <a:pt x="0" y="69519"/>
                  <a:pt x="0" y="44785"/>
                </a:cubicBezTo>
                <a:cubicBezTo>
                  <a:pt x="0" y="20051"/>
                  <a:pt x="20402" y="0"/>
                  <a:pt x="45569" y="0"/>
                </a:cubicBezTo>
                <a:cubicBezTo>
                  <a:pt x="70736" y="0"/>
                  <a:pt x="91138" y="20051"/>
                  <a:pt x="91138" y="44785"/>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3" name="Graphic 22">
            <a:extLst>
              <a:ext uri="{FF2B5EF4-FFF2-40B4-BE49-F238E27FC236}">
                <a16:creationId xmlns:a16="http://schemas.microsoft.com/office/drawing/2014/main" id="{53AA89D1-0C70-46BB-8E35-5722A4B18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7588" y="2177021"/>
            <a:ext cx="127714" cy="125516"/>
          </a:xfrm>
          <a:custGeom>
            <a:avLst/>
            <a:gdLst>
              <a:gd name="connsiteX0" fmla="*/ 63857 w 127714"/>
              <a:gd name="connsiteY0" fmla="*/ 18549 h 125516"/>
              <a:gd name="connsiteX1" fmla="*/ 108840 w 127714"/>
              <a:gd name="connsiteY1" fmla="*/ 62758 h 125516"/>
              <a:gd name="connsiteX2" fmla="*/ 63857 w 127714"/>
              <a:gd name="connsiteY2" fmla="*/ 106967 h 125516"/>
              <a:gd name="connsiteX3" fmla="*/ 18874 w 127714"/>
              <a:gd name="connsiteY3" fmla="*/ 62758 h 125516"/>
              <a:gd name="connsiteX4" fmla="*/ 63857 w 127714"/>
              <a:gd name="connsiteY4" fmla="*/ 18549 h 125516"/>
              <a:gd name="connsiteX5" fmla="*/ 63857 w 127714"/>
              <a:gd name="connsiteY5" fmla="*/ 0 h 125516"/>
              <a:gd name="connsiteX6" fmla="*/ 0 w 127714"/>
              <a:gd name="connsiteY6" fmla="*/ 62758 h 125516"/>
              <a:gd name="connsiteX7" fmla="*/ 63857 w 127714"/>
              <a:gd name="connsiteY7" fmla="*/ 125516 h 125516"/>
              <a:gd name="connsiteX8" fmla="*/ 127714 w 127714"/>
              <a:gd name="connsiteY8" fmla="*/ 62758 h 125516"/>
              <a:gd name="connsiteX9" fmla="*/ 63857 w 127714"/>
              <a:gd name="connsiteY9" fmla="*/ 0 h 12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5516">
                <a:moveTo>
                  <a:pt x="63857" y="18549"/>
                </a:moveTo>
                <a:cubicBezTo>
                  <a:pt x="88700" y="18549"/>
                  <a:pt x="108840" y="38342"/>
                  <a:pt x="108840" y="62758"/>
                </a:cubicBezTo>
                <a:cubicBezTo>
                  <a:pt x="108840" y="87174"/>
                  <a:pt x="88700" y="106967"/>
                  <a:pt x="63857" y="106967"/>
                </a:cubicBezTo>
                <a:cubicBezTo>
                  <a:pt x="39014" y="106967"/>
                  <a:pt x="18874" y="87174"/>
                  <a:pt x="18874" y="62758"/>
                </a:cubicBezTo>
                <a:cubicBezTo>
                  <a:pt x="18898" y="38352"/>
                  <a:pt x="39024" y="18573"/>
                  <a:pt x="63857" y="18549"/>
                </a:cubicBezTo>
                <a:moveTo>
                  <a:pt x="63857" y="0"/>
                </a:moveTo>
                <a:cubicBezTo>
                  <a:pt x="28590" y="0"/>
                  <a:pt x="0" y="28098"/>
                  <a:pt x="0" y="62758"/>
                </a:cubicBezTo>
                <a:cubicBezTo>
                  <a:pt x="0" y="97418"/>
                  <a:pt x="28590" y="125516"/>
                  <a:pt x="63857" y="125516"/>
                </a:cubicBezTo>
                <a:cubicBezTo>
                  <a:pt x="99124" y="125516"/>
                  <a:pt x="127714" y="97418"/>
                  <a:pt x="127714" y="62758"/>
                </a:cubicBezTo>
                <a:cubicBezTo>
                  <a:pt x="127714" y="28098"/>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728165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4155C20-3F0E-4576-8A0B-C345B62312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ítulo 1">
            <a:extLst>
              <a:ext uri="{FF2B5EF4-FFF2-40B4-BE49-F238E27FC236}">
                <a16:creationId xmlns:a16="http://schemas.microsoft.com/office/drawing/2014/main" id="{78F22437-F4FD-C44E-7289-41C51D1247D6}"/>
              </a:ext>
            </a:extLst>
          </p:cNvPr>
          <p:cNvSpPr>
            <a:spLocks noGrp="1"/>
          </p:cNvSpPr>
          <p:nvPr>
            <p:ph type="title"/>
          </p:nvPr>
        </p:nvSpPr>
        <p:spPr>
          <a:xfrm>
            <a:off x="466730" y="1598246"/>
            <a:ext cx="4554659" cy="5034817"/>
          </a:xfrm>
        </p:spPr>
        <p:txBody>
          <a:bodyPr vert="horz" lIns="91440" tIns="45720" rIns="91440" bIns="45720" rtlCol="0" anchor="t">
            <a:normAutofit/>
          </a:bodyPr>
          <a:lstStyle/>
          <a:p>
            <a:r>
              <a:rPr lang="en-US" sz="8000" kern="1200" dirty="0" err="1">
                <a:solidFill>
                  <a:srgbClr val="FFFFFF"/>
                </a:solidFill>
                <a:latin typeface="+mj-lt"/>
                <a:ea typeface="+mj-ea"/>
                <a:cs typeface="+mj-cs"/>
              </a:rPr>
              <a:t>Clase</a:t>
            </a:r>
            <a:r>
              <a:rPr lang="en-US" sz="8000" kern="1200" dirty="0">
                <a:solidFill>
                  <a:srgbClr val="FFFFFF"/>
                </a:solidFill>
                <a:latin typeface="+mj-lt"/>
                <a:ea typeface="+mj-ea"/>
                <a:cs typeface="+mj-cs"/>
              </a:rPr>
              <a:t> 6</a:t>
            </a:r>
            <a:br>
              <a:rPr lang="en-US" sz="8000" kern="1200" dirty="0">
                <a:solidFill>
                  <a:srgbClr val="FFFFFF"/>
                </a:solidFill>
                <a:latin typeface="+mj-lt"/>
                <a:ea typeface="+mj-ea"/>
                <a:cs typeface="+mj-cs"/>
              </a:rPr>
            </a:br>
            <a:endParaRPr lang="en-US" sz="8000" kern="1200" dirty="0">
              <a:solidFill>
                <a:srgbClr val="FFFFFF"/>
              </a:solidFill>
              <a:latin typeface="+mj-lt"/>
              <a:ea typeface="+mj-ea"/>
              <a:cs typeface="+mj-cs"/>
            </a:endParaRPr>
          </a:p>
        </p:txBody>
      </p:sp>
      <p:sp>
        <p:nvSpPr>
          <p:cNvPr id="4" name="Marcador de pie de página 3">
            <a:extLst>
              <a:ext uri="{FF2B5EF4-FFF2-40B4-BE49-F238E27FC236}">
                <a16:creationId xmlns:a16="http://schemas.microsoft.com/office/drawing/2014/main" id="{C289F175-F0E0-CB44-0DAB-0C0556852591}"/>
              </a:ext>
            </a:extLst>
          </p:cNvPr>
          <p:cNvSpPr>
            <a:spLocks noGrp="1"/>
          </p:cNvSpPr>
          <p:nvPr>
            <p:ph type="ftr" sz="quarter" idx="11"/>
          </p:nvPr>
        </p:nvSpPr>
        <p:spPr>
          <a:xfrm>
            <a:off x="4038600" y="224937"/>
            <a:ext cx="4114800" cy="365125"/>
          </a:xfrm>
        </p:spPr>
        <p:txBody>
          <a:bodyPr vert="horz" lIns="91440" tIns="45720" rIns="91440" bIns="45720" rtlCol="0" anchor="ctr">
            <a:normAutofit/>
          </a:bodyPr>
          <a:lstStyle/>
          <a:p>
            <a:pPr>
              <a:spcAft>
                <a:spcPts val="600"/>
              </a:spcAft>
            </a:pPr>
            <a:r>
              <a:rPr lang="en-US" kern="1200">
                <a:solidFill>
                  <a:srgbClr val="FFFFFF"/>
                </a:solidFill>
                <a:latin typeface="+mn-lt"/>
                <a:ea typeface="+mn-ea"/>
                <a:cs typeface="+mn-cs"/>
              </a:rPr>
              <a:t>Arabots Robotics</a:t>
            </a:r>
          </a:p>
        </p:txBody>
      </p:sp>
      <p:sp>
        <p:nvSpPr>
          <p:cNvPr id="5" name="Marcador de número de diapositiva 4">
            <a:extLst>
              <a:ext uri="{FF2B5EF4-FFF2-40B4-BE49-F238E27FC236}">
                <a16:creationId xmlns:a16="http://schemas.microsoft.com/office/drawing/2014/main" id="{AAB954E2-190B-0D95-AF75-3C20314876D9}"/>
              </a:ext>
            </a:extLst>
          </p:cNvPr>
          <p:cNvSpPr>
            <a:spLocks noGrp="1"/>
          </p:cNvSpPr>
          <p:nvPr>
            <p:ph type="sldNum" sz="quarter" idx="12"/>
          </p:nvPr>
        </p:nvSpPr>
        <p:spPr>
          <a:xfrm>
            <a:off x="8610600" y="224937"/>
            <a:ext cx="2743200" cy="365125"/>
          </a:xfrm>
        </p:spPr>
        <p:txBody>
          <a:bodyPr vert="horz" lIns="91440" tIns="45720" rIns="91440" bIns="45720" rtlCol="0" anchor="ctr">
            <a:normAutofit/>
          </a:bodyPr>
          <a:lstStyle/>
          <a:p>
            <a:pPr>
              <a:spcAft>
                <a:spcPts val="600"/>
              </a:spcAft>
            </a:pPr>
            <a:fld id="{4EA4A3B0-B5DF-4E2B-B48F-E4B7B7872040}" type="slidenum">
              <a:rPr lang="en-US">
                <a:solidFill>
                  <a:srgbClr val="FFFFFF"/>
                </a:solidFill>
              </a:rPr>
              <a:pPr>
                <a:spcAft>
                  <a:spcPts val="600"/>
                </a:spcAft>
              </a:pPr>
              <a:t>141</a:t>
            </a:fld>
            <a:endParaRPr lang="en-US">
              <a:solidFill>
                <a:srgbClr val="FFFFFF"/>
              </a:solidFill>
            </a:endParaRPr>
          </a:p>
        </p:txBody>
      </p:sp>
      <p:cxnSp>
        <p:nvCxnSpPr>
          <p:cNvPr id="12" name="Straight Connector 11">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4" name="Graphic 21">
            <a:extLst>
              <a:ext uri="{FF2B5EF4-FFF2-40B4-BE49-F238E27FC236}">
                <a16:creationId xmlns:a16="http://schemas.microsoft.com/office/drawing/2014/main" id="{0BAEB82B-9A6B-4982-B56B-7529C6EA9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3128" y="1731109"/>
            <a:ext cx="139039" cy="136646"/>
          </a:xfrm>
          <a:custGeom>
            <a:avLst/>
            <a:gdLst>
              <a:gd name="connsiteX0" fmla="*/ 129602 w 139039"/>
              <a:gd name="connsiteY0" fmla="*/ 59048 h 136646"/>
              <a:gd name="connsiteX1" fmla="*/ 78957 w 139039"/>
              <a:gd name="connsiteY1" fmla="*/ 59048 h 136646"/>
              <a:gd name="connsiteX2" fmla="*/ 78957 w 139039"/>
              <a:gd name="connsiteY2" fmla="*/ 9275 h 136646"/>
              <a:gd name="connsiteX3" fmla="*/ 69520 w 139039"/>
              <a:gd name="connsiteY3" fmla="*/ 0 h 136646"/>
              <a:gd name="connsiteX4" fmla="*/ 60082 w 139039"/>
              <a:gd name="connsiteY4" fmla="*/ 9275 h 136646"/>
              <a:gd name="connsiteX5" fmla="*/ 60082 w 139039"/>
              <a:gd name="connsiteY5" fmla="*/ 59048 h 136646"/>
              <a:gd name="connsiteX6" fmla="*/ 9437 w 139039"/>
              <a:gd name="connsiteY6" fmla="*/ 59048 h 136646"/>
              <a:gd name="connsiteX7" fmla="*/ 0 w 139039"/>
              <a:gd name="connsiteY7" fmla="*/ 68323 h 136646"/>
              <a:gd name="connsiteX8" fmla="*/ 9437 w 139039"/>
              <a:gd name="connsiteY8" fmla="*/ 77598 h 136646"/>
              <a:gd name="connsiteX9" fmla="*/ 60082 w 139039"/>
              <a:gd name="connsiteY9" fmla="*/ 77598 h 136646"/>
              <a:gd name="connsiteX10" fmla="*/ 60082 w 139039"/>
              <a:gd name="connsiteY10" fmla="*/ 127371 h 136646"/>
              <a:gd name="connsiteX11" fmla="*/ 69520 w 139039"/>
              <a:gd name="connsiteY11" fmla="*/ 136646 h 136646"/>
              <a:gd name="connsiteX12" fmla="*/ 78957 w 139039"/>
              <a:gd name="connsiteY12" fmla="*/ 127371 h 136646"/>
              <a:gd name="connsiteX13" fmla="*/ 78957 w 139039"/>
              <a:gd name="connsiteY13" fmla="*/ 77598 h 136646"/>
              <a:gd name="connsiteX14" fmla="*/ 129602 w 139039"/>
              <a:gd name="connsiteY14" fmla="*/ 77598 h 136646"/>
              <a:gd name="connsiteX15" fmla="*/ 139039 w 139039"/>
              <a:gd name="connsiteY15" fmla="*/ 68323 h 136646"/>
              <a:gd name="connsiteX16" fmla="*/ 129602 w 139039"/>
              <a:gd name="connsiteY16" fmla="*/ 59048 h 13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6646">
                <a:moveTo>
                  <a:pt x="129602" y="59048"/>
                </a:moveTo>
                <a:lnTo>
                  <a:pt x="78957" y="59048"/>
                </a:lnTo>
                <a:lnTo>
                  <a:pt x="78957" y="9275"/>
                </a:lnTo>
                <a:cubicBezTo>
                  <a:pt x="78957" y="4152"/>
                  <a:pt x="74731" y="0"/>
                  <a:pt x="69520" y="0"/>
                </a:cubicBezTo>
                <a:cubicBezTo>
                  <a:pt x="64308" y="0"/>
                  <a:pt x="60082" y="4152"/>
                  <a:pt x="60082" y="9275"/>
                </a:cubicBezTo>
                <a:lnTo>
                  <a:pt x="60082" y="59048"/>
                </a:lnTo>
                <a:lnTo>
                  <a:pt x="9437" y="59048"/>
                </a:lnTo>
                <a:cubicBezTo>
                  <a:pt x="4225" y="59048"/>
                  <a:pt x="0" y="63201"/>
                  <a:pt x="0" y="68323"/>
                </a:cubicBezTo>
                <a:cubicBezTo>
                  <a:pt x="0" y="73445"/>
                  <a:pt x="4225" y="77598"/>
                  <a:pt x="9437" y="77598"/>
                </a:cubicBezTo>
                <a:lnTo>
                  <a:pt x="60082" y="77598"/>
                </a:lnTo>
                <a:lnTo>
                  <a:pt x="60082" y="127371"/>
                </a:lnTo>
                <a:cubicBezTo>
                  <a:pt x="60082" y="132493"/>
                  <a:pt x="64308" y="136646"/>
                  <a:pt x="69520" y="136646"/>
                </a:cubicBezTo>
                <a:cubicBezTo>
                  <a:pt x="74731" y="136646"/>
                  <a:pt x="78957" y="132493"/>
                  <a:pt x="78957" y="127371"/>
                </a:cubicBezTo>
                <a:lnTo>
                  <a:pt x="78957" y="77598"/>
                </a:lnTo>
                <a:lnTo>
                  <a:pt x="129602" y="77598"/>
                </a:lnTo>
                <a:cubicBezTo>
                  <a:pt x="134814" y="77598"/>
                  <a:pt x="139039" y="73445"/>
                  <a:pt x="139039" y="68323"/>
                </a:cubicBezTo>
                <a:cubicBezTo>
                  <a:pt x="139039" y="63201"/>
                  <a:pt x="134814" y="59048"/>
                  <a:pt x="129602" y="59048"/>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6" name="Graphic 17">
            <a:extLst>
              <a:ext uri="{FF2B5EF4-FFF2-40B4-BE49-F238E27FC236}">
                <a16:creationId xmlns:a16="http://schemas.microsoft.com/office/drawing/2014/main" id="{FC71CE45-EECF-4555-AD4B-1B3D0D5D15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1908" y="1956458"/>
            <a:ext cx="91138" cy="89570"/>
          </a:xfrm>
          <a:custGeom>
            <a:avLst/>
            <a:gdLst>
              <a:gd name="connsiteX0" fmla="*/ 91138 w 91138"/>
              <a:gd name="connsiteY0" fmla="*/ 44785 h 89570"/>
              <a:gd name="connsiteX1" fmla="*/ 45569 w 91138"/>
              <a:gd name="connsiteY1" fmla="*/ 89570 h 89570"/>
              <a:gd name="connsiteX2" fmla="*/ 0 w 91138"/>
              <a:gd name="connsiteY2" fmla="*/ 44785 h 89570"/>
              <a:gd name="connsiteX3" fmla="*/ 45569 w 91138"/>
              <a:gd name="connsiteY3" fmla="*/ 0 h 89570"/>
              <a:gd name="connsiteX4" fmla="*/ 91138 w 91138"/>
              <a:gd name="connsiteY4" fmla="*/ 44785 h 89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89570">
                <a:moveTo>
                  <a:pt x="91138" y="44785"/>
                </a:moveTo>
                <a:cubicBezTo>
                  <a:pt x="91138" y="69519"/>
                  <a:pt x="70736" y="89570"/>
                  <a:pt x="45569" y="89570"/>
                </a:cubicBezTo>
                <a:cubicBezTo>
                  <a:pt x="20402" y="89570"/>
                  <a:pt x="0" y="69519"/>
                  <a:pt x="0" y="44785"/>
                </a:cubicBezTo>
                <a:cubicBezTo>
                  <a:pt x="0" y="20051"/>
                  <a:pt x="20402" y="0"/>
                  <a:pt x="45569" y="0"/>
                </a:cubicBezTo>
                <a:cubicBezTo>
                  <a:pt x="70736" y="0"/>
                  <a:pt x="91138" y="20051"/>
                  <a:pt x="91138" y="44785"/>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8" name="Graphic 22">
            <a:extLst>
              <a:ext uri="{FF2B5EF4-FFF2-40B4-BE49-F238E27FC236}">
                <a16:creationId xmlns:a16="http://schemas.microsoft.com/office/drawing/2014/main" id="{53AA89D1-0C70-46BB-8E35-5722A4B18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7588" y="2177021"/>
            <a:ext cx="127714" cy="125516"/>
          </a:xfrm>
          <a:custGeom>
            <a:avLst/>
            <a:gdLst>
              <a:gd name="connsiteX0" fmla="*/ 63857 w 127714"/>
              <a:gd name="connsiteY0" fmla="*/ 18549 h 125516"/>
              <a:gd name="connsiteX1" fmla="*/ 108840 w 127714"/>
              <a:gd name="connsiteY1" fmla="*/ 62758 h 125516"/>
              <a:gd name="connsiteX2" fmla="*/ 63857 w 127714"/>
              <a:gd name="connsiteY2" fmla="*/ 106967 h 125516"/>
              <a:gd name="connsiteX3" fmla="*/ 18874 w 127714"/>
              <a:gd name="connsiteY3" fmla="*/ 62758 h 125516"/>
              <a:gd name="connsiteX4" fmla="*/ 63857 w 127714"/>
              <a:gd name="connsiteY4" fmla="*/ 18549 h 125516"/>
              <a:gd name="connsiteX5" fmla="*/ 63857 w 127714"/>
              <a:gd name="connsiteY5" fmla="*/ 0 h 125516"/>
              <a:gd name="connsiteX6" fmla="*/ 0 w 127714"/>
              <a:gd name="connsiteY6" fmla="*/ 62758 h 125516"/>
              <a:gd name="connsiteX7" fmla="*/ 63857 w 127714"/>
              <a:gd name="connsiteY7" fmla="*/ 125516 h 125516"/>
              <a:gd name="connsiteX8" fmla="*/ 127714 w 127714"/>
              <a:gd name="connsiteY8" fmla="*/ 62758 h 125516"/>
              <a:gd name="connsiteX9" fmla="*/ 63857 w 127714"/>
              <a:gd name="connsiteY9" fmla="*/ 0 h 12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5516">
                <a:moveTo>
                  <a:pt x="63857" y="18549"/>
                </a:moveTo>
                <a:cubicBezTo>
                  <a:pt x="88700" y="18549"/>
                  <a:pt x="108840" y="38342"/>
                  <a:pt x="108840" y="62758"/>
                </a:cubicBezTo>
                <a:cubicBezTo>
                  <a:pt x="108840" y="87174"/>
                  <a:pt x="88700" y="106967"/>
                  <a:pt x="63857" y="106967"/>
                </a:cubicBezTo>
                <a:cubicBezTo>
                  <a:pt x="39014" y="106967"/>
                  <a:pt x="18874" y="87174"/>
                  <a:pt x="18874" y="62758"/>
                </a:cubicBezTo>
                <a:cubicBezTo>
                  <a:pt x="18898" y="38352"/>
                  <a:pt x="39024" y="18573"/>
                  <a:pt x="63857" y="18549"/>
                </a:cubicBezTo>
                <a:moveTo>
                  <a:pt x="63857" y="0"/>
                </a:moveTo>
                <a:cubicBezTo>
                  <a:pt x="28590" y="0"/>
                  <a:pt x="0" y="28098"/>
                  <a:pt x="0" y="62758"/>
                </a:cubicBezTo>
                <a:cubicBezTo>
                  <a:pt x="0" y="97418"/>
                  <a:pt x="28590" y="125516"/>
                  <a:pt x="63857" y="125516"/>
                </a:cubicBezTo>
                <a:cubicBezTo>
                  <a:pt x="99124" y="125516"/>
                  <a:pt x="127714" y="97418"/>
                  <a:pt x="127714" y="62758"/>
                </a:cubicBezTo>
                <a:cubicBezTo>
                  <a:pt x="127714" y="28098"/>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362774200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C3F7764-D200-FE9F-AB48-863976BCF132}"/>
              </a:ext>
            </a:extLst>
          </p:cNvPr>
          <p:cNvSpPr>
            <a:spLocks noGrp="1"/>
          </p:cNvSpPr>
          <p:nvPr>
            <p:ph type="title"/>
          </p:nvPr>
        </p:nvSpPr>
        <p:spPr>
          <a:xfrm>
            <a:off x="686834" y="1153572"/>
            <a:ext cx="3200400" cy="4461163"/>
          </a:xfrm>
        </p:spPr>
        <p:txBody>
          <a:bodyPr>
            <a:normAutofit/>
          </a:bodyPr>
          <a:lstStyle/>
          <a:p>
            <a:r>
              <a:rPr lang="es-MX">
                <a:solidFill>
                  <a:srgbClr val="FFFFFF"/>
                </a:solidFill>
              </a:rPr>
              <a:t>abrir y leer archivos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BC8FC2DD-222B-23C3-987E-9827555D2680}"/>
              </a:ext>
            </a:extLst>
          </p:cNvPr>
          <p:cNvSpPr>
            <a:spLocks noGrp="1"/>
          </p:cNvSpPr>
          <p:nvPr>
            <p:ph idx="1"/>
          </p:nvPr>
        </p:nvSpPr>
        <p:spPr>
          <a:xfrm>
            <a:off x="4447308" y="591344"/>
            <a:ext cx="6906491" cy="5585619"/>
          </a:xfrm>
        </p:spPr>
        <p:txBody>
          <a:bodyPr anchor="ctr">
            <a:normAutofit/>
          </a:bodyPr>
          <a:lstStyle/>
          <a:p>
            <a:pPr marL="0" indent="0">
              <a:buNone/>
            </a:pPr>
            <a:r>
              <a:rPr lang="es-MX" sz="1800"/>
              <a:t>La manipulación de archivos desde Python se engloba bajo las funciones de E/S (entrada/salida) o I/O (en inglés: input/output). Comenzaremos explorando las funciones utilizadas para abrir, leer y cerrar archivos: </a:t>
            </a:r>
          </a:p>
          <a:p>
            <a:pPr marL="0" indent="0">
              <a:buNone/>
            </a:pPr>
            <a:r>
              <a:rPr lang="es-MX" sz="1800"/>
              <a:t>open(archivo, modo): abre un archivo, y devuelve un objeto de tipo archivo sobre el que pueden aplicarse métodos</a:t>
            </a:r>
          </a:p>
          <a:p>
            <a:pPr marL="0" indent="0">
              <a:buNone/>
            </a:pPr>
            <a:r>
              <a:rPr lang="es-MX" sz="1800" err="1"/>
              <a:t>read</a:t>
            </a:r>
            <a:r>
              <a:rPr lang="es-MX" sz="1800"/>
              <a:t>(bytes): devuelve un número especificado de bytes del archivo. De manera predeterminada (sin indicar un valor en el argumento bytes), devolverá el archivo completo (equivalente a escribir -1). </a:t>
            </a:r>
          </a:p>
          <a:p>
            <a:pPr marL="0" indent="0">
              <a:buNone/>
            </a:pPr>
            <a:r>
              <a:rPr lang="es-MX" sz="1800" err="1"/>
              <a:t>readline</a:t>
            </a:r>
            <a:r>
              <a:rPr lang="es-MX" sz="1800"/>
              <a:t>(bytes): devuelve una línea del archivo, limitada por el número indicado en el parámetro tamaño (en bytes).</a:t>
            </a:r>
          </a:p>
          <a:p>
            <a:pPr marL="0" indent="0">
              <a:buNone/>
            </a:pPr>
            <a:r>
              <a:rPr lang="es-MX" sz="1800" err="1"/>
              <a:t>readlines</a:t>
            </a:r>
            <a:r>
              <a:rPr lang="es-MX" sz="1800"/>
              <a:t>(bytes): devuelve una lista que contiene cada una de las líneas del archivo como </a:t>
            </a:r>
            <a:r>
              <a:rPr lang="es-MX" sz="1800" err="1"/>
              <a:t>item</a:t>
            </a:r>
            <a:r>
              <a:rPr lang="es-MX" sz="1800"/>
              <a:t> de dicha lista. Si el tamaño excede lo indicado en el parámetro bytes, no se devolverán líneas adicionales.</a:t>
            </a:r>
          </a:p>
          <a:p>
            <a:pPr marL="0" indent="0">
              <a:buNone/>
            </a:pPr>
            <a:r>
              <a:rPr lang="es-MX" sz="1800" err="1"/>
              <a:t>close</a:t>
            </a:r>
            <a:r>
              <a:rPr lang="es-MX" sz="1800"/>
              <a:t>( ): cierra el archivo abierto, tal que no puede ser leído o escrito luego de cerrado. Es una buena práctica utilizar este método si ya no será necesario realizar acciones sobre un archivo.</a:t>
            </a:r>
          </a:p>
        </p:txBody>
      </p:sp>
      <p:sp>
        <p:nvSpPr>
          <p:cNvPr id="4" name="Marcador de pie de página 3">
            <a:extLst>
              <a:ext uri="{FF2B5EF4-FFF2-40B4-BE49-F238E27FC236}">
                <a16:creationId xmlns:a16="http://schemas.microsoft.com/office/drawing/2014/main" id="{27DBBE71-5723-1B56-9E46-D5D59EF8F635}"/>
              </a:ext>
            </a:extLst>
          </p:cNvPr>
          <p:cNvSpPr>
            <a:spLocks noGrp="1"/>
          </p:cNvSpPr>
          <p:nvPr>
            <p:ph type="ftr" sz="quarter" idx="11"/>
          </p:nvPr>
        </p:nvSpPr>
        <p:spPr>
          <a:xfrm>
            <a:off x="4038600" y="6356350"/>
            <a:ext cx="5251174" cy="365125"/>
          </a:xfrm>
        </p:spPr>
        <p:txBody>
          <a:bodyPr>
            <a:normAutofit/>
          </a:bodyPr>
          <a:lstStyle/>
          <a:p>
            <a:pPr>
              <a:spcAft>
                <a:spcPts val="600"/>
              </a:spcAft>
            </a:pPr>
            <a:r>
              <a:rPr lang="es-MX"/>
              <a:t>Arabots Robotics</a:t>
            </a:r>
          </a:p>
        </p:txBody>
      </p:sp>
      <p:sp>
        <p:nvSpPr>
          <p:cNvPr id="5" name="Marcador de número de diapositiva 4">
            <a:extLst>
              <a:ext uri="{FF2B5EF4-FFF2-40B4-BE49-F238E27FC236}">
                <a16:creationId xmlns:a16="http://schemas.microsoft.com/office/drawing/2014/main" id="{3FE83626-E73D-18F2-E0AD-B2C70A0D6F4B}"/>
              </a:ext>
            </a:extLst>
          </p:cNvPr>
          <p:cNvSpPr>
            <a:spLocks noGrp="1"/>
          </p:cNvSpPr>
          <p:nvPr>
            <p:ph type="sldNum" sz="quarter" idx="12"/>
          </p:nvPr>
        </p:nvSpPr>
        <p:spPr>
          <a:xfrm>
            <a:off x="9541564" y="6356350"/>
            <a:ext cx="1812235" cy="365125"/>
          </a:xfrm>
        </p:spPr>
        <p:txBody>
          <a:bodyPr>
            <a:normAutofit/>
          </a:bodyPr>
          <a:lstStyle/>
          <a:p>
            <a:pPr>
              <a:spcAft>
                <a:spcPts val="600"/>
              </a:spcAft>
            </a:pPr>
            <a:fld id="{4EA4A3B0-B5DF-4E2B-B48F-E4B7B7872040}" type="slidenum">
              <a:rPr lang="es-MX" smtClean="0"/>
              <a:pPr>
                <a:spcAft>
                  <a:spcPts val="600"/>
                </a:spcAft>
              </a:pPr>
              <a:t>142</a:t>
            </a:fld>
            <a:endParaRPr lang="es-MX"/>
          </a:p>
        </p:txBody>
      </p:sp>
    </p:spTree>
    <p:extLst>
      <p:ext uri="{BB962C8B-B14F-4D97-AF65-F5344CB8AC3E}">
        <p14:creationId xmlns:p14="http://schemas.microsoft.com/office/powerpoint/2010/main" val="239160726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9E90AD4-E3ED-6141-1542-6C6AC1351C76}"/>
              </a:ext>
            </a:extLst>
          </p:cNvPr>
          <p:cNvSpPr>
            <a:spLocks noGrp="1"/>
          </p:cNvSpPr>
          <p:nvPr>
            <p:ph type="title"/>
          </p:nvPr>
        </p:nvSpPr>
        <p:spPr>
          <a:xfrm>
            <a:off x="686834" y="1153572"/>
            <a:ext cx="3200400" cy="4461163"/>
          </a:xfrm>
        </p:spPr>
        <p:txBody>
          <a:bodyPr>
            <a:normAutofit/>
          </a:bodyPr>
          <a:lstStyle/>
          <a:p>
            <a:r>
              <a:rPr lang="es-MX">
                <a:solidFill>
                  <a:srgbClr val="FFFFFF"/>
                </a:solidFill>
              </a:rPr>
              <a:t>Ejercicios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F7B3919B-47BC-B276-C1C4-D6EB52551CE7}"/>
              </a:ext>
            </a:extLst>
          </p:cNvPr>
          <p:cNvSpPr>
            <a:spLocks noGrp="1"/>
          </p:cNvSpPr>
          <p:nvPr>
            <p:ph idx="1"/>
          </p:nvPr>
        </p:nvSpPr>
        <p:spPr>
          <a:xfrm>
            <a:off x="4447308" y="591344"/>
            <a:ext cx="6906491" cy="5585619"/>
          </a:xfrm>
        </p:spPr>
        <p:txBody>
          <a:bodyPr anchor="ctr">
            <a:normAutofit/>
          </a:bodyPr>
          <a:lstStyle/>
          <a:p>
            <a:pPr marL="0" indent="0">
              <a:buNone/>
            </a:pPr>
            <a:r>
              <a:rPr lang="es-MX" b="0" i="0">
                <a:effectLst/>
                <a:latin typeface="udemy sans"/>
              </a:rPr>
              <a:t>Abre el archivo </a:t>
            </a:r>
            <a:r>
              <a:rPr lang="es-MX" b="1" i="0">
                <a:effectLst/>
                <a:latin typeface="udemy sans"/>
              </a:rPr>
              <a:t>texto.txt </a:t>
            </a:r>
            <a:r>
              <a:rPr lang="es-MX" b="0" i="0">
                <a:effectLst/>
                <a:latin typeface="udemy sans"/>
              </a:rPr>
              <a:t>e imprime su contenido.</a:t>
            </a:r>
          </a:p>
          <a:p>
            <a:pPr marL="0" indent="0">
              <a:buNone/>
            </a:pPr>
            <a:r>
              <a:rPr lang="es-MX" b="0" i="0">
                <a:effectLst/>
                <a:latin typeface="udemy sans"/>
              </a:rPr>
              <a:t>Nota: el archivo se encuentra guardado en la misma carpeta donde se aloja tu código</a:t>
            </a:r>
          </a:p>
          <a:p>
            <a:r>
              <a:rPr lang="es-MX" b="0" i="0">
                <a:effectLst/>
                <a:latin typeface="udemy sans"/>
              </a:rPr>
              <a:t>Imprime la primera línea del archivo </a:t>
            </a:r>
            <a:r>
              <a:rPr lang="es-MX" b="1" i="0">
                <a:effectLst/>
                <a:latin typeface="udemy sans"/>
              </a:rPr>
              <a:t>texto.txt</a:t>
            </a:r>
            <a:endParaRPr lang="es-MX" b="0" i="0">
              <a:effectLst/>
              <a:latin typeface="udemy sans"/>
            </a:endParaRPr>
          </a:p>
          <a:p>
            <a:r>
              <a:rPr lang="es-MX" b="0" i="1">
                <a:effectLst/>
                <a:latin typeface="udemy sans"/>
              </a:rPr>
              <a:t>No olvides abrir el archivo y cerrarlo luego de ejecutar tu código.</a:t>
            </a:r>
            <a:endParaRPr lang="es-MX" b="0" i="0">
              <a:effectLst/>
              <a:latin typeface="udemy sans"/>
            </a:endParaRPr>
          </a:p>
          <a:p>
            <a:r>
              <a:rPr lang="es-MX" b="0" i="1">
                <a:effectLst/>
                <a:latin typeface="udemy sans"/>
              </a:rPr>
              <a:t>Nota: el archivo se encuentra guardado en la misma carpeta donde se aloja tu código</a:t>
            </a:r>
            <a:endParaRPr lang="es-MX" b="0" i="0">
              <a:effectLst/>
              <a:latin typeface="udemy sans"/>
            </a:endParaRPr>
          </a:p>
          <a:p>
            <a:pPr marL="0" indent="0">
              <a:buNone/>
            </a:pPr>
            <a:r>
              <a:rPr lang="es-MX" b="0" i="0">
                <a:effectLst/>
                <a:latin typeface="udemy sans"/>
              </a:rPr>
              <a:t>Abre el archivo texto.txt e imprime únicamente la segunda línea</a:t>
            </a:r>
            <a:endParaRPr lang="es-MX" dirty="0"/>
          </a:p>
        </p:txBody>
      </p:sp>
      <p:sp>
        <p:nvSpPr>
          <p:cNvPr id="4" name="Marcador de pie de página 3">
            <a:extLst>
              <a:ext uri="{FF2B5EF4-FFF2-40B4-BE49-F238E27FC236}">
                <a16:creationId xmlns:a16="http://schemas.microsoft.com/office/drawing/2014/main" id="{C46DA1E8-64A1-96A7-7B62-5C6F2EC53BC5}"/>
              </a:ext>
            </a:extLst>
          </p:cNvPr>
          <p:cNvSpPr>
            <a:spLocks noGrp="1"/>
          </p:cNvSpPr>
          <p:nvPr>
            <p:ph type="ftr" sz="quarter" idx="11"/>
          </p:nvPr>
        </p:nvSpPr>
        <p:spPr>
          <a:xfrm>
            <a:off x="4038600" y="6356350"/>
            <a:ext cx="5251174" cy="365125"/>
          </a:xfrm>
        </p:spPr>
        <p:txBody>
          <a:bodyPr>
            <a:normAutofit/>
          </a:bodyPr>
          <a:lstStyle/>
          <a:p>
            <a:pPr>
              <a:spcAft>
                <a:spcPts val="600"/>
              </a:spcAft>
            </a:pPr>
            <a:r>
              <a:rPr lang="es-MX"/>
              <a:t>Arabots Robotics</a:t>
            </a:r>
          </a:p>
        </p:txBody>
      </p:sp>
      <p:sp>
        <p:nvSpPr>
          <p:cNvPr id="5" name="Marcador de número de diapositiva 4">
            <a:extLst>
              <a:ext uri="{FF2B5EF4-FFF2-40B4-BE49-F238E27FC236}">
                <a16:creationId xmlns:a16="http://schemas.microsoft.com/office/drawing/2014/main" id="{D95FD0C0-AC2C-2DC0-6815-AE8FA35C174E}"/>
              </a:ext>
            </a:extLst>
          </p:cNvPr>
          <p:cNvSpPr>
            <a:spLocks noGrp="1"/>
          </p:cNvSpPr>
          <p:nvPr>
            <p:ph type="sldNum" sz="quarter" idx="12"/>
          </p:nvPr>
        </p:nvSpPr>
        <p:spPr>
          <a:xfrm>
            <a:off x="9541564" y="6356350"/>
            <a:ext cx="1812235" cy="365125"/>
          </a:xfrm>
        </p:spPr>
        <p:txBody>
          <a:bodyPr>
            <a:normAutofit/>
          </a:bodyPr>
          <a:lstStyle/>
          <a:p>
            <a:pPr>
              <a:spcAft>
                <a:spcPts val="600"/>
              </a:spcAft>
            </a:pPr>
            <a:fld id="{4EA4A3B0-B5DF-4E2B-B48F-E4B7B7872040}" type="slidenum">
              <a:rPr lang="es-MX" smtClean="0"/>
              <a:pPr>
                <a:spcAft>
                  <a:spcPts val="600"/>
                </a:spcAft>
              </a:pPr>
              <a:t>143</a:t>
            </a:fld>
            <a:endParaRPr lang="es-MX"/>
          </a:p>
        </p:txBody>
      </p:sp>
    </p:spTree>
    <p:extLst>
      <p:ext uri="{BB962C8B-B14F-4D97-AF65-F5344CB8AC3E}">
        <p14:creationId xmlns:p14="http://schemas.microsoft.com/office/powerpoint/2010/main" val="181389064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AB02204-5C88-1EDA-1336-8578323A389D}"/>
              </a:ext>
            </a:extLst>
          </p:cNvPr>
          <p:cNvSpPr>
            <a:spLocks noGrp="1"/>
          </p:cNvSpPr>
          <p:nvPr>
            <p:ph type="title"/>
          </p:nvPr>
        </p:nvSpPr>
        <p:spPr>
          <a:xfrm>
            <a:off x="686834" y="1153572"/>
            <a:ext cx="3200400" cy="4461163"/>
          </a:xfrm>
        </p:spPr>
        <p:txBody>
          <a:bodyPr>
            <a:normAutofit/>
          </a:bodyPr>
          <a:lstStyle/>
          <a:p>
            <a:r>
              <a:rPr lang="es-MX">
                <a:solidFill>
                  <a:srgbClr val="FFFFFF"/>
                </a:solidFill>
              </a:rPr>
              <a:t>Crear y escribir archivos </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7026CE27-0618-2B1C-8A88-DB1FAE99C61F}"/>
              </a:ext>
            </a:extLst>
          </p:cNvPr>
          <p:cNvSpPr>
            <a:spLocks noGrp="1"/>
          </p:cNvSpPr>
          <p:nvPr>
            <p:ph idx="1"/>
          </p:nvPr>
        </p:nvSpPr>
        <p:spPr>
          <a:xfrm>
            <a:off x="4447308" y="591344"/>
            <a:ext cx="6906491" cy="5585619"/>
          </a:xfrm>
        </p:spPr>
        <p:txBody>
          <a:bodyPr anchor="ctr">
            <a:normAutofit/>
          </a:bodyPr>
          <a:lstStyle/>
          <a:p>
            <a:pPr marL="0" indent="0">
              <a:buNone/>
            </a:pPr>
            <a:r>
              <a:rPr lang="es-MX" sz="1800"/>
              <a:t>Para escribir en un archivo desde Python, deberemos elegir con cuidado el parámetro "modo de apertura" . </a:t>
            </a:r>
          </a:p>
          <a:p>
            <a:pPr marL="0" indent="0">
              <a:buNone/>
            </a:pPr>
            <a:r>
              <a:rPr lang="es-MX" sz="1800"/>
              <a:t>open(</a:t>
            </a:r>
            <a:r>
              <a:rPr lang="es-MX" sz="1800" err="1"/>
              <a:t>arhivo</a:t>
            </a:r>
            <a:r>
              <a:rPr lang="es-MX" sz="1800"/>
              <a:t>, modo)</a:t>
            </a:r>
          </a:p>
          <a:p>
            <a:pPr marL="0" indent="0">
              <a:buNone/>
            </a:pPr>
            <a:r>
              <a:rPr lang="es-MX" sz="1800"/>
              <a:t>Parámetros de modo de apertura:</a:t>
            </a:r>
          </a:p>
          <a:p>
            <a:pPr marL="0" indent="0">
              <a:buNone/>
            </a:pPr>
            <a:r>
              <a:rPr lang="es-MX" sz="1800"/>
              <a:t>"r" - </a:t>
            </a:r>
            <a:r>
              <a:rPr lang="es-MX" sz="1800" err="1"/>
              <a:t>Read</a:t>
            </a:r>
            <a:r>
              <a:rPr lang="es-MX" sz="1800"/>
              <a:t> (Lectura) - Predeterminado. Permite leer pero no escribir, y arroja un error si el archivo no existe. </a:t>
            </a:r>
          </a:p>
          <a:p>
            <a:pPr marL="0" indent="0">
              <a:buNone/>
            </a:pPr>
            <a:r>
              <a:rPr lang="es-MX" sz="1800"/>
              <a:t>"a" - </a:t>
            </a:r>
            <a:r>
              <a:rPr lang="es-MX" sz="1800" err="1"/>
              <a:t>Append</a:t>
            </a:r>
            <a:r>
              <a:rPr lang="es-MX" sz="1800"/>
              <a:t> (Añadir) - Abre el archivo para añadir líneas a continuación de la última que ya exista en el mismo. Crea un archivo en caso de que el mismo no exista. </a:t>
            </a:r>
          </a:p>
          <a:p>
            <a:pPr marL="0" indent="0">
              <a:buNone/>
            </a:pPr>
            <a:r>
              <a:rPr lang="es-MX" sz="1800"/>
              <a:t>"w" - </a:t>
            </a:r>
            <a:r>
              <a:rPr lang="es-MX" sz="1800" err="1"/>
              <a:t>Write</a:t>
            </a:r>
            <a:r>
              <a:rPr lang="es-MX" sz="1800"/>
              <a:t> (Escritura) - Abre o crea un archivo (si no existe previamente) en modo de escritura, lo que significa que cualquier contenido previo se </a:t>
            </a:r>
            <a:r>
              <a:rPr lang="es-MX" sz="1800" err="1"/>
              <a:t>sobreescribirá</a:t>
            </a:r>
            <a:r>
              <a:rPr lang="es-MX" sz="1800"/>
              <a:t>. </a:t>
            </a:r>
          </a:p>
          <a:p>
            <a:pPr marL="0" indent="0">
              <a:buNone/>
            </a:pPr>
            <a:r>
              <a:rPr lang="es-MX" sz="1800"/>
              <a:t>"x" - </a:t>
            </a:r>
            <a:r>
              <a:rPr lang="es-MX" sz="1800" err="1"/>
              <a:t>Create</a:t>
            </a:r>
            <a:r>
              <a:rPr lang="es-MX" sz="1800"/>
              <a:t> (Creación) - Crea un archivo, y arroja un error si el mismo ya existe en el directorio.</a:t>
            </a:r>
          </a:p>
          <a:p>
            <a:pPr marL="0" indent="0">
              <a:buNone/>
            </a:pPr>
            <a:r>
              <a:rPr lang="es-MX" sz="1800"/>
              <a:t>El método </a:t>
            </a:r>
            <a:r>
              <a:rPr lang="es-MX" sz="1800" err="1"/>
              <a:t>write</a:t>
            </a:r>
            <a:r>
              <a:rPr lang="es-MX" sz="1800"/>
              <a:t>( ) escribe un texto especificado en el argumento sobre el archivo. </a:t>
            </a:r>
            <a:r>
              <a:rPr lang="es-MX" sz="1800" err="1"/>
              <a:t>writelines</a:t>
            </a:r>
            <a:r>
              <a:rPr lang="es-MX" sz="1800"/>
              <a:t>(lista) recibe el texto a ser escrito en forma de lista.</a:t>
            </a:r>
          </a:p>
        </p:txBody>
      </p:sp>
      <p:sp>
        <p:nvSpPr>
          <p:cNvPr id="4" name="Marcador de pie de página 3">
            <a:extLst>
              <a:ext uri="{FF2B5EF4-FFF2-40B4-BE49-F238E27FC236}">
                <a16:creationId xmlns:a16="http://schemas.microsoft.com/office/drawing/2014/main" id="{7625E3AD-7761-3DB7-B0D2-A094C2726518}"/>
              </a:ext>
            </a:extLst>
          </p:cNvPr>
          <p:cNvSpPr>
            <a:spLocks noGrp="1"/>
          </p:cNvSpPr>
          <p:nvPr>
            <p:ph type="ftr" sz="quarter" idx="11"/>
          </p:nvPr>
        </p:nvSpPr>
        <p:spPr>
          <a:xfrm>
            <a:off x="4038600" y="6356350"/>
            <a:ext cx="5251174" cy="365125"/>
          </a:xfrm>
        </p:spPr>
        <p:txBody>
          <a:bodyPr>
            <a:normAutofit/>
          </a:bodyPr>
          <a:lstStyle/>
          <a:p>
            <a:pPr>
              <a:spcAft>
                <a:spcPts val="600"/>
              </a:spcAft>
            </a:pPr>
            <a:r>
              <a:rPr lang="es-MX"/>
              <a:t>Arabots Robotics</a:t>
            </a:r>
          </a:p>
        </p:txBody>
      </p:sp>
      <p:sp>
        <p:nvSpPr>
          <p:cNvPr id="5" name="Marcador de número de diapositiva 4">
            <a:extLst>
              <a:ext uri="{FF2B5EF4-FFF2-40B4-BE49-F238E27FC236}">
                <a16:creationId xmlns:a16="http://schemas.microsoft.com/office/drawing/2014/main" id="{E3A908C1-4484-D434-667B-A5506B39CE18}"/>
              </a:ext>
            </a:extLst>
          </p:cNvPr>
          <p:cNvSpPr>
            <a:spLocks noGrp="1"/>
          </p:cNvSpPr>
          <p:nvPr>
            <p:ph type="sldNum" sz="quarter" idx="12"/>
          </p:nvPr>
        </p:nvSpPr>
        <p:spPr>
          <a:xfrm>
            <a:off x="9541564" y="6356350"/>
            <a:ext cx="1812235" cy="365125"/>
          </a:xfrm>
        </p:spPr>
        <p:txBody>
          <a:bodyPr>
            <a:normAutofit/>
          </a:bodyPr>
          <a:lstStyle/>
          <a:p>
            <a:pPr>
              <a:spcAft>
                <a:spcPts val="600"/>
              </a:spcAft>
            </a:pPr>
            <a:fld id="{4EA4A3B0-B5DF-4E2B-B48F-E4B7B7872040}" type="slidenum">
              <a:rPr lang="es-MX" smtClean="0"/>
              <a:pPr>
                <a:spcAft>
                  <a:spcPts val="600"/>
                </a:spcAft>
              </a:pPr>
              <a:t>144</a:t>
            </a:fld>
            <a:endParaRPr lang="es-MX"/>
          </a:p>
        </p:txBody>
      </p:sp>
    </p:spTree>
    <p:extLst>
      <p:ext uri="{BB962C8B-B14F-4D97-AF65-F5344CB8AC3E}">
        <p14:creationId xmlns:p14="http://schemas.microsoft.com/office/powerpoint/2010/main" val="152648191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4C9A5AC-20B8-4D6E-CFB8-FD873DF12A39}"/>
              </a:ext>
            </a:extLst>
          </p:cNvPr>
          <p:cNvSpPr>
            <a:spLocks noGrp="1"/>
          </p:cNvSpPr>
          <p:nvPr>
            <p:ph type="title"/>
          </p:nvPr>
        </p:nvSpPr>
        <p:spPr>
          <a:xfrm>
            <a:off x="686834" y="1153572"/>
            <a:ext cx="3200400" cy="4461163"/>
          </a:xfrm>
        </p:spPr>
        <p:txBody>
          <a:bodyPr>
            <a:normAutofit/>
          </a:bodyPr>
          <a:lstStyle/>
          <a:p>
            <a:r>
              <a:rPr lang="es-MX">
                <a:solidFill>
                  <a:srgbClr val="FFFFFF"/>
                </a:solidFill>
              </a:rPr>
              <a:t>ejercicios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02446C06-94A4-9C4C-222A-D7EDA9530037}"/>
              </a:ext>
            </a:extLst>
          </p:cNvPr>
          <p:cNvSpPr>
            <a:spLocks noGrp="1"/>
          </p:cNvSpPr>
          <p:nvPr>
            <p:ph idx="1"/>
          </p:nvPr>
        </p:nvSpPr>
        <p:spPr>
          <a:xfrm>
            <a:off x="4447308" y="591344"/>
            <a:ext cx="6906491" cy="5585619"/>
          </a:xfrm>
        </p:spPr>
        <p:txBody>
          <a:bodyPr anchor="ctr">
            <a:normAutofit/>
          </a:bodyPr>
          <a:lstStyle/>
          <a:p>
            <a:r>
              <a:rPr lang="es-MX" sz="1500" b="0" i="0">
                <a:effectLst/>
                <a:latin typeface="udemy sans"/>
              </a:rPr>
              <a:t>Abre el archivo llamado "</a:t>
            </a:r>
            <a:r>
              <a:rPr lang="es-MX" sz="1500" b="1" i="0">
                <a:effectLst/>
                <a:latin typeface="udemy sans"/>
              </a:rPr>
              <a:t>mi_archivo.txt</a:t>
            </a:r>
            <a:r>
              <a:rPr lang="es-MX" sz="1500" b="0" i="0">
                <a:effectLst/>
                <a:latin typeface="udemy sans"/>
              </a:rPr>
              <a:t>", y cambia su contenido por el texto "</a:t>
            </a:r>
            <a:r>
              <a:rPr lang="es-MX" sz="1500" b="0" i="1">
                <a:effectLst/>
                <a:latin typeface="udemy sans"/>
              </a:rPr>
              <a:t>Nuevo texto</a:t>
            </a:r>
            <a:r>
              <a:rPr lang="es-MX" sz="1500" b="0" i="0">
                <a:effectLst/>
                <a:latin typeface="udemy sans"/>
              </a:rPr>
              <a:t>".</a:t>
            </a:r>
          </a:p>
          <a:p>
            <a:r>
              <a:rPr lang="es-MX" sz="1500" b="0" i="0">
                <a:effectLst/>
                <a:latin typeface="udemy sans"/>
              </a:rPr>
              <a:t>Imprime el contenido completo de "</a:t>
            </a:r>
            <a:r>
              <a:rPr lang="es-MX" sz="1500" b="1" i="0">
                <a:effectLst/>
                <a:latin typeface="udemy sans"/>
              </a:rPr>
              <a:t>mi_archivo.txt</a:t>
            </a:r>
            <a:r>
              <a:rPr lang="es-MX" sz="1500" b="0" i="0">
                <a:effectLst/>
                <a:latin typeface="udemy sans"/>
              </a:rPr>
              <a:t>" al finalizar.</a:t>
            </a:r>
          </a:p>
          <a:p>
            <a:r>
              <a:rPr lang="es-MX" sz="1500" b="0" i="1">
                <a:effectLst/>
                <a:latin typeface="udemy sans"/>
              </a:rPr>
              <a:t>Pista: deberás cerrarlo en modo escritura y volverlo a abrir en modo lectura.</a:t>
            </a:r>
            <a:endParaRPr lang="es-MX" sz="1500" b="0" i="0">
              <a:effectLst/>
              <a:latin typeface="udemy sans"/>
            </a:endParaRPr>
          </a:p>
          <a:p>
            <a:endParaRPr lang="es-MX" sz="1500" b="0" i="0">
              <a:effectLst/>
              <a:latin typeface="udemy sans"/>
            </a:endParaRPr>
          </a:p>
          <a:p>
            <a:r>
              <a:rPr lang="es-MX" sz="1500" b="0" i="0">
                <a:effectLst/>
                <a:latin typeface="udemy sans"/>
              </a:rPr>
              <a:t>Abre el archivo llamado "</a:t>
            </a:r>
            <a:r>
              <a:rPr lang="es-MX" sz="1500" b="1" i="0">
                <a:effectLst/>
                <a:latin typeface="udemy sans"/>
              </a:rPr>
              <a:t>mi_archivo.txt</a:t>
            </a:r>
            <a:r>
              <a:rPr lang="es-MX" sz="1500" b="0" i="0">
                <a:effectLst/>
                <a:latin typeface="udemy sans"/>
              </a:rPr>
              <a:t>", y añade una línea al final del mismo que diga: "Nuevo inicio de sesión".</a:t>
            </a:r>
          </a:p>
          <a:p>
            <a:r>
              <a:rPr lang="es-MX" sz="1500" b="0" i="0">
                <a:effectLst/>
                <a:latin typeface="udemy sans"/>
              </a:rPr>
              <a:t>Imprime el contenido completo de "</a:t>
            </a:r>
            <a:r>
              <a:rPr lang="es-MX" sz="1500" b="1" i="0">
                <a:effectLst/>
                <a:latin typeface="udemy sans"/>
              </a:rPr>
              <a:t>mi_archivo.txt</a:t>
            </a:r>
            <a:r>
              <a:rPr lang="es-MX" sz="1500" b="0" i="0">
                <a:effectLst/>
                <a:latin typeface="udemy sans"/>
              </a:rPr>
              <a:t>" al finalizar.</a:t>
            </a:r>
          </a:p>
          <a:p>
            <a:r>
              <a:rPr lang="es-MX" sz="1500" b="0" i="1">
                <a:effectLst/>
                <a:latin typeface="udemy sans"/>
              </a:rPr>
              <a:t>Pista: deberás cerrarlo en modo escritura y volverlo a abrir en modo lectura.</a:t>
            </a:r>
          </a:p>
          <a:p>
            <a:pPr marL="0" marR="0" lvl="0" indent="0" defTabSz="914400" rtl="0" eaLnBrk="0" fontAlgn="base" latinLnBrk="0" hangingPunct="0">
              <a:spcBef>
                <a:spcPct val="0"/>
              </a:spcBef>
              <a:spcAft>
                <a:spcPct val="0"/>
              </a:spcAft>
              <a:buClrTx/>
              <a:buSzTx/>
              <a:buFontTx/>
              <a:buNone/>
              <a:tabLst/>
            </a:pPr>
            <a:endParaRPr kumimoji="0" lang="es-MX" altLang="es-MX" sz="1500" b="0" i="0" u="none" strike="noStrike" cap="none" normalizeH="0" baseline="0">
              <a:ln>
                <a:noFill/>
              </a:ln>
              <a:effectLst/>
              <a:latin typeface="udemy sans"/>
            </a:endParaRPr>
          </a:p>
          <a:p>
            <a:pPr marL="0" marR="0" lvl="0" indent="0" defTabSz="914400" rtl="0" eaLnBrk="0" fontAlgn="base" latinLnBrk="0" hangingPunct="0">
              <a:spcBef>
                <a:spcPct val="0"/>
              </a:spcBef>
              <a:spcAft>
                <a:spcPct val="0"/>
              </a:spcAft>
              <a:buClrTx/>
              <a:buSzTx/>
              <a:buFontTx/>
              <a:buNone/>
              <a:tabLst/>
            </a:pPr>
            <a:r>
              <a:rPr kumimoji="0" lang="es-MX" altLang="es-MX" sz="1500" b="0" i="0" u="none" strike="noStrike" cap="none" normalizeH="0" baseline="0">
                <a:ln>
                  <a:noFill/>
                </a:ln>
                <a:effectLst/>
                <a:latin typeface="udemy sans"/>
              </a:rPr>
              <a:t>Utiliza el método </a:t>
            </a:r>
            <a:r>
              <a:rPr kumimoji="0" lang="es-MX" altLang="es-MX" sz="1500" b="0" i="0" u="none" strike="noStrike" cap="none" normalizeH="0" baseline="0" err="1">
                <a:ln>
                  <a:noFill/>
                </a:ln>
                <a:effectLst/>
                <a:latin typeface="udemy sans"/>
              </a:rPr>
              <a:t>writelines</a:t>
            </a:r>
            <a:r>
              <a:rPr kumimoji="0" lang="es-MX" altLang="es-MX" sz="1500" b="0" i="0" u="none" strike="noStrike" cap="none" normalizeH="0" baseline="0">
                <a:ln>
                  <a:noFill/>
                </a:ln>
                <a:effectLst/>
                <a:latin typeface="udemy sans"/>
              </a:rPr>
              <a:t> para escribir los valores de la siguiente lista al final del archivo "registro.txt" . Inserta un tabulador entre cada elemento de la lista para separarlos.</a:t>
            </a:r>
            <a:endParaRPr kumimoji="0" lang="es-MX" altLang="es-MX" sz="1500" b="0" i="0" u="none" strike="noStrike" cap="none" normalizeH="0" baseline="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1500" b="0" i="0" u="none" strike="noStrike" cap="none" normalizeH="0" baseline="0" err="1">
                <a:ln>
                  <a:noFill/>
                </a:ln>
                <a:effectLst/>
                <a:latin typeface="sfmono-regular"/>
              </a:rPr>
              <a:t>registro_ultima_sesion</a:t>
            </a:r>
            <a:r>
              <a:rPr kumimoji="0" lang="es-MX" altLang="es-MX" sz="1500" b="0" i="0" u="none" strike="noStrike" cap="none" normalizeH="0" baseline="0">
                <a:ln>
                  <a:noFill/>
                </a:ln>
                <a:effectLst/>
                <a:latin typeface="sfmono-regular"/>
              </a:rPr>
              <a:t> = ["Federico", "20/12/2021", "08:17:32 </a:t>
            </a:r>
            <a:r>
              <a:rPr kumimoji="0" lang="es-MX" altLang="es-MX" sz="1500" b="0" i="0" u="none" strike="noStrike" cap="none" normalizeH="0" baseline="0" err="1">
                <a:ln>
                  <a:noFill/>
                </a:ln>
                <a:effectLst/>
                <a:latin typeface="sfmono-regular"/>
              </a:rPr>
              <a:t>hs</a:t>
            </a:r>
            <a:r>
              <a:rPr kumimoji="0" lang="es-MX" altLang="es-MX" sz="1500" b="0" i="0" u="none" strike="noStrike" cap="none" normalizeH="0" baseline="0">
                <a:ln>
                  <a:noFill/>
                </a:ln>
                <a:effectLst/>
                <a:latin typeface="sfmono-regular"/>
              </a:rPr>
              <a:t>", "Sin errores de carga"]</a:t>
            </a:r>
            <a:endParaRPr kumimoji="0" lang="es-MX" altLang="es-MX" sz="1500" b="0" i="0" u="none" strike="noStrike" cap="none" normalizeH="0" baseline="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1500" b="0" i="0" u="none" strike="noStrike" cap="none" normalizeH="0" baseline="0">
                <a:ln>
                  <a:noFill/>
                </a:ln>
                <a:effectLst/>
                <a:latin typeface="udemy sans"/>
              </a:rPr>
              <a:t>Imprime el contenido completo de "</a:t>
            </a:r>
            <a:r>
              <a:rPr kumimoji="0" lang="es-MX" altLang="es-MX" sz="1500" b="1" i="0" u="none" strike="noStrike" cap="none" normalizeH="0" baseline="0">
                <a:ln>
                  <a:noFill/>
                </a:ln>
                <a:effectLst/>
                <a:latin typeface="udemy sans"/>
              </a:rPr>
              <a:t>registro.txt</a:t>
            </a:r>
            <a:r>
              <a:rPr kumimoji="0" lang="es-MX" altLang="es-MX" sz="1500" b="0" i="0" u="none" strike="noStrike" cap="none" normalizeH="0" baseline="0">
                <a:ln>
                  <a:noFill/>
                </a:ln>
                <a:effectLst/>
                <a:latin typeface="udemy sans"/>
              </a:rPr>
              <a:t>" al finalizar.</a:t>
            </a:r>
            <a:endParaRPr kumimoji="0" lang="es-MX" altLang="es-MX" sz="1500" b="0" i="0" u="none" strike="noStrike" cap="none" normalizeH="0" baseline="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1500" b="0" i="1" u="none" strike="noStrike" cap="none" normalizeH="0" baseline="0">
                <a:ln>
                  <a:noFill/>
                </a:ln>
                <a:effectLst/>
                <a:latin typeface="udemy sans"/>
              </a:rPr>
              <a:t>Pista: recuerda que el símbolo para concatenar un tabulador en un </a:t>
            </a:r>
            <a:r>
              <a:rPr kumimoji="0" lang="es-MX" altLang="es-MX" sz="1500" b="0" i="1" u="none" strike="noStrike" cap="none" normalizeH="0" baseline="0" err="1">
                <a:ln>
                  <a:noFill/>
                </a:ln>
                <a:effectLst/>
                <a:latin typeface="udemy sans"/>
              </a:rPr>
              <a:t>string</a:t>
            </a:r>
            <a:r>
              <a:rPr kumimoji="0" lang="es-MX" altLang="es-MX" sz="1500" b="0" i="1" u="none" strike="noStrike" cap="none" normalizeH="0" baseline="0">
                <a:ln>
                  <a:noFill/>
                </a:ln>
                <a:effectLst/>
                <a:latin typeface="udemy sans"/>
              </a:rPr>
              <a:t> es </a:t>
            </a:r>
            <a:r>
              <a:rPr kumimoji="0" lang="es-MX" altLang="es-MX" sz="1500" b="1" i="1" u="none" strike="noStrike" cap="none" normalizeH="0" baseline="0">
                <a:ln>
                  <a:noFill/>
                </a:ln>
                <a:effectLst/>
                <a:latin typeface="udemy sans"/>
              </a:rPr>
              <a:t>\t</a:t>
            </a:r>
            <a:r>
              <a:rPr kumimoji="0" lang="es-MX" altLang="es-MX" sz="1500" b="0" i="1" u="none" strike="noStrike" cap="none" normalizeH="0" baseline="0">
                <a:ln>
                  <a:noFill/>
                </a:ln>
                <a:effectLst/>
                <a:latin typeface="udemy sans"/>
              </a:rPr>
              <a:t>. También, deberás cerrar el archivo en modo escritura y volverlo a abrir en modo lectura para poder imprimir su contenido</a:t>
            </a:r>
            <a:endParaRPr kumimoji="0" lang="es-MX" altLang="es-MX" sz="1500" b="0" i="0" u="none" strike="noStrike" cap="none" normalizeH="0" baseline="0">
              <a:ln>
                <a:noFill/>
              </a:ln>
              <a:effectLst/>
              <a:latin typeface="Arial" panose="020B0604020202020204" pitchFamily="34" charset="0"/>
            </a:endParaRPr>
          </a:p>
          <a:p>
            <a:endParaRPr lang="es-MX" sz="1500" b="0" i="1">
              <a:effectLst/>
              <a:latin typeface="udemy sans"/>
            </a:endParaRPr>
          </a:p>
          <a:p>
            <a:endParaRPr lang="es-MX" sz="1500" i="1">
              <a:latin typeface="udemy sans"/>
            </a:endParaRPr>
          </a:p>
          <a:p>
            <a:endParaRPr lang="es-MX" sz="1500" b="0" i="0">
              <a:effectLst/>
              <a:latin typeface="udemy sans"/>
            </a:endParaRPr>
          </a:p>
          <a:p>
            <a:pPr marL="0" indent="0">
              <a:buNone/>
            </a:pPr>
            <a:endParaRPr lang="es-MX" sz="1500"/>
          </a:p>
        </p:txBody>
      </p:sp>
      <p:sp>
        <p:nvSpPr>
          <p:cNvPr id="4" name="Marcador de pie de página 3">
            <a:extLst>
              <a:ext uri="{FF2B5EF4-FFF2-40B4-BE49-F238E27FC236}">
                <a16:creationId xmlns:a16="http://schemas.microsoft.com/office/drawing/2014/main" id="{2776DB04-9A2F-8352-D7A4-CE6F5E95CFEA}"/>
              </a:ext>
            </a:extLst>
          </p:cNvPr>
          <p:cNvSpPr>
            <a:spLocks noGrp="1"/>
          </p:cNvSpPr>
          <p:nvPr>
            <p:ph type="ftr" sz="quarter" idx="11"/>
          </p:nvPr>
        </p:nvSpPr>
        <p:spPr>
          <a:xfrm>
            <a:off x="4038600" y="6356350"/>
            <a:ext cx="5251174" cy="365125"/>
          </a:xfrm>
        </p:spPr>
        <p:txBody>
          <a:bodyPr>
            <a:normAutofit/>
          </a:bodyPr>
          <a:lstStyle/>
          <a:p>
            <a:pPr>
              <a:spcAft>
                <a:spcPts val="600"/>
              </a:spcAft>
            </a:pPr>
            <a:r>
              <a:rPr lang="es-MX"/>
              <a:t>Arabots Robotics</a:t>
            </a:r>
          </a:p>
        </p:txBody>
      </p:sp>
      <p:sp>
        <p:nvSpPr>
          <p:cNvPr id="5" name="Marcador de número de diapositiva 4">
            <a:extLst>
              <a:ext uri="{FF2B5EF4-FFF2-40B4-BE49-F238E27FC236}">
                <a16:creationId xmlns:a16="http://schemas.microsoft.com/office/drawing/2014/main" id="{12B5D0FA-28DC-9FB7-9C9B-3B759A5AED07}"/>
              </a:ext>
            </a:extLst>
          </p:cNvPr>
          <p:cNvSpPr>
            <a:spLocks noGrp="1"/>
          </p:cNvSpPr>
          <p:nvPr>
            <p:ph type="sldNum" sz="quarter" idx="12"/>
          </p:nvPr>
        </p:nvSpPr>
        <p:spPr>
          <a:xfrm>
            <a:off x="9541564" y="6356350"/>
            <a:ext cx="1812235" cy="365125"/>
          </a:xfrm>
        </p:spPr>
        <p:txBody>
          <a:bodyPr>
            <a:normAutofit/>
          </a:bodyPr>
          <a:lstStyle/>
          <a:p>
            <a:pPr>
              <a:spcAft>
                <a:spcPts val="600"/>
              </a:spcAft>
            </a:pPr>
            <a:fld id="{4EA4A3B0-B5DF-4E2B-B48F-E4B7B7872040}" type="slidenum">
              <a:rPr lang="es-MX" smtClean="0"/>
              <a:pPr>
                <a:spcAft>
                  <a:spcPts val="600"/>
                </a:spcAft>
              </a:pPr>
              <a:t>145</a:t>
            </a:fld>
            <a:endParaRPr lang="es-MX"/>
          </a:p>
        </p:txBody>
      </p:sp>
    </p:spTree>
    <p:extLst>
      <p:ext uri="{BB962C8B-B14F-4D97-AF65-F5344CB8AC3E}">
        <p14:creationId xmlns:p14="http://schemas.microsoft.com/office/powerpoint/2010/main" val="119014029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258D1C6-E7E5-40AF-3499-780F25237784}"/>
              </a:ext>
            </a:extLst>
          </p:cNvPr>
          <p:cNvSpPr>
            <a:spLocks noGrp="1"/>
          </p:cNvSpPr>
          <p:nvPr>
            <p:ph type="title"/>
          </p:nvPr>
        </p:nvSpPr>
        <p:spPr>
          <a:xfrm>
            <a:off x="686834" y="1153572"/>
            <a:ext cx="3200400" cy="4461163"/>
          </a:xfrm>
        </p:spPr>
        <p:txBody>
          <a:bodyPr>
            <a:normAutofit/>
          </a:bodyPr>
          <a:lstStyle/>
          <a:p>
            <a:r>
              <a:rPr lang="es-MX">
                <a:solidFill>
                  <a:srgbClr val="FFFFFF"/>
                </a:solidFill>
              </a:rPr>
              <a:t>directorios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62D953FC-C396-8F5D-3A1B-C4830599A4D2}"/>
              </a:ext>
            </a:extLst>
          </p:cNvPr>
          <p:cNvSpPr>
            <a:spLocks noGrp="1"/>
          </p:cNvSpPr>
          <p:nvPr>
            <p:ph idx="1"/>
          </p:nvPr>
        </p:nvSpPr>
        <p:spPr>
          <a:xfrm>
            <a:off x="4447308" y="591344"/>
            <a:ext cx="6906491" cy="5585619"/>
          </a:xfrm>
        </p:spPr>
        <p:txBody>
          <a:bodyPr anchor="ctr">
            <a:normAutofit lnSpcReduction="10000"/>
          </a:bodyPr>
          <a:lstStyle/>
          <a:p>
            <a:pPr marL="0" indent="0">
              <a:buNone/>
            </a:pPr>
            <a:r>
              <a:rPr lang="es-MX" sz="2000" dirty="0"/>
              <a:t>Trabajar sobre archivos que se encuentran en directorios diferentes al de nuestro código requiere del soporte del módulo OS, que contiene una serie de funciones para interactuar con el sistema operativo. </a:t>
            </a:r>
            <a:r>
              <a:rPr lang="es-MX" sz="2000" dirty="0" err="1"/>
              <a:t>import</a:t>
            </a:r>
            <a:r>
              <a:rPr lang="es-MX" sz="2000" dirty="0"/>
              <a:t> os      </a:t>
            </a:r>
          </a:p>
          <a:p>
            <a:pPr marL="0" indent="0">
              <a:buNone/>
            </a:pPr>
            <a:r>
              <a:rPr lang="es-MX" sz="2000" dirty="0" err="1"/>
              <a:t>os.getcwd</a:t>
            </a:r>
            <a:r>
              <a:rPr lang="es-MX" sz="2000" dirty="0"/>
              <a:t>(): obtiene y devuelve el directorio de trabajo actual. Será el mismo en el que corre el programa si no se ha modificado.</a:t>
            </a:r>
          </a:p>
          <a:p>
            <a:pPr marL="0" indent="0">
              <a:buNone/>
            </a:pPr>
            <a:r>
              <a:rPr lang="es-MX" sz="2000" dirty="0"/>
              <a:t> </a:t>
            </a:r>
            <a:r>
              <a:rPr lang="es-MX" sz="2000" dirty="0" err="1"/>
              <a:t>os.chdir</a:t>
            </a:r>
            <a:r>
              <a:rPr lang="es-MX" sz="2000" dirty="0"/>
              <a:t>(ruta): cambia el directorio de trabajo a la ruta especificada </a:t>
            </a:r>
          </a:p>
          <a:p>
            <a:pPr marL="0" indent="0">
              <a:buNone/>
            </a:pPr>
            <a:r>
              <a:rPr lang="es-MX" sz="2000" dirty="0" err="1"/>
              <a:t>os.makedirs</a:t>
            </a:r>
            <a:r>
              <a:rPr lang="es-MX" sz="2000" dirty="0"/>
              <a:t>(ruta): crea una carpeta, así como todas las carpetas intermedias necesarias de acuerdo a la ruta especificada. </a:t>
            </a:r>
          </a:p>
          <a:p>
            <a:pPr marL="0" indent="0">
              <a:buNone/>
            </a:pPr>
            <a:r>
              <a:rPr lang="es-MX" sz="2000" dirty="0" err="1"/>
              <a:t>os.path.basename</a:t>
            </a:r>
            <a:r>
              <a:rPr lang="es-MX" sz="2000" dirty="0"/>
              <a:t>(ruta): dada una ruta, obtiene el nombre del archivo (nombre de base)</a:t>
            </a:r>
          </a:p>
          <a:p>
            <a:pPr marL="0" indent="0">
              <a:buNone/>
            </a:pPr>
            <a:r>
              <a:rPr lang="es-MX" sz="2000" dirty="0" err="1"/>
              <a:t>os.path.dirname</a:t>
            </a:r>
            <a:r>
              <a:rPr lang="es-MX" sz="2000" dirty="0"/>
              <a:t>(ruta): dada una ruta, obtiene el directorio (carpeta) que almacena el archivo </a:t>
            </a:r>
          </a:p>
          <a:p>
            <a:pPr marL="0" indent="0">
              <a:buNone/>
            </a:pPr>
            <a:r>
              <a:rPr lang="es-MX" sz="2000" dirty="0" err="1"/>
              <a:t>os.path.split</a:t>
            </a:r>
            <a:r>
              <a:rPr lang="es-MX" sz="2000" dirty="0"/>
              <a:t>(ruta): devuelve una tupla que contiene dos elementos: el directorio, y el nombre de base del archivo. </a:t>
            </a:r>
            <a:r>
              <a:rPr lang="es-MX" sz="2000" dirty="0" err="1"/>
              <a:t>rmdir</a:t>
            </a:r>
            <a:r>
              <a:rPr lang="es-MX" sz="2000" dirty="0"/>
              <a:t>(ruta): elimina el directorio indicado en la ruta. </a:t>
            </a:r>
          </a:p>
        </p:txBody>
      </p:sp>
      <p:sp>
        <p:nvSpPr>
          <p:cNvPr id="4" name="Marcador de pie de página 3">
            <a:extLst>
              <a:ext uri="{FF2B5EF4-FFF2-40B4-BE49-F238E27FC236}">
                <a16:creationId xmlns:a16="http://schemas.microsoft.com/office/drawing/2014/main" id="{371EC540-6411-A490-14C9-F3D16EDA5061}"/>
              </a:ext>
            </a:extLst>
          </p:cNvPr>
          <p:cNvSpPr>
            <a:spLocks noGrp="1"/>
          </p:cNvSpPr>
          <p:nvPr>
            <p:ph type="ftr" sz="quarter" idx="11"/>
          </p:nvPr>
        </p:nvSpPr>
        <p:spPr>
          <a:xfrm>
            <a:off x="4038600" y="6356350"/>
            <a:ext cx="5251174" cy="365125"/>
          </a:xfrm>
        </p:spPr>
        <p:txBody>
          <a:bodyPr>
            <a:normAutofit/>
          </a:bodyPr>
          <a:lstStyle/>
          <a:p>
            <a:pPr>
              <a:spcAft>
                <a:spcPts val="600"/>
              </a:spcAft>
            </a:pPr>
            <a:r>
              <a:rPr lang="es-MX"/>
              <a:t>Arabots Robotics</a:t>
            </a:r>
          </a:p>
        </p:txBody>
      </p:sp>
      <p:sp>
        <p:nvSpPr>
          <p:cNvPr id="5" name="Marcador de número de diapositiva 4">
            <a:extLst>
              <a:ext uri="{FF2B5EF4-FFF2-40B4-BE49-F238E27FC236}">
                <a16:creationId xmlns:a16="http://schemas.microsoft.com/office/drawing/2014/main" id="{C15CA2E9-8145-F42C-9951-7545A12AF944}"/>
              </a:ext>
            </a:extLst>
          </p:cNvPr>
          <p:cNvSpPr>
            <a:spLocks noGrp="1"/>
          </p:cNvSpPr>
          <p:nvPr>
            <p:ph type="sldNum" sz="quarter" idx="12"/>
          </p:nvPr>
        </p:nvSpPr>
        <p:spPr>
          <a:xfrm>
            <a:off x="9541564" y="6356350"/>
            <a:ext cx="1812235" cy="365125"/>
          </a:xfrm>
        </p:spPr>
        <p:txBody>
          <a:bodyPr>
            <a:normAutofit/>
          </a:bodyPr>
          <a:lstStyle/>
          <a:p>
            <a:pPr>
              <a:spcAft>
                <a:spcPts val="600"/>
              </a:spcAft>
            </a:pPr>
            <a:fld id="{4EA4A3B0-B5DF-4E2B-B48F-E4B7B7872040}" type="slidenum">
              <a:rPr lang="es-MX" smtClean="0"/>
              <a:pPr>
                <a:spcAft>
                  <a:spcPts val="600"/>
                </a:spcAft>
              </a:pPr>
              <a:t>146</a:t>
            </a:fld>
            <a:endParaRPr lang="es-MX"/>
          </a:p>
        </p:txBody>
      </p:sp>
    </p:spTree>
    <p:extLst>
      <p:ext uri="{BB962C8B-B14F-4D97-AF65-F5344CB8AC3E}">
        <p14:creationId xmlns:p14="http://schemas.microsoft.com/office/powerpoint/2010/main" val="326723249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B367F3-C3BF-AC1B-90FA-4D696B1B811E}"/>
              </a:ext>
            </a:extLst>
          </p:cNvPr>
          <p:cNvSpPr>
            <a:spLocks noGrp="1"/>
          </p:cNvSpPr>
          <p:nvPr>
            <p:ph type="title"/>
          </p:nvPr>
        </p:nvSpPr>
        <p:spPr>
          <a:xfrm>
            <a:off x="796112" y="255943"/>
            <a:ext cx="10515600" cy="1325563"/>
          </a:xfrm>
        </p:spPr>
        <p:txBody>
          <a:bodyPr/>
          <a:lstStyle/>
          <a:p>
            <a:r>
              <a:rPr lang="es-MX" dirty="0"/>
              <a:t>Cuestionario 6</a:t>
            </a:r>
            <a:br>
              <a:rPr lang="es-MX" dirty="0"/>
            </a:br>
            <a:r>
              <a:rPr lang="es-MX" dirty="0"/>
              <a:t>Preguntas sobre directorios </a:t>
            </a:r>
          </a:p>
        </p:txBody>
      </p:sp>
      <p:sp>
        <p:nvSpPr>
          <p:cNvPr id="3" name="Marcador de contenido 2">
            <a:extLst>
              <a:ext uri="{FF2B5EF4-FFF2-40B4-BE49-F238E27FC236}">
                <a16:creationId xmlns:a16="http://schemas.microsoft.com/office/drawing/2014/main" id="{CFF98FCE-44E5-23F9-7F5C-5060601F3FC1}"/>
              </a:ext>
            </a:extLst>
          </p:cNvPr>
          <p:cNvSpPr>
            <a:spLocks noGrp="1"/>
          </p:cNvSpPr>
          <p:nvPr>
            <p:ph idx="1"/>
          </p:nvPr>
        </p:nvSpPr>
        <p:spPr>
          <a:xfrm>
            <a:off x="979315" y="1705915"/>
            <a:ext cx="10515600" cy="4351338"/>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800" b="0" i="0" u="none" strike="noStrike" cap="none" normalizeH="0" baseline="0" dirty="0">
                <a:ln>
                  <a:noFill/>
                </a:ln>
                <a:solidFill>
                  <a:srgbClr val="1C1D1F"/>
                </a:solidFill>
                <a:effectLst/>
                <a:latin typeface="udemy sans"/>
              </a:rPr>
              <a:t>¿</a:t>
            </a:r>
            <a:r>
              <a:rPr kumimoji="0" lang="es-MX" altLang="es-MX" sz="2100" b="0" i="0" u="none" strike="noStrike" cap="none" normalizeH="0" baseline="0" dirty="0">
                <a:ln>
                  <a:noFill/>
                </a:ln>
                <a:effectLst/>
                <a:latin typeface="udemy sans"/>
              </a:rPr>
              <a:t>Cuál de las siguientes sería una forma correcta de cambiar el directorio de trabajo actual en Python en un sistema operativo Windows?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100" b="1" i="0" u="none" strike="noStrike" cap="none" normalizeH="0" baseline="0" dirty="0">
                <a:ln>
                  <a:noFill/>
                </a:ln>
                <a:effectLst/>
                <a:latin typeface="udemy sans"/>
              </a:rPr>
              <a:t>ruta = </a:t>
            </a:r>
            <a:r>
              <a:rPr kumimoji="0" lang="es-MX" altLang="es-MX" sz="2100" b="1" i="0" u="none" strike="noStrike" cap="none" normalizeH="0" baseline="0" dirty="0" err="1">
                <a:ln>
                  <a:noFill/>
                </a:ln>
                <a:effectLst/>
                <a:latin typeface="udemy sans"/>
              </a:rPr>
              <a:t>os.chdir</a:t>
            </a:r>
            <a:r>
              <a:rPr kumimoji="0" lang="es-MX" altLang="es-MX" sz="2100" b="1" i="0" u="none" strike="noStrike" cap="none" normalizeH="0" baseline="0" dirty="0">
                <a:ln>
                  <a:noFill/>
                </a:ln>
                <a:effectLst/>
                <a:latin typeface="udemy sans"/>
              </a:rPr>
              <a:t>('C:\</a:t>
            </a:r>
            <a:r>
              <a:rPr kumimoji="0" lang="es-MX" altLang="es-MX" sz="2100" b="1" i="0" u="none" strike="noStrike" cap="none" normalizeH="0" baseline="0" dirty="0" err="1">
                <a:ln>
                  <a:noFill/>
                </a:ln>
                <a:effectLst/>
                <a:latin typeface="udemy sans"/>
              </a:rPr>
              <a:t>Users</a:t>
            </a:r>
            <a:r>
              <a:rPr kumimoji="0" lang="es-MX" altLang="es-MX" sz="2100" b="1" i="0" u="none" strike="noStrike" cap="none" normalizeH="0" baseline="0" dirty="0">
                <a:ln>
                  <a:noFill/>
                </a:ln>
                <a:effectLst/>
                <a:latin typeface="udemy sans"/>
              </a:rPr>
              <a:t>\Desktop\Carpeta')</a:t>
            </a:r>
            <a:endParaRPr kumimoji="0" lang="es-MX" altLang="es-MX" sz="2100" b="0" i="0" u="none" strike="noStrike" cap="none" normalizeH="0" baseline="0" dirty="0">
              <a:ln>
                <a:noFill/>
              </a:ln>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100" b="1" i="0" u="none" strike="noStrike" cap="none" normalizeH="0" baseline="0" dirty="0">
                <a:ln>
                  <a:noFill/>
                </a:ln>
                <a:effectLst/>
                <a:latin typeface="udemy sans"/>
              </a:rPr>
              <a:t>ruta = </a:t>
            </a:r>
            <a:r>
              <a:rPr kumimoji="0" lang="es-MX" altLang="es-MX" sz="2100" b="1" i="0" u="none" strike="noStrike" cap="none" normalizeH="0" baseline="0" dirty="0" err="1">
                <a:ln>
                  <a:noFill/>
                </a:ln>
                <a:effectLst/>
                <a:latin typeface="udemy sans"/>
              </a:rPr>
              <a:t>os.chdir</a:t>
            </a:r>
            <a:r>
              <a:rPr kumimoji="0" lang="es-MX" altLang="es-MX" sz="2100" b="1" i="0" u="none" strike="noStrike" cap="none" normalizeH="0" baseline="0" dirty="0">
                <a:ln>
                  <a:noFill/>
                </a:ln>
                <a:effectLst/>
                <a:latin typeface="udemy sans"/>
              </a:rPr>
              <a:t>('C:\\</a:t>
            </a:r>
            <a:r>
              <a:rPr kumimoji="0" lang="es-MX" altLang="es-MX" sz="2100" b="1" i="0" u="none" strike="noStrike" cap="none" normalizeH="0" baseline="0" dirty="0" err="1">
                <a:ln>
                  <a:noFill/>
                </a:ln>
                <a:effectLst/>
                <a:latin typeface="udemy sans"/>
              </a:rPr>
              <a:t>Users</a:t>
            </a:r>
            <a:r>
              <a:rPr kumimoji="0" lang="es-MX" altLang="es-MX" sz="2100" b="1" i="0" u="none" strike="noStrike" cap="none" normalizeH="0" baseline="0" dirty="0">
                <a:ln>
                  <a:noFill/>
                </a:ln>
                <a:effectLst/>
                <a:latin typeface="udemy sans"/>
              </a:rPr>
              <a:t>\\Desktop\\Carpeta')</a:t>
            </a:r>
            <a:endParaRPr kumimoji="0" lang="es-MX" altLang="es-MX" sz="2100" b="0" i="0" u="none" strike="noStrike" cap="none" normalizeH="0" baseline="0" dirty="0">
              <a:ln>
                <a:noFill/>
              </a:ln>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100" b="1" i="0" u="none" strike="noStrike" cap="none" normalizeH="0" baseline="0" dirty="0">
                <a:ln>
                  <a:noFill/>
                </a:ln>
                <a:effectLst/>
                <a:latin typeface="udemy sans"/>
              </a:rPr>
              <a:t>ruta = </a:t>
            </a:r>
            <a:r>
              <a:rPr kumimoji="0" lang="es-MX" altLang="es-MX" sz="2100" b="1" i="0" u="none" strike="noStrike" cap="none" normalizeH="0" baseline="0" dirty="0" err="1">
                <a:ln>
                  <a:noFill/>
                </a:ln>
                <a:effectLst/>
                <a:latin typeface="udemy sans"/>
              </a:rPr>
              <a:t>os.chdir</a:t>
            </a:r>
            <a:r>
              <a:rPr kumimoji="0" lang="es-MX" altLang="es-MX" sz="2100" b="1" i="0" u="none" strike="noStrike" cap="none" normalizeH="0" baseline="0" dirty="0">
                <a:ln>
                  <a:noFill/>
                </a:ln>
                <a:effectLst/>
                <a:latin typeface="udemy sans"/>
              </a:rPr>
              <a:t>('C:/</a:t>
            </a:r>
            <a:r>
              <a:rPr kumimoji="0" lang="es-MX" altLang="es-MX" sz="2100" b="1" i="0" u="none" strike="noStrike" cap="none" normalizeH="0" baseline="0" dirty="0" err="1">
                <a:ln>
                  <a:noFill/>
                </a:ln>
                <a:effectLst/>
                <a:latin typeface="udemy sans"/>
              </a:rPr>
              <a:t>Users</a:t>
            </a:r>
            <a:r>
              <a:rPr kumimoji="0" lang="es-MX" altLang="es-MX" sz="2100" b="1" i="0" u="none" strike="noStrike" cap="none" normalizeH="0" baseline="0" dirty="0">
                <a:ln>
                  <a:noFill/>
                </a:ln>
                <a:effectLst/>
                <a:latin typeface="udemy sans"/>
              </a:rPr>
              <a:t>/Desktop/Carpeta')</a:t>
            </a:r>
            <a:endParaRPr kumimoji="0" lang="es-MX" altLang="es-MX" sz="2100" b="0" i="0" u="none" strike="noStrike" cap="none" normalizeH="0" baseline="0" dirty="0">
              <a:ln>
                <a:noFill/>
              </a:ln>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100" b="1" i="0" u="none" strike="noStrike" cap="none" normalizeH="0" baseline="0" dirty="0">
                <a:ln>
                  <a:noFill/>
                </a:ln>
                <a:effectLst/>
                <a:latin typeface="udemy sans"/>
              </a:rPr>
              <a:t>ruta = </a:t>
            </a:r>
            <a:r>
              <a:rPr kumimoji="0" lang="es-MX" altLang="es-MX" sz="2100" b="1" i="0" u="none" strike="noStrike" cap="none" normalizeH="0" baseline="0" dirty="0" err="1">
                <a:ln>
                  <a:noFill/>
                </a:ln>
                <a:effectLst/>
                <a:latin typeface="udemy sans"/>
              </a:rPr>
              <a:t>os.chdir</a:t>
            </a:r>
            <a:r>
              <a:rPr kumimoji="0" lang="es-MX" altLang="es-MX" sz="2100" b="1" i="0" u="none" strike="noStrike" cap="none" normalizeH="0" baseline="0" dirty="0">
                <a:ln>
                  <a:noFill/>
                </a:ln>
                <a:effectLst/>
                <a:latin typeface="udemy sans"/>
              </a:rPr>
              <a:t>('C://</a:t>
            </a:r>
            <a:r>
              <a:rPr kumimoji="0" lang="es-MX" altLang="es-MX" sz="2100" b="1" i="0" u="none" strike="noStrike" cap="none" normalizeH="0" baseline="0" dirty="0" err="1">
                <a:ln>
                  <a:noFill/>
                </a:ln>
                <a:effectLst/>
                <a:latin typeface="udemy sans"/>
              </a:rPr>
              <a:t>Users</a:t>
            </a:r>
            <a:r>
              <a:rPr kumimoji="0" lang="es-MX" altLang="es-MX" sz="2100" b="1" i="0" u="none" strike="noStrike" cap="none" normalizeH="0" baseline="0" dirty="0">
                <a:ln>
                  <a:noFill/>
                </a:ln>
                <a:effectLst/>
                <a:latin typeface="udemy sans"/>
              </a:rPr>
              <a:t>//Desktop//Carpeta’)</a:t>
            </a: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2100" b="1" dirty="0">
              <a:latin typeface="udemy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100" b="0" i="0" u="none" strike="noStrike" cap="none" normalizeH="0" baseline="0" dirty="0">
                <a:ln>
                  <a:noFill/>
                </a:ln>
                <a:effectLst/>
                <a:latin typeface="udemy sans"/>
              </a:rPr>
              <a:t>Dada la siguiente ruta, ¿qué devolverá </a:t>
            </a:r>
            <a:r>
              <a:rPr kumimoji="0" lang="es-MX" altLang="es-MX" sz="2100" b="0" i="0" u="none" strike="noStrike" cap="none" normalizeH="0" baseline="0" dirty="0" err="1">
                <a:ln>
                  <a:noFill/>
                </a:ln>
                <a:effectLst/>
                <a:latin typeface="sfmono-regular"/>
              </a:rPr>
              <a:t>os.path.basename</a:t>
            </a:r>
            <a:r>
              <a:rPr kumimoji="0" lang="es-MX" altLang="es-MX" sz="2100" b="0" i="0" u="none" strike="noStrike" cap="none" normalizeH="0" baseline="0" dirty="0">
                <a:ln>
                  <a:noFill/>
                </a:ln>
                <a:effectLst/>
                <a:latin typeface="sfmono-regular"/>
              </a:rPr>
              <a:t>(ruta)</a:t>
            </a:r>
            <a:r>
              <a:rPr kumimoji="0" lang="es-MX" altLang="es-MX" sz="2100" b="0" i="0" u="none" strike="noStrike" cap="none" normalizeH="0" baseline="0" dirty="0">
                <a:ln>
                  <a:noFill/>
                </a:ln>
                <a:effectLst/>
                <a:latin typeface="udemy sans"/>
              </a:rPr>
              <a:t>?</a:t>
            </a:r>
            <a:endParaRPr kumimoji="0" lang="es-MX" altLang="es-MX" sz="21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100" b="0" i="0" u="none" strike="noStrike" cap="none" normalizeH="0" baseline="0" dirty="0">
                <a:ln>
                  <a:noFill/>
                </a:ln>
                <a:effectLst/>
                <a:latin typeface="sfmono-regular"/>
              </a:rPr>
              <a:t>ruta = 'C:\\</a:t>
            </a:r>
            <a:r>
              <a:rPr kumimoji="0" lang="es-MX" altLang="es-MX" sz="2100" b="0" i="0" u="none" strike="noStrike" cap="none" normalizeH="0" baseline="0" dirty="0" err="1">
                <a:ln>
                  <a:noFill/>
                </a:ln>
                <a:effectLst/>
                <a:latin typeface="sfmono-regular"/>
              </a:rPr>
              <a:t>Users</a:t>
            </a:r>
            <a:r>
              <a:rPr kumimoji="0" lang="es-MX" altLang="es-MX" sz="2100" b="0" i="0" u="none" strike="noStrike" cap="none" normalizeH="0" baseline="0" dirty="0">
                <a:ln>
                  <a:noFill/>
                </a:ln>
                <a:effectLst/>
                <a:latin typeface="sfmono-regular"/>
              </a:rPr>
              <a:t>\\Desktop\\documento.txt’</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2100" dirty="0">
              <a:latin typeface="sfmono-regular"/>
            </a:endParaRPr>
          </a:p>
          <a:p>
            <a:pPr marL="0" indent="0" eaLnBrk="0" fontAlgn="base" hangingPunct="0">
              <a:lnSpc>
                <a:spcPct val="100000"/>
              </a:lnSpc>
              <a:spcBef>
                <a:spcPct val="0"/>
              </a:spcBef>
              <a:spcAft>
                <a:spcPct val="0"/>
              </a:spcAft>
              <a:buNone/>
            </a:pPr>
            <a:r>
              <a:rPr kumimoji="0" lang="es-MX" altLang="es-MX" sz="2100" b="0" i="0" u="none" strike="noStrike" cap="none" normalizeH="0" baseline="0" dirty="0">
                <a:ln>
                  <a:noFill/>
                </a:ln>
                <a:effectLst/>
                <a:latin typeface="udemy sans"/>
              </a:rPr>
              <a:t>¿Cuál de los siguientes métodos te permite eliminar un directorio de tu ordenador, utilizando Python?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2800" b="0" i="0" u="none" strike="noStrike" cap="none" normalizeH="0" baseline="0" dirty="0">
              <a:ln>
                <a:noFill/>
              </a:ln>
              <a:solidFill>
                <a:srgbClr val="B4690E"/>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solidFill>
                <a:srgbClr val="B4690E"/>
              </a:solidFill>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2800" b="1" i="0" u="none" strike="noStrike" cap="none" normalizeH="0" baseline="0" dirty="0">
              <a:ln>
                <a:noFill/>
              </a:ln>
              <a:solidFill>
                <a:srgbClr val="1C1D1F"/>
              </a:solidFill>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b="1" dirty="0">
              <a:solidFill>
                <a:srgbClr val="1C1D1F"/>
              </a:solidFill>
              <a:latin typeface="udemy sans"/>
            </a:endParaRP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2800" b="0" i="0" u="none" strike="noStrike" cap="none" normalizeH="0" baseline="0" dirty="0">
              <a:ln>
                <a:noFill/>
              </a:ln>
              <a:solidFill>
                <a:srgbClr val="1C1D1F"/>
              </a:solidFill>
              <a:effectLst/>
              <a:latin typeface="udemy sans"/>
            </a:endParaRPr>
          </a:p>
          <a:p>
            <a:pPr marL="0" indent="0">
              <a:buNone/>
            </a:pPr>
            <a:endParaRPr lang="es-MX" dirty="0"/>
          </a:p>
        </p:txBody>
      </p:sp>
      <p:sp>
        <p:nvSpPr>
          <p:cNvPr id="4" name="Marcador de pie de página 3">
            <a:extLst>
              <a:ext uri="{FF2B5EF4-FFF2-40B4-BE49-F238E27FC236}">
                <a16:creationId xmlns:a16="http://schemas.microsoft.com/office/drawing/2014/main" id="{CA1A9284-3394-DC5F-8D97-7204520B03D5}"/>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FEB59342-9291-192F-02B6-B2734B176359}"/>
              </a:ext>
            </a:extLst>
          </p:cNvPr>
          <p:cNvSpPr>
            <a:spLocks noGrp="1"/>
          </p:cNvSpPr>
          <p:nvPr>
            <p:ph type="sldNum" sz="quarter" idx="12"/>
          </p:nvPr>
        </p:nvSpPr>
        <p:spPr/>
        <p:txBody>
          <a:bodyPr/>
          <a:lstStyle/>
          <a:p>
            <a:fld id="{4EA4A3B0-B5DF-4E2B-B48F-E4B7B7872040}" type="slidenum">
              <a:rPr lang="es-MX" smtClean="0"/>
              <a:t>147</a:t>
            </a:fld>
            <a:endParaRPr lang="es-MX"/>
          </a:p>
        </p:txBody>
      </p:sp>
      <p:sp>
        <p:nvSpPr>
          <p:cNvPr id="6" name="Rectangle 1">
            <a:extLst>
              <a:ext uri="{FF2B5EF4-FFF2-40B4-BE49-F238E27FC236}">
                <a16:creationId xmlns:a16="http://schemas.microsoft.com/office/drawing/2014/main" id="{51B34F27-ED89-6A20-7700-1402B08AF443}"/>
              </a:ext>
            </a:extLst>
          </p:cNvPr>
          <p:cNvSpPr>
            <a:spLocks noChangeArrowheads="1"/>
          </p:cNvSpPr>
          <p:nvPr/>
        </p:nvSpPr>
        <p:spPr bwMode="auto">
          <a:xfrm rot="21339389">
            <a:off x="712237" y="1734460"/>
            <a:ext cx="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MX" altLang="es-MX" sz="800" b="0" i="0" u="none" strike="noStrike" cap="none" normalizeH="0" baseline="0" dirty="0">
                <a:ln>
                  <a:noFill/>
                </a:ln>
                <a:solidFill>
                  <a:schemeClr val="tx1"/>
                </a:solidFill>
                <a:effectLst/>
              </a:rPr>
            </a:b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2989644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A1B55D0-9BA2-F2B1-8DBC-92C040604455}"/>
              </a:ext>
            </a:extLst>
          </p:cNvPr>
          <p:cNvSpPr>
            <a:spLocks noGrp="1"/>
          </p:cNvSpPr>
          <p:nvPr>
            <p:ph type="title"/>
          </p:nvPr>
        </p:nvSpPr>
        <p:spPr>
          <a:xfrm>
            <a:off x="686834" y="1153572"/>
            <a:ext cx="3200400" cy="4461163"/>
          </a:xfrm>
        </p:spPr>
        <p:txBody>
          <a:bodyPr>
            <a:normAutofit/>
          </a:bodyPr>
          <a:lstStyle/>
          <a:p>
            <a:r>
              <a:rPr lang="es-MX">
                <a:solidFill>
                  <a:srgbClr val="FFFFFF"/>
                </a:solidFill>
              </a:rPr>
              <a:t>pathlib</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1981BB89-354F-51C6-96D2-00DC52086AC9}"/>
              </a:ext>
            </a:extLst>
          </p:cNvPr>
          <p:cNvSpPr>
            <a:spLocks noGrp="1"/>
          </p:cNvSpPr>
          <p:nvPr>
            <p:ph idx="1"/>
          </p:nvPr>
        </p:nvSpPr>
        <p:spPr>
          <a:xfrm>
            <a:off x="4447308" y="591344"/>
            <a:ext cx="6906491" cy="5585619"/>
          </a:xfrm>
        </p:spPr>
        <p:txBody>
          <a:bodyPr anchor="ctr">
            <a:normAutofit/>
          </a:bodyPr>
          <a:lstStyle/>
          <a:p>
            <a:pPr marL="0" indent="0">
              <a:buNone/>
            </a:pPr>
            <a:r>
              <a:rPr lang="es-MX" sz="1500"/>
              <a:t>El módulo </a:t>
            </a:r>
            <a:r>
              <a:rPr lang="es-MX" sz="1500" err="1"/>
              <a:t>pathlib</a:t>
            </a:r>
            <a:r>
              <a:rPr lang="es-MX" sz="1500"/>
              <a:t>, disponible desde Python 3.4, permite crear objetos </a:t>
            </a:r>
            <a:r>
              <a:rPr lang="es-MX" sz="1500" err="1"/>
              <a:t>Path</a:t>
            </a:r>
            <a:r>
              <a:rPr lang="es-MX" sz="1500"/>
              <a:t>, generando rutas que pueden ser interpretadas por diferentes sistemas operativos y cuentan con una serie de propiedades útiles.</a:t>
            </a:r>
          </a:p>
          <a:p>
            <a:pPr marL="0" indent="0">
              <a:buNone/>
            </a:pPr>
            <a:r>
              <a:rPr lang="es-MX" sz="1500" err="1"/>
              <a:t>from</a:t>
            </a:r>
            <a:r>
              <a:rPr lang="es-MX" sz="1500"/>
              <a:t> </a:t>
            </a:r>
            <a:r>
              <a:rPr lang="es-MX" sz="1500" err="1"/>
              <a:t>pathlib</a:t>
            </a:r>
            <a:r>
              <a:rPr lang="es-MX" sz="1500"/>
              <a:t> </a:t>
            </a:r>
            <a:r>
              <a:rPr lang="es-MX" sz="1500" err="1"/>
              <a:t>import</a:t>
            </a:r>
            <a:r>
              <a:rPr lang="es-MX" sz="1500"/>
              <a:t> </a:t>
            </a:r>
            <a:r>
              <a:rPr lang="es-MX" sz="1500" err="1"/>
              <a:t>Path</a:t>
            </a:r>
            <a:r>
              <a:rPr lang="es-MX" sz="1500"/>
              <a:t> </a:t>
            </a:r>
          </a:p>
          <a:p>
            <a:pPr marL="0" indent="0">
              <a:buNone/>
            </a:pPr>
            <a:r>
              <a:rPr lang="es-MX" sz="1500"/>
              <a:t>ruta = </a:t>
            </a:r>
            <a:r>
              <a:rPr lang="es-MX" sz="1500" err="1"/>
              <a:t>Path</a:t>
            </a:r>
            <a:r>
              <a:rPr lang="es-MX" sz="1500"/>
              <a:t>("C:/Users/Usuario/Desktop")</a:t>
            </a:r>
          </a:p>
          <a:p>
            <a:pPr marL="0" indent="0">
              <a:buNone/>
            </a:pPr>
            <a:r>
              <a:rPr lang="es-MX" sz="1500"/>
              <a:t>A partir de una semántica sencilla, devuelve una ruta que el sistema puede comprender. Por ejemplo, en Windows, devolverá: C:\Users\Usuario\Desktop y en Mac: C:/Users/Usuario/Desktop </a:t>
            </a:r>
          </a:p>
          <a:p>
            <a:pPr marL="0" indent="0">
              <a:buNone/>
            </a:pPr>
            <a:r>
              <a:rPr lang="es-MX" sz="1500"/>
              <a:t>Navegación</a:t>
            </a:r>
          </a:p>
          <a:p>
            <a:pPr marL="0" indent="0">
              <a:buNone/>
            </a:pPr>
            <a:r>
              <a:rPr lang="es-MX" sz="1500"/>
              <a:t> ruta = </a:t>
            </a:r>
            <a:r>
              <a:rPr lang="es-MX" sz="1500" err="1"/>
              <a:t>Path</a:t>
            </a:r>
            <a:r>
              <a:rPr lang="es-MX" sz="1500"/>
              <a:t>("C:/Users/Usuario/Desktop") / "archivo.txt" </a:t>
            </a:r>
          </a:p>
          <a:p>
            <a:pPr marL="0" indent="0">
              <a:buNone/>
            </a:pPr>
            <a:r>
              <a:rPr lang="es-MX" sz="1500"/>
              <a:t>Es posible concatenar objetos </a:t>
            </a:r>
            <a:r>
              <a:rPr lang="es-MX" sz="1500" err="1"/>
              <a:t>Path</a:t>
            </a:r>
            <a:r>
              <a:rPr lang="es-MX" sz="1500"/>
              <a:t> y </a:t>
            </a:r>
            <a:r>
              <a:rPr lang="es-MX" sz="1500" err="1"/>
              <a:t>strings</a:t>
            </a:r>
            <a:r>
              <a:rPr lang="es-MX" sz="1500"/>
              <a:t> con el delimitador "/" para construir rutas completas. Algunos métodos y propiedades sobre objetos </a:t>
            </a:r>
          </a:p>
          <a:p>
            <a:pPr marL="0" indent="0">
              <a:buNone/>
            </a:pPr>
            <a:r>
              <a:rPr lang="es-MX" sz="1500"/>
              <a:t> </a:t>
            </a:r>
            <a:r>
              <a:rPr lang="es-MX" sz="1500" err="1"/>
              <a:t>read_text</a:t>
            </a:r>
            <a:r>
              <a:rPr lang="es-MX" sz="1500"/>
              <a:t>( ): lee el contenido del archivo sin necesidad de abrirlo y cerrarlo </a:t>
            </a:r>
            <a:r>
              <a:rPr lang="es-MX" sz="1500" err="1"/>
              <a:t>name</a:t>
            </a:r>
            <a:r>
              <a:rPr lang="es-MX" sz="1500"/>
              <a:t>: devuelve el nombre y extensión del archivo </a:t>
            </a:r>
          </a:p>
          <a:p>
            <a:pPr marL="0" indent="0">
              <a:buNone/>
            </a:pPr>
            <a:r>
              <a:rPr lang="es-MX" sz="1500" err="1"/>
              <a:t>suffix</a:t>
            </a:r>
            <a:r>
              <a:rPr lang="es-MX" sz="1500"/>
              <a:t>: devuelve la extensión del archivo (sufijo) </a:t>
            </a:r>
          </a:p>
          <a:p>
            <a:pPr marL="0" indent="0">
              <a:buNone/>
            </a:pPr>
            <a:r>
              <a:rPr lang="es-MX" sz="1500" err="1"/>
              <a:t>stem</a:t>
            </a:r>
            <a:r>
              <a:rPr lang="es-MX" sz="1500"/>
              <a:t>: devuelve el nombre del archivo sin su extensión (sufijo) </a:t>
            </a:r>
          </a:p>
          <a:p>
            <a:pPr marL="0" indent="0">
              <a:buNone/>
            </a:pPr>
            <a:r>
              <a:rPr lang="es-MX" sz="1500" err="1"/>
              <a:t>exists</a:t>
            </a:r>
            <a:r>
              <a:rPr lang="es-MX" sz="1500"/>
              <a:t>( ): verifica si el directorio o archivo al que referencia el objeto </a:t>
            </a:r>
            <a:r>
              <a:rPr lang="es-MX" sz="1500" err="1"/>
              <a:t>Path</a:t>
            </a:r>
            <a:r>
              <a:rPr lang="es-MX" sz="1500"/>
              <a:t> existe y devuelve un booleano de acuerdo al resultado (True/False)</a:t>
            </a:r>
          </a:p>
        </p:txBody>
      </p:sp>
      <p:sp>
        <p:nvSpPr>
          <p:cNvPr id="4" name="Marcador de pie de página 3">
            <a:extLst>
              <a:ext uri="{FF2B5EF4-FFF2-40B4-BE49-F238E27FC236}">
                <a16:creationId xmlns:a16="http://schemas.microsoft.com/office/drawing/2014/main" id="{343BB602-897C-4CCE-F34C-8C98B69D1069}"/>
              </a:ext>
            </a:extLst>
          </p:cNvPr>
          <p:cNvSpPr>
            <a:spLocks noGrp="1"/>
          </p:cNvSpPr>
          <p:nvPr>
            <p:ph type="ftr" sz="quarter" idx="11"/>
          </p:nvPr>
        </p:nvSpPr>
        <p:spPr>
          <a:xfrm>
            <a:off x="4038600" y="6356350"/>
            <a:ext cx="5251174" cy="365125"/>
          </a:xfrm>
        </p:spPr>
        <p:txBody>
          <a:bodyPr>
            <a:normAutofit/>
          </a:bodyPr>
          <a:lstStyle/>
          <a:p>
            <a:pPr>
              <a:spcAft>
                <a:spcPts val="600"/>
              </a:spcAft>
            </a:pPr>
            <a:r>
              <a:rPr lang="es-MX"/>
              <a:t>Arabots Robotics</a:t>
            </a:r>
          </a:p>
        </p:txBody>
      </p:sp>
      <p:sp>
        <p:nvSpPr>
          <p:cNvPr id="5" name="Marcador de número de diapositiva 4">
            <a:extLst>
              <a:ext uri="{FF2B5EF4-FFF2-40B4-BE49-F238E27FC236}">
                <a16:creationId xmlns:a16="http://schemas.microsoft.com/office/drawing/2014/main" id="{07F491A3-9085-A115-D770-71B7E42DAF61}"/>
              </a:ext>
            </a:extLst>
          </p:cNvPr>
          <p:cNvSpPr>
            <a:spLocks noGrp="1"/>
          </p:cNvSpPr>
          <p:nvPr>
            <p:ph type="sldNum" sz="quarter" idx="12"/>
          </p:nvPr>
        </p:nvSpPr>
        <p:spPr>
          <a:xfrm>
            <a:off x="9541564" y="6356350"/>
            <a:ext cx="1812235" cy="365125"/>
          </a:xfrm>
        </p:spPr>
        <p:txBody>
          <a:bodyPr>
            <a:normAutofit/>
          </a:bodyPr>
          <a:lstStyle/>
          <a:p>
            <a:pPr>
              <a:spcAft>
                <a:spcPts val="600"/>
              </a:spcAft>
            </a:pPr>
            <a:fld id="{4EA4A3B0-B5DF-4E2B-B48F-E4B7B7872040}" type="slidenum">
              <a:rPr lang="es-MX" smtClean="0"/>
              <a:pPr>
                <a:spcAft>
                  <a:spcPts val="600"/>
                </a:spcAft>
              </a:pPr>
              <a:t>148</a:t>
            </a:fld>
            <a:endParaRPr lang="es-MX"/>
          </a:p>
        </p:txBody>
      </p:sp>
    </p:spTree>
    <p:extLst>
      <p:ext uri="{BB962C8B-B14F-4D97-AF65-F5344CB8AC3E}">
        <p14:creationId xmlns:p14="http://schemas.microsoft.com/office/powerpoint/2010/main" val="5391297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D4ED5AF-DDAD-1BDE-AFE4-B57C1F66F56A}"/>
              </a:ext>
            </a:extLst>
          </p:cNvPr>
          <p:cNvSpPr>
            <a:spLocks noGrp="1"/>
          </p:cNvSpPr>
          <p:nvPr>
            <p:ph type="title"/>
          </p:nvPr>
        </p:nvSpPr>
        <p:spPr>
          <a:xfrm>
            <a:off x="686834" y="1153572"/>
            <a:ext cx="3200400" cy="4461163"/>
          </a:xfrm>
        </p:spPr>
        <p:txBody>
          <a:bodyPr>
            <a:normAutofit/>
          </a:bodyPr>
          <a:lstStyle/>
          <a:p>
            <a:r>
              <a:rPr lang="es-MX" b="0" i="0">
                <a:solidFill>
                  <a:srgbClr val="FFFFFF"/>
                </a:solidFill>
                <a:effectLst/>
                <a:latin typeface="udemy sans"/>
              </a:rPr>
              <a:t>Cuestionario 7: Preguntas sobre Pathlib</a:t>
            </a:r>
            <a:endParaRPr lang="es-MX">
              <a:solidFill>
                <a:srgbClr val="FFFFFF"/>
              </a:solidFill>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C72AAF43-3F8E-4918-71BF-56DA03DB3495}"/>
              </a:ext>
            </a:extLst>
          </p:cNvPr>
          <p:cNvSpPr>
            <a:spLocks noGrp="1"/>
          </p:cNvSpPr>
          <p:nvPr>
            <p:ph idx="1"/>
          </p:nvPr>
        </p:nvSpPr>
        <p:spPr>
          <a:xfrm>
            <a:off x="4447308" y="591344"/>
            <a:ext cx="6906491" cy="5585619"/>
          </a:xfrm>
        </p:spPr>
        <p:txBody>
          <a:bodyPr anchor="ctr">
            <a:normAutofit/>
          </a:bodyPr>
          <a:lstStyle/>
          <a:p>
            <a:pPr marL="0" indent="0">
              <a:buNone/>
            </a:pPr>
            <a:r>
              <a:rPr lang="es-MX" b="0" i="0">
                <a:effectLst/>
                <a:latin typeface="udemy sans"/>
              </a:rPr>
              <a:t>¿Cuál de las siguientes es una ventaja del módulo </a:t>
            </a:r>
            <a:r>
              <a:rPr lang="es-MX" b="0" i="0" err="1">
                <a:effectLst/>
                <a:latin typeface="udemy sans"/>
              </a:rPr>
              <a:t>Pathlib</a:t>
            </a:r>
            <a:r>
              <a:rPr lang="es-MX" b="0" i="0">
                <a:effectLst/>
                <a:latin typeface="udemy sans"/>
              </a:rPr>
              <a:t>?</a:t>
            </a:r>
          </a:p>
          <a:p>
            <a:r>
              <a:rPr lang="es-MX" b="0" i="0">
                <a:effectLst/>
                <a:latin typeface="udemy sans"/>
              </a:rPr>
              <a:t>¿Qué contendrá la variable ruta, luego de ejecutarse el código?</a:t>
            </a:r>
          </a:p>
          <a:p>
            <a:r>
              <a:rPr lang="es-MX" b="0" i="0">
                <a:effectLst/>
                <a:latin typeface="udemy sans"/>
              </a:rPr>
              <a:t>ruta = </a:t>
            </a:r>
            <a:r>
              <a:rPr lang="es-MX" b="0" i="0" err="1">
                <a:effectLst/>
                <a:latin typeface="udemy sans"/>
              </a:rPr>
              <a:t>PureWindowsPath</a:t>
            </a:r>
            <a:r>
              <a:rPr lang="es-MX" b="0" i="0">
                <a:effectLst/>
                <a:latin typeface="udemy sans"/>
              </a:rPr>
              <a:t>("C:/Users/Usuario/Desktop")</a:t>
            </a:r>
          </a:p>
          <a:p>
            <a:pPr marL="0" indent="0">
              <a:buNone/>
            </a:pPr>
            <a:r>
              <a:rPr lang="es-MX" b="0" i="0">
                <a:effectLst/>
                <a:latin typeface="udemy sans"/>
              </a:rPr>
              <a:t>¿Cuál de las siguientes propiedades utilizarías para verificar la extensión de un archivo?</a:t>
            </a:r>
            <a:endParaRPr lang="es-MX" dirty="0"/>
          </a:p>
        </p:txBody>
      </p:sp>
      <p:sp>
        <p:nvSpPr>
          <p:cNvPr id="4" name="Marcador de pie de página 3">
            <a:extLst>
              <a:ext uri="{FF2B5EF4-FFF2-40B4-BE49-F238E27FC236}">
                <a16:creationId xmlns:a16="http://schemas.microsoft.com/office/drawing/2014/main" id="{4B8CDC25-A576-BF21-5888-F214157A2299}"/>
              </a:ext>
            </a:extLst>
          </p:cNvPr>
          <p:cNvSpPr>
            <a:spLocks noGrp="1"/>
          </p:cNvSpPr>
          <p:nvPr>
            <p:ph type="ftr" sz="quarter" idx="11"/>
          </p:nvPr>
        </p:nvSpPr>
        <p:spPr>
          <a:xfrm>
            <a:off x="4038600" y="6356350"/>
            <a:ext cx="5251174" cy="365125"/>
          </a:xfrm>
        </p:spPr>
        <p:txBody>
          <a:bodyPr>
            <a:normAutofit/>
          </a:bodyPr>
          <a:lstStyle/>
          <a:p>
            <a:pPr>
              <a:spcAft>
                <a:spcPts val="600"/>
              </a:spcAft>
            </a:pPr>
            <a:r>
              <a:rPr lang="es-MX"/>
              <a:t>Arabots Robotics</a:t>
            </a:r>
          </a:p>
        </p:txBody>
      </p:sp>
      <p:sp>
        <p:nvSpPr>
          <p:cNvPr id="5" name="Marcador de número de diapositiva 4">
            <a:extLst>
              <a:ext uri="{FF2B5EF4-FFF2-40B4-BE49-F238E27FC236}">
                <a16:creationId xmlns:a16="http://schemas.microsoft.com/office/drawing/2014/main" id="{CDAF39D4-F54C-1CA6-7657-33ABE0A411F8}"/>
              </a:ext>
            </a:extLst>
          </p:cNvPr>
          <p:cNvSpPr>
            <a:spLocks noGrp="1"/>
          </p:cNvSpPr>
          <p:nvPr>
            <p:ph type="sldNum" sz="quarter" idx="12"/>
          </p:nvPr>
        </p:nvSpPr>
        <p:spPr>
          <a:xfrm>
            <a:off x="9541564" y="6356350"/>
            <a:ext cx="1812235" cy="365125"/>
          </a:xfrm>
        </p:spPr>
        <p:txBody>
          <a:bodyPr>
            <a:normAutofit/>
          </a:bodyPr>
          <a:lstStyle/>
          <a:p>
            <a:pPr>
              <a:spcAft>
                <a:spcPts val="600"/>
              </a:spcAft>
            </a:pPr>
            <a:fld id="{4EA4A3B0-B5DF-4E2B-B48F-E4B7B7872040}" type="slidenum">
              <a:rPr lang="es-MX" smtClean="0"/>
              <a:pPr>
                <a:spcAft>
                  <a:spcPts val="600"/>
                </a:spcAft>
              </a:pPr>
              <a:t>149</a:t>
            </a:fld>
            <a:endParaRPr lang="es-MX"/>
          </a:p>
        </p:txBody>
      </p:sp>
    </p:spTree>
    <p:extLst>
      <p:ext uri="{BB962C8B-B14F-4D97-AF65-F5344CB8AC3E}">
        <p14:creationId xmlns:p14="http://schemas.microsoft.com/office/powerpoint/2010/main" val="399134206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A261B2-5586-EE5B-0A87-605AFCA79687}"/>
              </a:ext>
            </a:extLst>
          </p:cNvPr>
          <p:cNvSpPr>
            <a:spLocks noGrp="1"/>
          </p:cNvSpPr>
          <p:nvPr>
            <p:ph type="title"/>
          </p:nvPr>
        </p:nvSpPr>
        <p:spPr/>
        <p:txBody>
          <a:bodyPr/>
          <a:lstStyle/>
          <a:p>
            <a:r>
              <a:rPr lang="es-MX" dirty="0" err="1"/>
              <a:t>Path</a:t>
            </a:r>
            <a:endParaRPr lang="es-MX" dirty="0"/>
          </a:p>
        </p:txBody>
      </p:sp>
      <p:sp>
        <p:nvSpPr>
          <p:cNvPr id="3" name="Marcador de contenido 2">
            <a:extLst>
              <a:ext uri="{FF2B5EF4-FFF2-40B4-BE49-F238E27FC236}">
                <a16:creationId xmlns:a16="http://schemas.microsoft.com/office/drawing/2014/main" id="{B678DAE6-2ACB-4E9D-F649-86EFF4BB2307}"/>
              </a:ext>
            </a:extLst>
          </p:cNvPr>
          <p:cNvSpPr>
            <a:spLocks noGrp="1"/>
          </p:cNvSpPr>
          <p:nvPr>
            <p:ph idx="1"/>
          </p:nvPr>
        </p:nvSpPr>
        <p:spPr>
          <a:xfrm>
            <a:off x="838200" y="1483567"/>
            <a:ext cx="10515600" cy="4693396"/>
          </a:xfrm>
        </p:spPr>
        <p:txBody>
          <a:bodyPr>
            <a:normAutofit/>
          </a:bodyPr>
          <a:lstStyle/>
          <a:p>
            <a:pPr marL="0" indent="0">
              <a:buNone/>
            </a:pPr>
            <a:r>
              <a:rPr lang="es-MX" sz="1600" dirty="0">
                <a:solidFill>
                  <a:schemeClr val="bg1"/>
                </a:solidFill>
              </a:rPr>
              <a:t>La clase </a:t>
            </a:r>
            <a:r>
              <a:rPr lang="es-MX" sz="1600" dirty="0" err="1">
                <a:solidFill>
                  <a:schemeClr val="bg1"/>
                </a:solidFill>
              </a:rPr>
              <a:t>Path</a:t>
            </a:r>
            <a:r>
              <a:rPr lang="es-MX" sz="1600" dirty="0">
                <a:solidFill>
                  <a:schemeClr val="bg1"/>
                </a:solidFill>
              </a:rPr>
              <a:t> permite representar rutas de archivos en el sistema de archivos de nuestro sistema operativo. Se destaca por su legibilidad frente a alternativas semejantes.</a:t>
            </a:r>
          </a:p>
          <a:p>
            <a:pPr marL="0" indent="0">
              <a:buNone/>
            </a:pPr>
            <a:r>
              <a:rPr lang="es-MX" sz="1600" dirty="0">
                <a:solidFill>
                  <a:schemeClr val="bg1"/>
                </a:solidFill>
              </a:rPr>
              <a:t>base = </a:t>
            </a:r>
            <a:r>
              <a:rPr lang="es-MX" sz="1600" dirty="0" err="1">
                <a:solidFill>
                  <a:schemeClr val="bg1"/>
                </a:solidFill>
              </a:rPr>
              <a:t>Path.home</a:t>
            </a:r>
            <a:r>
              <a:rPr lang="es-MX" sz="1600" dirty="0">
                <a:solidFill>
                  <a:schemeClr val="bg1"/>
                </a:solidFill>
              </a:rPr>
              <a:t>()         Devuelve un objeto </a:t>
            </a:r>
            <a:r>
              <a:rPr lang="es-MX" sz="1600" dirty="0" err="1">
                <a:solidFill>
                  <a:schemeClr val="bg1"/>
                </a:solidFill>
              </a:rPr>
              <a:t>Path</a:t>
            </a:r>
            <a:r>
              <a:rPr lang="es-MX" sz="1600" dirty="0">
                <a:solidFill>
                  <a:schemeClr val="bg1"/>
                </a:solidFill>
              </a:rPr>
              <a:t> representando el directorio base del usuario</a:t>
            </a:r>
          </a:p>
          <a:p>
            <a:pPr marL="0" indent="0">
              <a:buNone/>
            </a:pPr>
            <a:r>
              <a:rPr lang="es-MX" sz="1600" dirty="0">
                <a:solidFill>
                  <a:schemeClr val="bg1"/>
                </a:solidFill>
              </a:rPr>
              <a:t>ruta = </a:t>
            </a:r>
            <a:r>
              <a:rPr lang="es-MX" sz="1600" dirty="0" err="1">
                <a:solidFill>
                  <a:schemeClr val="bg1"/>
                </a:solidFill>
              </a:rPr>
              <a:t>Path</a:t>
            </a:r>
            <a:r>
              <a:rPr lang="es-MX" sz="1600" dirty="0">
                <a:solidFill>
                  <a:schemeClr val="bg1"/>
                </a:solidFill>
              </a:rPr>
              <a:t>(base, "Europa" , "Barcelona" , "SagradaFamilia.txt")</a:t>
            </a:r>
          </a:p>
          <a:p>
            <a:pPr marL="0" indent="0">
              <a:buNone/>
            </a:pPr>
            <a:r>
              <a:rPr lang="es-MX" sz="1600" dirty="0">
                <a:solidFill>
                  <a:schemeClr val="bg1"/>
                </a:solidFill>
              </a:rPr>
              <a:t>Se aceptan </a:t>
            </a:r>
            <a:r>
              <a:rPr lang="es-MX" sz="1600" dirty="0" err="1">
                <a:solidFill>
                  <a:schemeClr val="bg1"/>
                </a:solidFill>
              </a:rPr>
              <a:t>strings</a:t>
            </a:r>
            <a:r>
              <a:rPr lang="es-MX" sz="1600" dirty="0">
                <a:solidFill>
                  <a:schemeClr val="bg1"/>
                </a:solidFill>
              </a:rPr>
              <a:t> y otros objetos </a:t>
            </a:r>
            <a:r>
              <a:rPr lang="es-MX" sz="1600" dirty="0" err="1">
                <a:solidFill>
                  <a:schemeClr val="bg1"/>
                </a:solidFill>
              </a:rPr>
              <a:t>Path</a:t>
            </a:r>
            <a:endParaRPr lang="es-MX" sz="1600" dirty="0">
              <a:solidFill>
                <a:schemeClr val="bg1"/>
              </a:solidFill>
            </a:endParaRPr>
          </a:p>
          <a:p>
            <a:pPr marL="0" indent="0">
              <a:buNone/>
            </a:pPr>
            <a:r>
              <a:rPr lang="es-MX" sz="1600" dirty="0">
                <a:solidFill>
                  <a:schemeClr val="bg1"/>
                </a:solidFill>
              </a:rPr>
              <a:t>ruta2 = </a:t>
            </a:r>
            <a:r>
              <a:rPr lang="es-MX" sz="1600" dirty="0" err="1">
                <a:solidFill>
                  <a:schemeClr val="bg1"/>
                </a:solidFill>
              </a:rPr>
              <a:t>ruta.with_name</a:t>
            </a:r>
            <a:r>
              <a:rPr lang="es-MX" sz="1600" dirty="0">
                <a:solidFill>
                  <a:schemeClr val="bg1"/>
                </a:solidFill>
              </a:rPr>
              <a:t>("LaPedrera.txt")      Devuelve un nuevo objeto </a:t>
            </a:r>
            <a:r>
              <a:rPr lang="es-MX" sz="1600" dirty="0" err="1">
                <a:solidFill>
                  <a:schemeClr val="bg1"/>
                </a:solidFill>
              </a:rPr>
              <a:t>Path</a:t>
            </a:r>
            <a:r>
              <a:rPr lang="es-MX" sz="1600" dirty="0">
                <a:solidFill>
                  <a:schemeClr val="bg1"/>
                </a:solidFill>
              </a:rPr>
              <a:t> cambiando únicamente el nombre de archivo </a:t>
            </a:r>
          </a:p>
          <a:p>
            <a:pPr marL="0" indent="0">
              <a:buNone/>
            </a:pPr>
            <a:r>
              <a:rPr lang="es-MX" sz="1600" dirty="0">
                <a:solidFill>
                  <a:schemeClr val="bg1"/>
                </a:solidFill>
              </a:rPr>
              <a:t>Cada invocación de la propiedad </a:t>
            </a:r>
            <a:r>
              <a:rPr lang="es-MX" sz="1600" dirty="0" err="1">
                <a:solidFill>
                  <a:schemeClr val="bg1"/>
                </a:solidFill>
              </a:rPr>
              <a:t>parent</a:t>
            </a:r>
            <a:r>
              <a:rPr lang="es-MX" sz="1600" dirty="0">
                <a:solidFill>
                  <a:schemeClr val="bg1"/>
                </a:solidFill>
              </a:rPr>
              <a:t> devuelve la ruta de jerarquía inmediata superior </a:t>
            </a:r>
          </a:p>
          <a:p>
            <a:pPr marL="0" indent="0">
              <a:buNone/>
            </a:pPr>
            <a:r>
              <a:rPr lang="es-MX" sz="1600" dirty="0">
                <a:solidFill>
                  <a:schemeClr val="bg1"/>
                </a:solidFill>
              </a:rPr>
              <a:t>continente = </a:t>
            </a:r>
            <a:r>
              <a:rPr lang="es-MX" sz="1600" dirty="0" err="1">
                <a:solidFill>
                  <a:schemeClr val="bg1"/>
                </a:solidFill>
              </a:rPr>
              <a:t>ruta.parent.parent</a:t>
            </a:r>
            <a:r>
              <a:rPr lang="es-MX" sz="1600" dirty="0">
                <a:solidFill>
                  <a:schemeClr val="bg1"/>
                </a:solidFill>
              </a:rPr>
              <a:t> </a:t>
            </a:r>
          </a:p>
          <a:p>
            <a:pPr marL="0" indent="0">
              <a:buNone/>
            </a:pPr>
            <a:r>
              <a:rPr lang="es-MX" sz="1600" dirty="0">
                <a:solidFill>
                  <a:schemeClr val="bg1"/>
                </a:solidFill>
              </a:rPr>
              <a:t>&gt;&gt; C:\Users\...\Europa </a:t>
            </a:r>
          </a:p>
          <a:p>
            <a:pPr marL="0" indent="0">
              <a:buNone/>
            </a:pPr>
            <a:r>
              <a:rPr lang="es-MX" sz="1600" dirty="0" err="1">
                <a:solidFill>
                  <a:schemeClr val="bg1"/>
                </a:solidFill>
              </a:rPr>
              <a:t>print</a:t>
            </a:r>
            <a:r>
              <a:rPr lang="es-MX" sz="1600" dirty="0">
                <a:solidFill>
                  <a:schemeClr val="bg1"/>
                </a:solidFill>
              </a:rPr>
              <a:t>(continente)</a:t>
            </a:r>
          </a:p>
          <a:p>
            <a:pPr marL="0" indent="0">
              <a:buNone/>
            </a:pPr>
            <a:r>
              <a:rPr lang="es-MX" sz="1600" dirty="0">
                <a:solidFill>
                  <a:schemeClr val="bg1"/>
                </a:solidFill>
              </a:rPr>
              <a:t>Devuelve el conjunto de archivos que coinciden con el "patrón“</a:t>
            </a:r>
          </a:p>
          <a:p>
            <a:pPr marL="0" indent="0">
              <a:buNone/>
            </a:pPr>
            <a:r>
              <a:rPr lang="en-US" sz="1600" dirty="0">
                <a:solidFill>
                  <a:schemeClr val="bg1"/>
                </a:solidFill>
              </a:rPr>
              <a:t>Path(</a:t>
            </a:r>
            <a:r>
              <a:rPr lang="en-US" sz="1600" dirty="0" err="1">
                <a:solidFill>
                  <a:schemeClr val="bg1"/>
                </a:solidFill>
              </a:rPr>
              <a:t>ruta</a:t>
            </a:r>
            <a:r>
              <a:rPr lang="en-US" sz="1600" dirty="0">
                <a:solidFill>
                  <a:schemeClr val="bg1"/>
                </a:solidFill>
              </a:rPr>
              <a:t>).glob("*.txt") </a:t>
            </a:r>
          </a:p>
          <a:p>
            <a:pPr marL="0" indent="0">
              <a:buNone/>
            </a:pPr>
            <a:r>
              <a:rPr lang="en-US" sz="1600" dirty="0">
                <a:solidFill>
                  <a:schemeClr val="bg1"/>
                </a:solidFill>
              </a:rPr>
              <a:t>Path(</a:t>
            </a:r>
            <a:r>
              <a:rPr lang="en-US" sz="1600" dirty="0" err="1">
                <a:solidFill>
                  <a:schemeClr val="bg1"/>
                </a:solidFill>
              </a:rPr>
              <a:t>ruta</a:t>
            </a:r>
            <a:r>
              <a:rPr lang="en-US" sz="1600" dirty="0">
                <a:solidFill>
                  <a:schemeClr val="bg1"/>
                </a:solidFill>
              </a:rPr>
              <a:t>).glob("**/*.txt") </a:t>
            </a:r>
          </a:p>
          <a:p>
            <a:pPr marL="0" indent="0">
              <a:buNone/>
            </a:pPr>
            <a:r>
              <a:rPr lang="es-MX" sz="1600" dirty="0">
                <a:solidFill>
                  <a:schemeClr val="bg1"/>
                </a:solidFill>
              </a:rPr>
              <a:t>Búsqueda recursiva en subdirectorios</a:t>
            </a:r>
          </a:p>
        </p:txBody>
      </p:sp>
      <p:sp>
        <p:nvSpPr>
          <p:cNvPr id="4" name="Marcador de pie de página 3">
            <a:extLst>
              <a:ext uri="{FF2B5EF4-FFF2-40B4-BE49-F238E27FC236}">
                <a16:creationId xmlns:a16="http://schemas.microsoft.com/office/drawing/2014/main" id="{60C757EF-5BF2-7572-E003-A6AF3C38DCD0}"/>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5D7C5488-4655-903D-02ED-C36A094CBD93}"/>
              </a:ext>
            </a:extLst>
          </p:cNvPr>
          <p:cNvSpPr>
            <a:spLocks noGrp="1"/>
          </p:cNvSpPr>
          <p:nvPr>
            <p:ph type="sldNum" sz="quarter" idx="12"/>
          </p:nvPr>
        </p:nvSpPr>
        <p:spPr/>
        <p:txBody>
          <a:bodyPr/>
          <a:lstStyle/>
          <a:p>
            <a:fld id="{4EA4A3B0-B5DF-4E2B-B48F-E4B7B7872040}" type="slidenum">
              <a:rPr lang="es-MX" smtClean="0"/>
              <a:t>150</a:t>
            </a:fld>
            <a:endParaRPr lang="es-MX"/>
          </a:p>
        </p:txBody>
      </p:sp>
      <mc:AlternateContent xmlns:mc="http://schemas.openxmlformats.org/markup-compatibility/2006" xmlns:p14="http://schemas.microsoft.com/office/powerpoint/2010/main">
        <mc:Choice Requires="p14">
          <p:contentPart p14:bwMode="auto" r:id="rId2">
            <p14:nvContentPartPr>
              <p14:cNvPr id="6" name="Entrada de lápiz 5">
                <a:extLst>
                  <a:ext uri="{FF2B5EF4-FFF2-40B4-BE49-F238E27FC236}">
                    <a16:creationId xmlns:a16="http://schemas.microsoft.com/office/drawing/2014/main" id="{5B6B00BB-CE0C-1469-7D2E-4937F9873CC8}"/>
                  </a:ext>
                </a:extLst>
              </p14:cNvPr>
              <p14:cNvContentPartPr/>
              <p14:nvPr/>
            </p14:nvContentPartPr>
            <p14:xfrm>
              <a:off x="2511084" y="2018060"/>
              <a:ext cx="200520" cy="445680"/>
            </p14:xfrm>
          </p:contentPart>
        </mc:Choice>
        <mc:Fallback xmlns="">
          <p:pic>
            <p:nvPicPr>
              <p:cNvPr id="6" name="Entrada de lápiz 5">
                <a:extLst>
                  <a:ext uri="{FF2B5EF4-FFF2-40B4-BE49-F238E27FC236}">
                    <a16:creationId xmlns:a16="http://schemas.microsoft.com/office/drawing/2014/main" id="{5B6B00BB-CE0C-1469-7D2E-4937F9873CC8}"/>
                  </a:ext>
                </a:extLst>
              </p:cNvPr>
              <p:cNvPicPr/>
              <p:nvPr/>
            </p:nvPicPr>
            <p:blipFill>
              <a:blip r:embed="rId3"/>
              <a:stretch>
                <a:fillRect/>
              </a:stretch>
            </p:blipFill>
            <p:spPr>
              <a:xfrm>
                <a:off x="2502444" y="2009420"/>
                <a:ext cx="218160" cy="463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Entrada de lápiz 6">
                <a:extLst>
                  <a:ext uri="{FF2B5EF4-FFF2-40B4-BE49-F238E27FC236}">
                    <a16:creationId xmlns:a16="http://schemas.microsoft.com/office/drawing/2014/main" id="{09A983FF-D9A1-348F-14D1-56B92F14E518}"/>
                  </a:ext>
                </a:extLst>
              </p14:cNvPr>
              <p14:cNvContentPartPr/>
              <p14:nvPr/>
            </p14:nvContentPartPr>
            <p14:xfrm>
              <a:off x="4114524" y="3117140"/>
              <a:ext cx="96840" cy="83520"/>
            </p14:xfrm>
          </p:contentPart>
        </mc:Choice>
        <mc:Fallback xmlns="">
          <p:pic>
            <p:nvPicPr>
              <p:cNvPr id="7" name="Entrada de lápiz 6">
                <a:extLst>
                  <a:ext uri="{FF2B5EF4-FFF2-40B4-BE49-F238E27FC236}">
                    <a16:creationId xmlns:a16="http://schemas.microsoft.com/office/drawing/2014/main" id="{09A983FF-D9A1-348F-14D1-56B92F14E518}"/>
                  </a:ext>
                </a:extLst>
              </p:cNvPr>
              <p:cNvPicPr/>
              <p:nvPr/>
            </p:nvPicPr>
            <p:blipFill>
              <a:blip r:embed="rId5"/>
              <a:stretch>
                <a:fillRect/>
              </a:stretch>
            </p:blipFill>
            <p:spPr>
              <a:xfrm>
                <a:off x="4105884" y="3108140"/>
                <a:ext cx="114480" cy="101160"/>
              </a:xfrm>
              <a:prstGeom prst="rect">
                <a:avLst/>
              </a:prstGeom>
            </p:spPr>
          </p:pic>
        </mc:Fallback>
      </mc:AlternateContent>
    </p:spTree>
    <p:extLst>
      <p:ext uri="{BB962C8B-B14F-4D97-AF65-F5344CB8AC3E}">
        <p14:creationId xmlns:p14="http://schemas.microsoft.com/office/powerpoint/2010/main" val="263622488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A255A6E-A7AF-4457-1040-21680296D06B}"/>
              </a:ext>
            </a:extLst>
          </p:cNvPr>
          <p:cNvSpPr>
            <a:spLocks noGrp="1"/>
          </p:cNvSpPr>
          <p:nvPr>
            <p:ph type="title"/>
          </p:nvPr>
        </p:nvSpPr>
        <p:spPr>
          <a:xfrm>
            <a:off x="686834" y="1153572"/>
            <a:ext cx="3200400" cy="4461163"/>
          </a:xfrm>
        </p:spPr>
        <p:txBody>
          <a:bodyPr>
            <a:normAutofit/>
          </a:bodyPr>
          <a:lstStyle/>
          <a:p>
            <a:r>
              <a:rPr lang="es-MX">
                <a:solidFill>
                  <a:srgbClr val="FFFFFF"/>
                </a:solidFill>
              </a:rPr>
              <a:t>Ejercicios </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736AC654-CF4A-B5F0-C7FC-690CE25173F9}"/>
              </a:ext>
            </a:extLst>
          </p:cNvPr>
          <p:cNvSpPr>
            <a:spLocks noGrp="1"/>
          </p:cNvSpPr>
          <p:nvPr>
            <p:ph idx="1"/>
          </p:nvPr>
        </p:nvSpPr>
        <p:spPr>
          <a:xfrm>
            <a:off x="4447308" y="591344"/>
            <a:ext cx="6906491" cy="5585619"/>
          </a:xfrm>
        </p:spPr>
        <p:txBody>
          <a:bodyPr anchor="ctr">
            <a:normAutofit/>
          </a:bodyPr>
          <a:lstStyle/>
          <a:p>
            <a:pPr marL="0" marR="0" lvl="0" indent="0" defTabSz="914400" rtl="0" eaLnBrk="0" fontAlgn="base" latinLnBrk="0" hangingPunct="0">
              <a:spcBef>
                <a:spcPct val="0"/>
              </a:spcBef>
              <a:spcAft>
                <a:spcPct val="0"/>
              </a:spcAft>
              <a:buClrTx/>
              <a:buSzTx/>
              <a:buFontTx/>
              <a:buNone/>
              <a:tabLst/>
            </a:pPr>
            <a:r>
              <a:rPr kumimoji="0" lang="es-MX" altLang="es-MX" b="0" i="0" u="none" strike="noStrike" cap="none" normalizeH="0" baseline="0">
                <a:ln>
                  <a:noFill/>
                </a:ln>
                <a:effectLst/>
                <a:latin typeface="udemy sans"/>
              </a:rPr>
              <a:t>Almacena en la variable </a:t>
            </a:r>
            <a:r>
              <a:rPr kumimoji="0" lang="es-MX" altLang="es-MX" b="0" i="0" u="none" strike="noStrike" cap="none" normalizeH="0" baseline="0" err="1">
                <a:ln>
                  <a:noFill/>
                </a:ln>
                <a:effectLst/>
                <a:latin typeface="sfmono-regular"/>
              </a:rPr>
              <a:t>ruta_base</a:t>
            </a:r>
            <a:r>
              <a:rPr kumimoji="0" lang="es-MX" altLang="es-MX" b="0" i="0" u="none" strike="noStrike" cap="none" normalizeH="0" baseline="0">
                <a:ln>
                  <a:noFill/>
                </a:ln>
                <a:effectLst/>
                <a:latin typeface="udemy sans"/>
              </a:rPr>
              <a:t>, un objeto </a:t>
            </a:r>
            <a:r>
              <a:rPr kumimoji="0" lang="es-MX" altLang="es-MX" b="1" i="0" u="none" strike="noStrike" cap="none" normalizeH="0" baseline="0" err="1">
                <a:ln>
                  <a:noFill/>
                </a:ln>
                <a:effectLst/>
                <a:latin typeface="udemy sans"/>
              </a:rPr>
              <a:t>Path</a:t>
            </a:r>
            <a:r>
              <a:rPr kumimoji="0" lang="es-MX" altLang="es-MX" b="1" i="0" u="none" strike="noStrike" cap="none" normalizeH="0" baseline="0">
                <a:ln>
                  <a:noFill/>
                </a:ln>
                <a:effectLst/>
                <a:latin typeface="udemy sans"/>
              </a:rPr>
              <a:t> </a:t>
            </a:r>
            <a:r>
              <a:rPr kumimoji="0" lang="es-MX" altLang="es-MX" b="0" i="0" u="none" strike="noStrike" cap="none" normalizeH="0" baseline="0">
                <a:ln>
                  <a:noFill/>
                </a:ln>
                <a:effectLst/>
                <a:latin typeface="udemy sans"/>
              </a:rPr>
              <a:t>que señale el </a:t>
            </a:r>
            <a:r>
              <a:rPr kumimoji="0" lang="es-MX" altLang="es-MX" b="1" i="0" u="none" strike="noStrike" cap="none" normalizeH="0" baseline="0">
                <a:ln>
                  <a:noFill/>
                </a:ln>
                <a:effectLst/>
                <a:latin typeface="udemy sans"/>
              </a:rPr>
              <a:t>directorio base</a:t>
            </a:r>
            <a:r>
              <a:rPr kumimoji="0" lang="es-MX" altLang="es-MX" b="0" i="0" u="none" strike="noStrike" cap="none" normalizeH="0" baseline="0">
                <a:ln>
                  <a:noFill/>
                </a:ln>
                <a:effectLst/>
                <a:latin typeface="udemy sans"/>
              </a:rPr>
              <a:t> del usuario.</a:t>
            </a:r>
            <a:endParaRPr kumimoji="0" lang="es-MX" altLang="es-MX" b="0" i="0" u="none" strike="noStrike" cap="none" normalizeH="0" baseline="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b="0" i="0" u="none" strike="noStrike" cap="none" normalizeH="0" baseline="0">
                <a:ln>
                  <a:noFill/>
                </a:ln>
                <a:effectLst/>
                <a:latin typeface="udemy sans"/>
              </a:rPr>
              <a:t>Recuerda importar </a:t>
            </a:r>
            <a:r>
              <a:rPr kumimoji="0" lang="es-MX" altLang="es-MX" b="0" i="0" u="none" strike="noStrike" cap="none" normalizeH="0" baseline="0" err="1">
                <a:ln>
                  <a:noFill/>
                </a:ln>
                <a:effectLst/>
                <a:latin typeface="sfmono-regular"/>
              </a:rPr>
              <a:t>Path</a:t>
            </a:r>
            <a:r>
              <a:rPr kumimoji="0" lang="es-MX" altLang="es-MX" b="0" i="0" u="none" strike="noStrike" cap="none" normalizeH="0" baseline="0">
                <a:ln>
                  <a:noFill/>
                </a:ln>
                <a:effectLst/>
                <a:latin typeface="udemy sans"/>
              </a:rPr>
              <a:t> del módulo </a:t>
            </a:r>
            <a:r>
              <a:rPr kumimoji="0" lang="es-MX" altLang="es-MX" b="0" i="0" u="none" strike="noStrike" cap="none" normalizeH="0" baseline="0" err="1">
                <a:ln>
                  <a:noFill/>
                </a:ln>
                <a:effectLst/>
                <a:latin typeface="sfmono-regular"/>
              </a:rPr>
              <a:t>pathlib</a:t>
            </a:r>
            <a:r>
              <a:rPr kumimoji="0" lang="es-MX" altLang="es-MX" b="0" i="0" u="none" strike="noStrike" cap="none" normalizeH="0" baseline="0">
                <a:ln>
                  <a:noFill/>
                </a:ln>
                <a:effectLst/>
                <a:latin typeface="udemy sans"/>
              </a:rPr>
              <a:t>, y utilizar el método </a:t>
            </a:r>
            <a:r>
              <a:rPr kumimoji="0" lang="es-MX" altLang="es-MX" b="0" i="0" u="none" strike="noStrike" cap="none" normalizeH="0" baseline="0">
                <a:ln>
                  <a:noFill/>
                </a:ln>
                <a:effectLst/>
                <a:latin typeface="sfmono-regular"/>
              </a:rPr>
              <a:t>home()</a:t>
            </a:r>
          </a:p>
          <a:p>
            <a:pPr marL="0" marR="0" lvl="0" indent="0" defTabSz="914400" rtl="0" eaLnBrk="0" fontAlgn="base" latinLnBrk="0" hangingPunct="0">
              <a:spcBef>
                <a:spcPct val="0"/>
              </a:spcBef>
              <a:spcAft>
                <a:spcPct val="0"/>
              </a:spcAft>
              <a:buClrTx/>
              <a:buSzTx/>
              <a:buFontTx/>
              <a:buNone/>
              <a:tabLst/>
            </a:pPr>
            <a:endParaRPr kumimoji="0" lang="es-MX" altLang="es-MX" b="0" i="0" u="none" strike="noStrike" cap="none" normalizeH="0" baseline="0">
              <a:ln>
                <a:noFill/>
              </a:ln>
              <a:effectLst/>
              <a:latin typeface="sfmono-regular"/>
            </a:endParaRPr>
          </a:p>
          <a:p>
            <a:pPr marL="0" marR="0" lvl="0" indent="0" defTabSz="914400" rtl="0" eaLnBrk="0" fontAlgn="base" latinLnBrk="0" hangingPunct="0">
              <a:spcBef>
                <a:spcPct val="0"/>
              </a:spcBef>
              <a:spcAft>
                <a:spcPct val="0"/>
              </a:spcAft>
              <a:buClrTx/>
              <a:buSzTx/>
              <a:buFontTx/>
              <a:buNone/>
              <a:tabLst/>
            </a:pPr>
            <a:r>
              <a:rPr lang="es-MX" b="0" i="0">
                <a:effectLst/>
                <a:latin typeface="udemy sans"/>
              </a:rPr>
              <a:t>Implementa y crea una ruta </a:t>
            </a:r>
            <a:r>
              <a:rPr lang="es-MX" b="1" i="1">
                <a:effectLst/>
                <a:latin typeface="udemy sans"/>
              </a:rPr>
              <a:t>relativa </a:t>
            </a:r>
            <a:r>
              <a:rPr lang="es-MX" b="0" i="0">
                <a:effectLst/>
                <a:latin typeface="udemy sans"/>
              </a:rPr>
              <a:t>que nos permita llegar al archivo "practicas_path.py" a partir de la siguiente estructura de carpetas:</a:t>
            </a:r>
            <a:endParaRPr lang="es-MX">
              <a:latin typeface="sfmono-regular"/>
            </a:endParaRPr>
          </a:p>
          <a:p>
            <a:pPr marL="0" marR="0" lvl="0" indent="0" defTabSz="914400" rtl="0" eaLnBrk="0" fontAlgn="base" latinLnBrk="0" hangingPunct="0">
              <a:spcBef>
                <a:spcPct val="0"/>
              </a:spcBef>
              <a:spcAft>
                <a:spcPct val="0"/>
              </a:spcAft>
              <a:buClrTx/>
              <a:buSzTx/>
              <a:buFontTx/>
              <a:buNone/>
              <a:tabLst/>
            </a:pPr>
            <a:endParaRPr kumimoji="0" lang="es-MX" altLang="es-MX" b="0" i="0" u="none" strike="noStrike" cap="none" normalizeH="0" baseline="0">
              <a:ln>
                <a:noFill/>
              </a:ln>
              <a:effectLst/>
              <a:latin typeface="sfmono-regular"/>
            </a:endParaRPr>
          </a:p>
          <a:p>
            <a:pPr marL="0" marR="0" lvl="0" indent="0" defTabSz="914400" rtl="0" eaLnBrk="0" fontAlgn="base" latinLnBrk="0" hangingPunct="0">
              <a:spcBef>
                <a:spcPct val="0"/>
              </a:spcBef>
              <a:spcAft>
                <a:spcPct val="0"/>
              </a:spcAft>
              <a:buClrTx/>
              <a:buSzTx/>
              <a:buFontTx/>
              <a:buNone/>
              <a:tabLst/>
            </a:pPr>
            <a:r>
              <a:rPr lang="es-MX" b="0" i="0">
                <a:effectLst/>
                <a:latin typeface="udemy sans"/>
              </a:rPr>
              <a:t>Implementa y crea una ruta </a:t>
            </a:r>
            <a:r>
              <a:rPr lang="es-MX" b="1" i="1">
                <a:effectLst/>
                <a:latin typeface="udemy sans"/>
              </a:rPr>
              <a:t>absoluta </a:t>
            </a:r>
            <a:r>
              <a:rPr lang="es-MX" b="0" i="0">
                <a:effectLst/>
                <a:latin typeface="udemy sans"/>
              </a:rPr>
              <a:t>que nos permita llegar al archivo "practicas_path.py" a partir de la siguiente estructura de carpetas:</a:t>
            </a:r>
            <a:endParaRPr kumimoji="0" lang="es-MX" altLang="es-MX" b="0" i="0" u="none" strike="noStrike" cap="none" normalizeH="0" baseline="0">
              <a:ln>
                <a:noFill/>
              </a:ln>
              <a:effectLst/>
              <a:latin typeface="Arial" panose="020B0604020202020204" pitchFamily="34" charset="0"/>
            </a:endParaRPr>
          </a:p>
          <a:p>
            <a:pPr marL="0" indent="0">
              <a:buNone/>
            </a:pPr>
            <a:endParaRPr lang="es-MX" dirty="0"/>
          </a:p>
        </p:txBody>
      </p:sp>
      <p:sp>
        <p:nvSpPr>
          <p:cNvPr id="4" name="Marcador de pie de página 3">
            <a:extLst>
              <a:ext uri="{FF2B5EF4-FFF2-40B4-BE49-F238E27FC236}">
                <a16:creationId xmlns:a16="http://schemas.microsoft.com/office/drawing/2014/main" id="{18425018-935D-C7B6-F42D-ECA700693648}"/>
              </a:ext>
            </a:extLst>
          </p:cNvPr>
          <p:cNvSpPr>
            <a:spLocks noGrp="1"/>
          </p:cNvSpPr>
          <p:nvPr>
            <p:ph type="ftr" sz="quarter" idx="11"/>
          </p:nvPr>
        </p:nvSpPr>
        <p:spPr>
          <a:xfrm>
            <a:off x="4038600" y="6356350"/>
            <a:ext cx="5251174" cy="365125"/>
          </a:xfrm>
        </p:spPr>
        <p:txBody>
          <a:bodyPr>
            <a:normAutofit/>
          </a:bodyPr>
          <a:lstStyle/>
          <a:p>
            <a:pPr>
              <a:spcAft>
                <a:spcPts val="600"/>
              </a:spcAft>
            </a:pPr>
            <a:r>
              <a:rPr lang="es-MX"/>
              <a:t>Arabots Robotics</a:t>
            </a:r>
          </a:p>
        </p:txBody>
      </p:sp>
      <p:sp>
        <p:nvSpPr>
          <p:cNvPr id="5" name="Marcador de número de diapositiva 4">
            <a:extLst>
              <a:ext uri="{FF2B5EF4-FFF2-40B4-BE49-F238E27FC236}">
                <a16:creationId xmlns:a16="http://schemas.microsoft.com/office/drawing/2014/main" id="{3B930ED7-B5D8-BDB8-A89A-715CDB96D1F9}"/>
              </a:ext>
            </a:extLst>
          </p:cNvPr>
          <p:cNvSpPr>
            <a:spLocks noGrp="1"/>
          </p:cNvSpPr>
          <p:nvPr>
            <p:ph type="sldNum" sz="quarter" idx="12"/>
          </p:nvPr>
        </p:nvSpPr>
        <p:spPr>
          <a:xfrm>
            <a:off x="9541564" y="6356350"/>
            <a:ext cx="1812235" cy="365125"/>
          </a:xfrm>
        </p:spPr>
        <p:txBody>
          <a:bodyPr>
            <a:normAutofit/>
          </a:bodyPr>
          <a:lstStyle/>
          <a:p>
            <a:pPr>
              <a:spcAft>
                <a:spcPts val="600"/>
              </a:spcAft>
            </a:pPr>
            <a:fld id="{4EA4A3B0-B5DF-4E2B-B48F-E4B7B7872040}" type="slidenum">
              <a:rPr lang="es-MX" smtClean="0"/>
              <a:pPr>
                <a:spcAft>
                  <a:spcPts val="600"/>
                </a:spcAft>
              </a:pPr>
              <a:t>151</a:t>
            </a:fld>
            <a:endParaRPr lang="es-MX"/>
          </a:p>
        </p:txBody>
      </p:sp>
      <p:sp>
        <p:nvSpPr>
          <p:cNvPr id="7" name="Rectangle 2">
            <a:extLst>
              <a:ext uri="{FF2B5EF4-FFF2-40B4-BE49-F238E27FC236}">
                <a16:creationId xmlns:a16="http://schemas.microsoft.com/office/drawing/2014/main" id="{99BBC0C2-8BC4-E0D8-9811-AD9816AA805C}"/>
              </a:ext>
            </a:extLst>
          </p:cNvPr>
          <p:cNvSpPr>
            <a:spLocks noChangeArrowheads="1"/>
          </p:cNvSpPr>
          <p:nvPr/>
        </p:nvSpPr>
        <p:spPr bwMode="auto">
          <a:xfrm>
            <a:off x="-285135" y="455225"/>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4902428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9990A92-26D7-31E1-89DA-8911948B749F}"/>
              </a:ext>
            </a:extLst>
          </p:cNvPr>
          <p:cNvSpPr>
            <a:spLocks noGrp="1"/>
          </p:cNvSpPr>
          <p:nvPr>
            <p:ph type="title"/>
          </p:nvPr>
        </p:nvSpPr>
        <p:spPr>
          <a:xfrm>
            <a:off x="686834" y="1153572"/>
            <a:ext cx="3200400" cy="4461163"/>
          </a:xfrm>
        </p:spPr>
        <p:txBody>
          <a:bodyPr>
            <a:normAutofit/>
          </a:bodyPr>
          <a:lstStyle/>
          <a:p>
            <a:r>
              <a:rPr lang="es-MX">
                <a:solidFill>
                  <a:srgbClr val="FFFFFF"/>
                </a:solidFill>
              </a:rPr>
              <a:t>limpiar la consola</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5F42E4D6-8ED4-B46D-8EB6-17B034F9BEB9}"/>
              </a:ext>
            </a:extLst>
          </p:cNvPr>
          <p:cNvSpPr>
            <a:spLocks noGrp="1"/>
          </p:cNvSpPr>
          <p:nvPr>
            <p:ph idx="1"/>
          </p:nvPr>
        </p:nvSpPr>
        <p:spPr>
          <a:xfrm>
            <a:off x="4447308" y="591344"/>
            <a:ext cx="6906491" cy="5585619"/>
          </a:xfrm>
        </p:spPr>
        <p:txBody>
          <a:bodyPr anchor="ctr">
            <a:normAutofit/>
          </a:bodyPr>
          <a:lstStyle/>
          <a:p>
            <a:pPr marL="0" indent="0">
              <a:buNone/>
            </a:pPr>
            <a:r>
              <a:rPr lang="es-MX" dirty="0"/>
              <a:t>Para controlar la información mostrada al usuario en consola podemos limpiarla, eliminando los diferentes mensajes que han aparecido conforme se va ejecutando el programa. </a:t>
            </a:r>
          </a:p>
          <a:p>
            <a:pPr marL="0" indent="0">
              <a:buNone/>
            </a:pPr>
            <a:r>
              <a:rPr lang="es-MX" dirty="0" err="1"/>
              <a:t>from</a:t>
            </a:r>
            <a:r>
              <a:rPr lang="es-MX" dirty="0"/>
              <a:t> os </a:t>
            </a:r>
            <a:r>
              <a:rPr lang="es-MX" dirty="0" err="1"/>
              <a:t>import</a:t>
            </a:r>
            <a:r>
              <a:rPr lang="es-MX" dirty="0"/>
              <a:t> </a:t>
            </a:r>
            <a:r>
              <a:rPr lang="es-MX" dirty="0" err="1"/>
              <a:t>system</a:t>
            </a:r>
            <a:r>
              <a:rPr lang="es-MX" dirty="0"/>
              <a:t>}</a:t>
            </a:r>
          </a:p>
          <a:p>
            <a:pPr marL="0" indent="0">
              <a:buNone/>
            </a:pPr>
            <a:r>
              <a:rPr lang="es-MX" dirty="0"/>
              <a:t>En Unix/Linux/MacOS:</a:t>
            </a:r>
          </a:p>
          <a:p>
            <a:pPr marL="0" indent="0">
              <a:buNone/>
            </a:pPr>
            <a:r>
              <a:rPr lang="es-MX" dirty="0" err="1"/>
              <a:t>system</a:t>
            </a:r>
            <a:r>
              <a:rPr lang="es-MX" dirty="0"/>
              <a:t>("</a:t>
            </a:r>
            <a:r>
              <a:rPr lang="es-MX" dirty="0" err="1"/>
              <a:t>clear</a:t>
            </a:r>
            <a:r>
              <a:rPr lang="es-MX" dirty="0"/>
              <a:t>")</a:t>
            </a:r>
          </a:p>
          <a:p>
            <a:pPr marL="0" indent="0">
              <a:buNone/>
            </a:pPr>
            <a:r>
              <a:rPr lang="es-MX" dirty="0"/>
              <a:t> En DOS/Windows:</a:t>
            </a:r>
          </a:p>
          <a:p>
            <a:pPr marL="0" indent="0">
              <a:buNone/>
            </a:pPr>
            <a:r>
              <a:rPr lang="es-MX" dirty="0" err="1"/>
              <a:t>system</a:t>
            </a:r>
            <a:r>
              <a:rPr lang="es-MX" dirty="0"/>
              <a:t>("</a:t>
            </a:r>
            <a:r>
              <a:rPr lang="es-MX" dirty="0" err="1"/>
              <a:t>cls</a:t>
            </a:r>
            <a:r>
              <a:rPr lang="es-MX" dirty="0"/>
              <a:t>")</a:t>
            </a:r>
          </a:p>
        </p:txBody>
      </p:sp>
      <p:sp>
        <p:nvSpPr>
          <p:cNvPr id="4" name="Marcador de pie de página 3">
            <a:extLst>
              <a:ext uri="{FF2B5EF4-FFF2-40B4-BE49-F238E27FC236}">
                <a16:creationId xmlns:a16="http://schemas.microsoft.com/office/drawing/2014/main" id="{519CE884-BDAB-2914-FA46-AA1CB72E4127}"/>
              </a:ext>
            </a:extLst>
          </p:cNvPr>
          <p:cNvSpPr>
            <a:spLocks noGrp="1"/>
          </p:cNvSpPr>
          <p:nvPr>
            <p:ph type="ftr" sz="quarter" idx="11"/>
          </p:nvPr>
        </p:nvSpPr>
        <p:spPr>
          <a:xfrm>
            <a:off x="4038600" y="6356350"/>
            <a:ext cx="5251174" cy="365125"/>
          </a:xfrm>
        </p:spPr>
        <p:txBody>
          <a:bodyPr>
            <a:normAutofit/>
          </a:bodyPr>
          <a:lstStyle/>
          <a:p>
            <a:pPr>
              <a:spcAft>
                <a:spcPts val="600"/>
              </a:spcAft>
            </a:pPr>
            <a:r>
              <a:rPr lang="es-MX"/>
              <a:t>Arabots Robotics</a:t>
            </a:r>
          </a:p>
        </p:txBody>
      </p:sp>
      <p:sp>
        <p:nvSpPr>
          <p:cNvPr id="5" name="Marcador de número de diapositiva 4">
            <a:extLst>
              <a:ext uri="{FF2B5EF4-FFF2-40B4-BE49-F238E27FC236}">
                <a16:creationId xmlns:a16="http://schemas.microsoft.com/office/drawing/2014/main" id="{A3C43684-362E-2D15-78E4-94A122A4CF66}"/>
              </a:ext>
            </a:extLst>
          </p:cNvPr>
          <p:cNvSpPr>
            <a:spLocks noGrp="1"/>
          </p:cNvSpPr>
          <p:nvPr>
            <p:ph type="sldNum" sz="quarter" idx="12"/>
          </p:nvPr>
        </p:nvSpPr>
        <p:spPr>
          <a:xfrm>
            <a:off x="9541564" y="6356350"/>
            <a:ext cx="1812235" cy="365125"/>
          </a:xfrm>
        </p:spPr>
        <p:txBody>
          <a:bodyPr>
            <a:normAutofit/>
          </a:bodyPr>
          <a:lstStyle/>
          <a:p>
            <a:pPr>
              <a:spcAft>
                <a:spcPts val="600"/>
              </a:spcAft>
            </a:pPr>
            <a:fld id="{4EA4A3B0-B5DF-4E2B-B48F-E4B7B7872040}" type="slidenum">
              <a:rPr lang="es-MX" smtClean="0"/>
              <a:pPr>
                <a:spcAft>
                  <a:spcPts val="600"/>
                </a:spcAft>
              </a:pPr>
              <a:t>152</a:t>
            </a:fld>
            <a:endParaRPr lang="es-MX"/>
          </a:p>
        </p:txBody>
      </p:sp>
    </p:spTree>
    <p:extLst>
      <p:ext uri="{BB962C8B-B14F-4D97-AF65-F5344CB8AC3E}">
        <p14:creationId xmlns:p14="http://schemas.microsoft.com/office/powerpoint/2010/main" val="83068842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7C59BEC-C4CC-4741-B975-08C543178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Arc 13">
            <a:extLst>
              <a:ext uri="{FF2B5EF4-FFF2-40B4-BE49-F238E27FC236}">
                <a16:creationId xmlns:a16="http://schemas.microsoft.com/office/drawing/2014/main" id="{72DEF309-605D-4117-9340-6D589B6C3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6173" flipV="1">
            <a:off x="3930947" y="651615"/>
            <a:ext cx="4083433" cy="408343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ítulo 1">
            <a:extLst>
              <a:ext uri="{FF2B5EF4-FFF2-40B4-BE49-F238E27FC236}">
                <a16:creationId xmlns:a16="http://schemas.microsoft.com/office/drawing/2014/main" id="{8D3CEB68-DAAA-88E4-BF8C-C16F9A0A6358}"/>
              </a:ext>
            </a:extLst>
          </p:cNvPr>
          <p:cNvSpPr>
            <a:spLocks noGrp="1"/>
          </p:cNvSpPr>
          <p:nvPr>
            <p:ph type="title"/>
          </p:nvPr>
        </p:nvSpPr>
        <p:spPr>
          <a:xfrm>
            <a:off x="838200" y="365125"/>
            <a:ext cx="10515599" cy="1325563"/>
          </a:xfrm>
        </p:spPr>
        <p:txBody>
          <a:bodyPr>
            <a:normAutofit/>
          </a:bodyPr>
          <a:lstStyle/>
          <a:p>
            <a:r>
              <a:rPr lang="es-MX" dirty="0"/>
              <a:t>Archivo + Funciones </a:t>
            </a:r>
          </a:p>
        </p:txBody>
      </p:sp>
      <p:sp>
        <p:nvSpPr>
          <p:cNvPr id="3" name="Marcador de contenido 2">
            <a:extLst>
              <a:ext uri="{FF2B5EF4-FFF2-40B4-BE49-F238E27FC236}">
                <a16:creationId xmlns:a16="http://schemas.microsoft.com/office/drawing/2014/main" id="{CD1E7E91-44AA-9DED-8520-7EE01EDB4966}"/>
              </a:ext>
            </a:extLst>
          </p:cNvPr>
          <p:cNvSpPr>
            <a:spLocks noGrp="1"/>
          </p:cNvSpPr>
          <p:nvPr>
            <p:ph idx="1"/>
          </p:nvPr>
        </p:nvSpPr>
        <p:spPr>
          <a:xfrm>
            <a:off x="838200" y="1825625"/>
            <a:ext cx="5393361" cy="4351338"/>
          </a:xfrm>
        </p:spPr>
        <p:txBody>
          <a:bodyPr>
            <a:normAutofit/>
          </a:bodyPr>
          <a:lstStyle/>
          <a:p>
            <a:pPr marL="0" indent="0">
              <a:buNone/>
            </a:pPr>
            <a:r>
              <a:rPr lang="es-MX" dirty="0"/>
              <a:t>Recordatorio: puedes crear funciones para que ejecuten código cada vez que sean invocadas, evitando repeticiones y facilitando su lectura. Esto aplica para todo Python, y desde luego también cuando manipulamos archivos.</a:t>
            </a:r>
          </a:p>
          <a:p>
            <a:pPr marL="0" indent="0">
              <a:buNone/>
            </a:pPr>
            <a:endParaRPr lang="es-MX" dirty="0"/>
          </a:p>
        </p:txBody>
      </p:sp>
      <p:sp>
        <p:nvSpPr>
          <p:cNvPr id="16" name="Oval 15">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77008" y="5228027"/>
            <a:ext cx="1107241" cy="10772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Imagen 6">
            <a:extLst>
              <a:ext uri="{FF2B5EF4-FFF2-40B4-BE49-F238E27FC236}">
                <a16:creationId xmlns:a16="http://schemas.microsoft.com/office/drawing/2014/main" id="{65F065E1-F0F7-AAC5-3056-B392429A0BFE}"/>
              </a:ext>
            </a:extLst>
          </p:cNvPr>
          <p:cNvPicPr>
            <a:picLocks noChangeAspect="1"/>
          </p:cNvPicPr>
          <p:nvPr/>
        </p:nvPicPr>
        <p:blipFill>
          <a:blip r:embed="rId2"/>
          <a:stretch>
            <a:fillRect/>
          </a:stretch>
        </p:blipFill>
        <p:spPr>
          <a:xfrm>
            <a:off x="7109962" y="3734554"/>
            <a:ext cx="4221597" cy="2416864"/>
          </a:xfrm>
          <a:custGeom>
            <a:avLst/>
            <a:gdLst/>
            <a:ahLst/>
            <a:cxnLst/>
            <a:rect l="l" t="t" r="r" b="b"/>
            <a:pathLst>
              <a:path w="4221597" h="4303912">
                <a:moveTo>
                  <a:pt x="126986" y="0"/>
                </a:moveTo>
                <a:lnTo>
                  <a:pt x="4094611" y="0"/>
                </a:lnTo>
                <a:cubicBezTo>
                  <a:pt x="4164743" y="0"/>
                  <a:pt x="4221597" y="56854"/>
                  <a:pt x="4221597" y="126986"/>
                </a:cubicBezTo>
                <a:lnTo>
                  <a:pt x="4221597" y="4176926"/>
                </a:lnTo>
                <a:cubicBezTo>
                  <a:pt x="4221597" y="4247058"/>
                  <a:pt x="4164743" y="4303912"/>
                  <a:pt x="4094611" y="4303912"/>
                </a:cubicBezTo>
                <a:lnTo>
                  <a:pt x="126986" y="4303912"/>
                </a:lnTo>
                <a:cubicBezTo>
                  <a:pt x="56854" y="4303912"/>
                  <a:pt x="0" y="4247058"/>
                  <a:pt x="0" y="4176926"/>
                </a:cubicBezTo>
                <a:lnTo>
                  <a:pt x="0" y="126986"/>
                </a:lnTo>
                <a:cubicBezTo>
                  <a:pt x="0" y="56854"/>
                  <a:pt x="56854" y="0"/>
                  <a:pt x="126986" y="0"/>
                </a:cubicBezTo>
                <a:close/>
              </a:path>
            </a:pathLst>
          </a:custGeom>
        </p:spPr>
      </p:pic>
      <p:sp>
        <p:nvSpPr>
          <p:cNvPr id="4" name="Marcador de pie de página 3">
            <a:extLst>
              <a:ext uri="{FF2B5EF4-FFF2-40B4-BE49-F238E27FC236}">
                <a16:creationId xmlns:a16="http://schemas.microsoft.com/office/drawing/2014/main" id="{B036ACF9-D45B-FD04-38F6-53E699753B9D}"/>
              </a:ext>
            </a:extLst>
          </p:cNvPr>
          <p:cNvSpPr>
            <a:spLocks noGrp="1"/>
          </p:cNvSpPr>
          <p:nvPr>
            <p:ph type="ftr" sz="quarter" idx="11"/>
          </p:nvPr>
        </p:nvSpPr>
        <p:spPr>
          <a:xfrm>
            <a:off x="4038600" y="6356350"/>
            <a:ext cx="4114800" cy="365125"/>
          </a:xfrm>
        </p:spPr>
        <p:txBody>
          <a:bodyPr>
            <a:normAutofit/>
          </a:bodyPr>
          <a:lstStyle/>
          <a:p>
            <a:pPr>
              <a:spcAft>
                <a:spcPts val="600"/>
              </a:spcAft>
            </a:pPr>
            <a:r>
              <a:rPr lang="es-MX"/>
              <a:t>Arabots Robotics</a:t>
            </a:r>
          </a:p>
        </p:txBody>
      </p:sp>
      <p:sp>
        <p:nvSpPr>
          <p:cNvPr id="5" name="Marcador de número de diapositiva 4">
            <a:extLst>
              <a:ext uri="{FF2B5EF4-FFF2-40B4-BE49-F238E27FC236}">
                <a16:creationId xmlns:a16="http://schemas.microsoft.com/office/drawing/2014/main" id="{0ACECA22-D6D2-DF4D-0414-48937654D8F7}"/>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smtClean="0"/>
              <a:pPr>
                <a:spcAft>
                  <a:spcPts val="600"/>
                </a:spcAft>
              </a:pPr>
              <a:t>153</a:t>
            </a:fld>
            <a:endParaRPr lang="es-MX"/>
          </a:p>
        </p:txBody>
      </p:sp>
    </p:spTree>
    <p:extLst>
      <p:ext uri="{BB962C8B-B14F-4D97-AF65-F5344CB8AC3E}">
        <p14:creationId xmlns:p14="http://schemas.microsoft.com/office/powerpoint/2010/main" val="200258207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5113CF-B465-8E93-AEE3-024A44E1A502}"/>
              </a:ext>
            </a:extLst>
          </p:cNvPr>
          <p:cNvSpPr>
            <a:spLocks noGrp="1"/>
          </p:cNvSpPr>
          <p:nvPr>
            <p:ph type="title"/>
          </p:nvPr>
        </p:nvSpPr>
        <p:spPr/>
        <p:txBody>
          <a:bodyPr/>
          <a:lstStyle/>
          <a:p>
            <a:r>
              <a:rPr lang="es-MX" dirty="0"/>
              <a:t>Ejercicios</a:t>
            </a:r>
          </a:p>
        </p:txBody>
      </p:sp>
      <p:sp>
        <p:nvSpPr>
          <p:cNvPr id="3" name="Marcador de contenido 2">
            <a:extLst>
              <a:ext uri="{FF2B5EF4-FFF2-40B4-BE49-F238E27FC236}">
                <a16:creationId xmlns:a16="http://schemas.microsoft.com/office/drawing/2014/main" id="{F658297B-C680-E29C-6480-FD0741652B41}"/>
              </a:ext>
            </a:extLst>
          </p:cNvPr>
          <p:cNvSpPr>
            <a:spLocks noGrp="1"/>
          </p:cNvSpPr>
          <p:nvPr>
            <p:ph idx="1"/>
          </p:nvPr>
        </p:nvSpPr>
        <p:spPr/>
        <p:txBody>
          <a:bodyPr>
            <a:normAutofit fontScale="40000" lnSpcReduction="20000"/>
          </a:bodyPr>
          <a:lstStyle/>
          <a:p>
            <a:r>
              <a:rPr kumimoji="0" lang="es-MX" altLang="es-MX" sz="7000" b="0" i="0" u="none" strike="noStrike" cap="none" normalizeH="0" baseline="0" dirty="0">
                <a:ln>
                  <a:noFill/>
                </a:ln>
                <a:solidFill>
                  <a:schemeClr val="tx1">
                    <a:lumMod val="95000"/>
                    <a:lumOff val="5000"/>
                  </a:schemeClr>
                </a:solidFill>
                <a:effectLst/>
                <a:latin typeface="udemy sans"/>
              </a:rPr>
              <a:t>Crea una función llamada </a:t>
            </a:r>
            <a:r>
              <a:rPr kumimoji="0" lang="es-MX" altLang="es-MX" sz="7000" b="0" i="0" u="none" strike="noStrike" cap="none" normalizeH="0" baseline="0" dirty="0" err="1">
                <a:ln>
                  <a:noFill/>
                </a:ln>
                <a:solidFill>
                  <a:schemeClr val="tx1">
                    <a:lumMod val="95000"/>
                    <a:lumOff val="5000"/>
                  </a:schemeClr>
                </a:solidFill>
                <a:effectLst/>
                <a:latin typeface="sfmono-regular"/>
              </a:rPr>
              <a:t>abrir_leer</a:t>
            </a:r>
            <a:r>
              <a:rPr kumimoji="0" lang="es-MX" altLang="es-MX" sz="7000" b="0" i="0" u="none" strike="noStrike" cap="none" normalizeH="0" baseline="0" dirty="0">
                <a:ln>
                  <a:noFill/>
                </a:ln>
                <a:solidFill>
                  <a:schemeClr val="tx1">
                    <a:lumMod val="95000"/>
                    <a:lumOff val="5000"/>
                  </a:schemeClr>
                </a:solidFill>
                <a:effectLst/>
                <a:latin typeface="sfmono-regular"/>
              </a:rPr>
              <a:t>()</a:t>
            </a:r>
            <a:r>
              <a:rPr kumimoji="0" lang="es-MX" altLang="es-MX" sz="7000" b="0" i="0" u="none" strike="noStrike" cap="none" normalizeH="0" baseline="0" dirty="0">
                <a:ln>
                  <a:noFill/>
                </a:ln>
                <a:solidFill>
                  <a:schemeClr val="tx1">
                    <a:lumMod val="95000"/>
                    <a:lumOff val="5000"/>
                  </a:schemeClr>
                </a:solidFill>
                <a:effectLst/>
                <a:latin typeface="udemy sans"/>
              </a:rPr>
              <a:t> que abra (</a:t>
            </a:r>
            <a:r>
              <a:rPr kumimoji="0" lang="es-MX" altLang="es-MX" sz="7000" b="0" i="0" u="none" strike="noStrike" cap="none" normalizeH="0" baseline="0" dirty="0">
                <a:ln>
                  <a:noFill/>
                </a:ln>
                <a:solidFill>
                  <a:schemeClr val="tx1">
                    <a:lumMod val="95000"/>
                    <a:lumOff val="5000"/>
                  </a:schemeClr>
                </a:solidFill>
                <a:effectLst/>
                <a:latin typeface="sfmono-regular"/>
              </a:rPr>
              <a:t>open</a:t>
            </a:r>
            <a:r>
              <a:rPr kumimoji="0" lang="es-MX" altLang="es-MX" sz="7000" b="0" i="0" u="none" strike="noStrike" cap="none" normalizeH="0" baseline="0" dirty="0">
                <a:ln>
                  <a:noFill/>
                </a:ln>
                <a:solidFill>
                  <a:schemeClr val="tx1">
                    <a:lumMod val="95000"/>
                    <a:lumOff val="5000"/>
                  </a:schemeClr>
                </a:solidFill>
                <a:effectLst/>
                <a:latin typeface="udemy sans"/>
              </a:rPr>
              <a:t>) un archivo indicado como parámetro, y </a:t>
            </a:r>
            <a:r>
              <a:rPr kumimoji="0" lang="es-MX" altLang="es-MX" sz="7000" b="1" i="0" u="none" strike="noStrike" cap="none" normalizeH="0" baseline="0" dirty="0">
                <a:ln>
                  <a:noFill/>
                </a:ln>
                <a:solidFill>
                  <a:schemeClr val="tx1">
                    <a:lumMod val="95000"/>
                    <a:lumOff val="5000"/>
                  </a:schemeClr>
                </a:solidFill>
                <a:effectLst/>
                <a:latin typeface="udemy sans"/>
              </a:rPr>
              <a:t>devuelva </a:t>
            </a:r>
            <a:r>
              <a:rPr kumimoji="0" lang="es-MX" altLang="es-MX" sz="7000" b="0" i="0" u="none" strike="noStrike" cap="none" normalizeH="0" baseline="0" dirty="0">
                <a:ln>
                  <a:noFill/>
                </a:ln>
                <a:solidFill>
                  <a:schemeClr val="tx1">
                    <a:lumMod val="95000"/>
                    <a:lumOff val="5000"/>
                  </a:schemeClr>
                </a:solidFill>
                <a:effectLst/>
                <a:latin typeface="udemy sans"/>
              </a:rPr>
              <a:t>su contenido (</a:t>
            </a:r>
            <a:r>
              <a:rPr kumimoji="0" lang="es-MX" altLang="es-MX" sz="7000" b="0" i="0" u="none" strike="noStrike" cap="none" normalizeH="0" baseline="0" dirty="0" err="1">
                <a:ln>
                  <a:noFill/>
                </a:ln>
                <a:solidFill>
                  <a:schemeClr val="tx1">
                    <a:lumMod val="95000"/>
                    <a:lumOff val="5000"/>
                  </a:schemeClr>
                </a:solidFill>
                <a:effectLst/>
                <a:latin typeface="sfmono-regular"/>
              </a:rPr>
              <a:t>read</a:t>
            </a:r>
            <a:r>
              <a:rPr kumimoji="0" lang="es-MX" altLang="es-MX" sz="7000" b="0" i="0" u="none" strike="noStrike" cap="none" normalizeH="0" baseline="0" dirty="0">
                <a:ln>
                  <a:noFill/>
                </a:ln>
                <a:solidFill>
                  <a:schemeClr val="tx1">
                    <a:lumMod val="95000"/>
                    <a:lumOff val="5000"/>
                  </a:schemeClr>
                </a:solidFill>
                <a:effectLst/>
                <a:latin typeface="udemy sans"/>
              </a:rPr>
              <a:t>).</a:t>
            </a:r>
          </a:p>
          <a:p>
            <a:r>
              <a:rPr kumimoji="0" lang="es-MX" altLang="es-MX" sz="7000" b="0" i="0" u="none" strike="noStrike" cap="none" normalizeH="0" baseline="0" dirty="0">
                <a:ln>
                  <a:noFill/>
                </a:ln>
                <a:solidFill>
                  <a:schemeClr val="tx1">
                    <a:lumMod val="95000"/>
                    <a:lumOff val="5000"/>
                  </a:schemeClr>
                </a:solidFill>
                <a:effectLst/>
              </a:rPr>
              <a:t> </a:t>
            </a:r>
            <a:r>
              <a:rPr kumimoji="0" lang="es-MX" altLang="es-MX" sz="7000" b="0" i="0" u="none" strike="noStrike" cap="none" normalizeH="0" baseline="0" dirty="0">
                <a:ln>
                  <a:noFill/>
                </a:ln>
                <a:solidFill>
                  <a:schemeClr val="tx1">
                    <a:lumMod val="95000"/>
                    <a:lumOff val="5000"/>
                  </a:schemeClr>
                </a:solidFill>
                <a:effectLst/>
                <a:latin typeface="udemy sans"/>
              </a:rPr>
              <a:t>Crea una función llamada </a:t>
            </a:r>
            <a:r>
              <a:rPr kumimoji="0" lang="es-MX" altLang="es-MX" sz="7000" b="0" i="0" u="none" strike="noStrike" cap="none" normalizeH="0" baseline="0" dirty="0">
                <a:ln>
                  <a:noFill/>
                </a:ln>
                <a:solidFill>
                  <a:schemeClr val="tx1">
                    <a:lumMod val="95000"/>
                    <a:lumOff val="5000"/>
                  </a:schemeClr>
                </a:solidFill>
                <a:effectLst/>
                <a:latin typeface="sfmono-regular"/>
              </a:rPr>
              <a:t>sobrescribir()</a:t>
            </a:r>
            <a:r>
              <a:rPr kumimoji="0" lang="es-MX" altLang="es-MX" sz="7000" b="0" i="0" u="none" strike="noStrike" cap="none" normalizeH="0" baseline="0" dirty="0">
                <a:ln>
                  <a:noFill/>
                </a:ln>
                <a:solidFill>
                  <a:schemeClr val="tx1">
                    <a:lumMod val="95000"/>
                    <a:lumOff val="5000"/>
                  </a:schemeClr>
                </a:solidFill>
                <a:effectLst/>
                <a:latin typeface="udemy sans"/>
              </a:rPr>
              <a:t> que abra (</a:t>
            </a:r>
            <a:r>
              <a:rPr kumimoji="0" lang="es-MX" altLang="es-MX" sz="7000" b="0" i="0" u="none" strike="noStrike" cap="none" normalizeH="0" baseline="0" dirty="0">
                <a:ln>
                  <a:noFill/>
                </a:ln>
                <a:solidFill>
                  <a:schemeClr val="tx1">
                    <a:lumMod val="95000"/>
                    <a:lumOff val="5000"/>
                  </a:schemeClr>
                </a:solidFill>
                <a:effectLst/>
                <a:latin typeface="sfmono-regular"/>
              </a:rPr>
              <a:t>open</a:t>
            </a:r>
            <a:r>
              <a:rPr kumimoji="0" lang="es-MX" altLang="es-MX" sz="7000" b="0" i="0" u="none" strike="noStrike" cap="none" normalizeH="0" baseline="0" dirty="0">
                <a:ln>
                  <a:noFill/>
                </a:ln>
                <a:solidFill>
                  <a:schemeClr val="tx1">
                    <a:lumMod val="95000"/>
                    <a:lumOff val="5000"/>
                  </a:schemeClr>
                </a:solidFill>
                <a:effectLst/>
                <a:latin typeface="udemy sans"/>
              </a:rPr>
              <a:t>) un archivo indicado como parámetro, y sobrescriba cualquier contenido anterior por el texto "</a:t>
            </a:r>
            <a:r>
              <a:rPr kumimoji="0" lang="es-MX" altLang="es-MX" sz="7000" b="1" i="1" u="none" strike="noStrike" cap="none" normalizeH="0" baseline="0" dirty="0">
                <a:ln>
                  <a:noFill/>
                </a:ln>
                <a:solidFill>
                  <a:schemeClr val="tx1">
                    <a:lumMod val="95000"/>
                    <a:lumOff val="5000"/>
                  </a:schemeClr>
                </a:solidFill>
                <a:effectLst/>
                <a:latin typeface="udemy sans"/>
              </a:rPr>
              <a:t>contenido eliminado</a:t>
            </a:r>
            <a:r>
              <a:rPr kumimoji="0" lang="es-MX" altLang="es-MX" sz="7000" b="0" i="0" u="none" strike="noStrike" cap="none" normalizeH="0" baseline="0" dirty="0">
                <a:ln>
                  <a:noFill/>
                </a:ln>
                <a:solidFill>
                  <a:schemeClr val="tx1">
                    <a:lumMod val="95000"/>
                    <a:lumOff val="5000"/>
                  </a:schemeClr>
                </a:solidFill>
                <a:effectLst/>
                <a:latin typeface="udemy sans"/>
              </a:rPr>
              <a:t>"</a:t>
            </a:r>
            <a:r>
              <a:rPr kumimoji="0" lang="es-MX" altLang="es-MX" sz="7000" b="0" i="0" u="none" strike="noStrike" cap="none" normalizeH="0" baseline="0" dirty="0">
                <a:ln>
                  <a:noFill/>
                </a:ln>
                <a:solidFill>
                  <a:schemeClr val="tx1">
                    <a:lumMod val="95000"/>
                    <a:lumOff val="5000"/>
                  </a:schemeClr>
                </a:solidFill>
                <a:effectLst/>
              </a:rPr>
              <a:t> </a:t>
            </a:r>
          </a:p>
          <a:p>
            <a:r>
              <a:rPr kumimoji="0" lang="es-MX" altLang="es-MX" sz="7000" b="0" i="0" u="none" strike="noStrike" cap="none" normalizeH="0" baseline="0" dirty="0">
                <a:ln>
                  <a:noFill/>
                </a:ln>
                <a:solidFill>
                  <a:schemeClr val="tx1">
                    <a:lumMod val="95000"/>
                    <a:lumOff val="5000"/>
                  </a:schemeClr>
                </a:solidFill>
                <a:effectLst/>
                <a:latin typeface="udemy sans"/>
              </a:rPr>
              <a:t>Crea una función llamada </a:t>
            </a:r>
            <a:r>
              <a:rPr kumimoji="0" lang="es-MX" altLang="es-MX" sz="7000" b="0" i="0" u="none" strike="noStrike" cap="none" normalizeH="0" baseline="0" dirty="0" err="1">
                <a:ln>
                  <a:noFill/>
                </a:ln>
                <a:solidFill>
                  <a:schemeClr val="tx1">
                    <a:lumMod val="95000"/>
                    <a:lumOff val="5000"/>
                  </a:schemeClr>
                </a:solidFill>
                <a:effectLst/>
                <a:latin typeface="sfmono-regular"/>
              </a:rPr>
              <a:t>registro_error</a:t>
            </a:r>
            <a:r>
              <a:rPr kumimoji="0" lang="es-MX" altLang="es-MX" sz="7000" b="0" i="0" u="none" strike="noStrike" cap="none" normalizeH="0" baseline="0" dirty="0">
                <a:ln>
                  <a:noFill/>
                </a:ln>
                <a:solidFill>
                  <a:schemeClr val="tx1">
                    <a:lumMod val="95000"/>
                    <a:lumOff val="5000"/>
                  </a:schemeClr>
                </a:solidFill>
                <a:effectLst/>
                <a:latin typeface="sfmono-regular"/>
              </a:rPr>
              <a:t>()</a:t>
            </a:r>
            <a:r>
              <a:rPr kumimoji="0" lang="es-MX" altLang="es-MX" sz="7000" b="0" i="0" u="none" strike="noStrike" cap="none" normalizeH="0" baseline="0" dirty="0">
                <a:ln>
                  <a:noFill/>
                </a:ln>
                <a:solidFill>
                  <a:schemeClr val="tx1">
                    <a:lumMod val="95000"/>
                    <a:lumOff val="5000"/>
                  </a:schemeClr>
                </a:solidFill>
                <a:effectLst/>
                <a:latin typeface="udemy sans"/>
              </a:rPr>
              <a:t> que abra (</a:t>
            </a:r>
            <a:r>
              <a:rPr kumimoji="0" lang="es-MX" altLang="es-MX" sz="7000" b="0" i="0" u="none" strike="noStrike" cap="none" normalizeH="0" baseline="0" dirty="0">
                <a:ln>
                  <a:noFill/>
                </a:ln>
                <a:solidFill>
                  <a:schemeClr val="tx1">
                    <a:lumMod val="95000"/>
                    <a:lumOff val="5000"/>
                  </a:schemeClr>
                </a:solidFill>
                <a:effectLst/>
                <a:latin typeface="sfmono-regular"/>
              </a:rPr>
              <a:t>open</a:t>
            </a:r>
            <a:r>
              <a:rPr kumimoji="0" lang="es-MX" altLang="es-MX" sz="7000" b="0" i="0" u="none" strike="noStrike" cap="none" normalizeH="0" baseline="0" dirty="0">
                <a:ln>
                  <a:noFill/>
                </a:ln>
                <a:solidFill>
                  <a:schemeClr val="tx1">
                    <a:lumMod val="95000"/>
                    <a:lumOff val="5000"/>
                  </a:schemeClr>
                </a:solidFill>
                <a:effectLst/>
                <a:latin typeface="udemy sans"/>
              </a:rPr>
              <a:t>) un archivo indicado como parámetro, y lo actualice </a:t>
            </a:r>
            <a:r>
              <a:rPr kumimoji="0" lang="es-MX" altLang="es-MX" sz="7000" b="1" i="0" u="none" strike="noStrike" cap="none" normalizeH="0" baseline="0" dirty="0">
                <a:ln>
                  <a:noFill/>
                </a:ln>
                <a:solidFill>
                  <a:schemeClr val="tx1">
                    <a:lumMod val="95000"/>
                    <a:lumOff val="5000"/>
                  </a:schemeClr>
                </a:solidFill>
                <a:effectLst/>
                <a:latin typeface="udemy sans"/>
              </a:rPr>
              <a:t>añadiendo </a:t>
            </a:r>
            <a:r>
              <a:rPr kumimoji="0" lang="es-MX" altLang="es-MX" sz="7000" b="0" i="0" u="none" strike="noStrike" cap="none" normalizeH="0" baseline="0" dirty="0">
                <a:ln>
                  <a:noFill/>
                </a:ln>
                <a:solidFill>
                  <a:schemeClr val="tx1">
                    <a:lumMod val="95000"/>
                    <a:lumOff val="5000"/>
                  </a:schemeClr>
                </a:solidFill>
                <a:effectLst/>
                <a:latin typeface="udemy sans"/>
              </a:rPr>
              <a:t>una línea </a:t>
            </a:r>
            <a:r>
              <a:rPr kumimoji="0" lang="es-MX" altLang="es-MX" sz="7000" b="1" i="0" u="none" strike="noStrike" cap="none" normalizeH="0" baseline="0" dirty="0">
                <a:ln>
                  <a:noFill/>
                </a:ln>
                <a:solidFill>
                  <a:schemeClr val="tx1">
                    <a:lumMod val="95000"/>
                    <a:lumOff val="5000"/>
                  </a:schemeClr>
                </a:solidFill>
                <a:effectLst/>
                <a:latin typeface="udemy sans"/>
              </a:rPr>
              <a:t>al final </a:t>
            </a:r>
            <a:r>
              <a:rPr kumimoji="0" lang="es-MX" altLang="es-MX" sz="7000" b="0" i="0" u="none" strike="noStrike" cap="none" normalizeH="0" baseline="0" dirty="0">
                <a:ln>
                  <a:noFill/>
                </a:ln>
                <a:solidFill>
                  <a:schemeClr val="tx1">
                    <a:lumMod val="95000"/>
                    <a:lumOff val="5000"/>
                  </a:schemeClr>
                </a:solidFill>
                <a:effectLst/>
                <a:latin typeface="udemy sans"/>
              </a:rPr>
              <a:t>que indique </a:t>
            </a:r>
            <a:r>
              <a:rPr kumimoji="0" lang="es-MX" altLang="es-MX" sz="7000" b="1" i="1" u="none" strike="noStrike" cap="none" normalizeH="0" baseline="0" dirty="0">
                <a:ln>
                  <a:noFill/>
                </a:ln>
                <a:solidFill>
                  <a:schemeClr val="tx1">
                    <a:lumMod val="95000"/>
                    <a:lumOff val="5000"/>
                  </a:schemeClr>
                </a:solidFill>
                <a:effectLst/>
                <a:latin typeface="udemy sans"/>
              </a:rPr>
              <a:t>"se ha registrado un error de ejecución</a:t>
            </a:r>
            <a:r>
              <a:rPr kumimoji="0" lang="es-MX" altLang="es-MX" sz="7000" b="0" i="0" u="none" strike="noStrike" cap="none" normalizeH="0" baseline="0" dirty="0">
                <a:ln>
                  <a:noFill/>
                </a:ln>
                <a:solidFill>
                  <a:schemeClr val="tx1">
                    <a:lumMod val="95000"/>
                    <a:lumOff val="5000"/>
                  </a:schemeClr>
                </a:solidFill>
                <a:effectLst/>
                <a:latin typeface="udemy sans"/>
              </a:rPr>
              <a:t>". Finalmente, debe cerrar el archivo abierto.</a:t>
            </a:r>
            <a:r>
              <a:rPr kumimoji="0" lang="es-MX" altLang="es-MX" sz="7000" b="0" i="0" u="none" strike="noStrike" cap="none" normalizeH="0" baseline="0" dirty="0">
                <a:ln>
                  <a:noFill/>
                </a:ln>
                <a:solidFill>
                  <a:schemeClr val="tx1">
                    <a:lumMod val="95000"/>
                    <a:lumOff val="5000"/>
                  </a:schemeClr>
                </a:solidFill>
                <a:effectLst/>
              </a:rPr>
              <a:t> </a:t>
            </a:r>
            <a:endParaRPr kumimoji="0" lang="es-MX" altLang="es-MX" sz="7000" b="0" i="0" u="none" strike="noStrike" cap="none" normalizeH="0" baseline="0" dirty="0">
              <a:ln>
                <a:noFill/>
              </a:ln>
              <a:solidFill>
                <a:schemeClr val="tx1">
                  <a:lumMod val="95000"/>
                  <a:lumOff val="5000"/>
                </a:schemeClr>
              </a:solidFill>
              <a:effectLst/>
              <a:latin typeface="Arial" panose="020B0604020202020204" pitchFamily="34" charset="0"/>
            </a:endParaRPr>
          </a:p>
          <a:p>
            <a:endParaRPr kumimoji="0" lang="es-MX" altLang="es-MX" sz="9600" b="0" i="0" u="none" strike="noStrike" cap="none" normalizeH="0" baseline="0" dirty="0">
              <a:ln>
                <a:noFill/>
              </a:ln>
              <a:solidFill>
                <a:schemeClr val="tx1"/>
              </a:solidFill>
              <a:effectLst/>
              <a:latin typeface="Arial" panose="020B0604020202020204" pitchFamily="34" charset="0"/>
            </a:endParaRPr>
          </a:p>
          <a:p>
            <a:endParaRPr kumimoji="0" lang="es-MX" altLang="es-MX" sz="5400" b="0" i="0" u="none" strike="noStrike" cap="none" normalizeH="0" baseline="0" dirty="0">
              <a:ln>
                <a:noFill/>
              </a:ln>
              <a:solidFill>
                <a:schemeClr val="tx1"/>
              </a:solidFill>
              <a:effectLst/>
              <a:latin typeface="Arial" panose="020B0604020202020204" pitchFamily="34" charset="0"/>
            </a:endParaRPr>
          </a:p>
          <a:p>
            <a:pPr marL="0" indent="0">
              <a:buNone/>
            </a:pPr>
            <a:endParaRPr lang="es-MX" dirty="0"/>
          </a:p>
        </p:txBody>
      </p:sp>
      <p:sp>
        <p:nvSpPr>
          <p:cNvPr id="4" name="Marcador de pie de página 3">
            <a:extLst>
              <a:ext uri="{FF2B5EF4-FFF2-40B4-BE49-F238E27FC236}">
                <a16:creationId xmlns:a16="http://schemas.microsoft.com/office/drawing/2014/main" id="{F4866B74-FDFA-E55F-F484-988CE3F0F58D}"/>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B7129268-DB72-9CCB-8AA5-CFCEC8F86424}"/>
              </a:ext>
            </a:extLst>
          </p:cNvPr>
          <p:cNvSpPr>
            <a:spLocks noGrp="1"/>
          </p:cNvSpPr>
          <p:nvPr>
            <p:ph type="sldNum" sz="quarter" idx="12"/>
          </p:nvPr>
        </p:nvSpPr>
        <p:spPr/>
        <p:txBody>
          <a:bodyPr/>
          <a:lstStyle/>
          <a:p>
            <a:fld id="{4EA4A3B0-B5DF-4E2B-B48F-E4B7B7872040}" type="slidenum">
              <a:rPr lang="es-MX" smtClean="0"/>
              <a:t>154</a:t>
            </a:fld>
            <a:endParaRPr lang="es-MX"/>
          </a:p>
        </p:txBody>
      </p:sp>
      <p:sp>
        <p:nvSpPr>
          <p:cNvPr id="6" name="Rectangle 1">
            <a:extLst>
              <a:ext uri="{FF2B5EF4-FFF2-40B4-BE49-F238E27FC236}">
                <a16:creationId xmlns:a16="http://schemas.microsoft.com/office/drawing/2014/main" id="{5AF49231-B915-20B7-B32C-97BE67FBA891}"/>
              </a:ext>
            </a:extLst>
          </p:cNvPr>
          <p:cNvSpPr>
            <a:spLocks noChangeArrowheads="1"/>
          </p:cNvSpPr>
          <p:nvPr/>
        </p:nvSpPr>
        <p:spPr bwMode="auto">
          <a:xfrm>
            <a:off x="964642" y="2222864"/>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2701AD04-C310-F451-8BDA-6D27A930C7B3}"/>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9" name="Rectangle 4">
            <a:extLst>
              <a:ext uri="{FF2B5EF4-FFF2-40B4-BE49-F238E27FC236}">
                <a16:creationId xmlns:a16="http://schemas.microsoft.com/office/drawing/2014/main" id="{BB9AE07A-80E8-ABDF-B43F-B3FB44686D08}"/>
              </a:ext>
            </a:extLst>
          </p:cNvPr>
          <p:cNvSpPr>
            <a:spLocks noChangeArrowheads="1"/>
          </p:cNvSpPr>
          <p:nvPr/>
        </p:nvSpPr>
        <p:spPr bwMode="auto">
          <a:xfrm>
            <a:off x="-1073499" y="288181"/>
            <a:ext cx="80150" cy="1538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000" b="0" i="0" u="none" strike="noStrike" cap="none" normalizeH="0" baseline="0" dirty="0">
                <a:ln>
                  <a:noFill/>
                </a:ln>
                <a:solidFill>
                  <a:srgbClr val="1C1D1F"/>
                </a:solidFill>
                <a:effectLst/>
                <a:latin typeface="udemy sans"/>
              </a:rPr>
              <a:t>"</a:t>
            </a:r>
            <a:r>
              <a:rPr kumimoji="0" lang="es-MX" altLang="es-MX" sz="800" b="0" i="0" u="none" strike="noStrike" cap="none" normalizeH="0" baseline="0" dirty="0">
                <a:ln>
                  <a:noFill/>
                </a:ln>
                <a:solidFill>
                  <a:schemeClr val="tx1"/>
                </a:solidFill>
                <a:effectLst/>
              </a:rPr>
              <a:t> </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844738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Mano sosteniendo un bolígrafo sombreando un número en una hoja">
            <a:extLst>
              <a:ext uri="{FF2B5EF4-FFF2-40B4-BE49-F238E27FC236}">
                <a16:creationId xmlns:a16="http://schemas.microsoft.com/office/drawing/2014/main" id="{3E3CF383-6CBC-9739-F132-0CC8EAFA03F1}"/>
              </a:ext>
            </a:extLst>
          </p:cNvPr>
          <p:cNvPicPr>
            <a:picLocks noChangeAspect="1"/>
          </p:cNvPicPr>
          <p:nvPr/>
        </p:nvPicPr>
        <p:blipFill rotWithShape="1">
          <a:blip r:embed="rId2"/>
          <a:srcRect l="15628" r="-1" b="-1"/>
          <a:stretch/>
        </p:blipFill>
        <p:spPr>
          <a:xfrm>
            <a:off x="3523488" y="10"/>
            <a:ext cx="8668512" cy="6857990"/>
          </a:xfrm>
          <a:prstGeom prst="rect">
            <a:avLst/>
          </a:prstGeom>
        </p:spPr>
      </p:pic>
      <p:sp>
        <p:nvSpPr>
          <p:cNvPr id="13" name="Rectangle 1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3E71C88A-A961-E102-4668-F1C18518B957}"/>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a:t>Proyecto  DIA 6</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Marcador de pie de página 3">
            <a:extLst>
              <a:ext uri="{FF2B5EF4-FFF2-40B4-BE49-F238E27FC236}">
                <a16:creationId xmlns:a16="http://schemas.microsoft.com/office/drawing/2014/main" id="{51DD24E0-2552-1C5F-034A-818B16FD1BC3}"/>
              </a:ext>
            </a:extLst>
          </p:cNvPr>
          <p:cNvSpPr>
            <a:spLocks noGrp="1"/>
          </p:cNvSpPr>
          <p:nvPr>
            <p:ph type="ftr" sz="quarter" idx="11"/>
          </p:nvPr>
        </p:nvSpPr>
        <p:spPr>
          <a:xfrm>
            <a:off x="1692321" y="6356350"/>
            <a:ext cx="2809017" cy="365125"/>
          </a:xfrm>
        </p:spPr>
        <p:txBody>
          <a:bodyPr vert="horz" lIns="91440" tIns="45720" rIns="91440" bIns="45720" rtlCol="0" anchor="ctr">
            <a:normAutofit/>
          </a:bodyPr>
          <a:lstStyle/>
          <a:p>
            <a:pPr algn="r">
              <a:spcAft>
                <a:spcPts val="600"/>
              </a:spcAft>
              <a:defRPr/>
            </a:pPr>
            <a:r>
              <a:rPr lang="en-US" kern="1200">
                <a:solidFill>
                  <a:schemeClr val="tx1"/>
                </a:solidFill>
                <a:latin typeface="Calibri" panose="020F0502020204030204"/>
                <a:ea typeface="+mn-ea"/>
                <a:cs typeface="+mn-cs"/>
              </a:rPr>
              <a:t>Arabots Robotics</a:t>
            </a:r>
          </a:p>
        </p:txBody>
      </p:sp>
      <p:sp>
        <p:nvSpPr>
          <p:cNvPr id="5" name="Marcador de número de diapositiva 4">
            <a:extLst>
              <a:ext uri="{FF2B5EF4-FFF2-40B4-BE49-F238E27FC236}">
                <a16:creationId xmlns:a16="http://schemas.microsoft.com/office/drawing/2014/main" id="{1C61EA7C-D614-A8E8-BBD6-EB595CD11DB8}"/>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4EA4A3B0-B5DF-4E2B-B48F-E4B7B7872040}" type="slidenum">
              <a:rPr lang="en-US">
                <a:solidFill>
                  <a:schemeClr val="tx1"/>
                </a:solidFill>
                <a:latin typeface="Calibri" panose="020F0502020204030204"/>
              </a:rPr>
              <a:pPr>
                <a:spcAft>
                  <a:spcPts val="600"/>
                </a:spcAft>
                <a:defRPr/>
              </a:pPr>
              <a:t>155</a:t>
            </a:fld>
            <a:endParaRPr lang="en-US">
              <a:solidFill>
                <a:schemeClr val="tx1"/>
              </a:solidFill>
              <a:latin typeface="Calibri" panose="020F0502020204030204"/>
            </a:endParaRPr>
          </a:p>
        </p:txBody>
      </p:sp>
    </p:spTree>
    <p:extLst>
      <p:ext uri="{BB962C8B-B14F-4D97-AF65-F5344CB8AC3E}">
        <p14:creationId xmlns:p14="http://schemas.microsoft.com/office/powerpoint/2010/main" val="3630607591"/>
      </p:ext>
    </p:extLst>
  </p:cSld>
  <p:clrMapOvr>
    <a:overrideClrMapping bg1="dk1" tx1="lt1" bg2="dk2" tx2="lt2" accent1="accent1" accent2="accent2" accent3="accent3" accent4="accent4" accent5="accent5" accent6="accent6" hlink="hlink" folHlink="folHlink"/>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Barco golpeado por fuertes olas">
            <a:extLst>
              <a:ext uri="{FF2B5EF4-FFF2-40B4-BE49-F238E27FC236}">
                <a16:creationId xmlns:a16="http://schemas.microsoft.com/office/drawing/2014/main" id="{6C278AC3-EC58-334A-50FA-9986074B8483}"/>
              </a:ext>
            </a:extLst>
          </p:cNvPr>
          <p:cNvPicPr>
            <a:picLocks noChangeAspect="1"/>
          </p:cNvPicPr>
          <p:nvPr/>
        </p:nvPicPr>
        <p:blipFill rotWithShape="1">
          <a:blip r:embed="rId2"/>
          <a:srcRect t="15730"/>
          <a:stretch/>
        </p:blipFill>
        <p:spPr>
          <a:xfrm>
            <a:off x="20" y="10"/>
            <a:ext cx="12191981" cy="6857990"/>
          </a:xfrm>
          <a:prstGeom prst="rect">
            <a:avLst/>
          </a:prstGeom>
        </p:spPr>
      </p:pic>
      <p:sp>
        <p:nvSpPr>
          <p:cNvPr id="15" name="Rectangle 14">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bg1">
                  <a:alpha val="46000"/>
                </a:schemeClr>
              </a:gs>
              <a:gs pos="21000">
                <a:schemeClr val="bg1">
                  <a:alpha val="30000"/>
                </a:schemeClr>
              </a:gs>
              <a:gs pos="0">
                <a:schemeClr val="bg1">
                  <a:alpha val="0"/>
                </a:schemeClr>
              </a:gs>
              <a:gs pos="100000">
                <a:schemeClr val="bg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ítulo 5">
            <a:extLst>
              <a:ext uri="{FF2B5EF4-FFF2-40B4-BE49-F238E27FC236}">
                <a16:creationId xmlns:a16="http://schemas.microsoft.com/office/drawing/2014/main" id="{DABB6311-F021-EC0C-8388-86D39FC9FA70}"/>
              </a:ext>
            </a:extLst>
          </p:cNvPr>
          <p:cNvSpPr>
            <a:spLocks noGrp="1"/>
          </p:cNvSpPr>
          <p:nvPr>
            <p:ph type="ctrTitle"/>
          </p:nvPr>
        </p:nvSpPr>
        <p:spPr>
          <a:xfrm>
            <a:off x="404553" y="3091928"/>
            <a:ext cx="9078562" cy="2387600"/>
          </a:xfrm>
        </p:spPr>
        <p:txBody>
          <a:bodyPr>
            <a:normAutofit/>
          </a:bodyPr>
          <a:lstStyle/>
          <a:p>
            <a:pPr algn="l"/>
            <a:r>
              <a:rPr lang="es-MX" sz="6600"/>
              <a:t>Fin de la clase 6</a:t>
            </a:r>
          </a:p>
        </p:txBody>
      </p:sp>
      <p:sp>
        <p:nvSpPr>
          <p:cNvPr id="17" name="Rectangle: Rounded Corners 16">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ubtítulo 6">
            <a:extLst>
              <a:ext uri="{FF2B5EF4-FFF2-40B4-BE49-F238E27FC236}">
                <a16:creationId xmlns:a16="http://schemas.microsoft.com/office/drawing/2014/main" id="{9CC80ED8-0F1D-2B18-B8B9-6A75DE84E5B2}"/>
              </a:ext>
            </a:extLst>
          </p:cNvPr>
          <p:cNvSpPr>
            <a:spLocks noGrp="1"/>
          </p:cNvSpPr>
          <p:nvPr>
            <p:ph type="subTitle" idx="1"/>
          </p:nvPr>
        </p:nvSpPr>
        <p:spPr>
          <a:xfrm>
            <a:off x="404553" y="5624945"/>
            <a:ext cx="9078562" cy="592975"/>
          </a:xfrm>
        </p:spPr>
        <p:txBody>
          <a:bodyPr anchor="ctr">
            <a:normAutofit/>
          </a:bodyPr>
          <a:lstStyle/>
          <a:p>
            <a:pPr algn="l"/>
            <a:endParaRPr lang="es-MX"/>
          </a:p>
        </p:txBody>
      </p:sp>
      <p:sp>
        <p:nvSpPr>
          <p:cNvPr id="4" name="Marcador de pie de página 3">
            <a:extLst>
              <a:ext uri="{FF2B5EF4-FFF2-40B4-BE49-F238E27FC236}">
                <a16:creationId xmlns:a16="http://schemas.microsoft.com/office/drawing/2014/main" id="{2F96241F-9D6C-5211-D9A5-48CB4B7E9092}"/>
              </a:ext>
            </a:extLst>
          </p:cNvPr>
          <p:cNvSpPr>
            <a:spLocks noGrp="1"/>
          </p:cNvSpPr>
          <p:nvPr>
            <p:ph type="ftr" sz="quarter" idx="11"/>
          </p:nvPr>
        </p:nvSpPr>
        <p:spPr>
          <a:xfrm>
            <a:off x="4038600" y="6356350"/>
            <a:ext cx="4114800" cy="365125"/>
          </a:xfrm>
        </p:spPr>
        <p:txBody>
          <a:bodyPr>
            <a:normAutofit/>
          </a:bodyPr>
          <a:lstStyle/>
          <a:p>
            <a:pPr>
              <a:spcAft>
                <a:spcPts val="600"/>
              </a:spcAft>
            </a:pPr>
            <a:r>
              <a:rPr lang="es-MX">
                <a:solidFill>
                  <a:schemeClr val="tx1"/>
                </a:solidFill>
              </a:rPr>
              <a:t>Arabots Robotics</a:t>
            </a:r>
          </a:p>
        </p:txBody>
      </p:sp>
      <p:sp>
        <p:nvSpPr>
          <p:cNvPr id="5" name="Marcador de número de diapositiva 4">
            <a:extLst>
              <a:ext uri="{FF2B5EF4-FFF2-40B4-BE49-F238E27FC236}">
                <a16:creationId xmlns:a16="http://schemas.microsoft.com/office/drawing/2014/main" id="{171C5F42-3EB6-10F2-3AF3-71C9AB8F0777}"/>
              </a:ext>
            </a:extLst>
          </p:cNvPr>
          <p:cNvSpPr>
            <a:spLocks noGrp="1"/>
          </p:cNvSpPr>
          <p:nvPr>
            <p:ph type="sldNum" sz="quarter" idx="12"/>
          </p:nvPr>
        </p:nvSpPr>
        <p:spPr>
          <a:xfrm>
            <a:off x="9041199" y="6356350"/>
            <a:ext cx="2743200" cy="365125"/>
          </a:xfrm>
        </p:spPr>
        <p:txBody>
          <a:bodyPr>
            <a:normAutofit/>
          </a:bodyPr>
          <a:lstStyle/>
          <a:p>
            <a:pPr>
              <a:spcAft>
                <a:spcPts val="600"/>
              </a:spcAft>
            </a:pPr>
            <a:fld id="{4EA4A3B0-B5DF-4E2B-B48F-E4B7B7872040}" type="slidenum">
              <a:rPr lang="es-MX">
                <a:solidFill>
                  <a:schemeClr val="tx1"/>
                </a:solidFill>
              </a:rPr>
              <a:pPr>
                <a:spcAft>
                  <a:spcPts val="600"/>
                </a:spcAft>
              </a:pPr>
              <a:t>156</a:t>
            </a:fld>
            <a:endParaRPr lang="es-MX">
              <a:solidFill>
                <a:schemeClr val="tx1"/>
              </a:solidFill>
            </a:endParaRPr>
          </a:p>
        </p:txBody>
      </p:sp>
    </p:spTree>
    <p:extLst>
      <p:ext uri="{BB962C8B-B14F-4D97-AF65-F5344CB8AC3E}">
        <p14:creationId xmlns:p14="http://schemas.microsoft.com/office/powerpoint/2010/main" val="2360491614"/>
      </p:ext>
    </p:extLst>
  </p:cSld>
  <p:clrMapOvr>
    <a:overrideClrMapping bg1="dk1" tx1="lt1" bg2="dk2" tx2="lt2" accent1="accent1" accent2="accent2" accent3="accent3" accent4="accent4" accent5="accent5" accent6="accent6" hlink="hlink" folHlink="folHlink"/>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B373519-4D56-8648-8FB6-77BA38902F1A}"/>
              </a:ext>
            </a:extLst>
          </p:cNvPr>
          <p:cNvPicPr>
            <a:picLocks noChangeAspect="1"/>
          </p:cNvPicPr>
          <p:nvPr/>
        </p:nvPicPr>
        <p:blipFill rotWithShape="1">
          <a:blip r:embed="rId2">
            <a:alphaModFix amt="50000"/>
          </a:blip>
          <a:srcRect/>
          <a:stretch/>
        </p:blipFill>
        <p:spPr>
          <a:xfrm>
            <a:off x="20" y="1"/>
            <a:ext cx="12191980" cy="6857999"/>
          </a:xfrm>
          <a:prstGeom prst="rect">
            <a:avLst/>
          </a:prstGeom>
        </p:spPr>
      </p:pic>
      <p:sp>
        <p:nvSpPr>
          <p:cNvPr id="2" name="Título 1">
            <a:extLst>
              <a:ext uri="{FF2B5EF4-FFF2-40B4-BE49-F238E27FC236}">
                <a16:creationId xmlns:a16="http://schemas.microsoft.com/office/drawing/2014/main" id="{86DAD915-E150-4212-C01F-B44BD0734D61}"/>
              </a:ext>
            </a:extLst>
          </p:cNvPr>
          <p:cNvSpPr>
            <a:spLocks noGrp="1"/>
          </p:cNvSpPr>
          <p:nvPr>
            <p:ph type="ctrTitle"/>
          </p:nvPr>
        </p:nvSpPr>
        <p:spPr>
          <a:xfrm>
            <a:off x="1524000" y="1122362"/>
            <a:ext cx="9144000" cy="2900518"/>
          </a:xfrm>
        </p:spPr>
        <p:txBody>
          <a:bodyPr>
            <a:normAutofit/>
          </a:bodyPr>
          <a:lstStyle/>
          <a:p>
            <a:r>
              <a:rPr lang="es-MX">
                <a:solidFill>
                  <a:srgbClr val="FFFFFF"/>
                </a:solidFill>
              </a:rPr>
              <a:t>Clase 7</a:t>
            </a:r>
          </a:p>
        </p:txBody>
      </p:sp>
      <p:sp>
        <p:nvSpPr>
          <p:cNvPr id="3" name="Subtítulo 2">
            <a:extLst>
              <a:ext uri="{FF2B5EF4-FFF2-40B4-BE49-F238E27FC236}">
                <a16:creationId xmlns:a16="http://schemas.microsoft.com/office/drawing/2014/main" id="{C6DE8F5B-9DE6-7659-DEA3-64C998B464A6}"/>
              </a:ext>
            </a:extLst>
          </p:cNvPr>
          <p:cNvSpPr>
            <a:spLocks noGrp="1"/>
          </p:cNvSpPr>
          <p:nvPr>
            <p:ph type="subTitle" idx="1"/>
          </p:nvPr>
        </p:nvSpPr>
        <p:spPr>
          <a:xfrm>
            <a:off x="1524000" y="4159404"/>
            <a:ext cx="9144000" cy="1098395"/>
          </a:xfrm>
        </p:spPr>
        <p:txBody>
          <a:bodyPr>
            <a:normAutofit/>
          </a:bodyPr>
          <a:lstStyle/>
          <a:p>
            <a:r>
              <a:rPr lang="es-MX">
                <a:solidFill>
                  <a:srgbClr val="FFFFFF"/>
                </a:solidFill>
              </a:rPr>
              <a:t>Orientado a Objetos</a:t>
            </a:r>
          </a:p>
        </p:txBody>
      </p:sp>
      <p:sp>
        <p:nvSpPr>
          <p:cNvPr id="4" name="Marcador de pie de página 3">
            <a:extLst>
              <a:ext uri="{FF2B5EF4-FFF2-40B4-BE49-F238E27FC236}">
                <a16:creationId xmlns:a16="http://schemas.microsoft.com/office/drawing/2014/main" id="{011A12C4-3FAC-A294-93CA-3FD4D816B395}"/>
              </a:ext>
            </a:extLst>
          </p:cNvPr>
          <p:cNvSpPr>
            <a:spLocks noGrp="1"/>
          </p:cNvSpPr>
          <p:nvPr>
            <p:ph type="ftr" sz="quarter" idx="11"/>
          </p:nvPr>
        </p:nvSpPr>
        <p:spPr>
          <a:xfrm>
            <a:off x="4038600" y="6356350"/>
            <a:ext cx="4114800" cy="365125"/>
          </a:xfrm>
        </p:spPr>
        <p:txBody>
          <a:bodyPr>
            <a:normAutofit/>
          </a:bodyPr>
          <a:lstStyle/>
          <a:p>
            <a:pPr>
              <a:spcAft>
                <a:spcPts val="600"/>
              </a:spcAft>
            </a:pPr>
            <a:r>
              <a:rPr lang="es-MX">
                <a:solidFill>
                  <a:srgbClr val="FFFFFF"/>
                </a:solidFill>
              </a:rPr>
              <a:t>Arabots Robotics</a:t>
            </a:r>
          </a:p>
        </p:txBody>
      </p:sp>
      <p:sp>
        <p:nvSpPr>
          <p:cNvPr id="5" name="Marcador de número de diapositiva 4">
            <a:extLst>
              <a:ext uri="{FF2B5EF4-FFF2-40B4-BE49-F238E27FC236}">
                <a16:creationId xmlns:a16="http://schemas.microsoft.com/office/drawing/2014/main" id="{EF367EEE-BE9F-174E-E58C-8C379467699F}"/>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a:solidFill>
                  <a:srgbClr val="FFFFFF"/>
                </a:solidFill>
              </a:rPr>
              <a:pPr>
                <a:spcAft>
                  <a:spcPts val="600"/>
                </a:spcAft>
              </a:pPr>
              <a:t>157</a:t>
            </a:fld>
            <a:endParaRPr lang="es-MX">
              <a:solidFill>
                <a:srgbClr val="FFFFFF"/>
              </a:solidFill>
            </a:endParaRPr>
          </a:p>
        </p:txBody>
      </p:sp>
    </p:spTree>
    <p:extLst>
      <p:ext uri="{BB962C8B-B14F-4D97-AF65-F5344CB8AC3E}">
        <p14:creationId xmlns:p14="http://schemas.microsoft.com/office/powerpoint/2010/main" val="613190944"/>
      </p:ext>
    </p:extLst>
  </p:cSld>
  <p:clrMapOvr>
    <a:overrideClrMapping bg1="dk1" tx1="lt1" bg2="dk2" tx2="lt2" accent1="accent1" accent2="accent2" accent3="accent3" accent4="accent4" accent5="accent5" accent6="accent6" hlink="hlink" folHlink="folHlink"/>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C771C3F3-13A2-5B9A-C84D-93EE0BC80715}"/>
              </a:ext>
            </a:extLst>
          </p:cNvPr>
          <p:cNvSpPr>
            <a:spLocks noGrp="1"/>
          </p:cNvSpPr>
          <p:nvPr>
            <p:ph type="title"/>
          </p:nvPr>
        </p:nvSpPr>
        <p:spPr>
          <a:xfrm>
            <a:off x="826396" y="586855"/>
            <a:ext cx="4230100" cy="3387497"/>
          </a:xfrm>
        </p:spPr>
        <p:txBody>
          <a:bodyPr anchor="b">
            <a:normAutofit/>
          </a:bodyPr>
          <a:lstStyle/>
          <a:p>
            <a:pPr algn="r"/>
            <a:r>
              <a:rPr lang="es-MX" sz="4000">
                <a:solidFill>
                  <a:srgbClr val="FFFFFF"/>
                </a:solidFill>
              </a:rPr>
              <a:t>Clase 7</a:t>
            </a:r>
            <a:br>
              <a:rPr lang="es-MX" sz="4000">
                <a:solidFill>
                  <a:srgbClr val="FFFFFF"/>
                </a:solidFill>
              </a:rPr>
            </a:br>
            <a:r>
              <a:rPr lang="es-MX" sz="4000">
                <a:solidFill>
                  <a:srgbClr val="FFFFFF"/>
                </a:solidFill>
              </a:rPr>
              <a:t>(clases)</a:t>
            </a:r>
          </a:p>
        </p:txBody>
      </p:sp>
      <p:sp>
        <p:nvSpPr>
          <p:cNvPr id="4" name="Marcador de pie de página 3">
            <a:extLst>
              <a:ext uri="{FF2B5EF4-FFF2-40B4-BE49-F238E27FC236}">
                <a16:creationId xmlns:a16="http://schemas.microsoft.com/office/drawing/2014/main" id="{2C679BD9-EFBF-1081-3293-6103194ABB75}"/>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EB73043A-EE59-36C5-B714-4A29FFD2BD41}"/>
              </a:ext>
            </a:extLst>
          </p:cNvPr>
          <p:cNvSpPr>
            <a:spLocks noGrp="1"/>
          </p:cNvSpPr>
          <p:nvPr>
            <p:ph idx="1"/>
          </p:nvPr>
        </p:nvSpPr>
        <p:spPr>
          <a:xfrm>
            <a:off x="6503158" y="649480"/>
            <a:ext cx="4862447" cy="5546047"/>
          </a:xfrm>
        </p:spPr>
        <p:txBody>
          <a:bodyPr anchor="ctr">
            <a:normAutofit/>
          </a:bodyPr>
          <a:lstStyle/>
          <a:p>
            <a:pPr marL="0" indent="0">
              <a:buNone/>
            </a:pPr>
            <a:r>
              <a:rPr lang="es-MX" sz="2000" dirty="0"/>
              <a:t>Python es un lenguaje de Programación Orientado a Objetos (POO). Como tal, utiliza y manipula objetos, a través de sus métodos y propiedades. </a:t>
            </a:r>
          </a:p>
          <a:p>
            <a:pPr marL="0" indent="0">
              <a:buNone/>
            </a:pPr>
            <a:r>
              <a:rPr lang="es-MX" sz="2000" dirty="0"/>
              <a:t>Las clases son las herramientas que nos permiten crear objetos, que "empaquetan" datos y funcionalidad juntos.</a:t>
            </a:r>
          </a:p>
          <a:p>
            <a:pPr marL="0" indent="0">
              <a:buNone/>
            </a:pPr>
            <a:r>
              <a:rPr lang="es-MX" sz="2000" dirty="0"/>
              <a:t>Podemos pensar a las clases como el "plano" o "plantilla" a partir del cual podemos crear objetos individuales, con propiedades y métodos asociados</a:t>
            </a:r>
          </a:p>
          <a:p>
            <a:pPr marL="0" indent="0">
              <a:buNone/>
            </a:pPr>
            <a:endParaRPr lang="es-MX" sz="2000" dirty="0"/>
          </a:p>
        </p:txBody>
      </p:sp>
      <p:sp>
        <p:nvSpPr>
          <p:cNvPr id="5" name="Marcador de número de diapositiva 4">
            <a:extLst>
              <a:ext uri="{FF2B5EF4-FFF2-40B4-BE49-F238E27FC236}">
                <a16:creationId xmlns:a16="http://schemas.microsoft.com/office/drawing/2014/main" id="{7EC68E9A-DEF2-946A-9395-A852D7F7389C}"/>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158</a:t>
            </a:fld>
            <a:endParaRPr lang="es-MX" sz="1100">
              <a:solidFill>
                <a:schemeClr val="tx1">
                  <a:lumMod val="50000"/>
                  <a:lumOff val="50000"/>
                </a:schemeClr>
              </a:solidFill>
            </a:endParaRPr>
          </a:p>
        </p:txBody>
      </p:sp>
    </p:spTree>
    <p:extLst>
      <p:ext uri="{BB962C8B-B14F-4D97-AF65-F5344CB8AC3E}">
        <p14:creationId xmlns:p14="http://schemas.microsoft.com/office/powerpoint/2010/main" val="257105647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6982B86-2975-A7BB-90F9-746F81A827B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dirty="0">
                <a:solidFill>
                  <a:schemeClr val="bg1"/>
                </a:solidFill>
              </a:rPr>
              <a:t>Como se </a:t>
            </a:r>
            <a:r>
              <a:rPr lang="en-US" sz="3200" dirty="0" err="1">
                <a:solidFill>
                  <a:schemeClr val="bg1"/>
                </a:solidFill>
              </a:rPr>
              <a:t>conforma</a:t>
            </a:r>
            <a:r>
              <a:rPr lang="en-US" sz="3200" dirty="0">
                <a:solidFill>
                  <a:schemeClr val="bg1"/>
                </a:solidFill>
              </a:rPr>
              <a:t> una </a:t>
            </a:r>
            <a:r>
              <a:rPr lang="en-US" sz="3200" dirty="0" err="1">
                <a:solidFill>
                  <a:schemeClr val="bg1"/>
                </a:solidFill>
              </a:rPr>
              <a:t>clase</a:t>
            </a:r>
            <a:endParaRPr lang="en-US" sz="3200" kern="1200" dirty="0">
              <a:solidFill>
                <a:schemeClr val="bg1"/>
              </a:solidFill>
              <a:latin typeface="+mj-lt"/>
              <a:ea typeface="+mj-ea"/>
              <a:cs typeface="+mj-cs"/>
            </a:endParaRPr>
          </a:p>
        </p:txBody>
      </p:sp>
      <p:pic>
        <p:nvPicPr>
          <p:cNvPr id="7" name="Marcador de contenido 6">
            <a:extLst>
              <a:ext uri="{FF2B5EF4-FFF2-40B4-BE49-F238E27FC236}">
                <a16:creationId xmlns:a16="http://schemas.microsoft.com/office/drawing/2014/main" id="{5E2C14EE-7388-0EA2-BBE5-8214FE3D7A76}"/>
              </a:ext>
            </a:extLst>
          </p:cNvPr>
          <p:cNvPicPr>
            <a:picLocks noGrp="1" noChangeAspect="1"/>
          </p:cNvPicPr>
          <p:nvPr>
            <p:ph idx="1"/>
          </p:nvPr>
        </p:nvPicPr>
        <p:blipFill>
          <a:blip r:embed="rId2"/>
          <a:stretch>
            <a:fillRect/>
          </a:stretch>
        </p:blipFill>
        <p:spPr>
          <a:xfrm>
            <a:off x="704347" y="1675227"/>
            <a:ext cx="10783306" cy="4394199"/>
          </a:xfrm>
          <a:prstGeom prst="rect">
            <a:avLst/>
          </a:prstGeom>
        </p:spPr>
      </p:pic>
      <p:sp>
        <p:nvSpPr>
          <p:cNvPr id="4" name="Marcador de pie de página 3">
            <a:extLst>
              <a:ext uri="{FF2B5EF4-FFF2-40B4-BE49-F238E27FC236}">
                <a16:creationId xmlns:a16="http://schemas.microsoft.com/office/drawing/2014/main" id="{B48B38C4-505E-28A3-A30B-E7EA914C77E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Arabots Robotics</a:t>
            </a:r>
          </a:p>
        </p:txBody>
      </p:sp>
      <p:sp>
        <p:nvSpPr>
          <p:cNvPr id="5" name="Marcador de número de diapositiva 4">
            <a:extLst>
              <a:ext uri="{FF2B5EF4-FFF2-40B4-BE49-F238E27FC236}">
                <a16:creationId xmlns:a16="http://schemas.microsoft.com/office/drawing/2014/main" id="{FCAD5D69-C0F8-70AC-981A-66BE3EE67B0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4EA4A3B0-B5DF-4E2B-B48F-E4B7B7872040}" type="slidenum">
              <a:rPr lang="en-US" smtClean="0"/>
              <a:pPr>
                <a:spcAft>
                  <a:spcPts val="600"/>
                </a:spcAft>
              </a:pPr>
              <a:t>159</a:t>
            </a:fld>
            <a:endParaRPr lang="en-US"/>
          </a:p>
        </p:txBody>
      </p:sp>
    </p:spTree>
    <p:extLst>
      <p:ext uri="{BB962C8B-B14F-4D97-AF65-F5344CB8AC3E}">
        <p14:creationId xmlns:p14="http://schemas.microsoft.com/office/powerpoint/2010/main" val="160874820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ACF1C155-2EF0-93EA-1AA0-DF460C90D035}"/>
              </a:ext>
            </a:extLst>
          </p:cNvPr>
          <p:cNvSpPr>
            <a:spLocks noGrp="1"/>
          </p:cNvSpPr>
          <p:nvPr>
            <p:ph type="title"/>
          </p:nvPr>
        </p:nvSpPr>
        <p:spPr>
          <a:xfrm>
            <a:off x="826396" y="586855"/>
            <a:ext cx="4230100" cy="3387497"/>
          </a:xfrm>
        </p:spPr>
        <p:txBody>
          <a:bodyPr anchor="b">
            <a:normAutofit/>
          </a:bodyPr>
          <a:lstStyle/>
          <a:p>
            <a:pPr algn="r"/>
            <a:r>
              <a:rPr lang="es-MX" sz="4000">
                <a:solidFill>
                  <a:srgbClr val="FFFFFF"/>
                </a:solidFill>
              </a:rPr>
              <a:t>Eercicios</a:t>
            </a:r>
          </a:p>
        </p:txBody>
      </p:sp>
      <p:sp>
        <p:nvSpPr>
          <p:cNvPr id="4" name="Marcador de pie de página 3">
            <a:extLst>
              <a:ext uri="{FF2B5EF4-FFF2-40B4-BE49-F238E27FC236}">
                <a16:creationId xmlns:a16="http://schemas.microsoft.com/office/drawing/2014/main" id="{BEF8201E-72C3-9294-1009-EAC69AE60596}"/>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4B3DE2DD-207A-A932-CDDD-D962691D5D02}"/>
              </a:ext>
            </a:extLst>
          </p:cNvPr>
          <p:cNvSpPr>
            <a:spLocks noGrp="1"/>
          </p:cNvSpPr>
          <p:nvPr>
            <p:ph idx="1"/>
          </p:nvPr>
        </p:nvSpPr>
        <p:spPr>
          <a:xfrm>
            <a:off x="6503158" y="649480"/>
            <a:ext cx="4862447" cy="5546047"/>
          </a:xfrm>
        </p:spPr>
        <p:txBody>
          <a:bodyPr anchor="ctr">
            <a:normAutofit/>
          </a:bodyPr>
          <a:lstStyle/>
          <a:p>
            <a:pPr marL="0" indent="0">
              <a:buNone/>
            </a:pPr>
            <a:r>
              <a:rPr kumimoji="0" lang="es-MX" altLang="es-MX" sz="2000" b="0" i="0" u="none" strike="noStrike" cap="none" normalizeH="0" baseline="0">
                <a:ln>
                  <a:noFill/>
                </a:ln>
                <a:effectLst/>
                <a:latin typeface="udemy sans"/>
              </a:rPr>
              <a:t>Crea una clase llamada </a:t>
            </a:r>
            <a:r>
              <a:rPr kumimoji="0" lang="es-MX" altLang="es-MX" sz="2000" b="0" i="0" u="none" strike="noStrike" cap="none" normalizeH="0" baseline="0">
                <a:ln>
                  <a:noFill/>
                </a:ln>
                <a:effectLst/>
                <a:latin typeface="sfmono-regular"/>
              </a:rPr>
              <a:t>Personaje</a:t>
            </a:r>
            <a:r>
              <a:rPr kumimoji="0" lang="es-MX" altLang="es-MX" sz="2000" b="0" i="0" u="none" strike="noStrike" cap="none" normalizeH="0" baseline="0">
                <a:ln>
                  <a:noFill/>
                </a:ln>
                <a:effectLst/>
                <a:latin typeface="udemy sans"/>
              </a:rPr>
              <a:t> y a continuación, crea un objeto a partir de ella, por ejemplo: </a:t>
            </a:r>
            <a:r>
              <a:rPr kumimoji="0" lang="es-MX" altLang="es-MX" sz="2000" b="0" i="0" u="none" strike="noStrike" cap="none" normalizeH="0" baseline="0">
                <a:ln>
                  <a:noFill/>
                </a:ln>
                <a:effectLst/>
                <a:latin typeface="sfmono-regular"/>
              </a:rPr>
              <a:t>harry_potter</a:t>
            </a:r>
            <a:r>
              <a:rPr kumimoji="0" lang="es-MX" altLang="es-MX" sz="2000" b="0" i="0" u="none" strike="noStrike" cap="none" normalizeH="0" baseline="0">
                <a:ln>
                  <a:noFill/>
                </a:ln>
                <a:effectLst/>
              </a:rPr>
              <a:t> </a:t>
            </a:r>
            <a:endParaRPr kumimoji="0" lang="es-MX" altLang="es-MX" sz="2000" b="0" i="0" u="none" strike="noStrike" cap="none" normalizeH="0" baseline="0">
              <a:ln>
                <a:noFill/>
              </a:ln>
              <a:effectLst/>
              <a:latin typeface="Arial" panose="020B0604020202020204" pitchFamily="34" charset="0"/>
            </a:endParaRPr>
          </a:p>
          <a:p>
            <a:pPr marL="0" indent="0">
              <a:buNone/>
            </a:pPr>
            <a:endParaRPr lang="es-MX" sz="2000"/>
          </a:p>
          <a:p>
            <a:pPr marL="0" indent="0">
              <a:buNone/>
            </a:pPr>
            <a:r>
              <a:rPr kumimoji="0" lang="es-MX" altLang="es-MX" sz="2000" b="0" i="0" u="none" strike="noStrike" cap="none" normalizeH="0" baseline="0">
                <a:ln>
                  <a:noFill/>
                </a:ln>
                <a:effectLst/>
                <a:latin typeface="udemy sans"/>
              </a:rPr>
              <a:t>Crea una clase llamada </a:t>
            </a:r>
            <a:r>
              <a:rPr kumimoji="0" lang="es-MX" altLang="es-MX" sz="2000" b="0" i="0" u="none" strike="noStrike" cap="none" normalizeH="0" baseline="0">
                <a:ln>
                  <a:noFill/>
                </a:ln>
                <a:effectLst/>
                <a:latin typeface="sfmono-regular"/>
              </a:rPr>
              <a:t>Dinosaurio</a:t>
            </a:r>
            <a:r>
              <a:rPr kumimoji="0" lang="es-MX" altLang="es-MX" sz="2000" b="0" i="0" u="none" strike="noStrike" cap="none" normalizeH="0" baseline="0">
                <a:ln>
                  <a:noFill/>
                </a:ln>
                <a:effectLst/>
                <a:latin typeface="udemy sans"/>
              </a:rPr>
              <a:t>, y tres instancias a partir de ella: </a:t>
            </a:r>
            <a:r>
              <a:rPr kumimoji="0" lang="es-MX" altLang="es-MX" sz="2000" b="0" i="0" u="none" strike="noStrike" cap="none" normalizeH="0" baseline="0">
                <a:ln>
                  <a:noFill/>
                </a:ln>
                <a:effectLst/>
                <a:latin typeface="sfmono-regular"/>
              </a:rPr>
              <a:t>velociraptor</a:t>
            </a:r>
            <a:r>
              <a:rPr kumimoji="0" lang="es-MX" altLang="es-MX" sz="2000" b="0" i="0" u="none" strike="noStrike" cap="none" normalizeH="0" baseline="0">
                <a:ln>
                  <a:noFill/>
                </a:ln>
                <a:effectLst/>
                <a:latin typeface="udemy sans"/>
              </a:rPr>
              <a:t>, </a:t>
            </a:r>
            <a:r>
              <a:rPr kumimoji="0" lang="es-MX" altLang="es-MX" sz="2000" b="0" i="0" u="none" strike="noStrike" cap="none" normalizeH="0" baseline="0">
                <a:ln>
                  <a:noFill/>
                </a:ln>
                <a:effectLst/>
                <a:latin typeface="sfmono-regular"/>
              </a:rPr>
              <a:t>tiranosaurio_rex</a:t>
            </a:r>
            <a:r>
              <a:rPr kumimoji="0" lang="es-MX" altLang="es-MX" sz="2000" b="0" i="0" u="none" strike="noStrike" cap="none" normalizeH="0" baseline="0">
                <a:ln>
                  <a:noFill/>
                </a:ln>
                <a:effectLst/>
                <a:latin typeface="udemy sans"/>
              </a:rPr>
              <a:t> y </a:t>
            </a:r>
            <a:r>
              <a:rPr kumimoji="0" lang="es-MX" altLang="es-MX" sz="2000" b="0" i="0" u="none" strike="noStrike" cap="none" normalizeH="0" baseline="0">
                <a:ln>
                  <a:noFill/>
                </a:ln>
                <a:effectLst/>
                <a:latin typeface="sfmono-regular"/>
              </a:rPr>
              <a:t>braquiosaurio</a:t>
            </a:r>
            <a:r>
              <a:rPr kumimoji="0" lang="es-MX" altLang="es-MX" sz="2000" b="0" i="0" u="none" strike="noStrike" cap="none" normalizeH="0" baseline="0">
                <a:ln>
                  <a:noFill/>
                </a:ln>
                <a:effectLst/>
                <a:latin typeface="udemy sans"/>
              </a:rPr>
              <a:t> </a:t>
            </a:r>
            <a:endParaRPr lang="es-MX" sz="2000"/>
          </a:p>
          <a:p>
            <a:pPr marL="0" indent="0">
              <a:buNone/>
            </a:pPr>
            <a:endParaRPr lang="es-MX" sz="2000"/>
          </a:p>
          <a:p>
            <a:pPr marL="0" indent="0">
              <a:buNone/>
            </a:pPr>
            <a:r>
              <a:rPr kumimoji="0" lang="es-MX" altLang="es-MX" sz="2000" b="0" i="0" u="none" strike="noStrike" cap="none" normalizeH="0" baseline="0">
                <a:ln>
                  <a:noFill/>
                </a:ln>
                <a:effectLst/>
                <a:latin typeface="udemy sans"/>
              </a:rPr>
              <a:t>Crea una clase llamada </a:t>
            </a:r>
            <a:r>
              <a:rPr kumimoji="0" lang="es-MX" altLang="es-MX" sz="2000" b="0" i="0" u="none" strike="noStrike" cap="none" normalizeH="0" baseline="0">
                <a:ln>
                  <a:noFill/>
                </a:ln>
                <a:effectLst/>
                <a:latin typeface="sfmono-regular"/>
              </a:rPr>
              <a:t>PlataformaStreaming</a:t>
            </a:r>
            <a:r>
              <a:rPr kumimoji="0" lang="es-MX" altLang="es-MX" sz="2000" b="0" i="0" u="none" strike="noStrike" cap="none" normalizeH="0" baseline="0">
                <a:ln>
                  <a:noFill/>
                </a:ln>
                <a:effectLst/>
                <a:latin typeface="udemy sans"/>
              </a:rPr>
              <a:t> y crea los siguientes objetos a partir de ella: </a:t>
            </a:r>
            <a:r>
              <a:rPr kumimoji="0" lang="es-MX" altLang="es-MX" sz="2000" b="0" i="0" u="none" strike="noStrike" cap="none" normalizeH="0" baseline="0">
                <a:ln>
                  <a:noFill/>
                </a:ln>
                <a:effectLst/>
                <a:latin typeface="sfmono-regular"/>
              </a:rPr>
              <a:t>netflix</a:t>
            </a:r>
            <a:r>
              <a:rPr kumimoji="0" lang="es-MX" altLang="es-MX" sz="2000" b="0" i="0" u="none" strike="noStrike" cap="none" normalizeH="0" baseline="0">
                <a:ln>
                  <a:noFill/>
                </a:ln>
                <a:effectLst/>
                <a:latin typeface="udemy sans"/>
              </a:rPr>
              <a:t>, </a:t>
            </a:r>
            <a:r>
              <a:rPr kumimoji="0" lang="es-MX" altLang="es-MX" sz="2000" b="0" i="0" u="none" strike="noStrike" cap="none" normalizeH="0" baseline="0">
                <a:ln>
                  <a:noFill/>
                </a:ln>
                <a:effectLst/>
                <a:latin typeface="sfmono-regular"/>
              </a:rPr>
              <a:t>hbo_max</a:t>
            </a:r>
            <a:r>
              <a:rPr kumimoji="0" lang="es-MX" altLang="es-MX" sz="2000" b="0" i="0" u="none" strike="noStrike" cap="none" normalizeH="0" baseline="0">
                <a:ln>
                  <a:noFill/>
                </a:ln>
                <a:effectLst/>
                <a:latin typeface="udemy sans"/>
              </a:rPr>
              <a:t>, </a:t>
            </a:r>
            <a:r>
              <a:rPr kumimoji="0" lang="es-MX" altLang="es-MX" sz="2000" b="0" i="0" u="none" strike="noStrike" cap="none" normalizeH="0" baseline="0">
                <a:ln>
                  <a:noFill/>
                </a:ln>
                <a:effectLst/>
                <a:latin typeface="sfmono-regular"/>
              </a:rPr>
              <a:t>amazon_prime_video</a:t>
            </a:r>
            <a:r>
              <a:rPr kumimoji="0" lang="es-MX" altLang="es-MX" sz="2000" b="0" i="0" u="none" strike="noStrike" cap="none" normalizeH="0" baseline="0">
                <a:ln>
                  <a:noFill/>
                </a:ln>
                <a:effectLst/>
              </a:rPr>
              <a:t> </a:t>
            </a:r>
            <a:endParaRPr kumimoji="0" lang="es-MX" altLang="es-MX" sz="2000" b="0" i="0" u="none" strike="noStrike" cap="none" normalizeH="0" baseline="0">
              <a:ln>
                <a:noFill/>
              </a:ln>
              <a:effectLst/>
              <a:latin typeface="Arial" panose="020B0604020202020204" pitchFamily="34" charset="0"/>
            </a:endParaRPr>
          </a:p>
          <a:p>
            <a:pPr marL="0" indent="0">
              <a:buNone/>
            </a:pPr>
            <a:endParaRPr lang="es-MX" sz="2000"/>
          </a:p>
        </p:txBody>
      </p:sp>
      <p:sp>
        <p:nvSpPr>
          <p:cNvPr id="5" name="Marcador de número de diapositiva 4">
            <a:extLst>
              <a:ext uri="{FF2B5EF4-FFF2-40B4-BE49-F238E27FC236}">
                <a16:creationId xmlns:a16="http://schemas.microsoft.com/office/drawing/2014/main" id="{546D756D-F7DD-9CF1-E23C-ADA30BA57D2C}"/>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160</a:t>
            </a:fld>
            <a:endParaRPr lang="es-MX" sz="1100">
              <a:solidFill>
                <a:schemeClr val="tx1">
                  <a:lumMod val="50000"/>
                  <a:lumOff val="50000"/>
                </a:schemeClr>
              </a:solidFill>
            </a:endParaRPr>
          </a:p>
        </p:txBody>
      </p:sp>
    </p:spTree>
    <p:extLst>
      <p:ext uri="{BB962C8B-B14F-4D97-AF65-F5344CB8AC3E}">
        <p14:creationId xmlns:p14="http://schemas.microsoft.com/office/powerpoint/2010/main" val="422876288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E2B0C32-5D3C-8869-CB5D-E6C4C4C9DB5A}"/>
              </a:ext>
            </a:extLst>
          </p:cNvPr>
          <p:cNvSpPr>
            <a:spLocks noGrp="1"/>
          </p:cNvSpPr>
          <p:nvPr>
            <p:ph type="title"/>
          </p:nvPr>
        </p:nvSpPr>
        <p:spPr>
          <a:xfrm>
            <a:off x="586478" y="1683756"/>
            <a:ext cx="3115265" cy="2396359"/>
          </a:xfrm>
        </p:spPr>
        <p:txBody>
          <a:bodyPr anchor="b">
            <a:normAutofit/>
          </a:bodyPr>
          <a:lstStyle/>
          <a:p>
            <a:pPr algn="r"/>
            <a:r>
              <a:rPr lang="es-MX" sz="4000">
                <a:solidFill>
                  <a:srgbClr val="FFFFFF"/>
                </a:solidFill>
              </a:rPr>
              <a:t>Atributos</a:t>
            </a:r>
          </a:p>
        </p:txBody>
      </p:sp>
      <p:sp>
        <p:nvSpPr>
          <p:cNvPr id="4" name="Marcador de pie de página 3">
            <a:extLst>
              <a:ext uri="{FF2B5EF4-FFF2-40B4-BE49-F238E27FC236}">
                <a16:creationId xmlns:a16="http://schemas.microsoft.com/office/drawing/2014/main" id="{6C09AE14-B4FF-E4D9-E554-4AF88A409D54}"/>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5" name="Marcador de número de diapositiva 4">
            <a:extLst>
              <a:ext uri="{FF2B5EF4-FFF2-40B4-BE49-F238E27FC236}">
                <a16:creationId xmlns:a16="http://schemas.microsoft.com/office/drawing/2014/main" id="{1A501D6D-E761-8FDC-D007-FF3CAD7708C5}"/>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161</a:t>
            </a:fld>
            <a:endParaRPr lang="es-MX" sz="1100">
              <a:solidFill>
                <a:schemeClr val="tx1">
                  <a:lumMod val="50000"/>
                  <a:lumOff val="50000"/>
                </a:schemeClr>
              </a:solidFill>
            </a:endParaRPr>
          </a:p>
        </p:txBody>
      </p:sp>
      <p:graphicFrame>
        <p:nvGraphicFramePr>
          <p:cNvPr id="7" name="Marcador de contenido 2">
            <a:extLst>
              <a:ext uri="{FF2B5EF4-FFF2-40B4-BE49-F238E27FC236}">
                <a16:creationId xmlns:a16="http://schemas.microsoft.com/office/drawing/2014/main" id="{A09D607A-5058-C259-0516-58B1E5A6FFFE}"/>
              </a:ext>
            </a:extLst>
          </p:cNvPr>
          <p:cNvGraphicFramePr>
            <a:graphicFrameLocks noGrp="1"/>
          </p:cNvGraphicFramePr>
          <p:nvPr>
            <p:ph idx="1"/>
            <p:extLst>
              <p:ext uri="{D42A27DB-BD31-4B8C-83A1-F6EECF244321}">
                <p14:modId xmlns:p14="http://schemas.microsoft.com/office/powerpoint/2010/main" val="306021078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140676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10E12-DD21-60DB-2F93-AC065FDFDFF1}"/>
              </a:ext>
            </a:extLst>
          </p:cNvPr>
          <p:cNvSpPr>
            <a:spLocks noGrp="1"/>
          </p:cNvSpPr>
          <p:nvPr>
            <p:ph type="title"/>
          </p:nvPr>
        </p:nvSpPr>
        <p:spPr/>
        <p:txBody>
          <a:bodyPr/>
          <a:lstStyle/>
          <a:p>
            <a:endParaRPr lang="es-MX"/>
          </a:p>
        </p:txBody>
      </p:sp>
      <p:pic>
        <p:nvPicPr>
          <p:cNvPr id="7" name="Marcador de contenido 6">
            <a:extLst>
              <a:ext uri="{FF2B5EF4-FFF2-40B4-BE49-F238E27FC236}">
                <a16:creationId xmlns:a16="http://schemas.microsoft.com/office/drawing/2014/main" id="{8C86F1EA-FF81-1C14-7A79-06AC3FEF2542}"/>
              </a:ext>
            </a:extLst>
          </p:cNvPr>
          <p:cNvPicPr>
            <a:picLocks noGrp="1" noChangeAspect="1"/>
          </p:cNvPicPr>
          <p:nvPr>
            <p:ph idx="1"/>
          </p:nvPr>
        </p:nvPicPr>
        <p:blipFill>
          <a:blip r:embed="rId2"/>
          <a:stretch>
            <a:fillRect/>
          </a:stretch>
        </p:blipFill>
        <p:spPr>
          <a:xfrm>
            <a:off x="838200" y="4075217"/>
            <a:ext cx="10515600" cy="2281133"/>
          </a:xfrm>
        </p:spPr>
      </p:pic>
      <p:sp>
        <p:nvSpPr>
          <p:cNvPr id="4" name="Marcador de pie de página 3">
            <a:extLst>
              <a:ext uri="{FF2B5EF4-FFF2-40B4-BE49-F238E27FC236}">
                <a16:creationId xmlns:a16="http://schemas.microsoft.com/office/drawing/2014/main" id="{CC1508FE-37B0-0A3C-924F-28773E892BD1}"/>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7081AFD7-FD83-C0E4-7C3F-143D45A0CA3E}"/>
              </a:ext>
            </a:extLst>
          </p:cNvPr>
          <p:cNvSpPr>
            <a:spLocks noGrp="1"/>
          </p:cNvSpPr>
          <p:nvPr>
            <p:ph type="sldNum" sz="quarter" idx="12"/>
          </p:nvPr>
        </p:nvSpPr>
        <p:spPr/>
        <p:txBody>
          <a:bodyPr/>
          <a:lstStyle/>
          <a:p>
            <a:fld id="{4EA4A3B0-B5DF-4E2B-B48F-E4B7B7872040}" type="slidenum">
              <a:rPr lang="es-MX" smtClean="0"/>
              <a:t>162</a:t>
            </a:fld>
            <a:endParaRPr lang="es-MX"/>
          </a:p>
        </p:txBody>
      </p:sp>
      <p:grpSp>
        <p:nvGrpSpPr>
          <p:cNvPr id="13" name="Grupo 12">
            <a:extLst>
              <a:ext uri="{FF2B5EF4-FFF2-40B4-BE49-F238E27FC236}">
                <a16:creationId xmlns:a16="http://schemas.microsoft.com/office/drawing/2014/main" id="{C41C216F-441E-28CD-1C7F-F08D7D655529}"/>
              </a:ext>
            </a:extLst>
          </p:cNvPr>
          <p:cNvGrpSpPr/>
          <p:nvPr/>
        </p:nvGrpSpPr>
        <p:grpSpPr>
          <a:xfrm>
            <a:off x="838200" y="894891"/>
            <a:ext cx="10515600" cy="3260899"/>
            <a:chOff x="189654" y="365125"/>
            <a:chExt cx="12192000" cy="4851107"/>
          </a:xfrm>
        </p:grpSpPr>
        <p:pic>
          <p:nvPicPr>
            <p:cNvPr id="11" name="Imagen 10">
              <a:extLst>
                <a:ext uri="{FF2B5EF4-FFF2-40B4-BE49-F238E27FC236}">
                  <a16:creationId xmlns:a16="http://schemas.microsoft.com/office/drawing/2014/main" id="{F95DF003-E20D-F912-884B-AF8850E6D7DE}"/>
                </a:ext>
              </a:extLst>
            </p:cNvPr>
            <p:cNvPicPr>
              <a:picLocks noChangeAspect="1"/>
            </p:cNvPicPr>
            <p:nvPr/>
          </p:nvPicPr>
          <p:blipFill>
            <a:blip r:embed="rId3"/>
            <a:stretch>
              <a:fillRect/>
            </a:stretch>
          </p:blipFill>
          <p:spPr>
            <a:xfrm>
              <a:off x="189654" y="365125"/>
              <a:ext cx="12192000" cy="4851107"/>
            </a:xfrm>
            <a:prstGeom prst="rect">
              <a:avLst/>
            </a:prstGeom>
          </p:spPr>
        </p:pic>
        <p:sp>
          <p:nvSpPr>
            <p:cNvPr id="12" name="Rectángulo 11">
              <a:extLst>
                <a:ext uri="{FF2B5EF4-FFF2-40B4-BE49-F238E27FC236}">
                  <a16:creationId xmlns:a16="http://schemas.microsoft.com/office/drawing/2014/main" id="{938241C2-D941-2198-CFD8-D6D83E05F31B}"/>
                </a:ext>
              </a:extLst>
            </p:cNvPr>
            <p:cNvSpPr/>
            <p:nvPr/>
          </p:nvSpPr>
          <p:spPr>
            <a:xfrm>
              <a:off x="298027" y="365125"/>
              <a:ext cx="1625600" cy="467995"/>
            </a:xfrm>
            <a:prstGeom prst="rect">
              <a:avLst/>
            </a:prstGeom>
            <a:solidFill>
              <a:srgbClr val="F6CD57"/>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54783162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793BEEA-081D-8DFA-03D7-1F6D4190EA3E}"/>
              </a:ext>
            </a:extLst>
          </p:cNvPr>
          <p:cNvSpPr>
            <a:spLocks noGrp="1"/>
          </p:cNvSpPr>
          <p:nvPr>
            <p:ph type="title"/>
          </p:nvPr>
        </p:nvSpPr>
        <p:spPr>
          <a:xfrm>
            <a:off x="586478" y="1683756"/>
            <a:ext cx="3115265" cy="2396359"/>
          </a:xfrm>
        </p:spPr>
        <p:txBody>
          <a:bodyPr anchor="b">
            <a:normAutofit/>
          </a:bodyPr>
          <a:lstStyle/>
          <a:p>
            <a:pPr algn="r"/>
            <a:r>
              <a:rPr lang="es-MX" sz="4000">
                <a:solidFill>
                  <a:srgbClr val="FFFFFF"/>
                </a:solidFill>
              </a:rPr>
              <a:t>Ejercicios</a:t>
            </a:r>
          </a:p>
        </p:txBody>
      </p:sp>
      <p:sp>
        <p:nvSpPr>
          <p:cNvPr id="4" name="Marcador de pie de página 3">
            <a:extLst>
              <a:ext uri="{FF2B5EF4-FFF2-40B4-BE49-F238E27FC236}">
                <a16:creationId xmlns:a16="http://schemas.microsoft.com/office/drawing/2014/main" id="{5BFA725F-4899-8529-44F8-F74F07EC6DED}"/>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5" name="Marcador de número de diapositiva 4">
            <a:extLst>
              <a:ext uri="{FF2B5EF4-FFF2-40B4-BE49-F238E27FC236}">
                <a16:creationId xmlns:a16="http://schemas.microsoft.com/office/drawing/2014/main" id="{881BCA63-9E6B-037A-1044-13D6A4E8E663}"/>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163</a:t>
            </a:fld>
            <a:endParaRPr lang="es-MX" sz="1100">
              <a:solidFill>
                <a:schemeClr val="tx1">
                  <a:lumMod val="50000"/>
                  <a:lumOff val="50000"/>
                </a:schemeClr>
              </a:solidFill>
            </a:endParaRPr>
          </a:p>
        </p:txBody>
      </p:sp>
      <p:graphicFrame>
        <p:nvGraphicFramePr>
          <p:cNvPr id="7" name="Marcador de contenido 2">
            <a:extLst>
              <a:ext uri="{FF2B5EF4-FFF2-40B4-BE49-F238E27FC236}">
                <a16:creationId xmlns:a16="http://schemas.microsoft.com/office/drawing/2014/main" id="{3D96FDD6-1A13-7B39-AB0D-B14362CA869E}"/>
              </a:ext>
            </a:extLst>
          </p:cNvPr>
          <p:cNvGraphicFramePr>
            <a:graphicFrameLocks noGrp="1"/>
          </p:cNvGraphicFramePr>
          <p:nvPr>
            <p:ph idx="1"/>
            <p:extLst>
              <p:ext uri="{D42A27DB-BD31-4B8C-83A1-F6EECF244321}">
                <p14:modId xmlns:p14="http://schemas.microsoft.com/office/powerpoint/2010/main" val="3353836746"/>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957323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5CAC42-A799-22E9-D27F-D462D44BE9C9}"/>
              </a:ext>
            </a:extLst>
          </p:cNvPr>
          <p:cNvSpPr>
            <a:spLocks noGrp="1"/>
          </p:cNvSpPr>
          <p:nvPr>
            <p:ph type="title"/>
          </p:nvPr>
        </p:nvSpPr>
        <p:spPr>
          <a:xfrm>
            <a:off x="648929" y="629266"/>
            <a:ext cx="3505495" cy="1622321"/>
          </a:xfrm>
        </p:spPr>
        <p:txBody>
          <a:bodyPr>
            <a:normAutofit/>
          </a:bodyPr>
          <a:lstStyle/>
          <a:p>
            <a:r>
              <a:rPr lang="es-MX" dirty="0" err="1"/>
              <a:t>Metodos</a:t>
            </a:r>
            <a:endParaRPr lang="es-MX" dirty="0"/>
          </a:p>
        </p:txBody>
      </p:sp>
      <p:sp>
        <p:nvSpPr>
          <p:cNvPr id="3" name="Marcador de contenido 2">
            <a:extLst>
              <a:ext uri="{FF2B5EF4-FFF2-40B4-BE49-F238E27FC236}">
                <a16:creationId xmlns:a16="http://schemas.microsoft.com/office/drawing/2014/main" id="{D6594EB5-B676-2B77-4551-7965C4D11134}"/>
              </a:ext>
            </a:extLst>
          </p:cNvPr>
          <p:cNvSpPr>
            <a:spLocks noGrp="1"/>
          </p:cNvSpPr>
          <p:nvPr>
            <p:ph idx="1"/>
          </p:nvPr>
        </p:nvSpPr>
        <p:spPr>
          <a:xfrm>
            <a:off x="648931" y="2438400"/>
            <a:ext cx="3505494" cy="3785419"/>
          </a:xfrm>
        </p:spPr>
        <p:txBody>
          <a:bodyPr>
            <a:normAutofit/>
          </a:bodyPr>
          <a:lstStyle/>
          <a:p>
            <a:pPr marL="0" indent="0">
              <a:buNone/>
            </a:pPr>
            <a:r>
              <a:rPr lang="es-MX" sz="2000"/>
              <a:t>Los objetos creados a partir de clases también contienen métodos. Dicho de otra manera, los métodos son funciones que pertenecen al objeto.</a:t>
            </a:r>
          </a:p>
          <a:p>
            <a:pPr marL="0" indent="0">
              <a:buNone/>
            </a:pPr>
            <a:endParaRPr lang="es-MX" sz="2000"/>
          </a:p>
        </p:txBody>
      </p:sp>
      <p:sp>
        <p:nvSpPr>
          <p:cNvPr id="12" name="Rectangle 11">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AA6164C0-4D09-7A55-EDCB-A8A3133CBA71}"/>
              </a:ext>
            </a:extLst>
          </p:cNvPr>
          <p:cNvPicPr>
            <a:picLocks noChangeAspect="1"/>
          </p:cNvPicPr>
          <p:nvPr/>
        </p:nvPicPr>
        <p:blipFill>
          <a:blip r:embed="rId2"/>
          <a:stretch>
            <a:fillRect/>
          </a:stretch>
        </p:blipFill>
        <p:spPr>
          <a:xfrm>
            <a:off x="5405862" y="2215987"/>
            <a:ext cx="6019331" cy="2422780"/>
          </a:xfrm>
          <a:prstGeom prst="rect">
            <a:avLst/>
          </a:prstGeom>
          <a:effectLst/>
        </p:spPr>
      </p:pic>
      <p:sp>
        <p:nvSpPr>
          <p:cNvPr id="4" name="Marcador de pie de página 3">
            <a:extLst>
              <a:ext uri="{FF2B5EF4-FFF2-40B4-BE49-F238E27FC236}">
                <a16:creationId xmlns:a16="http://schemas.microsoft.com/office/drawing/2014/main" id="{158EC9BC-230A-6C22-ED20-216A006A9BF8}"/>
              </a:ext>
            </a:extLst>
          </p:cNvPr>
          <p:cNvSpPr>
            <a:spLocks noGrp="1"/>
          </p:cNvSpPr>
          <p:nvPr>
            <p:ph type="ftr" sz="quarter" idx="11"/>
          </p:nvPr>
        </p:nvSpPr>
        <p:spPr>
          <a:xfrm>
            <a:off x="5123688" y="6356350"/>
            <a:ext cx="4114800" cy="365125"/>
          </a:xfrm>
        </p:spPr>
        <p:txBody>
          <a:bodyPr>
            <a:normAutofit/>
          </a:bodyPr>
          <a:lstStyle/>
          <a:p>
            <a:pPr algn="l">
              <a:spcAft>
                <a:spcPts val="600"/>
              </a:spcAft>
            </a:pPr>
            <a:r>
              <a:rPr lang="es-MX">
                <a:solidFill>
                  <a:srgbClr val="303030"/>
                </a:solidFill>
              </a:rPr>
              <a:t>Arabots Robotics</a:t>
            </a:r>
          </a:p>
        </p:txBody>
      </p:sp>
      <p:sp>
        <p:nvSpPr>
          <p:cNvPr id="5" name="Marcador de número de diapositiva 4">
            <a:extLst>
              <a:ext uri="{FF2B5EF4-FFF2-40B4-BE49-F238E27FC236}">
                <a16:creationId xmlns:a16="http://schemas.microsoft.com/office/drawing/2014/main" id="{20226672-1B77-1A2E-FA15-50EA31353161}"/>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a:solidFill>
                  <a:srgbClr val="303030"/>
                </a:solidFill>
              </a:rPr>
              <a:pPr>
                <a:spcAft>
                  <a:spcPts val="600"/>
                </a:spcAft>
              </a:pPr>
              <a:t>164</a:t>
            </a:fld>
            <a:endParaRPr lang="es-MX">
              <a:solidFill>
                <a:srgbClr val="303030"/>
              </a:solidFill>
            </a:endParaRPr>
          </a:p>
        </p:txBody>
      </p:sp>
    </p:spTree>
    <p:extLst>
      <p:ext uri="{BB962C8B-B14F-4D97-AF65-F5344CB8AC3E}">
        <p14:creationId xmlns:p14="http://schemas.microsoft.com/office/powerpoint/2010/main" val="334267157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6799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Marcador de contenido 6">
            <a:extLst>
              <a:ext uri="{FF2B5EF4-FFF2-40B4-BE49-F238E27FC236}">
                <a16:creationId xmlns:a16="http://schemas.microsoft.com/office/drawing/2014/main" id="{5497D55E-D80C-7BB0-243D-DE38E5153DD0}"/>
              </a:ext>
            </a:extLst>
          </p:cNvPr>
          <p:cNvPicPr>
            <a:picLocks noGrp="1" noChangeAspect="1"/>
          </p:cNvPicPr>
          <p:nvPr>
            <p:ph idx="1"/>
          </p:nvPr>
        </p:nvPicPr>
        <p:blipFill rotWithShape="1">
          <a:blip r:embed="rId2"/>
          <a:srcRect t="8048" r="48509"/>
          <a:stretch/>
        </p:blipFill>
        <p:spPr>
          <a:xfrm>
            <a:off x="3288453" y="690462"/>
            <a:ext cx="5615093" cy="2331379"/>
          </a:xfrm>
          <a:prstGeom prst="rect">
            <a:avLst/>
          </a:prstGeom>
        </p:spPr>
      </p:pic>
      <p:sp>
        <p:nvSpPr>
          <p:cNvPr id="4" name="Marcador de pie de página 3">
            <a:extLst>
              <a:ext uri="{FF2B5EF4-FFF2-40B4-BE49-F238E27FC236}">
                <a16:creationId xmlns:a16="http://schemas.microsoft.com/office/drawing/2014/main" id="{E8F10943-3798-D674-5A5E-6FB2F713FE75}"/>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rgbClr val="FFFFFF"/>
                </a:solidFill>
                <a:latin typeface="+mn-lt"/>
                <a:ea typeface="+mn-ea"/>
                <a:cs typeface="+mn-cs"/>
              </a:rPr>
              <a:t>Arabots Robotics</a:t>
            </a:r>
          </a:p>
        </p:txBody>
      </p:sp>
      <p:sp>
        <p:nvSpPr>
          <p:cNvPr id="5" name="Marcador de número de diapositiva 4">
            <a:extLst>
              <a:ext uri="{FF2B5EF4-FFF2-40B4-BE49-F238E27FC236}">
                <a16:creationId xmlns:a16="http://schemas.microsoft.com/office/drawing/2014/main" id="{C403993D-F7AE-738D-C0B4-1124A19C6FE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4EA4A3B0-B5DF-4E2B-B48F-E4B7B7872040}" type="slidenum">
              <a:rPr lang="en-US">
                <a:solidFill>
                  <a:srgbClr val="FFFFFF"/>
                </a:solidFill>
              </a:rPr>
              <a:pPr>
                <a:spcAft>
                  <a:spcPts val="600"/>
                </a:spcAft>
              </a:pPr>
              <a:t>165</a:t>
            </a:fld>
            <a:endParaRPr lang="en-US">
              <a:solidFill>
                <a:srgbClr val="FFFFFF"/>
              </a:solidFill>
            </a:endParaRPr>
          </a:p>
        </p:txBody>
      </p:sp>
      <p:pic>
        <p:nvPicPr>
          <p:cNvPr id="10" name="Marcador de contenido 6">
            <a:extLst>
              <a:ext uri="{FF2B5EF4-FFF2-40B4-BE49-F238E27FC236}">
                <a16:creationId xmlns:a16="http://schemas.microsoft.com/office/drawing/2014/main" id="{0DE2501B-8DDE-B8E9-A408-3E01266D87DA}"/>
              </a:ext>
            </a:extLst>
          </p:cNvPr>
          <p:cNvPicPr>
            <a:picLocks noChangeAspect="1"/>
          </p:cNvPicPr>
          <p:nvPr/>
        </p:nvPicPr>
        <p:blipFill rotWithShape="1">
          <a:blip r:embed="rId2"/>
          <a:srcRect l="52360"/>
          <a:stretch/>
        </p:blipFill>
        <p:spPr>
          <a:xfrm>
            <a:off x="3288453" y="3123123"/>
            <a:ext cx="5537200" cy="2702361"/>
          </a:xfrm>
          <a:prstGeom prst="rect">
            <a:avLst/>
          </a:prstGeom>
        </p:spPr>
      </p:pic>
    </p:spTree>
    <p:extLst>
      <p:ext uri="{BB962C8B-B14F-4D97-AF65-F5344CB8AC3E}">
        <p14:creationId xmlns:p14="http://schemas.microsoft.com/office/powerpoint/2010/main" val="106504769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4E04762-5969-C3DE-5DCF-54ABBFE12F79}"/>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Ejercicios</a:t>
            </a:r>
          </a:p>
        </p:txBody>
      </p:sp>
      <p:sp>
        <p:nvSpPr>
          <p:cNvPr id="4" name="Marcador de pie de página 3">
            <a:extLst>
              <a:ext uri="{FF2B5EF4-FFF2-40B4-BE49-F238E27FC236}">
                <a16:creationId xmlns:a16="http://schemas.microsoft.com/office/drawing/2014/main" id="{64EDAEA1-D8C5-3FB3-BCE1-AEEC9C1902D8}"/>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9AA95910-887E-F4D0-DCB8-6C7E935C1892}"/>
              </a:ext>
            </a:extLst>
          </p:cNvPr>
          <p:cNvSpPr>
            <a:spLocks noGrp="1"/>
          </p:cNvSpPr>
          <p:nvPr>
            <p:ph idx="1"/>
          </p:nvPr>
        </p:nvSpPr>
        <p:spPr>
          <a:xfrm>
            <a:off x="4810259" y="649480"/>
            <a:ext cx="6555347" cy="5546047"/>
          </a:xfrm>
        </p:spPr>
        <p:txBody>
          <a:bodyPr anchor="ctr">
            <a:normAutofit/>
          </a:bodyPr>
          <a:lstStyle/>
          <a:p>
            <a:pPr marL="0" marR="0" lvl="0" indent="0" defTabSz="914400" rtl="0" eaLnBrk="0" fontAlgn="base" latinLnBrk="0" hangingPunct="0">
              <a:spcBef>
                <a:spcPct val="0"/>
              </a:spcBef>
              <a:spcAft>
                <a:spcPct val="0"/>
              </a:spcAft>
              <a:buClrTx/>
              <a:buSzTx/>
              <a:buFontTx/>
              <a:buNone/>
              <a:tabLst/>
            </a:pPr>
            <a:r>
              <a:rPr kumimoji="0" lang="es-MX" altLang="es-MX" sz="2000" b="0" i="0" u="none" strike="noStrike" cap="none" normalizeH="0" baseline="0">
                <a:ln>
                  <a:noFill/>
                </a:ln>
                <a:effectLst/>
                <a:latin typeface="udemy sans"/>
              </a:rPr>
              <a:t>Crea una clase </a:t>
            </a:r>
            <a:r>
              <a:rPr kumimoji="0" lang="es-MX" altLang="es-MX" sz="2000" b="0" i="0" u="none" strike="noStrike" cap="none" normalizeH="0" baseline="0">
                <a:ln>
                  <a:noFill/>
                </a:ln>
                <a:effectLst/>
                <a:latin typeface="sfmono-regular"/>
              </a:rPr>
              <a:t>Perro</a:t>
            </a:r>
            <a:r>
              <a:rPr kumimoji="0" lang="es-MX" altLang="es-MX" sz="2000" b="0" i="0" u="none" strike="noStrike" cap="none" normalizeH="0" baseline="0">
                <a:ln>
                  <a:noFill/>
                </a:ln>
                <a:effectLst/>
                <a:latin typeface="udemy sans"/>
              </a:rPr>
              <a:t>. Dicho perro debe poder ladrar.</a:t>
            </a:r>
            <a:endParaRPr kumimoji="0" lang="es-MX" altLang="es-MX" sz="2000" b="0" i="0" u="none" strike="noStrike" cap="none" normalizeH="0" baseline="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2000" b="0" i="0" u="none" strike="noStrike" cap="none" normalizeH="0" baseline="0">
                <a:ln>
                  <a:noFill/>
                </a:ln>
                <a:effectLst/>
                <a:latin typeface="udemy sans"/>
              </a:rPr>
              <a:t>Crea el método </a:t>
            </a:r>
            <a:r>
              <a:rPr kumimoji="0" lang="es-MX" altLang="es-MX" sz="2000" b="0" i="0" u="none" strike="noStrike" cap="none" normalizeH="0" baseline="0">
                <a:ln>
                  <a:noFill/>
                </a:ln>
                <a:effectLst/>
                <a:latin typeface="sfmono-regular"/>
              </a:rPr>
              <a:t>ladrar()</a:t>
            </a:r>
            <a:r>
              <a:rPr kumimoji="0" lang="es-MX" altLang="es-MX" sz="2000" b="0" i="0" u="none" strike="noStrike" cap="none" normalizeH="0" baseline="0">
                <a:ln>
                  <a:noFill/>
                </a:ln>
                <a:effectLst/>
                <a:latin typeface="udemy sans"/>
              </a:rPr>
              <a:t> y ejecútalo en una instancia de Perro. Cada vez que ladre, debe mostrarse en pantalla </a:t>
            </a:r>
            <a:r>
              <a:rPr kumimoji="0" lang="es-MX" altLang="es-MX" sz="2000" b="0" i="0" u="none" strike="noStrike" cap="none" normalizeH="0" baseline="0">
                <a:ln>
                  <a:noFill/>
                </a:ln>
                <a:effectLst/>
                <a:latin typeface="sfmono-regular"/>
              </a:rPr>
              <a:t>"Guau!"</a:t>
            </a:r>
            <a:r>
              <a:rPr kumimoji="0" lang="es-MX" altLang="es-MX" sz="2000" b="0" i="0" u="none" strike="noStrike" cap="none" normalizeH="0" baseline="0">
                <a:ln>
                  <a:noFill/>
                </a:ln>
                <a:effectLst/>
                <a:latin typeface="udemy sans"/>
              </a:rPr>
              <a:t>.</a:t>
            </a:r>
            <a:endParaRPr kumimoji="0" lang="es-MX" altLang="es-MX" sz="2000" b="0" i="0" u="none" strike="noStrike" cap="none" normalizeH="0" baseline="0">
              <a:ln>
                <a:noFill/>
              </a:ln>
              <a:effectLst/>
              <a:latin typeface="Arial" panose="020B0604020202020204" pitchFamily="34" charset="0"/>
            </a:endParaRPr>
          </a:p>
          <a:p>
            <a:pPr marL="0" indent="0">
              <a:buNone/>
            </a:pPr>
            <a:endParaRPr lang="es-MX" sz="2000">
              <a:latin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r>
              <a:rPr kumimoji="0" lang="es-MX" altLang="es-MX" sz="2000" b="0" i="0" u="none" strike="noStrike" cap="none" normalizeH="0" baseline="0">
                <a:ln>
                  <a:noFill/>
                </a:ln>
                <a:effectLst/>
                <a:latin typeface="udemy sans"/>
              </a:rPr>
              <a:t>Crea una clase llamada </a:t>
            </a:r>
            <a:r>
              <a:rPr kumimoji="0" lang="es-MX" altLang="es-MX" sz="2000" b="0" i="0" u="none" strike="noStrike" cap="none" normalizeH="0" baseline="0">
                <a:ln>
                  <a:noFill/>
                </a:ln>
                <a:effectLst/>
                <a:latin typeface="sfmono-regular"/>
              </a:rPr>
              <a:t>Mago</a:t>
            </a:r>
            <a:r>
              <a:rPr kumimoji="0" lang="es-MX" altLang="es-MX" sz="2000" b="0" i="0" u="none" strike="noStrike" cap="none" normalizeH="0" baseline="0">
                <a:ln>
                  <a:noFill/>
                </a:ln>
                <a:effectLst/>
                <a:latin typeface="udemy sans"/>
              </a:rPr>
              <a:t>, y crea un método llamado </a:t>
            </a:r>
            <a:r>
              <a:rPr kumimoji="0" lang="es-MX" altLang="es-MX" sz="2000" b="0" i="0" u="none" strike="noStrike" cap="none" normalizeH="0" baseline="0">
                <a:ln>
                  <a:noFill/>
                </a:ln>
                <a:effectLst/>
                <a:latin typeface="sfmono-regular"/>
              </a:rPr>
              <a:t>lanzar_hechizo()</a:t>
            </a:r>
            <a:r>
              <a:rPr kumimoji="0" lang="es-MX" altLang="es-MX" sz="2000" b="0" i="0" u="none" strike="noStrike" cap="none" normalizeH="0" baseline="0">
                <a:ln>
                  <a:noFill/>
                </a:ln>
                <a:effectLst/>
                <a:latin typeface="udemy sans"/>
              </a:rPr>
              <a:t> (deberá imprimir "</a:t>
            </a:r>
            <a:r>
              <a:rPr kumimoji="0" lang="es-MX" altLang="es-MX" sz="2000" b="1" i="1" u="none" strike="noStrike" cap="none" normalizeH="0" baseline="0">
                <a:ln>
                  <a:noFill/>
                </a:ln>
                <a:effectLst/>
                <a:latin typeface="udemy sans"/>
              </a:rPr>
              <a:t>¡Abracadabra!</a:t>
            </a:r>
            <a:r>
              <a:rPr kumimoji="0" lang="es-MX" altLang="es-MX" sz="2000" b="0" i="0" u="none" strike="noStrike" cap="none" normalizeH="0" baseline="0">
                <a:ln>
                  <a:noFill/>
                </a:ln>
                <a:effectLst/>
                <a:latin typeface="udemy sans"/>
              </a:rPr>
              <a:t>").</a:t>
            </a:r>
            <a:endParaRPr kumimoji="0" lang="es-MX" altLang="es-MX" sz="2000" b="0" i="0" u="none" strike="noStrike" cap="none" normalizeH="0" baseline="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2000" b="0" i="0" u="none" strike="noStrike" cap="none" normalizeH="0" baseline="0">
                <a:ln>
                  <a:noFill/>
                </a:ln>
                <a:effectLst/>
                <a:latin typeface="udemy sans"/>
              </a:rPr>
              <a:t>Crea una instancia de Mago en el objeto </a:t>
            </a:r>
            <a:r>
              <a:rPr kumimoji="0" lang="es-MX" altLang="es-MX" sz="2000" b="0" i="0" u="none" strike="noStrike" cap="none" normalizeH="0" baseline="0">
                <a:ln>
                  <a:noFill/>
                </a:ln>
                <a:effectLst/>
                <a:latin typeface="sfmono-regular"/>
              </a:rPr>
              <a:t>merlin</a:t>
            </a:r>
            <a:r>
              <a:rPr kumimoji="0" lang="es-MX" altLang="es-MX" sz="2000" b="0" i="0" u="none" strike="noStrike" cap="none" normalizeH="0" baseline="0">
                <a:ln>
                  <a:noFill/>
                </a:ln>
                <a:effectLst/>
                <a:latin typeface="udemy sans"/>
              </a:rPr>
              <a:t>, y haz que lance un hechizo.</a:t>
            </a:r>
          </a:p>
          <a:p>
            <a:pPr marL="0" marR="0" lvl="0" indent="0" defTabSz="914400" rtl="0" eaLnBrk="0" fontAlgn="base" latinLnBrk="0" hangingPunct="0">
              <a:spcBef>
                <a:spcPct val="0"/>
              </a:spcBef>
              <a:spcAft>
                <a:spcPct val="0"/>
              </a:spcAft>
              <a:buClrTx/>
              <a:buSzTx/>
              <a:buFontTx/>
              <a:buNone/>
              <a:tabLst/>
            </a:pPr>
            <a:endParaRPr lang="es-MX" altLang="es-MX" sz="2000">
              <a:latin typeface="udemy sans"/>
            </a:endParaRPr>
          </a:p>
          <a:p>
            <a:pPr marL="0" marR="0" lvl="0" indent="0" defTabSz="914400" rtl="0" eaLnBrk="0" fontAlgn="base" latinLnBrk="0" hangingPunct="0">
              <a:spcBef>
                <a:spcPct val="0"/>
              </a:spcBef>
              <a:spcAft>
                <a:spcPct val="0"/>
              </a:spcAft>
              <a:buClrTx/>
              <a:buSzTx/>
              <a:buFontTx/>
              <a:buNone/>
              <a:tabLst/>
            </a:pPr>
            <a:r>
              <a:rPr kumimoji="0" lang="es-MX" altLang="es-MX" sz="2000" b="0" i="0" u="none" strike="noStrike" cap="none" normalizeH="0" baseline="0">
                <a:ln>
                  <a:noFill/>
                </a:ln>
                <a:effectLst/>
                <a:latin typeface="udemy sans"/>
              </a:rPr>
              <a:t>Crea una instancia de la clase </a:t>
            </a:r>
            <a:r>
              <a:rPr kumimoji="0" lang="es-MX" altLang="es-MX" sz="2000" b="0" i="0" u="none" strike="noStrike" cap="none" normalizeH="0" baseline="0">
                <a:ln>
                  <a:noFill/>
                </a:ln>
                <a:effectLst/>
                <a:latin typeface="sfmono-regular"/>
              </a:rPr>
              <a:t>Alarma</a:t>
            </a:r>
            <a:r>
              <a:rPr kumimoji="0" lang="es-MX" altLang="es-MX" sz="2000" b="0" i="0" u="none" strike="noStrike" cap="none" normalizeH="0" baseline="0">
                <a:ln>
                  <a:noFill/>
                </a:ln>
                <a:effectLst/>
                <a:latin typeface="udemy sans"/>
              </a:rPr>
              <a:t>, que tenga un método llamado </a:t>
            </a:r>
            <a:r>
              <a:rPr kumimoji="0" lang="es-MX" altLang="es-MX" sz="2000" b="0" i="0" u="none" strike="noStrike" cap="none" normalizeH="0" baseline="0">
                <a:ln>
                  <a:noFill/>
                </a:ln>
                <a:effectLst/>
                <a:latin typeface="sfmono-regular"/>
              </a:rPr>
              <a:t>postergar(cantidad_minutos)</a:t>
            </a:r>
            <a:r>
              <a:rPr kumimoji="0" lang="es-MX" altLang="es-MX" sz="2000" b="0" i="0" u="none" strike="noStrike" cap="none" normalizeH="0" baseline="0">
                <a:ln>
                  <a:noFill/>
                </a:ln>
                <a:effectLst/>
                <a:latin typeface="udemy sans"/>
              </a:rPr>
              <a:t>. El método debe imprimir en pantalla el mensaje</a:t>
            </a:r>
            <a:endParaRPr kumimoji="0" lang="es-MX" altLang="es-MX" sz="2000" b="0" i="0" u="none" strike="noStrike" cap="none" normalizeH="0" baseline="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2000" b="1" i="0" u="none" strike="noStrike" cap="none" normalizeH="0" baseline="0">
                <a:ln>
                  <a:noFill/>
                </a:ln>
                <a:effectLst/>
                <a:latin typeface="udemy sans"/>
              </a:rPr>
              <a:t>"La alarma ha sido pospuesta </a:t>
            </a:r>
            <a:r>
              <a:rPr kumimoji="0" lang="es-MX" altLang="es-MX" sz="2000" b="1" i="0" u="none" strike="noStrike" cap="none" normalizeH="0" baseline="0">
                <a:ln>
                  <a:noFill/>
                </a:ln>
                <a:effectLst/>
                <a:latin typeface="sfmono-regular"/>
              </a:rPr>
              <a:t>{cantidad_minutos}</a:t>
            </a:r>
            <a:r>
              <a:rPr kumimoji="0" lang="es-MX" altLang="es-MX" sz="2000" b="1" i="0" u="none" strike="noStrike" cap="none" normalizeH="0" baseline="0">
                <a:ln>
                  <a:noFill/>
                </a:ln>
                <a:effectLst/>
                <a:latin typeface="udemy sans"/>
              </a:rPr>
              <a:t> minutos"</a:t>
            </a:r>
            <a:endParaRPr kumimoji="0" lang="es-MX" altLang="es-MX" sz="2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endParaRPr kumimoji="0" lang="es-MX" altLang="es-MX" sz="2000" b="0" i="0" u="none" strike="noStrike" cap="none" normalizeH="0" baseline="0">
              <a:ln>
                <a:noFill/>
              </a:ln>
              <a:effectLst/>
              <a:latin typeface="Arial" panose="020B0604020202020204" pitchFamily="34" charset="0"/>
            </a:endParaRPr>
          </a:p>
          <a:p>
            <a:pPr marL="0" indent="0">
              <a:buNone/>
            </a:pPr>
            <a:endParaRPr lang="es-MX" sz="2000"/>
          </a:p>
        </p:txBody>
      </p:sp>
      <p:sp>
        <p:nvSpPr>
          <p:cNvPr id="5" name="Marcador de número de diapositiva 4">
            <a:extLst>
              <a:ext uri="{FF2B5EF4-FFF2-40B4-BE49-F238E27FC236}">
                <a16:creationId xmlns:a16="http://schemas.microsoft.com/office/drawing/2014/main" id="{F2AE164F-8BAC-985A-1531-5521B72D493E}"/>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166</a:t>
            </a:fld>
            <a:endParaRPr lang="es-MX" sz="1100">
              <a:solidFill>
                <a:schemeClr val="tx1">
                  <a:lumMod val="50000"/>
                  <a:lumOff val="50000"/>
                </a:schemeClr>
              </a:solidFill>
            </a:endParaRPr>
          </a:p>
        </p:txBody>
      </p:sp>
    </p:spTree>
    <p:extLst>
      <p:ext uri="{BB962C8B-B14F-4D97-AF65-F5344CB8AC3E}">
        <p14:creationId xmlns:p14="http://schemas.microsoft.com/office/powerpoint/2010/main" val="14541049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4654285"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90DB3B3-F8EF-6B38-42B9-79AC4F47A562}"/>
              </a:ext>
            </a:extLst>
          </p:cNvPr>
          <p:cNvSpPr>
            <a:spLocks noGrp="1"/>
          </p:cNvSpPr>
          <p:nvPr>
            <p:ph type="title"/>
          </p:nvPr>
        </p:nvSpPr>
        <p:spPr>
          <a:xfrm>
            <a:off x="1156851" y="637763"/>
            <a:ext cx="2910051" cy="5576768"/>
          </a:xfrm>
        </p:spPr>
        <p:txBody>
          <a:bodyPr anchor="t">
            <a:normAutofit/>
          </a:bodyPr>
          <a:lstStyle/>
          <a:p>
            <a:r>
              <a:rPr lang="es-MX" sz="4800">
                <a:solidFill>
                  <a:schemeClr val="bg1"/>
                </a:solidFill>
              </a:rPr>
              <a:t>Tipos de metodos</a:t>
            </a:r>
          </a:p>
        </p:txBody>
      </p:sp>
      <p:sp>
        <p:nvSpPr>
          <p:cNvPr id="5" name="Marcador de número de diapositiva 4">
            <a:extLst>
              <a:ext uri="{FF2B5EF4-FFF2-40B4-BE49-F238E27FC236}">
                <a16:creationId xmlns:a16="http://schemas.microsoft.com/office/drawing/2014/main" id="{82BC827C-1718-472E-A56D-0D2CBD246B20}"/>
              </a:ext>
            </a:extLst>
          </p:cNvPr>
          <p:cNvSpPr>
            <a:spLocks noGrp="1"/>
          </p:cNvSpPr>
          <p:nvPr>
            <p:ph type="sldNum" sz="quarter" idx="12"/>
          </p:nvPr>
        </p:nvSpPr>
        <p:spPr>
          <a:xfrm>
            <a:off x="160867" y="3246439"/>
            <a:ext cx="672957" cy="343768"/>
          </a:xfrm>
        </p:spPr>
        <p:txBody>
          <a:bodyPr anchor="ctr">
            <a:normAutofit/>
          </a:bodyPr>
          <a:lstStyle/>
          <a:p>
            <a:pPr algn="ctr">
              <a:spcAft>
                <a:spcPts val="600"/>
              </a:spcAft>
            </a:pPr>
            <a:fld id="{4EA4A3B0-B5DF-4E2B-B48F-E4B7B7872040}" type="slidenum">
              <a:rPr lang="es-MX" sz="1400">
                <a:solidFill>
                  <a:schemeClr val="bg1"/>
                </a:solidFill>
              </a:rPr>
              <a:pPr algn="ctr">
                <a:spcAft>
                  <a:spcPts val="600"/>
                </a:spcAft>
              </a:pPr>
              <a:t>167</a:t>
            </a:fld>
            <a:endParaRPr lang="es-MX" sz="1400">
              <a:solidFill>
                <a:schemeClr val="bg1"/>
              </a:solidFill>
            </a:endParaRPr>
          </a:p>
        </p:txBody>
      </p:sp>
      <p:sp>
        <p:nvSpPr>
          <p:cNvPr id="4" name="Marcador de pie de página 3">
            <a:extLst>
              <a:ext uri="{FF2B5EF4-FFF2-40B4-BE49-F238E27FC236}">
                <a16:creationId xmlns:a16="http://schemas.microsoft.com/office/drawing/2014/main" id="{A5983B2F-7799-5D93-51E9-DEB3C8E38514}"/>
              </a:ext>
            </a:extLst>
          </p:cNvPr>
          <p:cNvSpPr>
            <a:spLocks noGrp="1"/>
          </p:cNvSpPr>
          <p:nvPr>
            <p:ph type="ftr" sz="quarter" idx="11"/>
          </p:nvPr>
        </p:nvSpPr>
        <p:spPr>
          <a:xfrm rot="5400000">
            <a:off x="-349845" y="5226028"/>
            <a:ext cx="1663495" cy="313512"/>
          </a:xfrm>
        </p:spPr>
        <p:txBody>
          <a:bodyPr anchor="ctr">
            <a:normAutofit/>
          </a:bodyPr>
          <a:lstStyle/>
          <a:p>
            <a:pPr algn="r">
              <a:spcAft>
                <a:spcPts val="600"/>
              </a:spcAft>
            </a:pPr>
            <a:r>
              <a:rPr lang="es-MX" sz="900">
                <a:solidFill>
                  <a:schemeClr val="bg1"/>
                </a:solidFill>
              </a:rPr>
              <a:t>Arabots Robotics</a:t>
            </a:r>
          </a:p>
        </p:txBody>
      </p:sp>
      <p:sp>
        <p:nvSpPr>
          <p:cNvPr id="14" name="Rectangle 13">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2118" y="0"/>
            <a:ext cx="7529872"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A579E76A-414B-5669-9AFA-384C638D9EB0}"/>
              </a:ext>
            </a:extLst>
          </p:cNvPr>
          <p:cNvPicPr>
            <a:picLocks noChangeAspect="1"/>
          </p:cNvPicPr>
          <p:nvPr/>
        </p:nvPicPr>
        <p:blipFill>
          <a:blip r:embed="rId2"/>
          <a:stretch>
            <a:fillRect/>
          </a:stretch>
        </p:blipFill>
        <p:spPr>
          <a:xfrm>
            <a:off x="5439976" y="1220448"/>
            <a:ext cx="5592818" cy="1761737"/>
          </a:xfrm>
          <a:prstGeom prst="rect">
            <a:avLst/>
          </a:prstGeom>
        </p:spPr>
      </p:pic>
      <p:sp>
        <p:nvSpPr>
          <p:cNvPr id="16" name="Rectangle 15">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9976" y="4006121"/>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932BC34-2611-E2D6-05A6-54EC46423061}"/>
              </a:ext>
            </a:extLst>
          </p:cNvPr>
          <p:cNvSpPr>
            <a:spLocks noGrp="1"/>
          </p:cNvSpPr>
          <p:nvPr>
            <p:ph idx="1"/>
          </p:nvPr>
        </p:nvSpPr>
        <p:spPr>
          <a:xfrm>
            <a:off x="5439965" y="4212709"/>
            <a:ext cx="5605390" cy="2001821"/>
          </a:xfrm>
        </p:spPr>
        <p:txBody>
          <a:bodyPr>
            <a:normAutofit/>
          </a:bodyPr>
          <a:lstStyle/>
          <a:p>
            <a:pPr marL="0" indent="0">
              <a:buNone/>
            </a:pPr>
            <a:r>
              <a:rPr lang="es-MX" sz="1500"/>
              <a:t>Los métodos estáticos y de clase anteponen un decorador específico, que indica a Python el tipo de método que se estará definiendo</a:t>
            </a:r>
          </a:p>
          <a:p>
            <a:pPr marL="0" indent="0">
              <a:buNone/>
            </a:pPr>
            <a:r>
              <a:rPr lang="es-MX" sz="1500"/>
              <a:t>@classmethod         @staticmethod</a:t>
            </a:r>
          </a:p>
          <a:p>
            <a:pPr marL="0" indent="0">
              <a:buNone/>
            </a:pPr>
            <a:r>
              <a:rPr lang="es-MX" sz="1500"/>
              <a:t>Así como los métodos de instancia requieren del parámetro self para acceder a dicha instancia, los métodos de clase requieren del parámetro cls para acceder a los atributos de clase. Los métodos estáticos, dado que no pueden acceder a la instancia ni a la clase, no indican un parámetro semejante</a:t>
            </a:r>
          </a:p>
        </p:txBody>
      </p:sp>
    </p:spTree>
    <p:extLst>
      <p:ext uri="{BB962C8B-B14F-4D97-AF65-F5344CB8AC3E}">
        <p14:creationId xmlns:p14="http://schemas.microsoft.com/office/powerpoint/2010/main" val="313830609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6AFF17-F2B1-F65D-6948-85FCB95F32B1}"/>
              </a:ext>
            </a:extLst>
          </p:cNvPr>
          <p:cNvSpPr>
            <a:spLocks noGrp="1"/>
          </p:cNvSpPr>
          <p:nvPr>
            <p:ph type="title"/>
          </p:nvPr>
        </p:nvSpPr>
        <p:spPr>
          <a:xfrm>
            <a:off x="648929" y="629266"/>
            <a:ext cx="3505495" cy="1622321"/>
          </a:xfrm>
        </p:spPr>
        <p:txBody>
          <a:bodyPr>
            <a:normAutofit/>
          </a:bodyPr>
          <a:lstStyle/>
          <a:p>
            <a:r>
              <a:rPr lang="es-MX" dirty="0"/>
              <a:t>Herencia</a:t>
            </a:r>
          </a:p>
        </p:txBody>
      </p:sp>
      <p:sp>
        <p:nvSpPr>
          <p:cNvPr id="3" name="Marcador de contenido 2">
            <a:extLst>
              <a:ext uri="{FF2B5EF4-FFF2-40B4-BE49-F238E27FC236}">
                <a16:creationId xmlns:a16="http://schemas.microsoft.com/office/drawing/2014/main" id="{6402AED9-0D4D-B42F-8443-B42FD47AB8FF}"/>
              </a:ext>
            </a:extLst>
          </p:cNvPr>
          <p:cNvSpPr>
            <a:spLocks noGrp="1"/>
          </p:cNvSpPr>
          <p:nvPr>
            <p:ph idx="1"/>
          </p:nvPr>
        </p:nvSpPr>
        <p:spPr>
          <a:xfrm>
            <a:off x="648931" y="2438400"/>
            <a:ext cx="3505494" cy="3785419"/>
          </a:xfrm>
        </p:spPr>
        <p:txBody>
          <a:bodyPr>
            <a:normAutofit/>
          </a:bodyPr>
          <a:lstStyle/>
          <a:p>
            <a:pPr marL="0" indent="0">
              <a:buNone/>
            </a:pPr>
            <a:r>
              <a:rPr lang="es-MX" sz="2000"/>
              <a:t>La herencia es el proceso mediante el cual una clase puede tomar métodos y atributos de una clase superior, evitando repetición del código cuando varias clases tienen atributos o métodos en común.</a:t>
            </a:r>
          </a:p>
          <a:p>
            <a:pPr marL="0" indent="0">
              <a:buNone/>
            </a:pPr>
            <a:r>
              <a:rPr lang="es-MX" sz="2000"/>
              <a:t>Es posible crear una clase "hija" con tan solo pasar como parámetro la clase de la que queremos heredar:</a:t>
            </a:r>
          </a:p>
        </p:txBody>
      </p:sp>
      <p:sp>
        <p:nvSpPr>
          <p:cNvPr id="12" name="Rectangle 11">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3EA5530B-D000-0205-F0A0-9D38D354CB55}"/>
              </a:ext>
            </a:extLst>
          </p:cNvPr>
          <p:cNvPicPr>
            <a:picLocks noChangeAspect="1"/>
          </p:cNvPicPr>
          <p:nvPr/>
        </p:nvPicPr>
        <p:blipFill>
          <a:blip r:embed="rId2"/>
          <a:stretch>
            <a:fillRect/>
          </a:stretch>
        </p:blipFill>
        <p:spPr>
          <a:xfrm>
            <a:off x="5405862" y="1899972"/>
            <a:ext cx="6019331" cy="3054810"/>
          </a:xfrm>
          <a:prstGeom prst="rect">
            <a:avLst/>
          </a:prstGeom>
          <a:effectLst/>
        </p:spPr>
      </p:pic>
      <p:sp>
        <p:nvSpPr>
          <p:cNvPr id="4" name="Marcador de pie de página 3">
            <a:extLst>
              <a:ext uri="{FF2B5EF4-FFF2-40B4-BE49-F238E27FC236}">
                <a16:creationId xmlns:a16="http://schemas.microsoft.com/office/drawing/2014/main" id="{EAB32FA9-A523-3681-181B-CD997AF0A22B}"/>
              </a:ext>
            </a:extLst>
          </p:cNvPr>
          <p:cNvSpPr>
            <a:spLocks noGrp="1"/>
          </p:cNvSpPr>
          <p:nvPr>
            <p:ph type="ftr" sz="quarter" idx="11"/>
          </p:nvPr>
        </p:nvSpPr>
        <p:spPr>
          <a:xfrm>
            <a:off x="5123688" y="6356350"/>
            <a:ext cx="4114800" cy="365125"/>
          </a:xfrm>
        </p:spPr>
        <p:txBody>
          <a:bodyPr>
            <a:normAutofit/>
          </a:bodyPr>
          <a:lstStyle/>
          <a:p>
            <a:pPr algn="l">
              <a:spcAft>
                <a:spcPts val="600"/>
              </a:spcAft>
            </a:pPr>
            <a:r>
              <a:rPr lang="es-MX">
                <a:solidFill>
                  <a:srgbClr val="303030"/>
                </a:solidFill>
              </a:rPr>
              <a:t>Arabots Robotics</a:t>
            </a:r>
          </a:p>
        </p:txBody>
      </p:sp>
      <p:sp>
        <p:nvSpPr>
          <p:cNvPr id="5" name="Marcador de número de diapositiva 4">
            <a:extLst>
              <a:ext uri="{FF2B5EF4-FFF2-40B4-BE49-F238E27FC236}">
                <a16:creationId xmlns:a16="http://schemas.microsoft.com/office/drawing/2014/main" id="{5EDE95E2-3E9A-5D73-0C77-07BD9FBFB265}"/>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a:solidFill>
                  <a:srgbClr val="303030"/>
                </a:solidFill>
              </a:rPr>
              <a:pPr>
                <a:spcAft>
                  <a:spcPts val="600"/>
                </a:spcAft>
              </a:pPr>
              <a:t>168</a:t>
            </a:fld>
            <a:endParaRPr lang="es-MX">
              <a:solidFill>
                <a:srgbClr val="303030"/>
              </a:solidFill>
            </a:endParaRPr>
          </a:p>
        </p:txBody>
      </p:sp>
    </p:spTree>
    <p:extLst>
      <p:ext uri="{BB962C8B-B14F-4D97-AF65-F5344CB8AC3E}">
        <p14:creationId xmlns:p14="http://schemas.microsoft.com/office/powerpoint/2010/main" val="9956685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16B02CC-E7FF-40FD-85DB-F24B86A5CF8C}"/>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Ejercicios</a:t>
            </a:r>
          </a:p>
        </p:txBody>
      </p:sp>
      <p:sp>
        <p:nvSpPr>
          <p:cNvPr id="4" name="Marcador de pie de página 3">
            <a:extLst>
              <a:ext uri="{FF2B5EF4-FFF2-40B4-BE49-F238E27FC236}">
                <a16:creationId xmlns:a16="http://schemas.microsoft.com/office/drawing/2014/main" id="{2A2A89CD-FA27-0A23-416A-8BBE02D2637B}"/>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723043B8-D29A-86D4-7988-9AF144AB06A2}"/>
              </a:ext>
            </a:extLst>
          </p:cNvPr>
          <p:cNvSpPr>
            <a:spLocks noGrp="1"/>
          </p:cNvSpPr>
          <p:nvPr>
            <p:ph idx="1"/>
          </p:nvPr>
        </p:nvSpPr>
        <p:spPr>
          <a:xfrm>
            <a:off x="4810259" y="649480"/>
            <a:ext cx="6555347" cy="5546047"/>
          </a:xfrm>
        </p:spPr>
        <p:txBody>
          <a:bodyPr anchor="ctr">
            <a:normAutofit/>
          </a:bodyPr>
          <a:lstStyle/>
          <a:p>
            <a:pPr marL="0" indent="0">
              <a:buNone/>
            </a:pPr>
            <a:r>
              <a:rPr kumimoji="0" lang="es-MX" altLang="es-MX" sz="2000" b="0" i="0" u="none" strike="noStrike" cap="none" normalizeH="0" baseline="0">
                <a:ln>
                  <a:noFill/>
                </a:ln>
                <a:effectLst/>
                <a:latin typeface="udemy sans"/>
              </a:rPr>
              <a:t>Crea una </a:t>
            </a:r>
            <a:r>
              <a:rPr kumimoji="0" lang="es-MX" altLang="es-MX" sz="2000" b="1" i="0" u="none" strike="noStrike" cap="none" normalizeH="0" baseline="0">
                <a:ln>
                  <a:noFill/>
                </a:ln>
                <a:effectLst/>
                <a:latin typeface="udemy sans"/>
              </a:rPr>
              <a:t>clase </a:t>
            </a:r>
            <a:r>
              <a:rPr kumimoji="0" lang="es-MX" altLang="es-MX" sz="2000" b="0" i="0" u="none" strike="noStrike" cap="none" normalizeH="0" baseline="0">
                <a:ln>
                  <a:noFill/>
                </a:ln>
                <a:effectLst/>
                <a:latin typeface="udemy sans"/>
              </a:rPr>
              <a:t>llamada </a:t>
            </a:r>
            <a:r>
              <a:rPr kumimoji="0" lang="es-MX" altLang="es-MX" sz="2000" b="0" i="0" u="none" strike="noStrike" cap="none" normalizeH="0" baseline="0">
                <a:ln>
                  <a:noFill/>
                </a:ln>
                <a:effectLst/>
                <a:latin typeface="sfmono-regular"/>
              </a:rPr>
              <a:t>Persona</a:t>
            </a:r>
            <a:r>
              <a:rPr kumimoji="0" lang="es-MX" altLang="es-MX" sz="2000" b="0" i="0" u="none" strike="noStrike" cap="none" normalizeH="0" baseline="0">
                <a:ln>
                  <a:noFill/>
                </a:ln>
                <a:effectLst/>
                <a:latin typeface="udemy sans"/>
              </a:rPr>
              <a:t>, que tenga los siguientes </a:t>
            </a:r>
            <a:r>
              <a:rPr kumimoji="0" lang="es-MX" altLang="es-MX" sz="2000" b="1" i="1" u="none" strike="noStrike" cap="none" normalizeH="0" baseline="0">
                <a:ln>
                  <a:noFill/>
                </a:ln>
                <a:effectLst/>
                <a:latin typeface="udemy sans"/>
              </a:rPr>
              <a:t>atributos de instancia</a:t>
            </a:r>
            <a:r>
              <a:rPr kumimoji="0" lang="es-MX" altLang="es-MX" sz="2000" b="0" i="0" u="none" strike="noStrike" cap="none" normalizeH="0" baseline="0">
                <a:ln>
                  <a:noFill/>
                </a:ln>
                <a:effectLst/>
                <a:latin typeface="udemy sans"/>
              </a:rPr>
              <a:t>: </a:t>
            </a:r>
            <a:r>
              <a:rPr kumimoji="0" lang="es-MX" altLang="es-MX" sz="2000" b="0" i="0" u="none" strike="noStrike" cap="none" normalizeH="0" baseline="0">
                <a:ln>
                  <a:noFill/>
                </a:ln>
                <a:effectLst/>
                <a:latin typeface="sfmono-regular"/>
              </a:rPr>
              <a:t>nombre</a:t>
            </a:r>
            <a:r>
              <a:rPr kumimoji="0" lang="es-MX" altLang="es-MX" sz="2000" b="0" i="0" u="none" strike="noStrike" cap="none" normalizeH="0" baseline="0">
                <a:ln>
                  <a:noFill/>
                </a:ln>
                <a:effectLst/>
                <a:latin typeface="udemy sans"/>
              </a:rPr>
              <a:t>, </a:t>
            </a:r>
            <a:r>
              <a:rPr kumimoji="0" lang="es-MX" altLang="es-MX" sz="2000" b="0" i="0" u="none" strike="noStrike" cap="none" normalizeH="0" baseline="0">
                <a:ln>
                  <a:noFill/>
                </a:ln>
                <a:effectLst/>
                <a:latin typeface="sfmono-regular"/>
              </a:rPr>
              <a:t>edad</a:t>
            </a:r>
            <a:r>
              <a:rPr kumimoji="0" lang="es-MX" altLang="es-MX" sz="2000" b="0" i="0" u="none" strike="noStrike" cap="none" normalizeH="0" baseline="0">
                <a:ln>
                  <a:noFill/>
                </a:ln>
                <a:effectLst/>
                <a:latin typeface="udemy sans"/>
              </a:rPr>
              <a:t>. Crea otra clase, </a:t>
            </a:r>
            <a:r>
              <a:rPr kumimoji="0" lang="es-MX" altLang="es-MX" sz="2000" b="1" i="0" u="none" strike="noStrike" cap="none" normalizeH="0" baseline="0">
                <a:ln>
                  <a:noFill/>
                </a:ln>
                <a:effectLst/>
                <a:latin typeface="udemy sans"/>
              </a:rPr>
              <a:t>Alumno</a:t>
            </a:r>
            <a:r>
              <a:rPr kumimoji="0" lang="es-MX" altLang="es-MX" sz="2000" b="0" i="0" u="none" strike="noStrike" cap="none" normalizeH="0" baseline="0">
                <a:ln>
                  <a:noFill/>
                </a:ln>
                <a:effectLst/>
                <a:latin typeface="udemy sans"/>
              </a:rPr>
              <a:t>, que </a:t>
            </a:r>
            <a:r>
              <a:rPr kumimoji="0" lang="es-MX" altLang="es-MX" sz="2000" b="1" i="0" u="none" strike="noStrike" cap="none" normalizeH="0" baseline="0">
                <a:ln>
                  <a:noFill/>
                </a:ln>
                <a:effectLst/>
                <a:latin typeface="udemy sans"/>
              </a:rPr>
              <a:t>herede </a:t>
            </a:r>
            <a:r>
              <a:rPr kumimoji="0" lang="es-MX" altLang="es-MX" sz="2000" b="0" i="0" u="none" strike="noStrike" cap="none" normalizeH="0" baseline="0">
                <a:ln>
                  <a:noFill/>
                </a:ln>
                <a:effectLst/>
                <a:latin typeface="udemy sans"/>
              </a:rPr>
              <a:t>de la primera estos atributos</a:t>
            </a:r>
          </a:p>
          <a:p>
            <a:pPr marL="0" indent="0">
              <a:buNone/>
            </a:pPr>
            <a:endParaRPr lang="es-MX" sz="2000">
              <a:latin typeface="udemy sans"/>
            </a:endParaRPr>
          </a:p>
          <a:p>
            <a:pPr marL="0" indent="0">
              <a:buNone/>
            </a:pPr>
            <a:r>
              <a:rPr kumimoji="0" lang="es-MX" altLang="es-MX" sz="2000" b="0" i="0" u="none" strike="noStrike" cap="none" normalizeH="0" baseline="0">
                <a:ln>
                  <a:noFill/>
                </a:ln>
                <a:effectLst/>
                <a:latin typeface="udemy sans"/>
              </a:rPr>
              <a:t>Crea una </a:t>
            </a:r>
            <a:r>
              <a:rPr kumimoji="0" lang="es-MX" altLang="es-MX" sz="2000" b="1" i="0" u="none" strike="noStrike" cap="none" normalizeH="0" baseline="0">
                <a:ln>
                  <a:noFill/>
                </a:ln>
                <a:effectLst/>
                <a:latin typeface="udemy sans"/>
              </a:rPr>
              <a:t>clase </a:t>
            </a:r>
            <a:r>
              <a:rPr kumimoji="0" lang="es-MX" altLang="es-MX" sz="2000" b="0" i="0" u="none" strike="noStrike" cap="none" normalizeH="0" baseline="0">
                <a:ln>
                  <a:noFill/>
                </a:ln>
                <a:effectLst/>
                <a:latin typeface="udemy sans"/>
              </a:rPr>
              <a:t>llamada </a:t>
            </a:r>
            <a:r>
              <a:rPr kumimoji="0" lang="es-MX" altLang="es-MX" sz="2000" b="0" i="0" u="none" strike="noStrike" cap="none" normalizeH="0" baseline="0">
                <a:ln>
                  <a:noFill/>
                </a:ln>
                <a:effectLst/>
                <a:latin typeface="sfmono-regular"/>
              </a:rPr>
              <a:t>Mascota</a:t>
            </a:r>
            <a:r>
              <a:rPr kumimoji="0" lang="es-MX" altLang="es-MX" sz="2000" b="0" i="0" u="none" strike="noStrike" cap="none" normalizeH="0" baseline="0">
                <a:ln>
                  <a:noFill/>
                </a:ln>
                <a:effectLst/>
                <a:latin typeface="udemy sans"/>
              </a:rPr>
              <a:t>, que tenga los siguientes </a:t>
            </a:r>
            <a:r>
              <a:rPr kumimoji="0" lang="es-MX" altLang="es-MX" sz="2000" b="1" i="1" u="none" strike="noStrike" cap="none" normalizeH="0" baseline="0">
                <a:ln>
                  <a:noFill/>
                </a:ln>
                <a:effectLst/>
                <a:latin typeface="udemy sans"/>
              </a:rPr>
              <a:t>atributos de instancia</a:t>
            </a:r>
            <a:r>
              <a:rPr kumimoji="0" lang="es-MX" altLang="es-MX" sz="2000" b="0" i="0" u="none" strike="noStrike" cap="none" normalizeH="0" baseline="0">
                <a:ln>
                  <a:noFill/>
                </a:ln>
                <a:effectLst/>
                <a:latin typeface="udemy sans"/>
              </a:rPr>
              <a:t>: </a:t>
            </a:r>
            <a:r>
              <a:rPr kumimoji="0" lang="es-MX" altLang="es-MX" sz="2000" b="0" i="0" u="none" strike="noStrike" cap="none" normalizeH="0" baseline="0">
                <a:ln>
                  <a:noFill/>
                </a:ln>
                <a:effectLst/>
                <a:latin typeface="sfmono-regular"/>
              </a:rPr>
              <a:t>edad</a:t>
            </a:r>
            <a:r>
              <a:rPr kumimoji="0" lang="es-MX" altLang="es-MX" sz="2000" b="0" i="0" u="none" strike="noStrike" cap="none" normalizeH="0" baseline="0">
                <a:ln>
                  <a:noFill/>
                </a:ln>
                <a:effectLst/>
                <a:latin typeface="udemy sans"/>
              </a:rPr>
              <a:t>, </a:t>
            </a:r>
            <a:r>
              <a:rPr kumimoji="0" lang="es-MX" altLang="es-MX" sz="2000" b="0" i="0" u="none" strike="noStrike" cap="none" normalizeH="0" baseline="0">
                <a:ln>
                  <a:noFill/>
                </a:ln>
                <a:effectLst/>
                <a:latin typeface="sfmono-regular"/>
              </a:rPr>
              <a:t>nombre</a:t>
            </a:r>
            <a:r>
              <a:rPr kumimoji="0" lang="es-MX" altLang="es-MX" sz="2000" b="0" i="0" u="none" strike="noStrike" cap="none" normalizeH="0" baseline="0">
                <a:ln>
                  <a:noFill/>
                </a:ln>
                <a:effectLst/>
                <a:latin typeface="udemy sans"/>
              </a:rPr>
              <a:t>, </a:t>
            </a:r>
            <a:r>
              <a:rPr kumimoji="0" lang="es-MX" altLang="es-MX" sz="2000" b="0" i="0" u="none" strike="noStrike" cap="none" normalizeH="0" baseline="0">
                <a:ln>
                  <a:noFill/>
                </a:ln>
                <a:effectLst/>
                <a:latin typeface="sfmono-regular"/>
              </a:rPr>
              <a:t>cantidad_patas</a:t>
            </a:r>
            <a:r>
              <a:rPr kumimoji="0" lang="es-MX" altLang="es-MX" sz="2000" b="0" i="0" u="none" strike="noStrike" cap="none" normalizeH="0" baseline="0">
                <a:ln>
                  <a:noFill/>
                </a:ln>
                <a:effectLst/>
                <a:latin typeface="udemy sans"/>
              </a:rPr>
              <a:t>. Crea otra clase, </a:t>
            </a:r>
            <a:r>
              <a:rPr kumimoji="0" lang="es-MX" altLang="es-MX" sz="2000" b="1" i="0" u="none" strike="noStrike" cap="none" normalizeH="0" baseline="0">
                <a:ln>
                  <a:noFill/>
                </a:ln>
                <a:effectLst/>
                <a:latin typeface="udemy sans"/>
              </a:rPr>
              <a:t>Perro</a:t>
            </a:r>
            <a:r>
              <a:rPr kumimoji="0" lang="es-MX" altLang="es-MX" sz="2000" b="0" i="0" u="none" strike="noStrike" cap="none" normalizeH="0" baseline="0">
                <a:ln>
                  <a:noFill/>
                </a:ln>
                <a:effectLst/>
                <a:latin typeface="udemy sans"/>
              </a:rPr>
              <a:t>, que </a:t>
            </a:r>
            <a:r>
              <a:rPr kumimoji="0" lang="es-MX" altLang="es-MX" sz="2000" b="1" i="0" u="none" strike="noStrike" cap="none" normalizeH="0" baseline="0">
                <a:ln>
                  <a:noFill/>
                </a:ln>
                <a:effectLst/>
                <a:latin typeface="udemy sans"/>
              </a:rPr>
              <a:t>herede </a:t>
            </a:r>
            <a:r>
              <a:rPr kumimoji="0" lang="es-MX" altLang="es-MX" sz="2000" b="0" i="0" u="none" strike="noStrike" cap="none" normalizeH="0" baseline="0">
                <a:ln>
                  <a:noFill/>
                </a:ln>
                <a:effectLst/>
                <a:latin typeface="udemy sans"/>
              </a:rPr>
              <a:t>de la primera sus atributos</a:t>
            </a:r>
          </a:p>
          <a:p>
            <a:pPr marL="0" indent="0">
              <a:buNone/>
            </a:pPr>
            <a:endParaRPr lang="es-MX" sz="2000">
              <a:latin typeface="udemy sans"/>
            </a:endParaRPr>
          </a:p>
          <a:p>
            <a:pPr marL="0" indent="0">
              <a:buNone/>
            </a:pPr>
            <a:r>
              <a:rPr kumimoji="0" lang="es-MX" altLang="es-MX" sz="2000" b="0" i="0" u="none" strike="noStrike" cap="none" normalizeH="0" baseline="0">
                <a:ln>
                  <a:noFill/>
                </a:ln>
                <a:effectLst/>
                <a:latin typeface="udemy sans"/>
              </a:rPr>
              <a:t>Crea una clase llamada </a:t>
            </a:r>
            <a:r>
              <a:rPr kumimoji="0" lang="es-MX" altLang="es-MX" sz="2000" b="1" i="0" u="none" strike="noStrike" cap="none" normalizeH="0" baseline="0">
                <a:ln>
                  <a:noFill/>
                </a:ln>
                <a:effectLst/>
                <a:latin typeface="sfmono-regular"/>
              </a:rPr>
              <a:t>Vehiculo</a:t>
            </a:r>
            <a:r>
              <a:rPr kumimoji="0" lang="es-MX" altLang="es-MX" sz="2000" b="0" i="0" u="none" strike="noStrike" cap="none" normalizeH="0" baseline="0">
                <a:ln>
                  <a:noFill/>
                </a:ln>
                <a:effectLst/>
                <a:latin typeface="udemy sans"/>
              </a:rPr>
              <a:t>, que contenga los métodos </a:t>
            </a:r>
            <a:r>
              <a:rPr kumimoji="0" lang="es-MX" altLang="es-MX" sz="2000" b="0" i="0" u="none" strike="noStrike" cap="none" normalizeH="0" baseline="0">
                <a:ln>
                  <a:noFill/>
                </a:ln>
                <a:effectLst/>
                <a:latin typeface="sfmono-regular"/>
              </a:rPr>
              <a:t>acelerar()</a:t>
            </a:r>
            <a:r>
              <a:rPr kumimoji="0" lang="es-MX" altLang="es-MX" sz="2000" b="0" i="0" u="none" strike="noStrike" cap="none" normalizeH="0" baseline="0">
                <a:ln>
                  <a:noFill/>
                </a:ln>
                <a:effectLst/>
                <a:latin typeface="udemy sans"/>
              </a:rPr>
              <a:t> y </a:t>
            </a:r>
            <a:r>
              <a:rPr kumimoji="0" lang="es-MX" altLang="es-MX" sz="2000" b="0" i="0" u="none" strike="noStrike" cap="none" normalizeH="0" baseline="0">
                <a:ln>
                  <a:noFill/>
                </a:ln>
                <a:effectLst/>
                <a:latin typeface="sfmono-regular"/>
              </a:rPr>
              <a:t>frenar()</a:t>
            </a:r>
            <a:r>
              <a:rPr kumimoji="0" lang="es-MX" altLang="es-MX" sz="2000" b="0" i="0" u="none" strike="noStrike" cap="none" normalizeH="0" baseline="0">
                <a:ln>
                  <a:noFill/>
                </a:ln>
                <a:effectLst/>
                <a:latin typeface="udemy sans"/>
              </a:rPr>
              <a:t> (puedes dejar el código de los métodos en blanco con </a:t>
            </a:r>
            <a:r>
              <a:rPr kumimoji="0" lang="es-MX" altLang="es-MX" sz="2000" b="0" i="1" u="none" strike="noStrike" cap="none" normalizeH="0" baseline="0">
                <a:ln>
                  <a:noFill/>
                </a:ln>
                <a:effectLst/>
                <a:latin typeface="sfmono-regular"/>
              </a:rPr>
              <a:t>pass</a:t>
            </a:r>
            <a:r>
              <a:rPr kumimoji="0" lang="es-MX" altLang="es-MX" sz="2000" b="0" i="0" u="none" strike="noStrike" cap="none" normalizeH="0" baseline="0">
                <a:ln>
                  <a:noFill/>
                </a:ln>
                <a:effectLst/>
                <a:latin typeface="udemy sans"/>
              </a:rPr>
              <a:t>). Crea una clase llamada </a:t>
            </a:r>
            <a:r>
              <a:rPr kumimoji="0" lang="es-MX" altLang="es-MX" sz="2000" b="1" i="0" u="none" strike="noStrike" cap="none" normalizeH="0" baseline="0">
                <a:ln>
                  <a:noFill/>
                </a:ln>
                <a:effectLst/>
                <a:latin typeface="sfmono-regular"/>
              </a:rPr>
              <a:t>Automovil</a:t>
            </a:r>
            <a:r>
              <a:rPr kumimoji="0" lang="es-MX" altLang="es-MX" sz="2000" b="1" i="0" u="none" strike="noStrike" cap="none" normalizeH="0" baseline="0">
                <a:ln>
                  <a:noFill/>
                </a:ln>
                <a:effectLst/>
                <a:latin typeface="udemy sans"/>
              </a:rPr>
              <a:t> </a:t>
            </a:r>
            <a:r>
              <a:rPr kumimoji="0" lang="es-MX" altLang="es-MX" sz="2000" b="0" i="0" u="none" strike="noStrike" cap="none" normalizeH="0" baseline="0">
                <a:ln>
                  <a:noFill/>
                </a:ln>
                <a:effectLst/>
                <a:latin typeface="udemy sans"/>
              </a:rPr>
              <a:t>que herede estos métodos de </a:t>
            </a:r>
            <a:r>
              <a:rPr kumimoji="0" lang="es-MX" altLang="es-MX" sz="2000" b="0" i="0" u="none" strike="noStrike" cap="none" normalizeH="0" baseline="0">
                <a:ln>
                  <a:noFill/>
                </a:ln>
                <a:effectLst/>
                <a:latin typeface="sfmono-regular"/>
              </a:rPr>
              <a:t>Vehiculo</a:t>
            </a:r>
            <a:endParaRPr lang="es-MX" sz="2000"/>
          </a:p>
        </p:txBody>
      </p:sp>
      <p:sp>
        <p:nvSpPr>
          <p:cNvPr id="5" name="Marcador de número de diapositiva 4">
            <a:extLst>
              <a:ext uri="{FF2B5EF4-FFF2-40B4-BE49-F238E27FC236}">
                <a16:creationId xmlns:a16="http://schemas.microsoft.com/office/drawing/2014/main" id="{EAAE346C-D04F-6F5A-546D-3C4C41F64637}"/>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169</a:t>
            </a:fld>
            <a:endParaRPr lang="es-MX" sz="1100">
              <a:solidFill>
                <a:schemeClr val="tx1">
                  <a:lumMod val="50000"/>
                  <a:lumOff val="50000"/>
                </a:schemeClr>
              </a:solidFill>
            </a:endParaRPr>
          </a:p>
        </p:txBody>
      </p:sp>
    </p:spTree>
    <p:extLst>
      <p:ext uri="{BB962C8B-B14F-4D97-AF65-F5344CB8AC3E}">
        <p14:creationId xmlns:p14="http://schemas.microsoft.com/office/powerpoint/2010/main" val="87217938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CC8E88C-6A66-72A5-CB19-990EAD6A4AD6}"/>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Herencia Extendida </a:t>
            </a:r>
          </a:p>
        </p:txBody>
      </p:sp>
      <p:sp>
        <p:nvSpPr>
          <p:cNvPr id="4" name="Marcador de pie de página 3">
            <a:extLst>
              <a:ext uri="{FF2B5EF4-FFF2-40B4-BE49-F238E27FC236}">
                <a16:creationId xmlns:a16="http://schemas.microsoft.com/office/drawing/2014/main" id="{93C1D684-255F-16A7-C557-AAE52B6EA57B}"/>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F7E844EE-0EC6-B44F-3824-A7B7BB1A6334}"/>
              </a:ext>
            </a:extLst>
          </p:cNvPr>
          <p:cNvSpPr>
            <a:spLocks noGrp="1"/>
          </p:cNvSpPr>
          <p:nvPr>
            <p:ph idx="1"/>
          </p:nvPr>
        </p:nvSpPr>
        <p:spPr>
          <a:xfrm>
            <a:off x="4810259" y="649480"/>
            <a:ext cx="6555347" cy="5546047"/>
          </a:xfrm>
        </p:spPr>
        <p:txBody>
          <a:bodyPr anchor="ctr">
            <a:normAutofit/>
          </a:bodyPr>
          <a:lstStyle/>
          <a:p>
            <a:pPr marL="0" indent="0">
              <a:buNone/>
            </a:pPr>
            <a:r>
              <a:rPr lang="es-MX" sz="2000"/>
              <a:t>Las clases "hijas" que heredan de las clases superiores, pueden crear nuevos métodos o sobrescribir los de la clase "padre" . Asimismo, una clase "hija" puede heredar de una o más clases, y a su vez transmitir herencia a clases "nietas“</a:t>
            </a:r>
          </a:p>
          <a:p>
            <a:pPr marL="0" indent="0">
              <a:buNone/>
            </a:pPr>
            <a:endParaRPr lang="es-MX" sz="2000"/>
          </a:p>
          <a:p>
            <a:pPr marL="0" indent="0">
              <a:buNone/>
            </a:pPr>
            <a:r>
              <a:rPr lang="es-MX" sz="2000"/>
              <a:t>Si varias superclases tienen los mismos atributos o métodos, la subclase sólo podrá heredar de una de ellas. En estos casos Python dará prioridad a la clase que se encuentre más a la izquierda. </a:t>
            </a:r>
          </a:p>
          <a:p>
            <a:pPr marL="0" indent="0">
              <a:buNone/>
            </a:pPr>
            <a:r>
              <a:rPr lang="es-MX" sz="2000"/>
              <a:t>Del mismo modo, si un mismo método se hereda por parte de la clase "padre" , e "hija" , la clase "nieta" tendrá preferencia por aquella más próxima ascendente (siguiendo nuestro esquema, la tomará de la clase "hija"). </a:t>
            </a:r>
          </a:p>
        </p:txBody>
      </p:sp>
      <p:sp>
        <p:nvSpPr>
          <p:cNvPr id="5" name="Marcador de número de diapositiva 4">
            <a:extLst>
              <a:ext uri="{FF2B5EF4-FFF2-40B4-BE49-F238E27FC236}">
                <a16:creationId xmlns:a16="http://schemas.microsoft.com/office/drawing/2014/main" id="{A314F558-3487-A192-539E-E3B215CDFA6B}"/>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170</a:t>
            </a:fld>
            <a:endParaRPr lang="es-MX" sz="1100">
              <a:solidFill>
                <a:schemeClr val="tx1">
                  <a:lumMod val="50000"/>
                  <a:lumOff val="50000"/>
                </a:schemeClr>
              </a:solidFill>
            </a:endParaRPr>
          </a:p>
        </p:txBody>
      </p:sp>
    </p:spTree>
    <p:extLst>
      <p:ext uri="{BB962C8B-B14F-4D97-AF65-F5344CB8AC3E}">
        <p14:creationId xmlns:p14="http://schemas.microsoft.com/office/powerpoint/2010/main" val="249788148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pie de página 3">
            <a:extLst>
              <a:ext uri="{FF2B5EF4-FFF2-40B4-BE49-F238E27FC236}">
                <a16:creationId xmlns:a16="http://schemas.microsoft.com/office/drawing/2014/main" id="{62631535-AB6E-5055-3E6F-7B8D0D778636}"/>
              </a:ext>
            </a:extLst>
          </p:cNvPr>
          <p:cNvSpPr>
            <a:spLocks noGrp="1"/>
          </p:cNvSpPr>
          <p:nvPr>
            <p:ph type="ftr" sz="quarter" idx="11"/>
          </p:nvPr>
        </p:nvSpPr>
        <p:spPr>
          <a:xfrm rot="5400000">
            <a:off x="-1827725" y="2002536"/>
            <a:ext cx="4114800" cy="365125"/>
          </a:xfrm>
        </p:spPr>
        <p:txBody>
          <a:bodyPr>
            <a:normAutofit/>
          </a:bodyPr>
          <a:lstStyle/>
          <a:p>
            <a:pPr algn="l">
              <a:spcAft>
                <a:spcPts val="600"/>
              </a:spcAft>
            </a:pPr>
            <a:r>
              <a:rPr lang="es-MX" sz="1100">
                <a:solidFill>
                  <a:schemeClr val="tx1">
                    <a:lumMod val="50000"/>
                    <a:lumOff val="50000"/>
                  </a:schemeClr>
                </a:solidFill>
              </a:rPr>
              <a:t>Arabots Robotics</a:t>
            </a:r>
          </a:p>
        </p:txBody>
      </p:sp>
      <p:pic>
        <p:nvPicPr>
          <p:cNvPr id="7" name="Marcador de contenido 6">
            <a:extLst>
              <a:ext uri="{FF2B5EF4-FFF2-40B4-BE49-F238E27FC236}">
                <a16:creationId xmlns:a16="http://schemas.microsoft.com/office/drawing/2014/main" id="{D9401140-02D9-53BD-2CA6-349D97AC4113}"/>
              </a:ext>
            </a:extLst>
          </p:cNvPr>
          <p:cNvPicPr>
            <a:picLocks noChangeAspect="1"/>
          </p:cNvPicPr>
          <p:nvPr/>
        </p:nvPicPr>
        <p:blipFill>
          <a:blip r:embed="rId2"/>
          <a:stretch>
            <a:fillRect/>
          </a:stretch>
        </p:blipFill>
        <p:spPr>
          <a:xfrm>
            <a:off x="1940256" y="836208"/>
            <a:ext cx="8311487" cy="2347996"/>
          </a:xfrm>
          <a:prstGeom prst="rect">
            <a:avLst/>
          </a:prstGeom>
        </p:spPr>
      </p:pic>
      <p:sp>
        <p:nvSpPr>
          <p:cNvPr id="11" name="Content Placeholder 10">
            <a:extLst>
              <a:ext uri="{FF2B5EF4-FFF2-40B4-BE49-F238E27FC236}">
                <a16:creationId xmlns:a16="http://schemas.microsoft.com/office/drawing/2014/main" id="{8C23F055-9419-1266-3C12-4B84FC6C430F}"/>
              </a:ext>
            </a:extLst>
          </p:cNvPr>
          <p:cNvSpPr>
            <a:spLocks noGrp="1"/>
          </p:cNvSpPr>
          <p:nvPr>
            <p:ph idx="1"/>
          </p:nvPr>
        </p:nvSpPr>
        <p:spPr>
          <a:xfrm>
            <a:off x="1940256" y="3833199"/>
            <a:ext cx="8332826" cy="1119982"/>
          </a:xfrm>
        </p:spPr>
        <p:txBody>
          <a:bodyPr anchor="ctr">
            <a:normAutofit/>
          </a:bodyPr>
          <a:lstStyle/>
          <a:p>
            <a:r>
              <a:rPr lang="en-US" sz="2000" dirty="0"/>
              <a:t>Orden de </a:t>
            </a:r>
            <a:r>
              <a:rPr lang="en-US" sz="2000" dirty="0" err="1"/>
              <a:t>lectura</a:t>
            </a:r>
            <a:r>
              <a:rPr lang="en-US" sz="2000" dirty="0"/>
              <a:t> </a:t>
            </a:r>
          </a:p>
        </p:txBody>
      </p:sp>
      <p:sp>
        <p:nvSpPr>
          <p:cNvPr id="5" name="Marcador de número de diapositiva 4">
            <a:extLst>
              <a:ext uri="{FF2B5EF4-FFF2-40B4-BE49-F238E27FC236}">
                <a16:creationId xmlns:a16="http://schemas.microsoft.com/office/drawing/2014/main" id="{73B665F3-840E-FB05-577D-DE3EC2CE7E24}"/>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rgbClr val="FFFFFF"/>
                </a:solidFill>
              </a:rPr>
              <a:pPr>
                <a:spcAft>
                  <a:spcPts val="600"/>
                </a:spcAft>
              </a:pPr>
              <a:t>171</a:t>
            </a:fld>
            <a:endParaRPr lang="es-MX" sz="1100">
              <a:solidFill>
                <a:srgbClr val="FFFFFF"/>
              </a:solidFill>
            </a:endParaRPr>
          </a:p>
        </p:txBody>
      </p:sp>
    </p:spTree>
    <p:extLst>
      <p:ext uri="{BB962C8B-B14F-4D97-AF65-F5344CB8AC3E}">
        <p14:creationId xmlns:p14="http://schemas.microsoft.com/office/powerpoint/2010/main" val="98614580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E1D899A-7B43-29FE-0062-3C35C4D152E9}"/>
              </a:ext>
            </a:extLst>
          </p:cNvPr>
          <p:cNvSpPr>
            <a:spLocks noGrp="1"/>
          </p:cNvSpPr>
          <p:nvPr>
            <p:ph type="title"/>
          </p:nvPr>
        </p:nvSpPr>
        <p:spPr>
          <a:xfrm>
            <a:off x="838200" y="631825"/>
            <a:ext cx="10515600" cy="1325563"/>
          </a:xfrm>
        </p:spPr>
        <p:txBody>
          <a:bodyPr>
            <a:normAutofit/>
          </a:bodyPr>
          <a:lstStyle/>
          <a:p>
            <a:pPr algn="ctr"/>
            <a:r>
              <a:rPr lang="es-MX" dirty="0"/>
              <a:t>Ejercicios</a:t>
            </a:r>
            <a:endParaRPr lang="es-MX"/>
          </a:p>
        </p:txBody>
      </p:sp>
      <p:cxnSp>
        <p:nvCxnSpPr>
          <p:cNvPr id="14" name="Straight Connector 13">
            <a:extLst>
              <a:ext uri="{FF2B5EF4-FFF2-40B4-BE49-F238E27FC236}">
                <a16:creationId xmlns:a16="http://schemas.microsoft.com/office/drawing/2014/main" id="{E8E35B83-1EC3-4F87-9D54-D86346335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7636" y="1957388"/>
            <a:ext cx="10396728" cy="0"/>
          </a:xfrm>
          <a:prstGeom prst="line">
            <a:avLst/>
          </a:prstGeom>
          <a:ln w="222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70A7C042-0A13-8B54-38EA-943245EB0272}"/>
              </a:ext>
            </a:extLst>
          </p:cNvPr>
          <p:cNvSpPr>
            <a:spLocks noGrp="1"/>
          </p:cNvSpPr>
          <p:nvPr>
            <p:ph idx="1"/>
          </p:nvPr>
        </p:nvSpPr>
        <p:spPr>
          <a:xfrm>
            <a:off x="838200" y="2269173"/>
            <a:ext cx="10515600" cy="3659988"/>
          </a:xfrm>
        </p:spPr>
        <p:txBody>
          <a:bodyPr>
            <a:normAutofit/>
          </a:bodyPr>
          <a:lstStyle/>
          <a:p>
            <a:pPr marL="0" marR="0" lvl="0" indent="0" defTabSz="914400" rtl="0" eaLnBrk="0" fontAlgn="base" latinLnBrk="0" hangingPunct="0">
              <a:spcBef>
                <a:spcPct val="0"/>
              </a:spcBef>
              <a:spcAft>
                <a:spcPct val="0"/>
              </a:spcAft>
              <a:buClrTx/>
              <a:buSzTx/>
              <a:buFontTx/>
              <a:buNone/>
              <a:tabLst/>
            </a:pPr>
            <a:r>
              <a:rPr kumimoji="0" lang="es-MX" altLang="es-MX" sz="1500" b="0" i="0" u="none" strike="noStrike" cap="none" normalizeH="0" baseline="0" dirty="0">
                <a:ln>
                  <a:noFill/>
                </a:ln>
                <a:effectLst/>
                <a:latin typeface="udemy sans"/>
              </a:rPr>
              <a:t>Si la clase </a:t>
            </a:r>
            <a:r>
              <a:rPr kumimoji="0" lang="es-MX" altLang="es-MX" sz="1500" b="1" i="0" u="none" strike="noStrike" cap="none" normalizeH="0" baseline="0" dirty="0">
                <a:ln>
                  <a:noFill/>
                </a:ln>
                <a:effectLst/>
                <a:latin typeface="sfmono-regular"/>
              </a:rPr>
              <a:t>Hija</a:t>
            </a:r>
            <a:r>
              <a:rPr kumimoji="0" lang="es-MX" altLang="es-MX" sz="1500" b="0" i="0" u="none" strike="noStrike" cap="none" normalizeH="0" baseline="0" dirty="0">
                <a:ln>
                  <a:noFill/>
                </a:ln>
                <a:effectLst/>
                <a:latin typeface="udemy sans"/>
              </a:rPr>
              <a:t> ha heredado de su padre la forma de </a:t>
            </a:r>
            <a:r>
              <a:rPr kumimoji="0" lang="es-MX" altLang="es-MX" sz="1500" b="0" i="0" u="none" strike="noStrike" cap="none" normalizeH="0" baseline="0" dirty="0" err="1">
                <a:ln>
                  <a:noFill/>
                </a:ln>
                <a:effectLst/>
                <a:latin typeface="udemy sans"/>
              </a:rPr>
              <a:t>reir</a:t>
            </a:r>
            <a:r>
              <a:rPr kumimoji="0" lang="es-MX" altLang="es-MX" sz="1500" b="0" i="0" u="none" strike="noStrike" cap="none" normalizeH="0" baseline="0" dirty="0">
                <a:ln>
                  <a:noFill/>
                </a:ln>
                <a:effectLst/>
                <a:latin typeface="udemy sans"/>
              </a:rPr>
              <a:t>, y de su madre la vocación, y hoy tienen el mismo trabajo en la Fiscalía, crea la herencia múltiple que le permita a esta clase heredar correctamente de </a:t>
            </a:r>
            <a:r>
              <a:rPr kumimoji="0" lang="es-MX" altLang="es-MX" sz="1500" b="0" i="0" u="none" strike="noStrike" cap="none" normalizeH="0" baseline="0" dirty="0">
                <a:ln>
                  <a:noFill/>
                </a:ln>
                <a:effectLst/>
                <a:latin typeface="sfmono-regular"/>
              </a:rPr>
              <a:t>Padre</a:t>
            </a:r>
            <a:r>
              <a:rPr kumimoji="0" lang="es-MX" altLang="es-MX" sz="1500" b="0" i="0" u="none" strike="noStrike" cap="none" normalizeH="0" baseline="0" dirty="0">
                <a:ln>
                  <a:noFill/>
                </a:ln>
                <a:effectLst/>
                <a:latin typeface="udemy sans"/>
              </a:rPr>
              <a:t> y </a:t>
            </a:r>
            <a:r>
              <a:rPr kumimoji="0" lang="es-MX" altLang="es-MX" sz="1500" b="0" i="0" u="none" strike="noStrike" cap="none" normalizeH="0" baseline="0" dirty="0">
                <a:ln>
                  <a:noFill/>
                </a:ln>
                <a:effectLst/>
                <a:latin typeface="sfmono-regular"/>
              </a:rPr>
              <a:t>Madre</a:t>
            </a:r>
            <a:r>
              <a:rPr kumimoji="0" lang="es-MX" altLang="es-MX" sz="1500" b="0" i="0" u="none" strike="noStrike" cap="none" normalizeH="0" baseline="0" dirty="0">
                <a:ln>
                  <a:noFill/>
                </a:ln>
                <a:effectLst/>
                <a:latin typeface="udemy sans"/>
              </a:rPr>
              <a:t>.</a:t>
            </a:r>
            <a:endParaRPr kumimoji="0" lang="es-MX" altLang="es-MX" sz="1500" b="0" i="0" u="none" strike="noStrike" cap="none" normalizeH="0" baseline="0" dirty="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1500" b="0" i="0" u="none" strike="noStrike" cap="none" normalizeH="0" baseline="0" dirty="0">
                <a:ln>
                  <a:noFill/>
                </a:ln>
                <a:effectLst/>
                <a:latin typeface="udemy sans"/>
              </a:rPr>
              <a:t>Completa el código suministrado a continuación para lograrlo.</a:t>
            </a:r>
          </a:p>
          <a:p>
            <a:pPr marL="0" marR="0" lvl="0" indent="0" defTabSz="914400" rtl="0" eaLnBrk="0" fontAlgn="base" latinLnBrk="0" hangingPunct="0">
              <a:spcBef>
                <a:spcPct val="0"/>
              </a:spcBef>
              <a:spcAft>
                <a:spcPct val="0"/>
              </a:spcAft>
              <a:buClrTx/>
              <a:buSzTx/>
              <a:buFontTx/>
              <a:buNone/>
              <a:tabLst/>
            </a:pPr>
            <a:endParaRPr kumimoji="0" lang="es-MX" altLang="es-MX" sz="1500" b="0" i="0" u="none" strike="noStrike" cap="none" normalizeH="0" baseline="0" dirty="0">
              <a:ln>
                <a:noFill/>
              </a:ln>
              <a:effectLst/>
              <a:latin typeface="udemy sans"/>
            </a:endParaRPr>
          </a:p>
          <a:p>
            <a:pPr marL="0" marR="0" lvl="0" indent="0" defTabSz="914400" rtl="0" eaLnBrk="0" fontAlgn="base" latinLnBrk="0" hangingPunct="0">
              <a:spcBef>
                <a:spcPct val="0"/>
              </a:spcBef>
              <a:spcAft>
                <a:spcPct val="0"/>
              </a:spcAft>
              <a:buClrTx/>
              <a:buSzTx/>
              <a:buFontTx/>
              <a:buNone/>
              <a:tabLst/>
            </a:pPr>
            <a:r>
              <a:rPr kumimoji="0" lang="es-MX" altLang="es-MX" sz="1500" b="1" i="1" u="none" strike="noStrike" cap="none" normalizeH="0" baseline="0" dirty="0">
                <a:ln>
                  <a:noFill/>
                </a:ln>
                <a:effectLst/>
                <a:latin typeface="udemy sans"/>
              </a:rPr>
              <a:t>"El ornitorrinco es una de las criaturas más raras del mundo: aunque es un mamífero, pone huevos; y amamanta a sus crías pero no tienen mamas."</a:t>
            </a:r>
            <a:r>
              <a:rPr kumimoji="0" lang="es-MX" altLang="es-MX" sz="1500" b="0" i="1" u="none" strike="noStrike" cap="none" normalizeH="0" baseline="0" dirty="0">
                <a:ln>
                  <a:noFill/>
                </a:ln>
                <a:effectLst/>
                <a:latin typeface="udemy sans"/>
              </a:rPr>
              <a:t> (</a:t>
            </a:r>
            <a:r>
              <a:rPr kumimoji="0" lang="es-MX" altLang="es-MX" sz="1500" b="0" i="1" u="none" strike="noStrike" cap="none" normalizeH="0" baseline="0" dirty="0" err="1">
                <a:ln>
                  <a:noFill/>
                </a:ln>
                <a:effectLst/>
                <a:latin typeface="udemy sans"/>
              </a:rPr>
              <a:t>National</a:t>
            </a:r>
            <a:r>
              <a:rPr kumimoji="0" lang="es-MX" altLang="es-MX" sz="1500" b="0" i="1" u="none" strike="noStrike" cap="none" normalizeH="0" baseline="0" dirty="0">
                <a:ln>
                  <a:noFill/>
                </a:ln>
                <a:effectLst/>
                <a:latin typeface="udemy sans"/>
              </a:rPr>
              <a:t> </a:t>
            </a:r>
            <a:r>
              <a:rPr kumimoji="0" lang="es-MX" altLang="es-MX" sz="1500" b="0" i="1" u="none" strike="noStrike" cap="none" normalizeH="0" baseline="0" dirty="0" err="1">
                <a:ln>
                  <a:noFill/>
                </a:ln>
                <a:effectLst/>
                <a:latin typeface="udemy sans"/>
              </a:rPr>
              <a:t>Geographic</a:t>
            </a:r>
            <a:r>
              <a:rPr kumimoji="0" lang="es-MX" altLang="es-MX" sz="1500" b="0" i="1" u="none" strike="noStrike" cap="none" normalizeH="0" baseline="0" dirty="0">
                <a:ln>
                  <a:noFill/>
                </a:ln>
                <a:effectLst/>
                <a:latin typeface="udemy sans"/>
              </a:rPr>
              <a:t>)</a:t>
            </a:r>
            <a:endParaRPr kumimoji="0" lang="es-MX" altLang="es-MX" sz="1500" b="0" i="0" u="none" strike="noStrike" cap="none" normalizeH="0" baseline="0" dirty="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1500" b="0" i="0" u="none" strike="noStrike" cap="none" normalizeH="0" baseline="0" dirty="0">
                <a:ln>
                  <a:noFill/>
                </a:ln>
                <a:effectLst/>
                <a:latin typeface="udemy sans"/>
              </a:rPr>
              <a:t>Crea una clase </a:t>
            </a:r>
            <a:r>
              <a:rPr kumimoji="0" lang="es-MX" altLang="es-MX" sz="1500" b="1" i="0" u="none" strike="noStrike" cap="none" normalizeH="0" baseline="0" dirty="0">
                <a:ln>
                  <a:noFill/>
                </a:ln>
                <a:effectLst/>
                <a:latin typeface="sfmono-regular"/>
              </a:rPr>
              <a:t>Ornitorrinco</a:t>
            </a:r>
            <a:r>
              <a:rPr kumimoji="0" lang="es-MX" altLang="es-MX" sz="1500" b="0" i="0" u="none" strike="noStrike" cap="none" normalizeH="0" baseline="0" dirty="0">
                <a:ln>
                  <a:noFill/>
                </a:ln>
                <a:effectLst/>
                <a:latin typeface="udemy sans"/>
              </a:rPr>
              <a:t> que </a:t>
            </a:r>
            <a:r>
              <a:rPr kumimoji="0" lang="es-MX" altLang="es-MX" sz="1500" b="1" i="0" u="none" strike="noStrike" cap="none" normalizeH="0" baseline="0" dirty="0">
                <a:ln>
                  <a:noFill/>
                </a:ln>
                <a:effectLst/>
                <a:latin typeface="udemy sans"/>
              </a:rPr>
              <a:t>herede </a:t>
            </a:r>
            <a:r>
              <a:rPr kumimoji="0" lang="es-MX" altLang="es-MX" sz="1500" b="0" i="0" u="none" strike="noStrike" cap="none" normalizeH="0" baseline="0" dirty="0">
                <a:ln>
                  <a:noFill/>
                </a:ln>
                <a:effectLst/>
                <a:latin typeface="udemy sans"/>
              </a:rPr>
              <a:t>de otras clases: </a:t>
            </a:r>
            <a:r>
              <a:rPr kumimoji="0" lang="es-MX" altLang="es-MX" sz="1500" b="1" i="0" u="none" strike="noStrike" cap="none" normalizeH="0" baseline="0" dirty="0">
                <a:ln>
                  <a:noFill/>
                </a:ln>
                <a:effectLst/>
                <a:latin typeface="sfmono-regular"/>
              </a:rPr>
              <a:t>Vertebrado</a:t>
            </a:r>
            <a:r>
              <a:rPr kumimoji="0" lang="es-MX" altLang="es-MX" sz="1500" b="0" i="0" u="none" strike="noStrike" cap="none" normalizeH="0" baseline="0" dirty="0">
                <a:ln>
                  <a:noFill/>
                </a:ln>
                <a:effectLst/>
                <a:latin typeface="udemy sans"/>
              </a:rPr>
              <a:t>, </a:t>
            </a:r>
            <a:r>
              <a:rPr kumimoji="0" lang="es-MX" altLang="es-MX" sz="1500" b="1" i="0" u="none" strike="noStrike" cap="none" normalizeH="0" baseline="0" dirty="0">
                <a:ln>
                  <a:noFill/>
                </a:ln>
                <a:effectLst/>
                <a:latin typeface="sfmono-regular"/>
              </a:rPr>
              <a:t>Pez</a:t>
            </a:r>
            <a:r>
              <a:rPr kumimoji="0" lang="es-MX" altLang="es-MX" sz="1500" b="0" i="0" u="none" strike="noStrike" cap="none" normalizeH="0" baseline="0" dirty="0">
                <a:ln>
                  <a:noFill/>
                </a:ln>
                <a:effectLst/>
                <a:latin typeface="udemy sans"/>
              </a:rPr>
              <a:t>, </a:t>
            </a:r>
            <a:r>
              <a:rPr kumimoji="0" lang="es-MX" altLang="es-MX" sz="1500" b="1" i="0" u="none" strike="noStrike" cap="none" normalizeH="0" baseline="0" dirty="0">
                <a:ln>
                  <a:noFill/>
                </a:ln>
                <a:effectLst/>
                <a:latin typeface="sfmono-regular"/>
              </a:rPr>
              <a:t>Reptil</a:t>
            </a:r>
            <a:r>
              <a:rPr kumimoji="0" lang="es-MX" altLang="es-MX" sz="1500" b="0" i="0" u="none" strike="noStrike" cap="none" normalizeH="0" baseline="0" dirty="0">
                <a:ln>
                  <a:noFill/>
                </a:ln>
                <a:effectLst/>
                <a:latin typeface="udemy sans"/>
              </a:rPr>
              <a:t>, </a:t>
            </a:r>
            <a:r>
              <a:rPr kumimoji="0" lang="es-MX" altLang="es-MX" sz="1500" b="1" i="0" u="none" strike="noStrike" cap="none" normalizeH="0" baseline="0" dirty="0">
                <a:ln>
                  <a:noFill/>
                </a:ln>
                <a:effectLst/>
                <a:latin typeface="sfmono-regular"/>
              </a:rPr>
              <a:t>Ave</a:t>
            </a:r>
            <a:r>
              <a:rPr kumimoji="0" lang="es-MX" altLang="es-MX" sz="1500" b="0" i="0" u="none" strike="noStrike" cap="none" normalizeH="0" baseline="0" dirty="0">
                <a:ln>
                  <a:noFill/>
                </a:ln>
                <a:effectLst/>
                <a:latin typeface="udemy sans"/>
              </a:rPr>
              <a:t> y </a:t>
            </a:r>
            <a:r>
              <a:rPr kumimoji="0" lang="es-MX" altLang="es-MX" sz="1500" b="1" i="0" u="none" strike="noStrike" cap="none" normalizeH="0" baseline="0" dirty="0" err="1">
                <a:ln>
                  <a:noFill/>
                </a:ln>
                <a:effectLst/>
                <a:latin typeface="sfmono-regular"/>
              </a:rPr>
              <a:t>Mamifero</a:t>
            </a:r>
            <a:r>
              <a:rPr kumimoji="0" lang="es-MX" altLang="es-MX" sz="1500" b="0" i="0" u="none" strike="noStrike" cap="none" normalizeH="0" baseline="0" dirty="0">
                <a:ln>
                  <a:noFill/>
                </a:ln>
                <a:effectLst/>
                <a:latin typeface="udemy sans"/>
              </a:rPr>
              <a:t>, tal que "construyas" un animal que tiene los siguientes métodos y atributos:</a:t>
            </a:r>
            <a:endParaRPr kumimoji="0" lang="es-MX" altLang="es-MX" sz="1500" b="0" i="0" u="none" strike="noStrike" cap="none" normalizeH="0" baseline="0" dirty="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1500" b="0" i="0" u="none" strike="noStrike" cap="none" normalizeH="0" baseline="0" dirty="0">
                <a:ln>
                  <a:noFill/>
                </a:ln>
                <a:effectLst/>
                <a:latin typeface="udemy sans"/>
              </a:rPr>
              <a:t>- </a:t>
            </a:r>
            <a:r>
              <a:rPr kumimoji="0" lang="es-MX" altLang="es-MX" sz="1500" b="0" i="0" u="none" strike="noStrike" cap="none" normalizeH="0" baseline="0" dirty="0" err="1">
                <a:ln>
                  <a:noFill/>
                </a:ln>
                <a:effectLst/>
                <a:latin typeface="udemy sans"/>
              </a:rPr>
              <a:t>poner_huevos</a:t>
            </a:r>
            <a:r>
              <a:rPr kumimoji="0" lang="es-MX" altLang="es-MX" sz="1500" b="0" i="0" u="none" strike="noStrike" cap="none" normalizeH="0" baseline="0" dirty="0">
                <a:ln>
                  <a:noFill/>
                </a:ln>
                <a:effectLst/>
                <a:latin typeface="udemy sans"/>
              </a:rPr>
              <a:t>()</a:t>
            </a:r>
            <a:endParaRPr kumimoji="0" lang="es-MX" altLang="es-MX" sz="1500" b="0" i="0" u="none" strike="noStrike" cap="none" normalizeH="0" baseline="0" dirty="0">
              <a:ln>
                <a:noFill/>
              </a:ln>
              <a:effectLst/>
            </a:endParaRPr>
          </a:p>
          <a:p>
            <a:pPr marR="0" lvl="0" defTabSz="914400" rtl="0" eaLnBrk="0" fontAlgn="base" latinLnBrk="0" hangingPunct="0">
              <a:spcBef>
                <a:spcPct val="0"/>
              </a:spcBef>
              <a:spcAft>
                <a:spcPct val="0"/>
              </a:spcAft>
              <a:buClrTx/>
              <a:buSzTx/>
              <a:buFontTx/>
              <a:buChar char="-"/>
              <a:tabLst/>
            </a:pPr>
            <a:r>
              <a:rPr kumimoji="0" lang="es-MX" altLang="es-MX" sz="1500" b="0" i="0" u="none" strike="noStrike" cap="none" normalizeH="0" baseline="0" dirty="0" err="1">
                <a:ln>
                  <a:noFill/>
                </a:ln>
                <a:effectLst/>
                <a:latin typeface="udemy sans"/>
              </a:rPr>
              <a:t>tiene_pico</a:t>
            </a:r>
            <a:r>
              <a:rPr kumimoji="0" lang="es-MX" altLang="es-MX" sz="1500" b="0" i="0" u="none" strike="noStrike" cap="none" normalizeH="0" baseline="0" dirty="0">
                <a:ln>
                  <a:noFill/>
                </a:ln>
                <a:effectLst/>
                <a:latin typeface="udemy sans"/>
              </a:rPr>
              <a:t> = True</a:t>
            </a:r>
          </a:p>
          <a:p>
            <a:pPr marR="0" lvl="0" defTabSz="914400" rtl="0" eaLnBrk="0" fontAlgn="base" latinLnBrk="0" hangingPunct="0">
              <a:spcBef>
                <a:spcPct val="0"/>
              </a:spcBef>
              <a:spcAft>
                <a:spcPct val="0"/>
              </a:spcAft>
              <a:buClrTx/>
              <a:buSzTx/>
              <a:buFontTx/>
              <a:buChar char="-"/>
              <a:tabLst/>
            </a:pPr>
            <a:endParaRPr lang="es-MX" altLang="es-MX" sz="1500" dirty="0">
              <a:latin typeface="udemy sans"/>
            </a:endParaRPr>
          </a:p>
          <a:p>
            <a:pPr marL="0" marR="0" lvl="0" indent="0" defTabSz="914400" rtl="0" eaLnBrk="0" fontAlgn="base" latinLnBrk="0" hangingPunct="0">
              <a:spcBef>
                <a:spcPct val="0"/>
              </a:spcBef>
              <a:spcAft>
                <a:spcPct val="0"/>
              </a:spcAft>
              <a:buClrTx/>
              <a:buSzTx/>
              <a:buFontTx/>
              <a:buNone/>
              <a:tabLst/>
            </a:pPr>
            <a:r>
              <a:rPr kumimoji="0" lang="es-MX" altLang="es-MX" sz="1500" b="0" i="0" u="none" strike="noStrike" cap="none" normalizeH="0" baseline="0" dirty="0">
                <a:ln>
                  <a:noFill/>
                </a:ln>
                <a:effectLst/>
                <a:latin typeface="udemy sans"/>
              </a:rPr>
              <a:t>Un hijo ha </a:t>
            </a:r>
            <a:r>
              <a:rPr kumimoji="0" lang="es-MX" altLang="es-MX" sz="1500" b="1" i="0" u="none" strike="noStrike" cap="none" normalizeH="0" baseline="0" dirty="0">
                <a:ln>
                  <a:noFill/>
                </a:ln>
                <a:effectLst/>
                <a:latin typeface="udemy sans"/>
              </a:rPr>
              <a:t>heredado </a:t>
            </a:r>
            <a:r>
              <a:rPr kumimoji="0" lang="es-MX" altLang="es-MX" sz="1500" b="0" i="0" u="none" strike="noStrike" cap="none" normalizeH="0" baseline="0" dirty="0">
                <a:ln>
                  <a:noFill/>
                </a:ln>
                <a:effectLst/>
                <a:latin typeface="udemy sans"/>
              </a:rPr>
              <a:t>de su padre todas sus características, sin embargo, tienen diferentes </a:t>
            </a:r>
            <a:r>
              <a:rPr kumimoji="0" lang="es-MX" altLang="es-MX" sz="1500" b="0" i="0" u="sng" strike="noStrike" cap="none" normalizeH="0" baseline="0" dirty="0">
                <a:ln>
                  <a:noFill/>
                </a:ln>
                <a:effectLst/>
                <a:latin typeface="udemy sans"/>
                <a:hlinkClick r:id="rId2">
                  <a:extLst>
                    <a:ext uri="{A12FA001-AC4F-418D-AE19-62706E023703}">
                      <ahyp:hlinkClr xmlns:ahyp="http://schemas.microsoft.com/office/drawing/2018/hyperlinkcolor" val="tx"/>
                    </a:ext>
                  </a:extLst>
                </a:hlinkClick>
              </a:rPr>
              <a:t>hobbies</a:t>
            </a:r>
            <a:r>
              <a:rPr kumimoji="0" lang="es-MX" altLang="es-MX" sz="1500" b="0" i="0" u="none" strike="noStrike" cap="none" normalizeH="0" baseline="0" dirty="0">
                <a:ln>
                  <a:noFill/>
                </a:ln>
                <a:effectLst/>
                <a:latin typeface="udemy sans"/>
              </a:rPr>
              <a:t>. Logra que la clase </a:t>
            </a:r>
            <a:r>
              <a:rPr kumimoji="0" lang="es-MX" altLang="es-MX" sz="1500" b="0" i="0" u="none" strike="noStrike" cap="none" normalizeH="0" baseline="0" dirty="0">
                <a:ln>
                  <a:noFill/>
                </a:ln>
                <a:effectLst/>
                <a:latin typeface="sfmono-regular"/>
              </a:rPr>
              <a:t>Hijo</a:t>
            </a:r>
            <a:r>
              <a:rPr kumimoji="0" lang="es-MX" altLang="es-MX" sz="1500" b="0" i="0" u="none" strike="noStrike" cap="none" normalizeH="0" baseline="0" dirty="0">
                <a:ln>
                  <a:noFill/>
                </a:ln>
                <a:effectLst/>
                <a:latin typeface="udemy sans"/>
              </a:rPr>
              <a:t> herede de </a:t>
            </a:r>
            <a:r>
              <a:rPr kumimoji="0" lang="es-MX" altLang="es-MX" sz="1500" b="0" i="0" u="none" strike="noStrike" cap="none" normalizeH="0" baseline="0" dirty="0">
                <a:ln>
                  <a:noFill/>
                </a:ln>
                <a:effectLst/>
                <a:latin typeface="sfmono-regular"/>
              </a:rPr>
              <a:t>Padre</a:t>
            </a:r>
            <a:r>
              <a:rPr kumimoji="0" lang="es-MX" altLang="es-MX" sz="1500" b="0" i="0" u="none" strike="noStrike" cap="none" normalizeH="0" baseline="0" dirty="0">
                <a:ln>
                  <a:noFill/>
                </a:ln>
                <a:effectLst/>
                <a:latin typeface="udemy sans"/>
              </a:rPr>
              <a:t> todos sus métodos y atributos, </a:t>
            </a:r>
            <a:r>
              <a:rPr kumimoji="0" lang="es-MX" altLang="es-MX" sz="1500" b="0" i="0" u="none" strike="noStrike" cap="none" normalizeH="0" baseline="0" dirty="0" err="1">
                <a:ln>
                  <a:noFill/>
                </a:ln>
                <a:effectLst/>
                <a:latin typeface="udemy sans"/>
              </a:rPr>
              <a:t>sobreescribiendo</a:t>
            </a:r>
            <a:r>
              <a:rPr kumimoji="0" lang="es-MX" altLang="es-MX" sz="1500" b="0" i="0" u="none" strike="noStrike" cap="none" normalizeH="0" baseline="0" dirty="0">
                <a:ln>
                  <a:noFill/>
                </a:ln>
                <a:effectLst/>
                <a:latin typeface="udemy sans"/>
              </a:rPr>
              <a:t> el método </a:t>
            </a:r>
            <a:r>
              <a:rPr kumimoji="0" lang="es-MX" altLang="es-MX" sz="1500" b="0" i="0" u="none" strike="noStrike" cap="none" normalizeH="0" baseline="0" dirty="0">
                <a:ln>
                  <a:noFill/>
                </a:ln>
                <a:effectLst/>
                <a:latin typeface="sfmono-regular"/>
              </a:rPr>
              <a:t>hobby()</a:t>
            </a:r>
            <a:r>
              <a:rPr kumimoji="0" lang="es-MX" altLang="es-MX" sz="1500" b="0" i="0" u="none" strike="noStrike" cap="none" normalizeH="0" baseline="0" dirty="0">
                <a:ln>
                  <a:noFill/>
                </a:ln>
                <a:effectLst/>
                <a:latin typeface="udemy sans"/>
              </a:rPr>
              <a:t> para que se </a:t>
            </a:r>
            <a:r>
              <a:rPr kumimoji="0" lang="es-MX" altLang="es-MX" sz="1500" b="1" i="1" u="none" strike="noStrike" cap="none" normalizeH="0" baseline="0" dirty="0">
                <a:ln>
                  <a:noFill/>
                </a:ln>
                <a:effectLst/>
                <a:latin typeface="udemy sans"/>
              </a:rPr>
              <a:t>devuelva</a:t>
            </a:r>
            <a:r>
              <a:rPr kumimoji="0" lang="es-MX" altLang="es-MX" sz="1500" b="0" i="0" u="none" strike="noStrike" cap="none" normalizeH="0" baseline="0" dirty="0">
                <a:ln>
                  <a:noFill/>
                </a:ln>
                <a:effectLst/>
                <a:latin typeface="udemy sans"/>
              </a:rPr>
              <a:t>[1]: "Juego videojuegos en mi tiempo libre"</a:t>
            </a:r>
            <a:endParaRPr kumimoji="0" lang="es-MX" altLang="es-MX" sz="1500" b="0" i="0" u="none" strike="noStrike" cap="none" normalizeH="0" baseline="0" dirty="0">
              <a:ln>
                <a:noFill/>
              </a:ln>
              <a:effectLst/>
            </a:endParaRPr>
          </a:p>
          <a:p>
            <a:pPr marL="0" marR="0" lvl="0" indent="0" defTabSz="914400" rtl="0" eaLnBrk="0" fontAlgn="base" latinLnBrk="0" hangingPunct="0">
              <a:spcBef>
                <a:spcPct val="0"/>
              </a:spcBef>
              <a:spcAft>
                <a:spcPct val="0"/>
              </a:spcAft>
              <a:buClrTx/>
              <a:buSzTx/>
              <a:buFontTx/>
              <a:buNone/>
              <a:tabLst/>
            </a:pPr>
            <a:br>
              <a:rPr kumimoji="0" lang="es-MX" altLang="es-MX" sz="1500" b="0" i="0" u="none" strike="noStrike" cap="none" normalizeH="0" baseline="0" dirty="0">
                <a:ln>
                  <a:noFill/>
                </a:ln>
                <a:effectLst/>
                <a:latin typeface="udemy sans"/>
              </a:rPr>
            </a:br>
            <a:endParaRPr kumimoji="0" lang="es-MX" altLang="es-MX" sz="1500" b="0" i="0" u="none" strike="noStrike" cap="none" normalizeH="0" baseline="0" dirty="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1500" b="0" i="1" u="none" strike="noStrike" cap="none" normalizeH="0" baseline="0" dirty="0">
                <a:ln>
                  <a:noFill/>
                </a:ln>
                <a:effectLst/>
                <a:latin typeface="udemy sans"/>
              </a:rPr>
              <a:t>[1]: asegúrate de utilizar </a:t>
            </a:r>
            <a:r>
              <a:rPr kumimoji="0" lang="es-MX" altLang="es-MX" sz="1500" b="1" i="1" u="none" strike="noStrike" cap="none" normalizeH="0" baseline="0" dirty="0" err="1">
                <a:ln>
                  <a:noFill/>
                </a:ln>
                <a:effectLst/>
                <a:latin typeface="udemy sans"/>
              </a:rPr>
              <a:t>return</a:t>
            </a:r>
            <a:r>
              <a:rPr kumimoji="0" lang="es-MX" altLang="es-MX" sz="1500" b="1" i="1" u="none" strike="noStrike" cap="none" normalizeH="0" baseline="0" dirty="0">
                <a:ln>
                  <a:noFill/>
                </a:ln>
                <a:effectLst/>
                <a:latin typeface="udemy sans"/>
              </a:rPr>
              <a:t> </a:t>
            </a:r>
            <a:r>
              <a:rPr kumimoji="0" lang="es-MX" altLang="es-MX" sz="1500" b="0" i="1" u="none" strike="noStrike" cap="none" normalizeH="0" baseline="0" dirty="0">
                <a:ln>
                  <a:noFill/>
                </a:ln>
                <a:effectLst/>
                <a:latin typeface="udemy sans"/>
              </a:rPr>
              <a:t>seguido de una cadena de texto</a:t>
            </a:r>
            <a:endParaRPr kumimoji="0" lang="es-MX" altLang="es-MX" sz="1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None/>
              <a:tabLst/>
            </a:pPr>
            <a:endParaRPr kumimoji="0" lang="es-MX" altLang="es-MX" sz="1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endParaRPr kumimoji="0" lang="es-MX" altLang="es-MX" sz="1500" b="0" i="0" u="none" strike="noStrike" cap="none" normalizeH="0" baseline="0" dirty="0">
              <a:ln>
                <a:noFill/>
              </a:ln>
              <a:effectLst/>
              <a:latin typeface="Arial" panose="020B0604020202020204" pitchFamily="34" charset="0"/>
            </a:endParaRPr>
          </a:p>
          <a:p>
            <a:pPr marL="0" indent="0">
              <a:buNone/>
            </a:pPr>
            <a:endParaRPr lang="es-MX" sz="1500" dirty="0"/>
          </a:p>
        </p:txBody>
      </p:sp>
      <p:sp>
        <p:nvSpPr>
          <p:cNvPr id="4" name="Marcador de pie de página 3">
            <a:extLst>
              <a:ext uri="{FF2B5EF4-FFF2-40B4-BE49-F238E27FC236}">
                <a16:creationId xmlns:a16="http://schemas.microsoft.com/office/drawing/2014/main" id="{CCDB8C53-7C03-BC4D-C5B4-D7625FAB2A5D}"/>
              </a:ext>
            </a:extLst>
          </p:cNvPr>
          <p:cNvSpPr>
            <a:spLocks noGrp="1"/>
          </p:cNvSpPr>
          <p:nvPr>
            <p:ph type="ftr" sz="quarter" idx="11"/>
          </p:nvPr>
        </p:nvSpPr>
        <p:spPr>
          <a:xfrm>
            <a:off x="4038600" y="6077585"/>
            <a:ext cx="4114800" cy="365125"/>
          </a:xfrm>
        </p:spPr>
        <p:txBody>
          <a:bodyPr>
            <a:normAutofit/>
          </a:bodyPr>
          <a:lstStyle/>
          <a:p>
            <a:pPr>
              <a:spcAft>
                <a:spcPts val="600"/>
              </a:spcAft>
            </a:pPr>
            <a:r>
              <a:rPr lang="es-MX"/>
              <a:t>Arabots Robotics</a:t>
            </a:r>
          </a:p>
        </p:txBody>
      </p:sp>
      <p:sp>
        <p:nvSpPr>
          <p:cNvPr id="5" name="Marcador de número de diapositiva 4">
            <a:extLst>
              <a:ext uri="{FF2B5EF4-FFF2-40B4-BE49-F238E27FC236}">
                <a16:creationId xmlns:a16="http://schemas.microsoft.com/office/drawing/2014/main" id="{8C3C1A1F-51D5-7F29-3C6B-D75DBDE84690}"/>
              </a:ext>
            </a:extLst>
          </p:cNvPr>
          <p:cNvSpPr>
            <a:spLocks noGrp="1"/>
          </p:cNvSpPr>
          <p:nvPr>
            <p:ph type="sldNum" sz="quarter" idx="12"/>
          </p:nvPr>
        </p:nvSpPr>
        <p:spPr>
          <a:xfrm>
            <a:off x="8610600" y="6077585"/>
            <a:ext cx="2743200" cy="365125"/>
          </a:xfrm>
        </p:spPr>
        <p:txBody>
          <a:bodyPr>
            <a:normAutofit/>
          </a:bodyPr>
          <a:lstStyle/>
          <a:p>
            <a:pPr>
              <a:spcAft>
                <a:spcPts val="600"/>
              </a:spcAft>
            </a:pPr>
            <a:fld id="{4EA4A3B0-B5DF-4E2B-B48F-E4B7B7872040}" type="slidenum">
              <a:rPr lang="es-MX" smtClean="0"/>
              <a:pPr>
                <a:spcAft>
                  <a:spcPts val="600"/>
                </a:spcAft>
              </a:pPr>
              <a:t>172</a:t>
            </a:fld>
            <a:endParaRPr lang="es-MX"/>
          </a:p>
        </p:txBody>
      </p:sp>
      <p:sp>
        <p:nvSpPr>
          <p:cNvPr id="7" name="Rectangle 2">
            <a:extLst>
              <a:ext uri="{FF2B5EF4-FFF2-40B4-BE49-F238E27FC236}">
                <a16:creationId xmlns:a16="http://schemas.microsoft.com/office/drawing/2014/main" id="{37FBB6C8-DF2F-484A-9A61-E97E582CDC14}"/>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6433701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F292EA8-FDF9-CD4F-93F2-1E772055811E}"/>
              </a:ext>
            </a:extLst>
          </p:cNvPr>
          <p:cNvSpPr>
            <a:spLocks noGrp="1"/>
          </p:cNvSpPr>
          <p:nvPr>
            <p:ph type="title"/>
          </p:nvPr>
        </p:nvSpPr>
        <p:spPr>
          <a:xfrm>
            <a:off x="589560" y="856180"/>
            <a:ext cx="4560584" cy="1128068"/>
          </a:xfrm>
        </p:spPr>
        <p:txBody>
          <a:bodyPr anchor="ctr">
            <a:normAutofit/>
          </a:bodyPr>
          <a:lstStyle/>
          <a:p>
            <a:r>
              <a:rPr lang="es-MX" sz="4000"/>
              <a:t>Polimorfismo</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9DE2CBC-0806-51BF-25CC-1F1AEDA21310}"/>
              </a:ext>
            </a:extLst>
          </p:cNvPr>
          <p:cNvSpPr>
            <a:spLocks noGrp="1"/>
          </p:cNvSpPr>
          <p:nvPr>
            <p:ph idx="1"/>
          </p:nvPr>
        </p:nvSpPr>
        <p:spPr>
          <a:xfrm>
            <a:off x="590719" y="2330505"/>
            <a:ext cx="4559425" cy="3979585"/>
          </a:xfrm>
        </p:spPr>
        <p:txBody>
          <a:bodyPr anchor="ctr">
            <a:normAutofit/>
          </a:bodyPr>
          <a:lstStyle/>
          <a:p>
            <a:pPr marL="0" indent="0">
              <a:buNone/>
            </a:pPr>
            <a:r>
              <a:rPr lang="es-MX" sz="2000"/>
              <a:t>El polimorfismo es el pilar de la POO mediante el cual un mismo método puede comportarse de diferentes maneras según el objeto sobre el cual esté actuando, en función de cómo dicho método ha sido creado para la clase en particular.</a:t>
            </a:r>
          </a:p>
          <a:p>
            <a:pPr marL="0" indent="0">
              <a:buNone/>
            </a:pPr>
            <a:r>
              <a:rPr lang="es-MX" sz="2000"/>
              <a:t>El método len( ) funciona en distintos tipos de objetos: listas, tuplas, strings, entre otros. Esto se debe a que para Python, lo importante no son los tipos de objetos, sino lo que pueden hacer: sus métodos</a:t>
            </a:r>
          </a:p>
          <a:p>
            <a:pPr marL="0" indent="0">
              <a:buNone/>
            </a:pPr>
            <a:endParaRPr lang="es-MX" sz="2000"/>
          </a:p>
          <a:p>
            <a:pPr marL="0" indent="0">
              <a:buNone/>
            </a:pPr>
            <a:endParaRPr lang="es-MX" sz="2000"/>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AE62AAF1-3422-5F82-1CF5-8C1B88548881}"/>
              </a:ext>
            </a:extLst>
          </p:cNvPr>
          <p:cNvPicPr>
            <a:picLocks noChangeAspect="1"/>
          </p:cNvPicPr>
          <p:nvPr/>
        </p:nvPicPr>
        <p:blipFill rotWithShape="1">
          <a:blip r:embed="rId2"/>
          <a:srcRect r="195" b="1"/>
          <a:stretch/>
        </p:blipFill>
        <p:spPr>
          <a:xfrm>
            <a:off x="5977788" y="799352"/>
            <a:ext cx="5425410" cy="5259296"/>
          </a:xfrm>
          <a:prstGeom prst="rect">
            <a:avLst/>
          </a:prstGeom>
        </p:spPr>
      </p:pic>
      <p:sp>
        <p:nvSpPr>
          <p:cNvPr id="4" name="Marcador de pie de página 3">
            <a:extLst>
              <a:ext uri="{FF2B5EF4-FFF2-40B4-BE49-F238E27FC236}">
                <a16:creationId xmlns:a16="http://schemas.microsoft.com/office/drawing/2014/main" id="{0623D6C4-26F0-C800-2FFB-CF397D586894}"/>
              </a:ext>
            </a:extLst>
          </p:cNvPr>
          <p:cNvSpPr>
            <a:spLocks noGrp="1"/>
          </p:cNvSpPr>
          <p:nvPr>
            <p:ph type="ftr" sz="quarter" idx="11"/>
          </p:nvPr>
        </p:nvSpPr>
        <p:spPr>
          <a:xfrm>
            <a:off x="5685810" y="6492240"/>
            <a:ext cx="3050866" cy="365125"/>
          </a:xfrm>
        </p:spPr>
        <p:txBody>
          <a:bodyPr>
            <a:normAutofit/>
          </a:bodyPr>
          <a:lstStyle/>
          <a:p>
            <a:pPr algn="l">
              <a:spcAft>
                <a:spcPts val="600"/>
              </a:spcAft>
            </a:pPr>
            <a:r>
              <a:rPr lang="es-MX"/>
              <a:t>Arabots Robotics</a:t>
            </a:r>
          </a:p>
        </p:txBody>
      </p:sp>
      <p:sp>
        <p:nvSpPr>
          <p:cNvPr id="5" name="Marcador de número de diapositiva 4">
            <a:extLst>
              <a:ext uri="{FF2B5EF4-FFF2-40B4-BE49-F238E27FC236}">
                <a16:creationId xmlns:a16="http://schemas.microsoft.com/office/drawing/2014/main" id="{9DC29040-BB20-8B9A-E827-54047110EC68}"/>
              </a:ext>
            </a:extLst>
          </p:cNvPr>
          <p:cNvSpPr>
            <a:spLocks noGrp="1"/>
          </p:cNvSpPr>
          <p:nvPr>
            <p:ph type="sldNum" sz="quarter" idx="12"/>
          </p:nvPr>
        </p:nvSpPr>
        <p:spPr>
          <a:xfrm>
            <a:off x="9385070" y="6492240"/>
            <a:ext cx="1055716" cy="365125"/>
          </a:xfrm>
        </p:spPr>
        <p:txBody>
          <a:bodyPr>
            <a:normAutofit/>
          </a:bodyPr>
          <a:lstStyle/>
          <a:p>
            <a:pPr>
              <a:spcAft>
                <a:spcPts val="600"/>
              </a:spcAft>
            </a:pPr>
            <a:fld id="{4EA4A3B0-B5DF-4E2B-B48F-E4B7B7872040}" type="slidenum">
              <a:rPr lang="es-MX" smtClean="0"/>
              <a:pPr>
                <a:spcAft>
                  <a:spcPts val="600"/>
                </a:spcAft>
              </a:pPr>
              <a:t>173</a:t>
            </a:fld>
            <a:endParaRPr lang="es-MX"/>
          </a:p>
        </p:txBody>
      </p:sp>
    </p:spTree>
    <p:extLst>
      <p:ext uri="{BB962C8B-B14F-4D97-AF65-F5344CB8AC3E}">
        <p14:creationId xmlns:p14="http://schemas.microsoft.com/office/powerpoint/2010/main" val="388878970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66D7F65-E9B6-4775-8355-D095CC73C1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21344F3-3E89-107A-5648-B23E6A2493F9}"/>
              </a:ext>
            </a:extLst>
          </p:cNvPr>
          <p:cNvSpPr>
            <a:spLocks noGrp="1"/>
          </p:cNvSpPr>
          <p:nvPr>
            <p:ph type="title"/>
          </p:nvPr>
        </p:nvSpPr>
        <p:spPr>
          <a:xfrm>
            <a:off x="1136396" y="502021"/>
            <a:ext cx="6173262" cy="1655483"/>
          </a:xfrm>
        </p:spPr>
        <p:txBody>
          <a:bodyPr anchor="b">
            <a:normAutofit/>
          </a:bodyPr>
          <a:lstStyle/>
          <a:p>
            <a:r>
              <a:rPr lang="es-MX" sz="4000"/>
              <a:t>Ejercicios</a:t>
            </a:r>
          </a:p>
        </p:txBody>
      </p:sp>
      <p:sp>
        <p:nvSpPr>
          <p:cNvPr id="4" name="Marcador de pie de página 3">
            <a:extLst>
              <a:ext uri="{FF2B5EF4-FFF2-40B4-BE49-F238E27FC236}">
                <a16:creationId xmlns:a16="http://schemas.microsoft.com/office/drawing/2014/main" id="{16FA6036-4443-3C18-4BA3-234E08D95422}"/>
              </a:ext>
            </a:extLst>
          </p:cNvPr>
          <p:cNvSpPr>
            <a:spLocks noGrp="1"/>
          </p:cNvSpPr>
          <p:nvPr>
            <p:ph type="ftr" sz="quarter" idx="11"/>
          </p:nvPr>
        </p:nvSpPr>
        <p:spPr>
          <a:xfrm rot="5400000">
            <a:off x="-1827725" y="1957014"/>
            <a:ext cx="4114800" cy="365125"/>
          </a:xfrm>
        </p:spPr>
        <p:txBody>
          <a:bodyPr>
            <a:normAutofit/>
          </a:bodyPr>
          <a:lstStyle/>
          <a:p>
            <a:pPr algn="l">
              <a:spcAft>
                <a:spcPts val="600"/>
              </a:spcAft>
            </a:pPr>
            <a:r>
              <a:rPr lang="es-MX" sz="1100">
                <a:solidFill>
                  <a:schemeClr val="tx1">
                    <a:lumMod val="50000"/>
                    <a:lumOff val="50000"/>
                  </a:schemeClr>
                </a:solidFill>
              </a:rPr>
              <a:t>Arabots Robotics</a:t>
            </a:r>
          </a:p>
        </p:txBody>
      </p:sp>
      <p:sp>
        <p:nvSpPr>
          <p:cNvPr id="3" name="Marcador de contenido 2">
            <a:extLst>
              <a:ext uri="{FF2B5EF4-FFF2-40B4-BE49-F238E27FC236}">
                <a16:creationId xmlns:a16="http://schemas.microsoft.com/office/drawing/2014/main" id="{2BAF3DF4-C0DB-C882-CE4B-1252E7F06C9D}"/>
              </a:ext>
            </a:extLst>
          </p:cNvPr>
          <p:cNvSpPr>
            <a:spLocks noGrp="1"/>
          </p:cNvSpPr>
          <p:nvPr>
            <p:ph idx="1"/>
          </p:nvPr>
        </p:nvSpPr>
        <p:spPr>
          <a:xfrm>
            <a:off x="1136397" y="2408518"/>
            <a:ext cx="6173262" cy="3535083"/>
          </a:xfrm>
        </p:spPr>
        <p:txBody>
          <a:bodyPr>
            <a:normAutofit/>
          </a:bodyPr>
          <a:lstStyle/>
          <a:p>
            <a:pPr marL="0" marR="0" lvl="0" indent="0" defTabSz="914400" rtl="0" eaLnBrk="0" fontAlgn="base" latinLnBrk="0" hangingPunct="0">
              <a:spcBef>
                <a:spcPct val="0"/>
              </a:spcBef>
              <a:spcAft>
                <a:spcPct val="0"/>
              </a:spcAft>
              <a:buClrTx/>
              <a:buSzTx/>
              <a:buFontTx/>
              <a:buNone/>
              <a:tabLst/>
            </a:pPr>
            <a:r>
              <a:rPr kumimoji="0" lang="es-MX" altLang="es-MX" sz="1000" b="0" i="0" u="none" strike="noStrike" cap="none" normalizeH="0" baseline="0">
                <a:ln>
                  <a:noFill/>
                </a:ln>
                <a:effectLst/>
                <a:latin typeface="udemy sans"/>
              </a:rPr>
              <a:t>La función incorporada en Python </a:t>
            </a:r>
            <a:r>
              <a:rPr kumimoji="0" lang="es-MX" altLang="es-MX" sz="1000" b="0" i="0" u="none" strike="noStrike" cap="none" normalizeH="0" baseline="0">
                <a:ln>
                  <a:noFill/>
                </a:ln>
                <a:effectLst/>
                <a:latin typeface="sfmono-regular"/>
              </a:rPr>
              <a:t>len()</a:t>
            </a:r>
            <a:r>
              <a:rPr kumimoji="0" lang="es-MX" altLang="es-MX" sz="1000" b="0" i="0" u="none" strike="noStrike" cap="none" normalizeH="0" baseline="0">
                <a:ln>
                  <a:noFill/>
                </a:ln>
                <a:effectLst/>
                <a:latin typeface="udemy sans"/>
              </a:rPr>
              <a:t> tiene un comportamiento </a:t>
            </a:r>
            <a:r>
              <a:rPr kumimoji="0" lang="es-MX" altLang="es-MX" sz="1000" b="1" i="0" u="none" strike="noStrike" cap="none" normalizeH="0" baseline="0">
                <a:ln>
                  <a:noFill/>
                </a:ln>
                <a:effectLst/>
                <a:latin typeface="udemy sans"/>
              </a:rPr>
              <a:t>polimórfico</a:t>
            </a:r>
            <a:r>
              <a:rPr kumimoji="0" lang="es-MX" altLang="es-MX" sz="1000" b="0" i="0" u="none" strike="noStrike" cap="none" normalizeH="0" baseline="0">
                <a:ln>
                  <a:noFill/>
                </a:ln>
                <a:effectLst/>
                <a:latin typeface="udemy sans"/>
              </a:rPr>
              <a:t>, ya que calcula el largo de un objeto en función de su tipo (strings, listas, tuples, entre otros), devolviendo la cantidad de items o caracteres que lo componen.</a:t>
            </a:r>
            <a:endParaRPr kumimoji="0" lang="es-MX" altLang="es-MX" sz="1000" b="0" i="0" u="none" strike="noStrike" cap="none" normalizeH="0" baseline="0">
              <a:ln>
                <a:noFill/>
              </a:ln>
              <a:effectLst/>
            </a:endParaRPr>
          </a:p>
          <a:p>
            <a:pPr marL="0" marR="0" lvl="0" indent="0" defTabSz="914400" rtl="0" eaLnBrk="0" fontAlgn="base" latinLnBrk="0" hangingPunct="0">
              <a:spcBef>
                <a:spcPct val="0"/>
              </a:spcBef>
              <a:spcAft>
                <a:spcPct val="0"/>
              </a:spcAft>
              <a:buClrTx/>
              <a:buSzTx/>
              <a:buFontTx/>
              <a:buNone/>
              <a:tabLst/>
            </a:pPr>
            <a:endParaRPr kumimoji="0" lang="es-MX" altLang="es-MX" sz="1000" b="0" i="0" u="none" strike="noStrike" cap="none" normalizeH="0" baseline="0">
              <a:ln>
                <a:noFill/>
              </a:ln>
              <a:effectLst/>
              <a:latin typeface="udemy sans"/>
            </a:endParaRPr>
          </a:p>
          <a:p>
            <a:pPr marL="0" marR="0" lvl="0" indent="0" defTabSz="914400" rtl="0" eaLnBrk="0" fontAlgn="base" latinLnBrk="0" hangingPunct="0">
              <a:spcBef>
                <a:spcPct val="0"/>
              </a:spcBef>
              <a:spcAft>
                <a:spcPct val="0"/>
              </a:spcAft>
              <a:buClrTx/>
              <a:buSzTx/>
              <a:buFontTx/>
              <a:buNone/>
              <a:tabLst/>
            </a:pPr>
            <a:r>
              <a:rPr kumimoji="0" lang="es-MX" altLang="es-MX" sz="1000" b="0" i="0" u="none" strike="noStrike" cap="none" normalizeH="0" baseline="0">
                <a:ln>
                  <a:noFill/>
                </a:ln>
                <a:effectLst/>
                <a:latin typeface="udemy sans"/>
              </a:rPr>
              <a:t>Crea un </a:t>
            </a:r>
            <a:r>
              <a:rPr kumimoji="0" lang="es-MX" altLang="es-MX" sz="1000" b="1" i="0" u="none" strike="noStrike" cap="none" normalizeH="0" baseline="0">
                <a:ln>
                  <a:noFill/>
                </a:ln>
                <a:effectLst/>
                <a:latin typeface="udemy sans"/>
              </a:rPr>
              <a:t>iterador </a:t>
            </a:r>
            <a:r>
              <a:rPr kumimoji="0" lang="es-MX" altLang="es-MX" sz="1000" b="0" i="0" u="none" strike="noStrike" cap="none" normalizeH="0" baseline="0">
                <a:ln>
                  <a:noFill/>
                </a:ln>
                <a:effectLst/>
                <a:latin typeface="udemy sans"/>
              </a:rPr>
              <a:t>que recorra los siguientes objetos: </a:t>
            </a:r>
            <a:r>
              <a:rPr kumimoji="0" lang="es-MX" altLang="es-MX" sz="1000" b="0" i="0" u="none" strike="noStrike" cap="none" normalizeH="0" baseline="0">
                <a:ln>
                  <a:noFill/>
                </a:ln>
                <a:effectLst/>
                <a:latin typeface="sfmono-regular"/>
              </a:rPr>
              <a:t>palabra</a:t>
            </a:r>
            <a:r>
              <a:rPr kumimoji="0" lang="es-MX" altLang="es-MX" sz="1000" b="0" i="0" u="none" strike="noStrike" cap="none" normalizeH="0" baseline="0">
                <a:ln>
                  <a:noFill/>
                </a:ln>
                <a:effectLst/>
                <a:latin typeface="udemy sans"/>
              </a:rPr>
              <a:t>, </a:t>
            </a:r>
            <a:r>
              <a:rPr kumimoji="0" lang="es-MX" altLang="es-MX" sz="1000" b="0" i="0" u="none" strike="noStrike" cap="none" normalizeH="0" baseline="0">
                <a:ln>
                  <a:noFill/>
                </a:ln>
                <a:effectLst/>
                <a:latin typeface="sfmono-regular"/>
              </a:rPr>
              <a:t>lista</a:t>
            </a:r>
            <a:r>
              <a:rPr kumimoji="0" lang="es-MX" altLang="es-MX" sz="1000" b="0" i="0" u="none" strike="noStrike" cap="none" normalizeH="0" baseline="0">
                <a:ln>
                  <a:noFill/>
                </a:ln>
                <a:effectLst/>
                <a:latin typeface="udemy sans"/>
              </a:rPr>
              <a:t>, </a:t>
            </a:r>
            <a:r>
              <a:rPr kumimoji="0" lang="es-MX" altLang="es-MX" sz="1000" b="0" i="0" u="none" strike="noStrike" cap="none" normalizeH="0" baseline="0">
                <a:ln>
                  <a:noFill/>
                </a:ln>
                <a:effectLst/>
                <a:latin typeface="sfmono-regular"/>
              </a:rPr>
              <a:t>tupla</a:t>
            </a:r>
            <a:r>
              <a:rPr kumimoji="0" lang="es-MX" altLang="es-MX" sz="1000" b="0" i="0" u="none" strike="noStrike" cap="none" normalizeH="0" baseline="0">
                <a:ln>
                  <a:noFill/>
                </a:ln>
                <a:effectLst/>
                <a:latin typeface="udemy sans"/>
              </a:rPr>
              <a:t> y muestre en pantalla (</a:t>
            </a:r>
            <a:r>
              <a:rPr kumimoji="0" lang="es-MX" altLang="es-MX" sz="1000" b="0" i="0" u="none" strike="noStrike" cap="none" normalizeH="0" baseline="0">
                <a:ln>
                  <a:noFill/>
                </a:ln>
                <a:effectLst/>
                <a:latin typeface="sfmono-regular"/>
              </a:rPr>
              <a:t>print()</a:t>
            </a:r>
            <a:r>
              <a:rPr kumimoji="0" lang="es-MX" altLang="es-MX" sz="1000" b="0" i="0" u="none" strike="noStrike" cap="none" normalizeH="0" baseline="0">
                <a:ln>
                  <a:noFill/>
                </a:ln>
                <a:effectLst/>
                <a:latin typeface="udemy sans"/>
              </a:rPr>
              <a:t>) para cada uno de ellos su longitud con la función </a:t>
            </a:r>
            <a:r>
              <a:rPr kumimoji="0" lang="es-MX" altLang="es-MX" sz="1000" b="0" i="0" u="none" strike="noStrike" cap="none" normalizeH="0" baseline="0">
                <a:ln>
                  <a:noFill/>
                </a:ln>
                <a:effectLst/>
                <a:latin typeface="sfmono-regular"/>
              </a:rPr>
              <a:t>len()</a:t>
            </a:r>
            <a:r>
              <a:rPr kumimoji="0" lang="es-MX" altLang="es-MX" sz="1000" b="0" i="0" u="none" strike="noStrike" cap="none" normalizeH="0" baseline="0">
                <a:ln>
                  <a:noFill/>
                </a:ln>
                <a:effectLst/>
                <a:latin typeface="udemy sans"/>
              </a:rPr>
              <a:t>.</a:t>
            </a:r>
            <a:endParaRPr kumimoji="0" lang="es-MX" altLang="es-MX" sz="1000" b="0" i="0" u="none" strike="noStrike" cap="none" normalizeH="0" baseline="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1000" b="0" i="0" u="none" strike="noStrike" cap="none" normalizeH="0" baseline="0">
                <a:ln>
                  <a:noFill/>
                </a:ln>
                <a:effectLst/>
                <a:latin typeface="udemy sans"/>
              </a:rPr>
              <a:t>Puedes recordar cómo implementar la función </a:t>
            </a:r>
            <a:r>
              <a:rPr kumimoji="0" lang="es-MX" altLang="es-MX" sz="1000" b="0" i="0" u="none" strike="noStrike" cap="none" normalizeH="0" baseline="0">
                <a:ln>
                  <a:noFill/>
                </a:ln>
                <a:effectLst/>
                <a:latin typeface="sfmono-regular"/>
              </a:rPr>
              <a:t>len()</a:t>
            </a:r>
            <a:r>
              <a:rPr kumimoji="0" lang="es-MX" altLang="es-MX" sz="1000" b="0" i="0" u="none" strike="noStrike" cap="none" normalizeH="0" baseline="0">
                <a:ln>
                  <a:noFill/>
                </a:ln>
                <a:effectLst/>
                <a:latin typeface="udemy sans"/>
              </a:rPr>
              <a:t> siguiente enlace: </a:t>
            </a:r>
            <a:r>
              <a:rPr kumimoji="0" lang="es-MX" altLang="es-MX" sz="1000" b="0" i="0" u="sng" strike="noStrike" cap="none" normalizeH="0" baseline="0">
                <a:ln>
                  <a:noFill/>
                </a:ln>
                <a:effectLst/>
                <a:latin typeface="udemy sans"/>
                <a:hlinkClick r:id="rId2">
                  <a:extLst>
                    <a:ext uri="{A12FA001-AC4F-418D-AE19-62706E023703}">
                      <ahyp:hlinkClr xmlns:ahyp="http://schemas.microsoft.com/office/drawing/2018/hyperlinkcolor" val="tx"/>
                    </a:ext>
                  </a:extLst>
                </a:hlinkClick>
              </a:rPr>
              <a:t>https://docs.aws.amazon.com/es_es/redshift/latest/dg/r_LEN.html</a:t>
            </a:r>
            <a:endParaRPr kumimoji="0" lang="es-MX" altLang="es-MX" sz="1000" b="0" i="0" u="sng" strike="noStrike" cap="none" normalizeH="0" baseline="0">
              <a:ln>
                <a:noFill/>
              </a:ln>
              <a:effectLst/>
              <a:latin typeface="udemy sans"/>
            </a:endParaRPr>
          </a:p>
          <a:p>
            <a:pPr marL="0" marR="0" lvl="0" indent="0" defTabSz="914400" rtl="0" eaLnBrk="0" fontAlgn="base" latinLnBrk="0" hangingPunct="0">
              <a:spcBef>
                <a:spcPct val="0"/>
              </a:spcBef>
              <a:spcAft>
                <a:spcPct val="0"/>
              </a:spcAft>
              <a:buClrTx/>
              <a:buSzTx/>
              <a:buFontTx/>
              <a:buNone/>
              <a:tabLst/>
            </a:pPr>
            <a:endParaRPr kumimoji="0" lang="es-MX" altLang="es-MX" sz="1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endParaRPr kumimoji="0" lang="es-MX" altLang="es-MX" sz="1000" b="0" i="0" u="none" strike="noStrike" cap="none" normalizeH="0" baseline="0">
              <a:ln>
                <a:noFill/>
              </a:ln>
              <a:effectLst/>
              <a:latin typeface="udemy sans"/>
            </a:endParaRPr>
          </a:p>
          <a:p>
            <a:pPr marL="0" marR="0" lvl="0" indent="0" defTabSz="914400" rtl="0" eaLnBrk="0" fontAlgn="base" latinLnBrk="0" hangingPunct="0">
              <a:spcBef>
                <a:spcPct val="0"/>
              </a:spcBef>
              <a:spcAft>
                <a:spcPct val="0"/>
              </a:spcAft>
              <a:buClrTx/>
              <a:buSzTx/>
              <a:buFontTx/>
              <a:buNone/>
              <a:tabLst/>
            </a:pPr>
            <a:r>
              <a:rPr kumimoji="0" lang="es-MX" altLang="es-MX" sz="1000" b="0" i="0" u="none" strike="noStrike" cap="none" normalizeH="0" baseline="0">
                <a:ln>
                  <a:noFill/>
                </a:ln>
                <a:effectLst/>
                <a:latin typeface="udemy sans"/>
              </a:rPr>
              <a:t>Cuentas con tres clases de </a:t>
            </a:r>
            <a:r>
              <a:rPr kumimoji="0" lang="es-MX" altLang="es-MX" sz="1000" b="1" i="0" u="none" strike="noStrike" cap="none" normalizeH="0" baseline="0">
                <a:ln>
                  <a:noFill/>
                </a:ln>
                <a:effectLst/>
                <a:latin typeface="udemy sans"/>
              </a:rPr>
              <a:t>personajes </a:t>
            </a:r>
            <a:r>
              <a:rPr kumimoji="0" lang="es-MX" altLang="es-MX" sz="1000" b="0" i="0" u="none" strike="noStrike" cap="none" normalizeH="0" baseline="0">
                <a:ln>
                  <a:noFill/>
                </a:ln>
                <a:effectLst/>
                <a:latin typeface="udemy sans"/>
              </a:rPr>
              <a:t>en un juego, los cuales cuentan con sus métodos de </a:t>
            </a:r>
            <a:r>
              <a:rPr kumimoji="0" lang="es-MX" altLang="es-MX" sz="1000" b="1" i="0" u="none" strike="noStrike" cap="none" normalizeH="0" baseline="0">
                <a:ln>
                  <a:noFill/>
                </a:ln>
                <a:effectLst/>
                <a:latin typeface="udemy sans"/>
              </a:rPr>
              <a:t>ataque </a:t>
            </a:r>
            <a:r>
              <a:rPr kumimoji="0" lang="es-MX" altLang="es-MX" sz="1000" b="0" i="0" u="none" strike="noStrike" cap="none" normalizeH="0" baseline="0">
                <a:ln>
                  <a:noFill/>
                </a:ln>
                <a:effectLst/>
                <a:latin typeface="udemy sans"/>
              </a:rPr>
              <a:t>específicos.</a:t>
            </a:r>
            <a:endParaRPr kumimoji="0" lang="es-MX" altLang="es-MX" sz="1000" b="0" i="0" u="none" strike="noStrike" cap="none" normalizeH="0" baseline="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1000" b="0" i="0" u="none" strike="noStrike" cap="none" normalizeH="0" baseline="0">
                <a:ln>
                  <a:noFill/>
                </a:ln>
                <a:effectLst/>
                <a:latin typeface="udemy sans"/>
              </a:rPr>
              <a:t>Crea un iterador que logre un ataque conjugado en el siguiente </a:t>
            </a:r>
            <a:r>
              <a:rPr kumimoji="0" lang="es-MX" altLang="es-MX" sz="1000" b="1" i="0" u="none" strike="noStrike" cap="none" normalizeH="0" baseline="0">
                <a:ln>
                  <a:noFill/>
                </a:ln>
                <a:effectLst/>
                <a:latin typeface="udemy sans"/>
              </a:rPr>
              <a:t>orden</a:t>
            </a:r>
            <a:r>
              <a:rPr kumimoji="0" lang="es-MX" altLang="es-MX" sz="1000" b="0" i="0" u="none" strike="noStrike" cap="none" normalizeH="0" baseline="0">
                <a:ln>
                  <a:noFill/>
                </a:ln>
                <a:effectLst/>
                <a:latin typeface="udemy sans"/>
              </a:rPr>
              <a:t>: </a:t>
            </a:r>
            <a:r>
              <a:rPr kumimoji="0" lang="es-MX" altLang="es-MX" sz="1000" b="0" i="1" u="none" strike="noStrike" cap="none" normalizeH="0" baseline="0">
                <a:ln>
                  <a:noFill/>
                </a:ln>
                <a:effectLst/>
                <a:latin typeface="udemy sans"/>
              </a:rPr>
              <a:t>Arquero, Mago, Samurai</a:t>
            </a:r>
            <a:r>
              <a:rPr kumimoji="0" lang="es-MX" altLang="es-MX" sz="1000" b="0" i="0" u="none" strike="noStrike" cap="none" normalizeH="0" baseline="0">
                <a:ln>
                  <a:noFill/>
                </a:ln>
                <a:effectLst/>
                <a:latin typeface="udemy sans"/>
              </a:rPr>
              <a:t>, llamando al método </a:t>
            </a:r>
            <a:r>
              <a:rPr kumimoji="0" lang="es-MX" altLang="es-MX" sz="1000" b="0" i="0" u="none" strike="noStrike" cap="none" normalizeH="0" baseline="0">
                <a:ln>
                  <a:noFill/>
                </a:ln>
                <a:effectLst/>
                <a:latin typeface="sfmono-regular"/>
              </a:rPr>
              <a:t>atacar()</a:t>
            </a:r>
            <a:r>
              <a:rPr kumimoji="0" lang="es-MX" altLang="es-MX" sz="1000" b="0" i="0" u="none" strike="noStrike" cap="none" normalizeH="0" baseline="0">
                <a:ln>
                  <a:noFill/>
                </a:ln>
                <a:effectLst/>
                <a:latin typeface="udemy sans"/>
              </a:rPr>
              <a:t> de cada uno de los personajes. Deberás crear </a:t>
            </a:r>
            <a:r>
              <a:rPr kumimoji="0" lang="es-MX" altLang="es-MX" sz="1000" b="1" i="0" u="none" strike="noStrike" cap="none" normalizeH="0" baseline="0">
                <a:ln>
                  <a:noFill/>
                </a:ln>
                <a:effectLst/>
                <a:latin typeface="udemy sans"/>
              </a:rPr>
              <a:t>instancias </a:t>
            </a:r>
            <a:r>
              <a:rPr kumimoji="0" lang="es-MX" altLang="es-MX" sz="1000" b="0" i="0" u="none" strike="noStrike" cap="none" normalizeH="0" baseline="0">
                <a:ln>
                  <a:noFill/>
                </a:ln>
                <a:effectLst/>
                <a:latin typeface="udemy sans"/>
              </a:rPr>
              <a:t>de cada una de las clases anteriores para construir un iterable (una </a:t>
            </a:r>
            <a:r>
              <a:rPr kumimoji="0" lang="es-MX" altLang="es-MX" sz="1000" b="1" i="0" u="none" strike="noStrike" cap="none" normalizeH="0" baseline="0">
                <a:ln>
                  <a:noFill/>
                </a:ln>
                <a:effectLst/>
                <a:latin typeface="udemy sans"/>
              </a:rPr>
              <a:t>lista </a:t>
            </a:r>
            <a:r>
              <a:rPr kumimoji="0" lang="es-MX" altLang="es-MX" sz="1000" b="0" i="0" u="none" strike="noStrike" cap="none" normalizeH="0" baseline="0">
                <a:ln>
                  <a:noFill/>
                </a:ln>
                <a:effectLst/>
                <a:latin typeface="udemy sans"/>
              </a:rPr>
              <a:t>llamada </a:t>
            </a:r>
            <a:r>
              <a:rPr kumimoji="0" lang="es-MX" altLang="es-MX" sz="1000" b="0" i="0" u="none" strike="noStrike" cap="none" normalizeH="0" baseline="0">
                <a:ln>
                  <a:noFill/>
                </a:ln>
                <a:effectLst/>
                <a:latin typeface="sfmono-regular"/>
              </a:rPr>
              <a:t>personajes</a:t>
            </a:r>
            <a:r>
              <a:rPr kumimoji="0" lang="es-MX" altLang="es-MX" sz="1000" b="0" i="0" u="none" strike="noStrike" cap="none" normalizeH="0" baseline="0">
                <a:ln>
                  <a:noFill/>
                </a:ln>
                <a:effectLst/>
                <a:latin typeface="udemy sans"/>
              </a:rPr>
              <a:t>) que pueda recorrese en dicho orden.</a:t>
            </a:r>
          </a:p>
          <a:p>
            <a:pPr marL="0" marR="0" lvl="0" indent="0" defTabSz="914400" rtl="0" eaLnBrk="0" fontAlgn="base" latinLnBrk="0" hangingPunct="0">
              <a:spcBef>
                <a:spcPct val="0"/>
              </a:spcBef>
              <a:spcAft>
                <a:spcPct val="0"/>
              </a:spcAft>
              <a:buClrTx/>
              <a:buSzTx/>
              <a:buFontTx/>
              <a:buNone/>
              <a:tabLst/>
            </a:pPr>
            <a:endParaRPr kumimoji="0" lang="es-MX" altLang="es-MX" sz="1000" b="0" i="0" u="none" strike="noStrike" cap="none" normalizeH="0" baseline="0">
              <a:ln>
                <a:noFill/>
              </a:ln>
              <a:effectLst/>
              <a:latin typeface="udemy sans"/>
            </a:endParaRPr>
          </a:p>
          <a:p>
            <a:pPr marL="0" marR="0" lvl="0" indent="0" defTabSz="914400" rtl="0" eaLnBrk="0" fontAlgn="base" latinLnBrk="0" hangingPunct="0">
              <a:spcBef>
                <a:spcPct val="0"/>
              </a:spcBef>
              <a:spcAft>
                <a:spcPct val="0"/>
              </a:spcAft>
              <a:buClrTx/>
              <a:buSzTx/>
              <a:buFontTx/>
              <a:buNone/>
              <a:tabLst/>
            </a:pPr>
            <a:endParaRPr lang="es-MX" altLang="es-MX" sz="1000">
              <a:latin typeface="udemy sans"/>
            </a:endParaRPr>
          </a:p>
          <a:p>
            <a:pPr marL="0" marR="0" lvl="0" indent="0" defTabSz="914400" rtl="0" eaLnBrk="0" fontAlgn="base" latinLnBrk="0" hangingPunct="0">
              <a:spcBef>
                <a:spcPct val="0"/>
              </a:spcBef>
              <a:spcAft>
                <a:spcPct val="0"/>
              </a:spcAft>
              <a:buClrTx/>
              <a:buSzTx/>
              <a:buFontTx/>
              <a:buNone/>
              <a:tabLst/>
            </a:pPr>
            <a:endParaRPr kumimoji="0" lang="es-MX" altLang="es-MX" sz="1000" b="0" i="0" u="none" strike="noStrike" cap="none" normalizeH="0" baseline="0">
              <a:ln>
                <a:noFill/>
              </a:ln>
              <a:effectLst/>
              <a:latin typeface="udemy sans"/>
            </a:endParaRPr>
          </a:p>
          <a:p>
            <a:pPr marL="0" marR="0" lvl="0" indent="0" defTabSz="914400" rtl="0" eaLnBrk="0" fontAlgn="base" latinLnBrk="0" hangingPunct="0">
              <a:spcBef>
                <a:spcPct val="0"/>
              </a:spcBef>
              <a:spcAft>
                <a:spcPct val="0"/>
              </a:spcAft>
              <a:buClrTx/>
              <a:buSzTx/>
              <a:buFontTx/>
              <a:buNone/>
              <a:tabLst/>
            </a:pPr>
            <a:r>
              <a:rPr kumimoji="0" lang="es-MX" altLang="es-MX" sz="1000" b="0" i="0" u="none" strike="noStrike" cap="none" normalizeH="0" baseline="0">
                <a:ln>
                  <a:noFill/>
                </a:ln>
                <a:effectLst/>
                <a:latin typeface="udemy sans"/>
              </a:rPr>
              <a:t>Tienes tres clases de </a:t>
            </a:r>
            <a:r>
              <a:rPr kumimoji="0" lang="es-MX" altLang="es-MX" sz="1000" b="1" i="0" u="none" strike="noStrike" cap="none" normalizeH="0" baseline="0">
                <a:ln>
                  <a:noFill/>
                </a:ln>
                <a:effectLst/>
                <a:latin typeface="udemy sans"/>
              </a:rPr>
              <a:t>personajes </a:t>
            </a:r>
            <a:r>
              <a:rPr kumimoji="0" lang="es-MX" altLang="es-MX" sz="1000" b="0" i="0" u="none" strike="noStrike" cap="none" normalizeH="0" baseline="0">
                <a:ln>
                  <a:noFill/>
                </a:ln>
                <a:effectLst/>
                <a:latin typeface="udemy sans"/>
              </a:rPr>
              <a:t>en un juego, los cuales cuentan con sus métodos de </a:t>
            </a:r>
            <a:r>
              <a:rPr kumimoji="0" lang="es-MX" altLang="es-MX" sz="1000" b="1" i="0" u="none" strike="noStrike" cap="none" normalizeH="0" baseline="0">
                <a:ln>
                  <a:noFill/>
                </a:ln>
                <a:effectLst/>
                <a:latin typeface="udemy sans"/>
              </a:rPr>
              <a:t>defensa </a:t>
            </a:r>
            <a:r>
              <a:rPr kumimoji="0" lang="es-MX" altLang="es-MX" sz="1000" b="0" i="0" u="none" strike="noStrike" cap="none" normalizeH="0" baseline="0">
                <a:ln>
                  <a:noFill/>
                </a:ln>
                <a:effectLst/>
                <a:latin typeface="udemy sans"/>
              </a:rPr>
              <a:t>específicos.</a:t>
            </a:r>
            <a:endParaRPr kumimoji="0" lang="es-MX" altLang="es-MX" sz="1000" b="0" i="0" u="none" strike="noStrike" cap="none" normalizeH="0" baseline="0">
              <a:ln>
                <a:noFill/>
              </a:ln>
              <a:effectLst/>
            </a:endParaRPr>
          </a:p>
          <a:p>
            <a:pPr marL="0" marR="0" lvl="0" indent="0" defTabSz="914400" rtl="0" eaLnBrk="0" fontAlgn="base" latinLnBrk="0" hangingPunct="0">
              <a:spcBef>
                <a:spcPct val="0"/>
              </a:spcBef>
              <a:spcAft>
                <a:spcPct val="0"/>
              </a:spcAft>
              <a:buClrTx/>
              <a:buSzTx/>
              <a:buFontTx/>
              <a:buNone/>
              <a:tabLst/>
            </a:pPr>
            <a:r>
              <a:rPr kumimoji="0" lang="es-MX" altLang="es-MX" sz="1000" b="0" i="0" u="none" strike="noStrike" cap="none" normalizeH="0" baseline="0">
                <a:ln>
                  <a:noFill/>
                </a:ln>
                <a:effectLst/>
                <a:latin typeface="udemy sans"/>
              </a:rPr>
              <a:t>Crea una función llamada </a:t>
            </a:r>
            <a:r>
              <a:rPr kumimoji="0" lang="es-MX" altLang="es-MX" sz="1000" b="0" i="0" u="none" strike="noStrike" cap="none" normalizeH="0" baseline="0">
                <a:ln>
                  <a:noFill/>
                </a:ln>
                <a:effectLst/>
                <a:latin typeface="sfmono-regular"/>
              </a:rPr>
              <a:t>personaje_defender()</a:t>
            </a:r>
            <a:r>
              <a:rPr kumimoji="0" lang="es-MX" altLang="es-MX" sz="1000" b="0" i="0" u="none" strike="noStrike" cap="none" normalizeH="0" baseline="0">
                <a:ln>
                  <a:noFill/>
                </a:ln>
                <a:effectLst/>
                <a:latin typeface="udemy sans"/>
              </a:rPr>
              <a:t>, que pueda recibir un </a:t>
            </a:r>
            <a:r>
              <a:rPr kumimoji="0" lang="es-MX" altLang="es-MX" sz="1000" b="1" i="1" u="none" strike="noStrike" cap="none" normalizeH="0" baseline="0">
                <a:ln>
                  <a:noFill/>
                </a:ln>
                <a:effectLst/>
                <a:latin typeface="udemy sans"/>
              </a:rPr>
              <a:t>objeto </a:t>
            </a:r>
            <a:r>
              <a:rPr kumimoji="0" lang="es-MX" altLang="es-MX" sz="1000" b="0" i="0" u="none" strike="noStrike" cap="none" normalizeH="0" baseline="0">
                <a:ln>
                  <a:noFill/>
                </a:ln>
                <a:effectLst/>
                <a:latin typeface="udemy sans"/>
              </a:rPr>
              <a:t>(una </a:t>
            </a:r>
            <a:r>
              <a:rPr kumimoji="0" lang="es-MX" altLang="es-MX" sz="1000" b="1" i="1" u="none" strike="noStrike" cap="none" normalizeH="0" baseline="0">
                <a:ln>
                  <a:noFill/>
                </a:ln>
                <a:effectLst/>
                <a:latin typeface="udemy sans"/>
              </a:rPr>
              <a:t>instancia </a:t>
            </a:r>
            <a:r>
              <a:rPr kumimoji="0" lang="es-MX" altLang="es-MX" sz="1000" b="0" i="0" u="none" strike="noStrike" cap="none" normalizeH="0" baseline="0">
                <a:ln>
                  <a:noFill/>
                </a:ln>
                <a:effectLst/>
                <a:latin typeface="udemy sans"/>
              </a:rPr>
              <a:t>de las </a:t>
            </a:r>
            <a:r>
              <a:rPr kumimoji="0" lang="es-MX" altLang="es-MX" sz="1000" b="1" i="1" u="none" strike="noStrike" cap="none" normalizeH="0" baseline="0">
                <a:ln>
                  <a:noFill/>
                </a:ln>
                <a:effectLst/>
                <a:latin typeface="udemy sans"/>
              </a:rPr>
              <a:t>clases </a:t>
            </a:r>
            <a:r>
              <a:rPr kumimoji="0" lang="es-MX" altLang="es-MX" sz="1000" b="0" i="0" u="none" strike="noStrike" cap="none" normalizeH="0" baseline="0">
                <a:ln>
                  <a:noFill/>
                </a:ln>
                <a:effectLst/>
                <a:latin typeface="udemy sans"/>
              </a:rPr>
              <a:t>de tus personajes), y ejecutar su método </a:t>
            </a:r>
            <a:r>
              <a:rPr kumimoji="0" lang="es-MX" altLang="es-MX" sz="1000" b="0" i="0" u="none" strike="noStrike" cap="none" normalizeH="0" baseline="0">
                <a:ln>
                  <a:noFill/>
                </a:ln>
                <a:effectLst/>
                <a:latin typeface="sfmono-regular"/>
              </a:rPr>
              <a:t>defender()</a:t>
            </a:r>
            <a:r>
              <a:rPr kumimoji="0" lang="es-MX" altLang="es-MX" sz="1000" b="0" i="0" u="none" strike="noStrike" cap="none" normalizeH="0" baseline="0">
                <a:ln>
                  <a:noFill/>
                </a:ln>
                <a:effectLst/>
                <a:latin typeface="udemy sans"/>
              </a:rPr>
              <a:t> independientemente de qué tipo de personaje se trate</a:t>
            </a:r>
            <a:endParaRPr kumimoji="0" lang="es-MX" altLang="es-MX" sz="1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endParaRPr kumimoji="0" lang="es-MX" altLang="es-MX" sz="1000" b="0" i="0" u="none" strike="noStrike" cap="none" normalizeH="0" baseline="0">
              <a:ln>
                <a:noFill/>
              </a:ln>
              <a:effectLst/>
              <a:latin typeface="Arial" panose="020B0604020202020204" pitchFamily="34" charset="0"/>
            </a:endParaRPr>
          </a:p>
          <a:p>
            <a:pPr marL="0" indent="0">
              <a:buNone/>
            </a:pPr>
            <a:endParaRPr lang="es-MX" sz="1000"/>
          </a:p>
        </p:txBody>
      </p:sp>
      <p:pic>
        <p:nvPicPr>
          <p:cNvPr id="9" name="Picture 8" descr="Fórmulas matemáticas complejas en una pizarra">
            <a:extLst>
              <a:ext uri="{FF2B5EF4-FFF2-40B4-BE49-F238E27FC236}">
                <a16:creationId xmlns:a16="http://schemas.microsoft.com/office/drawing/2014/main" id="{94845AAD-DBB8-3932-8DEF-645810A3CE1E}"/>
              </a:ext>
            </a:extLst>
          </p:cNvPr>
          <p:cNvPicPr>
            <a:picLocks noChangeAspect="1"/>
          </p:cNvPicPr>
          <p:nvPr/>
        </p:nvPicPr>
        <p:blipFill rotWithShape="1">
          <a:blip r:embed="rId3"/>
          <a:srcRect l="33778" r="19858" b="2"/>
          <a:stretch/>
        </p:blipFill>
        <p:spPr>
          <a:xfrm>
            <a:off x="8115300" y="-12515"/>
            <a:ext cx="4076700" cy="6418631"/>
          </a:xfrm>
          <a:prstGeom prst="rect">
            <a:avLst/>
          </a:prstGeom>
        </p:spPr>
      </p:pic>
      <p:sp>
        <p:nvSpPr>
          <p:cNvPr id="20" name="Rectangle 14">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7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arcador de número de diapositiva 4">
            <a:extLst>
              <a:ext uri="{FF2B5EF4-FFF2-40B4-BE49-F238E27FC236}">
                <a16:creationId xmlns:a16="http://schemas.microsoft.com/office/drawing/2014/main" id="{EDC744B5-33F8-2AFE-3A93-3C18F0875379}"/>
              </a:ext>
            </a:extLst>
          </p:cNvPr>
          <p:cNvSpPr>
            <a:spLocks noGrp="1"/>
          </p:cNvSpPr>
          <p:nvPr>
            <p:ph type="sldNum" sz="quarter" idx="12"/>
          </p:nvPr>
        </p:nvSpPr>
        <p:spPr>
          <a:xfrm>
            <a:off x="11704320" y="6455431"/>
            <a:ext cx="445913" cy="365125"/>
          </a:xfrm>
        </p:spPr>
        <p:txBody>
          <a:bodyPr>
            <a:normAutofit/>
          </a:bodyPr>
          <a:lstStyle/>
          <a:p>
            <a:pPr>
              <a:spcAft>
                <a:spcPts val="600"/>
              </a:spcAft>
            </a:pPr>
            <a:fld id="{4EA4A3B0-B5DF-4E2B-B48F-E4B7B7872040}" type="slidenum">
              <a:rPr lang="es-MX" sz="1100">
                <a:solidFill>
                  <a:srgbClr val="FFFFFF"/>
                </a:solidFill>
              </a:rPr>
              <a:pPr>
                <a:spcAft>
                  <a:spcPts val="600"/>
                </a:spcAft>
              </a:pPr>
              <a:t>174</a:t>
            </a:fld>
            <a:endParaRPr lang="es-MX" sz="1100">
              <a:solidFill>
                <a:srgbClr val="FFFFFF"/>
              </a:solidFill>
            </a:endParaRPr>
          </a:p>
        </p:txBody>
      </p:sp>
      <p:sp>
        <p:nvSpPr>
          <p:cNvPr id="7" name="Rectangle 2">
            <a:extLst>
              <a:ext uri="{FF2B5EF4-FFF2-40B4-BE49-F238E27FC236}">
                <a16:creationId xmlns:a16="http://schemas.microsoft.com/office/drawing/2014/main" id="{7A678436-629F-D7A0-810F-EAE8F795E2CD}"/>
              </a:ext>
            </a:extLst>
          </p:cNvPr>
          <p:cNvSpPr>
            <a:spLocks noChangeArrowheads="1"/>
          </p:cNvSpPr>
          <p:nvPr/>
        </p:nvSpPr>
        <p:spPr bwMode="auto">
          <a:xfrm>
            <a:off x="0" y="-86871"/>
            <a:ext cx="65" cy="63094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ts val="600"/>
              </a:spcAft>
              <a:buClrTx/>
              <a:buSzTx/>
              <a:buFontTx/>
              <a:buNone/>
              <a:tabLst/>
            </a:pPr>
            <a:endParaRPr kumimoji="0" lang="es-MX" altLang="es-MX"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ts val="600"/>
              </a:spcAft>
              <a:buClrTx/>
              <a:buSzTx/>
              <a:buFontTx/>
              <a:buNone/>
              <a:tabLst/>
            </a:pPr>
            <a:endParaRPr kumimoji="0" lang="es-MX" altLang="es-MX"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9113749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48C2AA4-3F60-A95E-F0AF-F0C595EB1103}"/>
              </a:ext>
            </a:extLst>
          </p:cNvPr>
          <p:cNvSpPr>
            <a:spLocks noGrp="1"/>
          </p:cNvSpPr>
          <p:nvPr>
            <p:ph type="title"/>
          </p:nvPr>
        </p:nvSpPr>
        <p:spPr>
          <a:xfrm>
            <a:off x="466722" y="586855"/>
            <a:ext cx="3201366" cy="3387497"/>
          </a:xfrm>
        </p:spPr>
        <p:txBody>
          <a:bodyPr anchor="b">
            <a:normAutofit/>
          </a:bodyPr>
          <a:lstStyle/>
          <a:p>
            <a:pPr algn="r"/>
            <a:r>
              <a:rPr lang="es-MX" sz="4000" b="1" i="0">
                <a:solidFill>
                  <a:srgbClr val="FFFFFF"/>
                </a:solidFill>
                <a:effectLst/>
                <a:latin typeface="udemy sans"/>
              </a:rPr>
              <a:t>Pilares de la Programación Orientada a Objetos</a:t>
            </a:r>
            <a:endParaRPr lang="es-MX" sz="4000">
              <a:solidFill>
                <a:srgbClr val="FFFFFF"/>
              </a:solidFill>
            </a:endParaRPr>
          </a:p>
        </p:txBody>
      </p:sp>
      <p:sp>
        <p:nvSpPr>
          <p:cNvPr id="4" name="Marcador de pie de página 3">
            <a:extLst>
              <a:ext uri="{FF2B5EF4-FFF2-40B4-BE49-F238E27FC236}">
                <a16:creationId xmlns:a16="http://schemas.microsoft.com/office/drawing/2014/main" id="{EA198F00-D235-3AF4-ACA1-B35C6129F220}"/>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30C1BEDC-BC05-C379-B23B-7BC258B71A96}"/>
              </a:ext>
            </a:extLst>
          </p:cNvPr>
          <p:cNvSpPr>
            <a:spLocks noGrp="1"/>
          </p:cNvSpPr>
          <p:nvPr>
            <p:ph idx="1"/>
          </p:nvPr>
        </p:nvSpPr>
        <p:spPr>
          <a:xfrm>
            <a:off x="4810259" y="649480"/>
            <a:ext cx="6555347" cy="5546047"/>
          </a:xfrm>
        </p:spPr>
        <p:txBody>
          <a:bodyPr anchor="ctr">
            <a:normAutofit/>
          </a:bodyPr>
          <a:lstStyle/>
          <a:p>
            <a:r>
              <a:rPr lang="es-MX" sz="1700" b="0" i="0">
                <a:effectLst/>
                <a:latin typeface="udemy sans"/>
              </a:rPr>
              <a:t>En este día has aprendido qué es la </a:t>
            </a:r>
            <a:r>
              <a:rPr lang="es-MX" sz="1700" b="1" i="0">
                <a:effectLst/>
                <a:latin typeface="udemy sans"/>
              </a:rPr>
              <a:t>Programación Orientada a Objetos</a:t>
            </a:r>
            <a:r>
              <a:rPr lang="es-MX" sz="1700" b="0" i="0">
                <a:effectLst/>
                <a:latin typeface="udemy sans"/>
              </a:rPr>
              <a:t>, y también hemos entendido que este modo de programación está basado en </a:t>
            </a:r>
            <a:r>
              <a:rPr lang="es-MX" sz="1700" b="1" i="0">
                <a:effectLst/>
                <a:latin typeface="udemy sans"/>
              </a:rPr>
              <a:t>6 pilares</a:t>
            </a:r>
            <a:r>
              <a:rPr lang="es-MX" sz="1700" b="0" i="0">
                <a:effectLst/>
                <a:latin typeface="udemy sans"/>
              </a:rPr>
              <a:t> fundamentales.</a:t>
            </a:r>
          </a:p>
          <a:p>
            <a:r>
              <a:rPr lang="es-MX" sz="1700" b="0" i="0">
                <a:effectLst/>
                <a:latin typeface="udemy sans"/>
              </a:rPr>
              <a:t>Ya has aprendido </a:t>
            </a:r>
            <a:r>
              <a:rPr lang="es-MX" sz="1700" b="1" i="0">
                <a:effectLst/>
                <a:latin typeface="udemy sans"/>
              </a:rPr>
              <a:t>2 de esos pilares</a:t>
            </a:r>
            <a:r>
              <a:rPr lang="es-MX" sz="1700" b="0" i="0">
                <a:effectLst/>
                <a:latin typeface="udemy sans"/>
              </a:rPr>
              <a:t>, a través de las lecciones de video, las notas descargables y los ejercicios de práctica. Estos son:</a:t>
            </a:r>
          </a:p>
          <a:p>
            <a:pPr>
              <a:buFont typeface="Arial" panose="020B0604020202020204" pitchFamily="34" charset="0"/>
              <a:buChar char="•"/>
            </a:pPr>
            <a:r>
              <a:rPr lang="es-MX" sz="1700" b="1" i="0">
                <a:effectLst/>
                <a:latin typeface="udemy sans"/>
              </a:rPr>
              <a:t>Herencia</a:t>
            </a:r>
            <a:endParaRPr lang="es-MX" sz="1700" b="0" i="0">
              <a:effectLst/>
              <a:latin typeface="udemy sans"/>
            </a:endParaRPr>
          </a:p>
          <a:p>
            <a:pPr>
              <a:buFont typeface="Arial" panose="020B0604020202020204" pitchFamily="34" charset="0"/>
              <a:buChar char="•"/>
            </a:pPr>
            <a:r>
              <a:rPr lang="es-MX" sz="1700" b="1" i="0">
                <a:effectLst/>
                <a:latin typeface="udemy sans"/>
              </a:rPr>
              <a:t>Polimorfismo</a:t>
            </a:r>
            <a:endParaRPr lang="es-MX" sz="1700" b="0" i="0">
              <a:effectLst/>
              <a:latin typeface="udemy sans"/>
            </a:endParaRPr>
          </a:p>
          <a:p>
            <a:r>
              <a:rPr lang="es-MX" sz="1700" b="0" i="0">
                <a:effectLst/>
                <a:latin typeface="udemy sans"/>
              </a:rPr>
              <a:t>Para aprender los 4 pilares restantes (que son más bien conceptuales), he preparado para ti 4 artículos especiales que de seguro te ayudarán a comprenderlos con facilidad:</a:t>
            </a:r>
          </a:p>
          <a:p>
            <a:pPr>
              <a:buFont typeface="Arial" panose="020B0604020202020204" pitchFamily="34" charset="0"/>
              <a:buChar char="•"/>
            </a:pPr>
            <a:r>
              <a:rPr lang="es-MX" sz="1700" b="1" i="0" u="sng">
                <a:effectLst/>
                <a:latin typeface="udemy sans"/>
                <a:hlinkClick r:id="rId2"/>
              </a:rPr>
              <a:t>Cohesión</a:t>
            </a:r>
            <a:endParaRPr lang="es-MX" sz="1700" b="0" i="0">
              <a:effectLst/>
              <a:latin typeface="udemy sans"/>
            </a:endParaRPr>
          </a:p>
          <a:p>
            <a:pPr>
              <a:buFont typeface="Arial" panose="020B0604020202020204" pitchFamily="34" charset="0"/>
              <a:buChar char="•"/>
            </a:pPr>
            <a:r>
              <a:rPr lang="es-MX" sz="1700" b="1" i="0" u="sng">
                <a:effectLst/>
                <a:latin typeface="udemy sans"/>
                <a:hlinkClick r:id="rId3"/>
              </a:rPr>
              <a:t>Acoplamiento</a:t>
            </a:r>
            <a:endParaRPr lang="es-MX" sz="1700" b="0" i="0">
              <a:effectLst/>
              <a:latin typeface="udemy sans"/>
            </a:endParaRPr>
          </a:p>
          <a:p>
            <a:pPr>
              <a:buFont typeface="Arial" panose="020B0604020202020204" pitchFamily="34" charset="0"/>
              <a:buChar char="•"/>
            </a:pPr>
            <a:r>
              <a:rPr lang="es-MX" sz="1700" b="1" i="0" u="sng">
                <a:effectLst/>
                <a:latin typeface="udemy sans"/>
                <a:hlinkClick r:id="rId4"/>
              </a:rPr>
              <a:t>Abstracción</a:t>
            </a:r>
            <a:endParaRPr lang="es-MX" sz="1700" b="0" i="0">
              <a:effectLst/>
              <a:latin typeface="udemy sans"/>
            </a:endParaRPr>
          </a:p>
          <a:p>
            <a:pPr>
              <a:buFont typeface="Arial" panose="020B0604020202020204" pitchFamily="34" charset="0"/>
              <a:buChar char="•"/>
            </a:pPr>
            <a:r>
              <a:rPr lang="es-MX" sz="1700" b="1" i="0" u="sng">
                <a:effectLst/>
                <a:latin typeface="udemy sans"/>
                <a:hlinkClick r:id="rId5"/>
              </a:rPr>
              <a:t>Encapsulamiento</a:t>
            </a:r>
            <a:endParaRPr lang="es-MX" sz="1700" b="0" i="0">
              <a:effectLst/>
              <a:latin typeface="udemy sans"/>
            </a:endParaRPr>
          </a:p>
          <a:p>
            <a:r>
              <a:rPr lang="es-MX" sz="1700" b="0" i="0">
                <a:effectLst/>
                <a:latin typeface="udemy sans"/>
              </a:rPr>
              <a:t>Haz clic en los nombres de la lista para acceder a los artículos.</a:t>
            </a:r>
          </a:p>
          <a:p>
            <a:r>
              <a:rPr lang="es-MX" sz="1700" b="0" i="0">
                <a:effectLst/>
                <a:latin typeface="udemy sans"/>
              </a:rPr>
              <a:t>Recuerda que puedes resolver todas tus dudas sobre estos 4 pilares a través de la sección de preguntas y respuestas de esta misma lección.</a:t>
            </a:r>
          </a:p>
          <a:p>
            <a:pPr marL="0" indent="0">
              <a:buNone/>
            </a:pPr>
            <a:endParaRPr lang="es-MX" sz="1700"/>
          </a:p>
        </p:txBody>
      </p:sp>
      <p:sp>
        <p:nvSpPr>
          <p:cNvPr id="5" name="Marcador de número de diapositiva 4">
            <a:extLst>
              <a:ext uri="{FF2B5EF4-FFF2-40B4-BE49-F238E27FC236}">
                <a16:creationId xmlns:a16="http://schemas.microsoft.com/office/drawing/2014/main" id="{521DFC76-947E-87E4-5967-5999C3C3F993}"/>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175</a:t>
            </a:fld>
            <a:endParaRPr lang="es-MX" sz="1100">
              <a:solidFill>
                <a:schemeClr val="tx1">
                  <a:lumMod val="50000"/>
                  <a:lumOff val="50000"/>
                </a:schemeClr>
              </a:solidFill>
            </a:endParaRPr>
          </a:p>
        </p:txBody>
      </p:sp>
    </p:spTree>
    <p:extLst>
      <p:ext uri="{BB962C8B-B14F-4D97-AF65-F5344CB8AC3E}">
        <p14:creationId xmlns:p14="http://schemas.microsoft.com/office/powerpoint/2010/main" val="167582830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2E405-F6F7-87FC-D477-C820D47EC16F}"/>
              </a:ext>
            </a:extLst>
          </p:cNvPr>
          <p:cNvSpPr>
            <a:spLocks noGrp="1"/>
          </p:cNvSpPr>
          <p:nvPr>
            <p:ph type="title"/>
          </p:nvPr>
        </p:nvSpPr>
        <p:spPr>
          <a:xfrm>
            <a:off x="648929" y="629266"/>
            <a:ext cx="3505495" cy="1622321"/>
          </a:xfrm>
        </p:spPr>
        <p:txBody>
          <a:bodyPr>
            <a:normAutofit/>
          </a:bodyPr>
          <a:lstStyle/>
          <a:p>
            <a:r>
              <a:rPr lang="es-MX" dirty="0"/>
              <a:t>Métodos Especiales </a:t>
            </a:r>
          </a:p>
        </p:txBody>
      </p:sp>
      <p:sp>
        <p:nvSpPr>
          <p:cNvPr id="3" name="Marcador de contenido 2">
            <a:extLst>
              <a:ext uri="{FF2B5EF4-FFF2-40B4-BE49-F238E27FC236}">
                <a16:creationId xmlns:a16="http://schemas.microsoft.com/office/drawing/2014/main" id="{9BB472DA-1A06-3EB7-BC74-6804BFA339AF}"/>
              </a:ext>
            </a:extLst>
          </p:cNvPr>
          <p:cNvSpPr>
            <a:spLocks noGrp="1"/>
          </p:cNvSpPr>
          <p:nvPr>
            <p:ph idx="1"/>
          </p:nvPr>
        </p:nvSpPr>
        <p:spPr>
          <a:xfrm>
            <a:off x="648931" y="2438400"/>
            <a:ext cx="3505494" cy="3785419"/>
          </a:xfrm>
        </p:spPr>
        <p:txBody>
          <a:bodyPr>
            <a:normAutofit/>
          </a:bodyPr>
          <a:lstStyle/>
          <a:p>
            <a:pPr marL="0" indent="0">
              <a:buNone/>
            </a:pPr>
            <a:r>
              <a:rPr lang="es-MX" sz="2000"/>
              <a:t>Puedes encontrarlos con el nombre de métodos mágicos o dunder methods (del inglés: dunder = double underscore, o doble guión bajo). Pueden ayudarnos a sobrescribir métodos incorporados de Python sobre nuestras clases para controlar el resultado devuelto.</a:t>
            </a:r>
          </a:p>
        </p:txBody>
      </p:sp>
      <p:sp>
        <p:nvSpPr>
          <p:cNvPr id="12" name="Rectangle 11">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97D42908-D36D-25C3-0E78-FC5046C20B23}"/>
              </a:ext>
            </a:extLst>
          </p:cNvPr>
          <p:cNvPicPr>
            <a:picLocks noChangeAspect="1"/>
          </p:cNvPicPr>
          <p:nvPr/>
        </p:nvPicPr>
        <p:blipFill>
          <a:blip r:embed="rId2"/>
          <a:stretch>
            <a:fillRect/>
          </a:stretch>
        </p:blipFill>
        <p:spPr>
          <a:xfrm>
            <a:off x="5405862" y="1711867"/>
            <a:ext cx="6019331" cy="3431019"/>
          </a:xfrm>
          <a:prstGeom prst="rect">
            <a:avLst/>
          </a:prstGeom>
          <a:effectLst/>
        </p:spPr>
      </p:pic>
      <p:sp>
        <p:nvSpPr>
          <p:cNvPr id="4" name="Marcador de pie de página 3">
            <a:extLst>
              <a:ext uri="{FF2B5EF4-FFF2-40B4-BE49-F238E27FC236}">
                <a16:creationId xmlns:a16="http://schemas.microsoft.com/office/drawing/2014/main" id="{A3EF5D20-BAA8-DB03-88BA-5D728FE68D1B}"/>
              </a:ext>
            </a:extLst>
          </p:cNvPr>
          <p:cNvSpPr>
            <a:spLocks noGrp="1"/>
          </p:cNvSpPr>
          <p:nvPr>
            <p:ph type="ftr" sz="quarter" idx="11"/>
          </p:nvPr>
        </p:nvSpPr>
        <p:spPr>
          <a:xfrm>
            <a:off x="5123688" y="6356350"/>
            <a:ext cx="4114800" cy="365125"/>
          </a:xfrm>
        </p:spPr>
        <p:txBody>
          <a:bodyPr>
            <a:normAutofit/>
          </a:bodyPr>
          <a:lstStyle/>
          <a:p>
            <a:pPr algn="l">
              <a:spcAft>
                <a:spcPts val="600"/>
              </a:spcAft>
            </a:pPr>
            <a:r>
              <a:rPr lang="es-MX">
                <a:solidFill>
                  <a:srgbClr val="303030"/>
                </a:solidFill>
              </a:rPr>
              <a:t>Arabots Robotics</a:t>
            </a:r>
          </a:p>
        </p:txBody>
      </p:sp>
      <p:sp>
        <p:nvSpPr>
          <p:cNvPr id="5" name="Marcador de número de diapositiva 4">
            <a:extLst>
              <a:ext uri="{FF2B5EF4-FFF2-40B4-BE49-F238E27FC236}">
                <a16:creationId xmlns:a16="http://schemas.microsoft.com/office/drawing/2014/main" id="{3D97EA11-D52F-13BF-AD40-01168BB2B8F3}"/>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a:solidFill>
                  <a:srgbClr val="303030"/>
                </a:solidFill>
              </a:rPr>
              <a:pPr>
                <a:spcAft>
                  <a:spcPts val="600"/>
                </a:spcAft>
              </a:pPr>
              <a:t>176</a:t>
            </a:fld>
            <a:endParaRPr lang="es-MX">
              <a:solidFill>
                <a:srgbClr val="303030"/>
              </a:solidFill>
            </a:endParaRPr>
          </a:p>
        </p:txBody>
      </p:sp>
    </p:spTree>
    <p:extLst>
      <p:ext uri="{BB962C8B-B14F-4D97-AF65-F5344CB8AC3E}">
        <p14:creationId xmlns:p14="http://schemas.microsoft.com/office/powerpoint/2010/main" val="403273478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E38F6417-6A09-9F8B-9BC4-1379F5AEBADB}"/>
              </a:ext>
            </a:extLst>
          </p:cNvPr>
          <p:cNvSpPr>
            <a:spLocks noGrp="1"/>
          </p:cNvSpPr>
          <p:nvPr>
            <p:ph type="title"/>
          </p:nvPr>
        </p:nvSpPr>
        <p:spPr>
          <a:xfrm>
            <a:off x="826396" y="586855"/>
            <a:ext cx="4230100" cy="3387497"/>
          </a:xfrm>
        </p:spPr>
        <p:txBody>
          <a:bodyPr anchor="b">
            <a:normAutofit/>
          </a:bodyPr>
          <a:lstStyle/>
          <a:p>
            <a:pPr algn="r"/>
            <a:r>
              <a:rPr lang="es-MX" sz="4000">
                <a:solidFill>
                  <a:srgbClr val="FFFFFF"/>
                </a:solidFill>
              </a:rPr>
              <a:t>Ejercicios</a:t>
            </a:r>
          </a:p>
        </p:txBody>
      </p:sp>
      <p:sp>
        <p:nvSpPr>
          <p:cNvPr id="4" name="Marcador de pie de página 3">
            <a:extLst>
              <a:ext uri="{FF2B5EF4-FFF2-40B4-BE49-F238E27FC236}">
                <a16:creationId xmlns:a16="http://schemas.microsoft.com/office/drawing/2014/main" id="{ACB57778-B0DE-F412-A4DB-108E8AF9C29B}"/>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s-MX" sz="1100">
                <a:solidFill>
                  <a:srgbClr val="FFFFFF"/>
                </a:solidFill>
              </a:rPr>
              <a:t>Arabots Robotics</a:t>
            </a:r>
          </a:p>
        </p:txBody>
      </p:sp>
      <p:sp>
        <p:nvSpPr>
          <p:cNvPr id="3" name="Marcador de contenido 2">
            <a:extLst>
              <a:ext uri="{FF2B5EF4-FFF2-40B4-BE49-F238E27FC236}">
                <a16:creationId xmlns:a16="http://schemas.microsoft.com/office/drawing/2014/main" id="{31504844-47CD-C029-2CB9-4D43B019AB2B}"/>
              </a:ext>
            </a:extLst>
          </p:cNvPr>
          <p:cNvSpPr>
            <a:spLocks noGrp="1"/>
          </p:cNvSpPr>
          <p:nvPr>
            <p:ph idx="1"/>
          </p:nvPr>
        </p:nvSpPr>
        <p:spPr>
          <a:xfrm>
            <a:off x="6503158" y="649480"/>
            <a:ext cx="4862447" cy="5546047"/>
          </a:xfrm>
        </p:spPr>
        <p:txBody>
          <a:bodyPr anchor="ctr">
            <a:normAutofit/>
          </a:bodyPr>
          <a:lstStyle/>
          <a:p>
            <a:pPr marL="0" indent="0">
              <a:buNone/>
            </a:pPr>
            <a:r>
              <a:rPr kumimoji="0" lang="es-MX" altLang="es-MX" sz="1900" b="0" i="0" u="none" strike="noStrike" cap="none" normalizeH="0" baseline="0">
                <a:ln>
                  <a:noFill/>
                </a:ln>
                <a:effectLst/>
                <a:latin typeface="udemy sans"/>
              </a:rPr>
              <a:t>Dada la clase Libro, implementa el método especial </a:t>
            </a:r>
            <a:r>
              <a:rPr kumimoji="0" lang="es-MX" altLang="es-MX" sz="1900" b="0" i="0" u="none" strike="noStrike" cap="none" normalizeH="0" baseline="0">
                <a:ln>
                  <a:noFill/>
                </a:ln>
                <a:effectLst/>
                <a:latin typeface="sfmono-regular"/>
              </a:rPr>
              <a:t>__str__</a:t>
            </a:r>
            <a:r>
              <a:rPr kumimoji="0" lang="es-MX" altLang="es-MX" sz="1900" b="0" i="0" u="none" strike="noStrike" cap="none" normalizeH="0" baseline="0">
                <a:ln>
                  <a:noFill/>
                </a:ln>
                <a:effectLst/>
                <a:latin typeface="udemy sans"/>
              </a:rPr>
              <a:t> para que cada vez que se imprima el objeto, devuelva </a:t>
            </a:r>
            <a:r>
              <a:rPr kumimoji="0" lang="es-MX" altLang="es-MX" sz="1900" b="0" i="0" u="none" strike="noStrike" cap="none" normalizeH="0" baseline="0">
                <a:ln>
                  <a:noFill/>
                </a:ln>
                <a:effectLst/>
                <a:latin typeface="sfmono-regular"/>
              </a:rPr>
              <a:t>'"{titulo}", de {autor}'</a:t>
            </a:r>
            <a:r>
              <a:rPr kumimoji="0" lang="es-MX" altLang="es-MX" sz="1900" b="0" i="0" u="none" strike="noStrike" cap="none" normalizeH="0" baseline="0">
                <a:ln>
                  <a:noFill/>
                </a:ln>
                <a:effectLst/>
                <a:latin typeface="udemy sans"/>
              </a:rPr>
              <a:t> (atención: el título debe estar encerrado entre comillas dobles)</a:t>
            </a:r>
          </a:p>
          <a:p>
            <a:pPr marL="0" indent="0">
              <a:buNone/>
            </a:pPr>
            <a:endParaRPr lang="es-MX" altLang="es-MX" sz="1900">
              <a:latin typeface="udemy sans"/>
            </a:endParaRPr>
          </a:p>
          <a:p>
            <a:pPr marL="0" indent="0">
              <a:buNone/>
            </a:pPr>
            <a:r>
              <a:rPr kumimoji="0" lang="es-MX" altLang="es-MX" sz="1900" b="0" i="0" u="none" strike="noStrike" cap="none" normalizeH="0" baseline="0">
                <a:ln>
                  <a:noFill/>
                </a:ln>
                <a:effectLst/>
                <a:latin typeface="udemy sans"/>
              </a:rPr>
              <a:t>Dada la clase </a:t>
            </a:r>
            <a:r>
              <a:rPr kumimoji="0" lang="es-MX" altLang="es-MX" sz="1900" b="0" i="0" u="none" strike="noStrike" cap="none" normalizeH="0" baseline="0">
                <a:ln>
                  <a:noFill/>
                </a:ln>
                <a:effectLst/>
                <a:latin typeface="sfmono-regular"/>
              </a:rPr>
              <a:t>Libro</a:t>
            </a:r>
            <a:r>
              <a:rPr kumimoji="0" lang="es-MX" altLang="es-MX" sz="1900" b="0" i="0" u="none" strike="noStrike" cap="none" normalizeH="0" baseline="0">
                <a:ln>
                  <a:noFill/>
                </a:ln>
                <a:effectLst/>
                <a:latin typeface="udemy sans"/>
              </a:rPr>
              <a:t>, implementa el método especial </a:t>
            </a:r>
            <a:r>
              <a:rPr kumimoji="0" lang="es-MX" altLang="es-MX" sz="1900" b="0" i="0" u="none" strike="noStrike" cap="none" normalizeH="0" baseline="0">
                <a:ln>
                  <a:noFill/>
                </a:ln>
                <a:effectLst/>
                <a:latin typeface="sfmono-regular"/>
              </a:rPr>
              <a:t>__len__</a:t>
            </a:r>
            <a:r>
              <a:rPr kumimoji="0" lang="es-MX" altLang="es-MX" sz="1900" b="0" i="0" u="none" strike="noStrike" cap="none" normalizeH="0" baseline="0">
                <a:ln>
                  <a:noFill/>
                </a:ln>
                <a:effectLst/>
                <a:latin typeface="udemy sans"/>
              </a:rPr>
              <a:t> para que cada vez que se ejecute la función len() sobre el mismo, devuelva el </a:t>
            </a:r>
            <a:r>
              <a:rPr kumimoji="0" lang="es-MX" altLang="es-MX" sz="1900" b="1" i="0" u="none" strike="noStrike" cap="none" normalizeH="0" baseline="0">
                <a:ln>
                  <a:noFill/>
                </a:ln>
                <a:effectLst/>
                <a:latin typeface="udemy sans"/>
              </a:rPr>
              <a:t>número de páginas</a:t>
            </a:r>
            <a:r>
              <a:rPr kumimoji="0" lang="es-MX" altLang="es-MX" sz="1900" b="0" i="0" u="none" strike="noStrike" cap="none" normalizeH="0" baseline="0">
                <a:ln>
                  <a:noFill/>
                </a:ln>
                <a:effectLst/>
                <a:latin typeface="udemy sans"/>
              </a:rPr>
              <a:t> como número entero.</a:t>
            </a:r>
            <a:r>
              <a:rPr kumimoji="0" lang="es-MX" altLang="es-MX" sz="1900" b="0" i="0" u="none" strike="noStrike" cap="none" normalizeH="0" baseline="0">
                <a:ln>
                  <a:noFill/>
                </a:ln>
                <a:effectLst/>
              </a:rPr>
              <a:t> </a:t>
            </a:r>
          </a:p>
          <a:p>
            <a:pPr marL="0" indent="0">
              <a:buNone/>
            </a:pPr>
            <a:endParaRPr lang="es-MX" altLang="es-MX" sz="1900">
              <a:latin typeface="Arial" panose="020B0604020202020204" pitchFamily="34" charset="0"/>
            </a:endParaRPr>
          </a:p>
          <a:p>
            <a:pPr marL="0" indent="0">
              <a:buNone/>
            </a:pPr>
            <a:r>
              <a:rPr kumimoji="0" lang="es-MX" altLang="es-MX" sz="1900" b="0" i="0" u="none" strike="noStrike" cap="none" normalizeH="0" baseline="0">
                <a:ln>
                  <a:noFill/>
                </a:ln>
                <a:effectLst/>
                <a:latin typeface="udemy sans"/>
              </a:rPr>
              <a:t>Dada la clase </a:t>
            </a:r>
            <a:r>
              <a:rPr kumimoji="0" lang="es-MX" altLang="es-MX" sz="1900" b="0" i="0" u="none" strike="noStrike" cap="none" normalizeH="0" baseline="0">
                <a:ln>
                  <a:noFill/>
                </a:ln>
                <a:effectLst/>
                <a:latin typeface="sfmono-regular"/>
              </a:rPr>
              <a:t>Libro</a:t>
            </a:r>
            <a:r>
              <a:rPr kumimoji="0" lang="es-MX" altLang="es-MX" sz="1900" b="0" i="0" u="none" strike="noStrike" cap="none" normalizeH="0" baseline="0">
                <a:ln>
                  <a:noFill/>
                </a:ln>
                <a:effectLst/>
                <a:latin typeface="udemy sans"/>
              </a:rPr>
              <a:t>, implementa el método especial </a:t>
            </a:r>
            <a:r>
              <a:rPr kumimoji="0" lang="es-MX" altLang="es-MX" sz="1900" b="0" i="0" u="none" strike="noStrike" cap="none" normalizeH="0" baseline="0">
                <a:ln>
                  <a:noFill/>
                </a:ln>
                <a:effectLst/>
                <a:latin typeface="sfmono-regular"/>
              </a:rPr>
              <a:t>__del__</a:t>
            </a:r>
            <a:r>
              <a:rPr kumimoji="0" lang="es-MX" altLang="es-MX" sz="1900" b="0" i="0" u="none" strike="noStrike" cap="none" normalizeH="0" baseline="0">
                <a:ln>
                  <a:noFill/>
                </a:ln>
                <a:effectLst/>
                <a:latin typeface="udemy sans"/>
              </a:rPr>
              <a:t> para que el usuario sea informado con el mensaje </a:t>
            </a:r>
            <a:r>
              <a:rPr kumimoji="0" lang="es-MX" altLang="es-MX" sz="1900" b="1" i="0" u="none" strike="noStrike" cap="none" normalizeH="0" baseline="0">
                <a:ln>
                  <a:noFill/>
                </a:ln>
                <a:effectLst/>
                <a:latin typeface="udemy sans"/>
              </a:rPr>
              <a:t>"Libro eliminado"</a:t>
            </a:r>
            <a:r>
              <a:rPr kumimoji="0" lang="es-MX" altLang="es-MX" sz="1900" b="0" i="0" u="none" strike="noStrike" cap="none" normalizeH="0" baseline="0">
                <a:ln>
                  <a:noFill/>
                </a:ln>
                <a:effectLst/>
                <a:latin typeface="udemy sans"/>
              </a:rPr>
              <a:t>, </a:t>
            </a:r>
            <a:r>
              <a:rPr kumimoji="0" lang="es-MX" altLang="es-MX" sz="1900" b="1" i="0" u="none" strike="noStrike" cap="none" normalizeH="0" baseline="0">
                <a:ln>
                  <a:noFill/>
                </a:ln>
                <a:effectLst/>
                <a:latin typeface="udemy sans"/>
              </a:rPr>
              <a:t>mostrándolo en pantalla</a:t>
            </a:r>
            <a:r>
              <a:rPr kumimoji="0" lang="es-MX" altLang="es-MX" sz="1900" b="0" i="0" u="none" strike="noStrike" cap="none" normalizeH="0" baseline="0">
                <a:ln>
                  <a:noFill/>
                </a:ln>
                <a:effectLst/>
                <a:latin typeface="udemy sans"/>
              </a:rPr>
              <a:t> cada vez que el libro se elimine</a:t>
            </a:r>
            <a:endParaRPr kumimoji="0" lang="es-MX" altLang="es-MX" sz="1900" b="0" i="0" u="none" strike="noStrike" cap="none" normalizeH="0" baseline="0">
              <a:ln>
                <a:noFill/>
              </a:ln>
              <a:effectLst/>
              <a:latin typeface="Arial" panose="020B0604020202020204" pitchFamily="34" charset="0"/>
            </a:endParaRPr>
          </a:p>
          <a:p>
            <a:pPr marL="0" indent="0">
              <a:buNone/>
            </a:pPr>
            <a:r>
              <a:rPr kumimoji="0" lang="es-MX" altLang="es-MX" sz="1900" b="0" i="0" u="none" strike="noStrike" cap="none" normalizeH="0" baseline="0">
                <a:ln>
                  <a:noFill/>
                </a:ln>
                <a:effectLst/>
              </a:rPr>
              <a:t> </a:t>
            </a:r>
            <a:endParaRPr kumimoji="0" lang="es-MX" altLang="es-MX" sz="1900" b="0" i="0" u="none" strike="noStrike" cap="none" normalizeH="0" baseline="0">
              <a:ln>
                <a:noFill/>
              </a:ln>
              <a:effectLst/>
              <a:latin typeface="Arial" panose="020B0604020202020204" pitchFamily="34" charset="0"/>
            </a:endParaRPr>
          </a:p>
          <a:p>
            <a:pPr marL="0" indent="0">
              <a:buNone/>
            </a:pPr>
            <a:endParaRPr lang="es-MX" sz="1900"/>
          </a:p>
        </p:txBody>
      </p:sp>
      <p:sp>
        <p:nvSpPr>
          <p:cNvPr id="5" name="Marcador de número de diapositiva 4">
            <a:extLst>
              <a:ext uri="{FF2B5EF4-FFF2-40B4-BE49-F238E27FC236}">
                <a16:creationId xmlns:a16="http://schemas.microsoft.com/office/drawing/2014/main" id="{9A71250E-4E49-AC47-02AD-5FED8FD2E7EF}"/>
              </a:ext>
            </a:extLst>
          </p:cNvPr>
          <p:cNvSpPr>
            <a:spLocks noGrp="1"/>
          </p:cNvSpPr>
          <p:nvPr>
            <p:ph type="sldNum" sz="quarter" idx="12"/>
          </p:nvPr>
        </p:nvSpPr>
        <p:spPr>
          <a:xfrm>
            <a:off x="11704320" y="6455664"/>
            <a:ext cx="448056" cy="365125"/>
          </a:xfrm>
        </p:spPr>
        <p:txBody>
          <a:bodyPr>
            <a:normAutofit/>
          </a:bodyPr>
          <a:lstStyle/>
          <a:p>
            <a:pPr>
              <a:spcAft>
                <a:spcPts val="600"/>
              </a:spcAft>
            </a:pPr>
            <a:fld id="{4EA4A3B0-B5DF-4E2B-B48F-E4B7B7872040}" type="slidenum">
              <a:rPr lang="es-MX" sz="1100">
                <a:solidFill>
                  <a:schemeClr val="tx1">
                    <a:lumMod val="50000"/>
                    <a:lumOff val="50000"/>
                  </a:schemeClr>
                </a:solidFill>
              </a:rPr>
              <a:pPr>
                <a:spcAft>
                  <a:spcPts val="600"/>
                </a:spcAft>
              </a:pPr>
              <a:t>177</a:t>
            </a:fld>
            <a:endParaRPr lang="es-MX" sz="1100">
              <a:solidFill>
                <a:schemeClr val="tx1">
                  <a:lumMod val="50000"/>
                  <a:lumOff val="50000"/>
                </a:schemeClr>
              </a:solidFill>
            </a:endParaRPr>
          </a:p>
        </p:txBody>
      </p:sp>
    </p:spTree>
    <p:extLst>
      <p:ext uri="{BB962C8B-B14F-4D97-AF65-F5344CB8AC3E}">
        <p14:creationId xmlns:p14="http://schemas.microsoft.com/office/powerpoint/2010/main" val="1982598751"/>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654CED2-5B99-1C40-A2DA-A30736EF0EC5}"/>
              </a:ext>
            </a:extLst>
          </p:cNvPr>
          <p:cNvPicPr>
            <a:picLocks noChangeAspect="1"/>
          </p:cNvPicPr>
          <p:nvPr/>
        </p:nvPicPr>
        <p:blipFill rotWithShape="1">
          <a:blip r:embed="rId2">
            <a:alphaModFix amt="50000"/>
          </a:blip>
          <a:srcRect t="6814" b="18186"/>
          <a:stretch/>
        </p:blipFill>
        <p:spPr>
          <a:xfrm>
            <a:off x="20" y="1"/>
            <a:ext cx="12191980" cy="6857999"/>
          </a:xfrm>
          <a:prstGeom prst="rect">
            <a:avLst/>
          </a:prstGeom>
        </p:spPr>
      </p:pic>
      <p:sp>
        <p:nvSpPr>
          <p:cNvPr id="2" name="Título 1">
            <a:extLst>
              <a:ext uri="{FF2B5EF4-FFF2-40B4-BE49-F238E27FC236}">
                <a16:creationId xmlns:a16="http://schemas.microsoft.com/office/drawing/2014/main" id="{8F75FB83-C471-AB39-AB0C-44CD22DC4A4F}"/>
              </a:ext>
            </a:extLst>
          </p:cNvPr>
          <p:cNvSpPr>
            <a:spLocks noGrp="1"/>
          </p:cNvSpPr>
          <p:nvPr>
            <p:ph type="ctrTitle"/>
          </p:nvPr>
        </p:nvSpPr>
        <p:spPr>
          <a:xfrm>
            <a:off x="1524000" y="1122362"/>
            <a:ext cx="9144000" cy="2900518"/>
          </a:xfrm>
        </p:spPr>
        <p:txBody>
          <a:bodyPr>
            <a:normAutofit/>
          </a:bodyPr>
          <a:lstStyle/>
          <a:p>
            <a:r>
              <a:rPr lang="es-MX">
                <a:solidFill>
                  <a:srgbClr val="FFFFFF"/>
                </a:solidFill>
              </a:rPr>
              <a:t>Fin clase 7</a:t>
            </a:r>
          </a:p>
        </p:txBody>
      </p:sp>
      <p:sp>
        <p:nvSpPr>
          <p:cNvPr id="3" name="Subtítulo 2">
            <a:extLst>
              <a:ext uri="{FF2B5EF4-FFF2-40B4-BE49-F238E27FC236}">
                <a16:creationId xmlns:a16="http://schemas.microsoft.com/office/drawing/2014/main" id="{711C6015-80CE-6916-F128-2ABA62E3B2D7}"/>
              </a:ext>
            </a:extLst>
          </p:cNvPr>
          <p:cNvSpPr>
            <a:spLocks noGrp="1"/>
          </p:cNvSpPr>
          <p:nvPr>
            <p:ph type="subTitle" idx="1"/>
          </p:nvPr>
        </p:nvSpPr>
        <p:spPr>
          <a:xfrm>
            <a:off x="1524000" y="4159404"/>
            <a:ext cx="9144000" cy="1098395"/>
          </a:xfrm>
        </p:spPr>
        <p:txBody>
          <a:bodyPr>
            <a:normAutofit/>
          </a:bodyPr>
          <a:lstStyle/>
          <a:p>
            <a:endParaRPr lang="es-MX">
              <a:solidFill>
                <a:srgbClr val="FFFFFF"/>
              </a:solidFill>
            </a:endParaRPr>
          </a:p>
        </p:txBody>
      </p:sp>
      <p:sp>
        <p:nvSpPr>
          <p:cNvPr id="4" name="Marcador de pie de página 3">
            <a:extLst>
              <a:ext uri="{FF2B5EF4-FFF2-40B4-BE49-F238E27FC236}">
                <a16:creationId xmlns:a16="http://schemas.microsoft.com/office/drawing/2014/main" id="{046B40D2-EAE5-1604-35F4-F83423E40585}"/>
              </a:ext>
            </a:extLst>
          </p:cNvPr>
          <p:cNvSpPr>
            <a:spLocks noGrp="1"/>
          </p:cNvSpPr>
          <p:nvPr>
            <p:ph type="ftr" sz="quarter" idx="11"/>
          </p:nvPr>
        </p:nvSpPr>
        <p:spPr>
          <a:xfrm>
            <a:off x="4038600" y="6356350"/>
            <a:ext cx="4114800" cy="365125"/>
          </a:xfrm>
        </p:spPr>
        <p:txBody>
          <a:bodyPr>
            <a:normAutofit/>
          </a:bodyPr>
          <a:lstStyle/>
          <a:p>
            <a:pPr>
              <a:spcAft>
                <a:spcPts val="600"/>
              </a:spcAft>
            </a:pPr>
            <a:r>
              <a:rPr lang="es-MX">
                <a:solidFill>
                  <a:srgbClr val="FFFFFF"/>
                </a:solidFill>
              </a:rPr>
              <a:t>Arabots Robotics</a:t>
            </a:r>
          </a:p>
        </p:txBody>
      </p:sp>
      <p:sp>
        <p:nvSpPr>
          <p:cNvPr id="5" name="Marcador de número de diapositiva 4">
            <a:extLst>
              <a:ext uri="{FF2B5EF4-FFF2-40B4-BE49-F238E27FC236}">
                <a16:creationId xmlns:a16="http://schemas.microsoft.com/office/drawing/2014/main" id="{60590753-90CB-273B-1BF6-BDFBC583D228}"/>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a:solidFill>
                  <a:srgbClr val="FFFFFF"/>
                </a:solidFill>
              </a:rPr>
              <a:pPr>
                <a:spcAft>
                  <a:spcPts val="600"/>
                </a:spcAft>
              </a:pPr>
              <a:t>178</a:t>
            </a:fld>
            <a:endParaRPr lang="es-MX">
              <a:solidFill>
                <a:srgbClr val="FFFFFF"/>
              </a:solidFill>
            </a:endParaRPr>
          </a:p>
        </p:txBody>
      </p:sp>
    </p:spTree>
    <p:extLst>
      <p:ext uri="{BB962C8B-B14F-4D97-AF65-F5344CB8AC3E}">
        <p14:creationId xmlns:p14="http://schemas.microsoft.com/office/powerpoint/2010/main" val="3343479667"/>
      </p:ext>
    </p:extLst>
  </p:cSld>
  <p:clrMapOvr>
    <a:overrideClrMapping bg1="dk1" tx1="lt1" bg2="dk2" tx2="lt2" accent1="accent1" accent2="accent2" accent3="accent3" accent4="accent4" accent5="accent5" accent6="accent6" hlink="hlink" folHlink="folHlink"/>
  </p:clrMapOvr>
</p:sld>
</file>

<file path=ppt/slides/slide17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79188D-CF5E-115F-C48B-12A0A0C2A919}"/>
              </a:ext>
            </a:extLst>
          </p:cNvPr>
          <p:cNvSpPr>
            <a:spLocks noGrp="1"/>
          </p:cNvSpPr>
          <p:nvPr>
            <p:ph type="ctrTitle"/>
          </p:nvPr>
        </p:nvSpPr>
        <p:spPr>
          <a:xfrm>
            <a:off x="7464614" y="1783959"/>
            <a:ext cx="4087306" cy="2889114"/>
          </a:xfrm>
        </p:spPr>
        <p:txBody>
          <a:bodyPr anchor="b">
            <a:normAutofit/>
          </a:bodyPr>
          <a:lstStyle/>
          <a:p>
            <a:pPr algn="l"/>
            <a:r>
              <a:rPr lang="es-MX" sz="5400" dirty="0"/>
              <a:t>Clase 8</a:t>
            </a:r>
          </a:p>
        </p:txBody>
      </p:sp>
      <p:sp>
        <p:nvSpPr>
          <p:cNvPr id="3" name="Subtítulo 2">
            <a:extLst>
              <a:ext uri="{FF2B5EF4-FFF2-40B4-BE49-F238E27FC236}">
                <a16:creationId xmlns:a16="http://schemas.microsoft.com/office/drawing/2014/main" id="{D33512B0-9BD1-1AD1-2C63-98891272534D}"/>
              </a:ext>
            </a:extLst>
          </p:cNvPr>
          <p:cNvSpPr>
            <a:spLocks noGrp="1"/>
          </p:cNvSpPr>
          <p:nvPr>
            <p:ph type="subTitle" idx="1"/>
          </p:nvPr>
        </p:nvSpPr>
        <p:spPr>
          <a:xfrm>
            <a:off x="7464612" y="4750893"/>
            <a:ext cx="4087305" cy="1147863"/>
          </a:xfrm>
        </p:spPr>
        <p:txBody>
          <a:bodyPr anchor="t">
            <a:normAutofit/>
          </a:bodyPr>
          <a:lstStyle/>
          <a:p>
            <a:pPr algn="l"/>
            <a:endParaRPr lang="es-MX" sz="2000"/>
          </a:p>
        </p:txBody>
      </p:sp>
      <p:sp>
        <p:nvSpPr>
          <p:cNvPr id="11" name="Freeform: Shape 10">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3E5E9376-AC87-67AE-A60A-BE6CF5B2B39E}"/>
              </a:ext>
            </a:extLst>
          </p:cNvPr>
          <p:cNvPicPr>
            <a:picLocks noChangeAspect="1"/>
          </p:cNvPicPr>
          <p:nvPr/>
        </p:nvPicPr>
        <p:blipFill rotWithShape="1">
          <a:blip r:embed="rId2"/>
          <a:srcRect l="18354" r="9393"/>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
        <p:nvSpPr>
          <p:cNvPr id="5" name="Marcador de número de diapositiva 4">
            <a:extLst>
              <a:ext uri="{FF2B5EF4-FFF2-40B4-BE49-F238E27FC236}">
                <a16:creationId xmlns:a16="http://schemas.microsoft.com/office/drawing/2014/main" id="{26BA7A69-0DD2-E40F-936C-45F2635E961E}"/>
              </a:ext>
            </a:extLst>
          </p:cNvPr>
          <p:cNvSpPr>
            <a:spLocks noGrp="1"/>
          </p:cNvSpPr>
          <p:nvPr>
            <p:ph type="sldNum" sz="quarter" idx="12"/>
          </p:nvPr>
        </p:nvSpPr>
        <p:spPr>
          <a:xfrm>
            <a:off x="11003280" y="603504"/>
            <a:ext cx="548640" cy="548640"/>
          </a:xfrm>
          <a:prstGeom prst="ellipse">
            <a:avLst/>
          </a:prstGeom>
          <a:solidFill>
            <a:srgbClr val="7F7F7F"/>
          </a:solidFill>
        </p:spPr>
        <p:txBody>
          <a:bodyPr anchor="ctr">
            <a:normAutofit fontScale="77500" lnSpcReduction="20000"/>
          </a:bodyPr>
          <a:lstStyle/>
          <a:p>
            <a:pPr algn="ctr">
              <a:spcAft>
                <a:spcPts val="600"/>
              </a:spcAft>
            </a:pPr>
            <a:fld id="{4EA4A3B0-B5DF-4E2B-B48F-E4B7B7872040}" type="slidenum">
              <a:rPr lang="es-MX" sz="1500">
                <a:solidFill>
                  <a:srgbClr val="FFFFFF"/>
                </a:solidFill>
              </a:rPr>
              <a:pPr algn="ctr">
                <a:spcAft>
                  <a:spcPts val="600"/>
                </a:spcAft>
              </a:pPr>
              <a:t>179</a:t>
            </a:fld>
            <a:endParaRPr lang="es-MX" sz="1500">
              <a:solidFill>
                <a:srgbClr val="FFFFFF"/>
              </a:solidFill>
            </a:endParaRPr>
          </a:p>
        </p:txBody>
      </p:sp>
      <p:sp>
        <p:nvSpPr>
          <p:cNvPr id="4" name="Marcador de pie de página 3">
            <a:extLst>
              <a:ext uri="{FF2B5EF4-FFF2-40B4-BE49-F238E27FC236}">
                <a16:creationId xmlns:a16="http://schemas.microsoft.com/office/drawing/2014/main" id="{57F75062-D694-C3F3-2177-B5F7D70041A5}"/>
              </a:ext>
            </a:extLst>
          </p:cNvPr>
          <p:cNvSpPr>
            <a:spLocks noGrp="1"/>
          </p:cNvSpPr>
          <p:nvPr>
            <p:ph type="ftr" sz="quarter" idx="11"/>
          </p:nvPr>
        </p:nvSpPr>
        <p:spPr>
          <a:xfrm>
            <a:off x="7464612" y="6199631"/>
            <a:ext cx="4087304" cy="365760"/>
          </a:xfrm>
        </p:spPr>
        <p:txBody>
          <a:bodyPr>
            <a:normAutofit/>
          </a:bodyPr>
          <a:lstStyle/>
          <a:p>
            <a:pPr algn="l">
              <a:spcAft>
                <a:spcPts val="600"/>
              </a:spcAft>
            </a:pPr>
            <a:r>
              <a:rPr lang="es-MX" sz="1100">
                <a:solidFill>
                  <a:schemeClr val="tx1">
                    <a:alpha val="80000"/>
                  </a:schemeClr>
                </a:solidFill>
              </a:rPr>
              <a:t>Arabots Robotics</a:t>
            </a:r>
          </a:p>
        </p:txBody>
      </p:sp>
    </p:spTree>
    <p:extLst>
      <p:ext uri="{BB962C8B-B14F-4D97-AF65-F5344CB8AC3E}">
        <p14:creationId xmlns:p14="http://schemas.microsoft.com/office/powerpoint/2010/main" val="1870144708"/>
      </p:ext>
    </p:extLst>
  </p:cSld>
  <p:clrMapOvr>
    <a:overrideClrMapping bg1="dk1" tx1="lt1" bg2="dk2" tx2="lt2" accent1="accent1" accent2="accent2" accent3="accent3" accent4="accent4" accent5="accent5" accent6="accent6" hlink="hlink" folHlink="folHlink"/>
  </p:clrMapOvr>
</p:sld>
</file>

<file path=ppt/slides/slide18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DB91C6-A696-C8FF-0FA3-C3391DCCE215}"/>
              </a:ext>
            </a:extLst>
          </p:cNvPr>
          <p:cNvSpPr>
            <a:spLocks noGrp="1"/>
          </p:cNvSpPr>
          <p:nvPr>
            <p:ph type="title"/>
          </p:nvPr>
        </p:nvSpPr>
        <p:spPr>
          <a:xfrm>
            <a:off x="804673" y="1445494"/>
            <a:ext cx="3616856" cy="4376572"/>
          </a:xfrm>
        </p:spPr>
        <p:txBody>
          <a:bodyPr anchor="ctr">
            <a:normAutofit/>
          </a:bodyPr>
          <a:lstStyle/>
          <a:p>
            <a:r>
              <a:rPr lang="es-MX" sz="4800"/>
              <a:t>Clase 8</a:t>
            </a:r>
            <a:br>
              <a:rPr lang="es-MX" sz="4800"/>
            </a:br>
            <a:r>
              <a:rPr lang="es-MX" sz="4800"/>
              <a:t>Instalar paquetes </a:t>
            </a:r>
          </a:p>
        </p:txBody>
      </p:sp>
      <p:sp>
        <p:nvSpPr>
          <p:cNvPr id="5" name="Marcador de número de diapositiva 4">
            <a:extLst>
              <a:ext uri="{FF2B5EF4-FFF2-40B4-BE49-F238E27FC236}">
                <a16:creationId xmlns:a16="http://schemas.microsoft.com/office/drawing/2014/main" id="{C6AA9931-1323-DD10-F7FE-9C0383AD5CD6}"/>
              </a:ext>
            </a:extLst>
          </p:cNvPr>
          <p:cNvSpPr>
            <a:spLocks noGrp="1"/>
          </p:cNvSpPr>
          <p:nvPr>
            <p:ph type="sldNum" sz="quarter" idx="12"/>
          </p:nvPr>
        </p:nvSpPr>
        <p:spPr>
          <a:xfrm>
            <a:off x="804672" y="603504"/>
            <a:ext cx="548640" cy="548640"/>
          </a:xfrm>
          <a:prstGeom prst="ellipse">
            <a:avLst/>
          </a:prstGeom>
          <a:solidFill>
            <a:srgbClr val="808080"/>
          </a:solidFill>
        </p:spPr>
        <p:txBody>
          <a:bodyPr>
            <a:normAutofit fontScale="77500" lnSpcReduction="20000"/>
          </a:bodyPr>
          <a:lstStyle/>
          <a:p>
            <a:pPr algn="ctr">
              <a:spcAft>
                <a:spcPts val="600"/>
              </a:spcAft>
            </a:pPr>
            <a:fld id="{4EA4A3B0-B5DF-4E2B-B48F-E4B7B7872040}" type="slidenum">
              <a:rPr lang="es-MX" sz="1500">
                <a:solidFill>
                  <a:srgbClr val="FFFFFF"/>
                </a:solidFill>
              </a:rPr>
              <a:pPr algn="ctr">
                <a:spcAft>
                  <a:spcPts val="600"/>
                </a:spcAft>
              </a:pPr>
              <a:t>180</a:t>
            </a:fld>
            <a:endParaRPr lang="es-MX" sz="1500">
              <a:solidFill>
                <a:srgbClr val="FFFFFF"/>
              </a:solidFill>
            </a:endParaRPr>
          </a:p>
        </p:txBody>
      </p:sp>
      <p:sp>
        <p:nvSpPr>
          <p:cNvPr id="10" name="Freeform: Shape 9">
            <a:extLst>
              <a:ext uri="{FF2B5EF4-FFF2-40B4-BE49-F238E27FC236}">
                <a16:creationId xmlns:a16="http://schemas.microsoft.com/office/drawing/2014/main" id="{DFF2AC85-FAA0-4844-813F-83C04D738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7636" y="0"/>
            <a:ext cx="7281316" cy="6858000"/>
          </a:xfrm>
          <a:custGeom>
            <a:avLst/>
            <a:gdLst>
              <a:gd name="connsiteX0" fmla="*/ 361354 w 7281316"/>
              <a:gd name="connsiteY0" fmla="*/ 0 h 6858000"/>
              <a:gd name="connsiteX1" fmla="*/ 7281316 w 7281316"/>
              <a:gd name="connsiteY1" fmla="*/ 0 h 6858000"/>
              <a:gd name="connsiteX2" fmla="*/ 7281316 w 7281316"/>
              <a:gd name="connsiteY2" fmla="*/ 6858000 h 6858000"/>
              <a:gd name="connsiteX3" fmla="*/ 696735 w 7281316"/>
              <a:gd name="connsiteY3" fmla="*/ 6858000 h 6858000"/>
              <a:gd name="connsiteX4" fmla="*/ 690849 w 7281316"/>
              <a:gd name="connsiteY4" fmla="*/ 6842426 h 6858000"/>
              <a:gd name="connsiteX5" fmla="*/ 335637 w 7281316"/>
              <a:gd name="connsiteY5" fmla="*/ 947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1316" h="6858000">
                <a:moveTo>
                  <a:pt x="361354" y="0"/>
                </a:moveTo>
                <a:lnTo>
                  <a:pt x="7281316" y="0"/>
                </a:lnTo>
                <a:lnTo>
                  <a:pt x="7281316" y="6858000"/>
                </a:lnTo>
                <a:lnTo>
                  <a:pt x="696735" y="6858000"/>
                </a:lnTo>
                <a:lnTo>
                  <a:pt x="690849" y="6842426"/>
                </a:lnTo>
                <a:cubicBezTo>
                  <a:pt x="-65870" y="4704140"/>
                  <a:pt x="-226206" y="2374054"/>
                  <a:pt x="335637" y="9472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89CC0F1E-BAA2-47B1-8F83-7ECB9FD9E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89558" y="0"/>
            <a:ext cx="6999394" cy="6858000"/>
          </a:xfrm>
          <a:custGeom>
            <a:avLst/>
            <a:gdLst>
              <a:gd name="connsiteX0" fmla="*/ 6999394 w 6999394"/>
              <a:gd name="connsiteY0" fmla="*/ 0 h 6858000"/>
              <a:gd name="connsiteX1" fmla="*/ 6999394 w 6999394"/>
              <a:gd name="connsiteY1" fmla="*/ 6858000 h 6858000"/>
              <a:gd name="connsiteX2" fmla="*/ 717029 w 6999394"/>
              <a:gd name="connsiteY2" fmla="*/ 6858000 h 6858000"/>
              <a:gd name="connsiteX3" fmla="*/ 623642 w 6999394"/>
              <a:gd name="connsiteY3" fmla="*/ 6599363 h 6858000"/>
              <a:gd name="connsiteX4" fmla="*/ 319533 w 6999394"/>
              <a:gd name="connsiteY4" fmla="*/ 193787 h 6858000"/>
              <a:gd name="connsiteX5" fmla="*/ 371685 w 6999394"/>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9394" h="6858000">
                <a:moveTo>
                  <a:pt x="6999394" y="0"/>
                </a:moveTo>
                <a:lnTo>
                  <a:pt x="6999394" y="6858000"/>
                </a:lnTo>
                <a:lnTo>
                  <a:pt x="717029" y="6858000"/>
                </a:lnTo>
                <a:lnTo>
                  <a:pt x="623642" y="6599363"/>
                </a:lnTo>
                <a:cubicBezTo>
                  <a:pt x="-67685" y="4563346"/>
                  <a:pt x="-206622" y="2355719"/>
                  <a:pt x="319533" y="193787"/>
                </a:cubicBezTo>
                <a:lnTo>
                  <a:pt x="371685" y="1"/>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5BEC6BE-4241-265D-E71F-CC6B000F7E9B}"/>
              </a:ext>
            </a:extLst>
          </p:cNvPr>
          <p:cNvSpPr>
            <a:spLocks noGrp="1"/>
          </p:cNvSpPr>
          <p:nvPr>
            <p:ph idx="1"/>
          </p:nvPr>
        </p:nvSpPr>
        <p:spPr>
          <a:xfrm>
            <a:off x="6096000" y="1399032"/>
            <a:ext cx="5501834" cy="4471416"/>
          </a:xfrm>
        </p:spPr>
        <p:txBody>
          <a:bodyPr anchor="ctr">
            <a:normAutofit/>
          </a:bodyPr>
          <a:lstStyle/>
          <a:p>
            <a:pPr marL="0" indent="0">
              <a:buNone/>
            </a:pPr>
            <a:r>
              <a:rPr lang="es-MX" sz="1700" dirty="0">
                <a:solidFill>
                  <a:schemeClr val="bg1"/>
                </a:solidFill>
              </a:rPr>
              <a:t>Una de las grandes ventajas de Python como lenguaje de programación, es que cuenta con un amplia comunidad activa, que desarrolla paquetes que añaden muchas más funcionalidades.</a:t>
            </a:r>
          </a:p>
          <a:p>
            <a:pPr marL="0" indent="0">
              <a:buNone/>
            </a:pPr>
            <a:r>
              <a:rPr lang="es-MX" sz="1700" dirty="0" err="1">
                <a:solidFill>
                  <a:schemeClr val="bg1"/>
                </a:solidFill>
              </a:rPr>
              <a:t>PyPi</a:t>
            </a:r>
            <a:r>
              <a:rPr lang="es-MX" sz="1700" dirty="0">
                <a:solidFill>
                  <a:schemeClr val="bg1"/>
                </a:solidFill>
              </a:rPr>
              <a:t> (Python </a:t>
            </a:r>
            <a:r>
              <a:rPr lang="es-MX" sz="1700" dirty="0" err="1">
                <a:solidFill>
                  <a:schemeClr val="bg1"/>
                </a:solidFill>
              </a:rPr>
              <a:t>Package</a:t>
            </a:r>
            <a:r>
              <a:rPr lang="es-MX" sz="1700" dirty="0">
                <a:solidFill>
                  <a:schemeClr val="bg1"/>
                </a:solidFill>
              </a:rPr>
              <a:t> </a:t>
            </a:r>
            <a:r>
              <a:rPr lang="es-MX" sz="1700" dirty="0" err="1">
                <a:solidFill>
                  <a:schemeClr val="bg1"/>
                </a:solidFill>
              </a:rPr>
              <a:t>Index</a:t>
            </a:r>
            <a:r>
              <a:rPr lang="es-MX" sz="1700" dirty="0">
                <a:solidFill>
                  <a:schemeClr val="bg1"/>
                </a:solidFill>
              </a:rPr>
              <a:t>) es el repositorio de referencia para hallar paquetes desarrollados por la comunidad.</a:t>
            </a:r>
          </a:p>
          <a:p>
            <a:pPr marL="0" indent="0">
              <a:buNone/>
            </a:pPr>
            <a:endParaRPr lang="es-MX" sz="1700" dirty="0">
              <a:solidFill>
                <a:schemeClr val="bg1"/>
              </a:solidFill>
            </a:endParaRPr>
          </a:p>
          <a:p>
            <a:pPr marL="0" indent="0">
              <a:buNone/>
            </a:pPr>
            <a:r>
              <a:rPr lang="es-MX" sz="1700" dirty="0">
                <a:solidFill>
                  <a:schemeClr val="bg1"/>
                </a:solidFill>
              </a:rPr>
              <a:t>Si ya conoces el nombre del módulo que quieres instalar, puedes obtenerlo de </a:t>
            </a:r>
            <a:r>
              <a:rPr lang="es-MX" sz="1700" dirty="0" err="1">
                <a:solidFill>
                  <a:schemeClr val="bg1"/>
                </a:solidFill>
              </a:rPr>
              <a:t>PyPi</a:t>
            </a:r>
            <a:r>
              <a:rPr lang="es-MX" sz="1700" dirty="0">
                <a:solidFill>
                  <a:schemeClr val="bg1"/>
                </a:solidFill>
              </a:rPr>
              <a:t> directamente desde la consola:</a:t>
            </a:r>
          </a:p>
          <a:p>
            <a:pPr marL="0" indent="0">
              <a:buNone/>
            </a:pPr>
            <a:r>
              <a:rPr lang="es-MX" sz="1700" dirty="0" err="1">
                <a:solidFill>
                  <a:schemeClr val="bg1"/>
                </a:solidFill>
              </a:rPr>
              <a:t>pip</a:t>
            </a:r>
            <a:r>
              <a:rPr lang="es-MX" sz="1700" dirty="0">
                <a:solidFill>
                  <a:schemeClr val="bg1"/>
                </a:solidFill>
              </a:rPr>
              <a:t> </a:t>
            </a:r>
            <a:r>
              <a:rPr lang="es-MX" sz="1700" dirty="0" err="1">
                <a:solidFill>
                  <a:schemeClr val="bg1"/>
                </a:solidFill>
              </a:rPr>
              <a:t>install</a:t>
            </a:r>
            <a:r>
              <a:rPr lang="es-MX" sz="1700" dirty="0">
                <a:solidFill>
                  <a:schemeClr val="bg1"/>
                </a:solidFill>
              </a:rPr>
              <a:t> </a:t>
            </a:r>
          </a:p>
          <a:p>
            <a:pPr marL="0" indent="0">
              <a:buNone/>
            </a:pPr>
            <a:r>
              <a:rPr lang="es-MX" sz="1700" dirty="0">
                <a:solidFill>
                  <a:schemeClr val="bg1"/>
                </a:solidFill>
              </a:rPr>
              <a:t>También podrás actualizar los módulos que ya tengas instalados añadiendo --</a:t>
            </a:r>
            <a:r>
              <a:rPr lang="es-MX" sz="1700" dirty="0" err="1">
                <a:solidFill>
                  <a:schemeClr val="bg1"/>
                </a:solidFill>
              </a:rPr>
              <a:t>upgrade</a:t>
            </a:r>
            <a:r>
              <a:rPr lang="es-MX" sz="1700" dirty="0">
                <a:solidFill>
                  <a:schemeClr val="bg1"/>
                </a:solidFill>
              </a:rPr>
              <a:t> luego del nombre del paquete:</a:t>
            </a:r>
          </a:p>
          <a:p>
            <a:pPr marL="0" indent="0">
              <a:buNone/>
            </a:pPr>
            <a:r>
              <a:rPr lang="es-MX" sz="1700" dirty="0" err="1">
                <a:solidFill>
                  <a:schemeClr val="bg1"/>
                </a:solidFill>
              </a:rPr>
              <a:t>pip</a:t>
            </a:r>
            <a:r>
              <a:rPr lang="es-MX" sz="1700" dirty="0">
                <a:solidFill>
                  <a:schemeClr val="bg1"/>
                </a:solidFill>
              </a:rPr>
              <a:t> </a:t>
            </a:r>
            <a:r>
              <a:rPr lang="es-MX" sz="1700" dirty="0" err="1">
                <a:solidFill>
                  <a:schemeClr val="bg1"/>
                </a:solidFill>
              </a:rPr>
              <a:t>install</a:t>
            </a:r>
            <a:r>
              <a:rPr lang="es-MX" sz="1700" dirty="0">
                <a:solidFill>
                  <a:schemeClr val="bg1"/>
                </a:solidFill>
              </a:rPr>
              <a:t> --</a:t>
            </a:r>
            <a:r>
              <a:rPr lang="es-MX" sz="1700" dirty="0" err="1">
                <a:solidFill>
                  <a:schemeClr val="bg1"/>
                </a:solidFill>
              </a:rPr>
              <a:t>upgrade</a:t>
            </a:r>
            <a:endParaRPr lang="es-MX" sz="1700" dirty="0">
              <a:solidFill>
                <a:schemeClr val="bg1"/>
              </a:solidFill>
            </a:endParaRPr>
          </a:p>
        </p:txBody>
      </p:sp>
      <p:sp>
        <p:nvSpPr>
          <p:cNvPr id="4" name="Marcador de pie de página 3">
            <a:extLst>
              <a:ext uri="{FF2B5EF4-FFF2-40B4-BE49-F238E27FC236}">
                <a16:creationId xmlns:a16="http://schemas.microsoft.com/office/drawing/2014/main" id="{5474F429-0EDD-04BE-7057-35AF97A23866}"/>
              </a:ext>
            </a:extLst>
          </p:cNvPr>
          <p:cNvSpPr>
            <a:spLocks noGrp="1"/>
          </p:cNvSpPr>
          <p:nvPr>
            <p:ph type="ftr" sz="quarter" idx="11"/>
          </p:nvPr>
        </p:nvSpPr>
        <p:spPr>
          <a:xfrm>
            <a:off x="804670" y="6199632"/>
            <a:ext cx="5010912" cy="365125"/>
          </a:xfrm>
        </p:spPr>
        <p:txBody>
          <a:bodyPr>
            <a:normAutofit/>
          </a:bodyPr>
          <a:lstStyle/>
          <a:p>
            <a:pPr algn="l">
              <a:spcAft>
                <a:spcPts val="600"/>
              </a:spcAft>
            </a:pPr>
            <a:r>
              <a:rPr lang="es-MX">
                <a:solidFill>
                  <a:schemeClr val="tx1">
                    <a:alpha val="80000"/>
                  </a:schemeClr>
                </a:solidFill>
              </a:rPr>
              <a:t>Arabots Robotics</a:t>
            </a:r>
          </a:p>
        </p:txBody>
      </p:sp>
    </p:spTree>
    <p:extLst>
      <p:ext uri="{BB962C8B-B14F-4D97-AF65-F5344CB8AC3E}">
        <p14:creationId xmlns:p14="http://schemas.microsoft.com/office/powerpoint/2010/main" val="646734940"/>
      </p:ext>
    </p:extLst>
  </p:cSld>
  <p:clrMapOvr>
    <a:overrideClrMapping bg1="dk1" tx1="lt1" bg2="dk2" tx2="lt2" accent1="accent1" accent2="accent2" accent3="accent3" accent4="accent4" accent5="accent5" accent6="accent6" hlink="hlink" folHlink="folHlink"/>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10D12-A858-B76E-9944-B06A487BCAEA}"/>
              </a:ext>
            </a:extLst>
          </p:cNvPr>
          <p:cNvSpPr>
            <a:spLocks noGrp="1"/>
          </p:cNvSpPr>
          <p:nvPr>
            <p:ph type="title"/>
          </p:nvPr>
        </p:nvSpPr>
        <p:spPr>
          <a:xfrm>
            <a:off x="6653600" y="1396289"/>
            <a:ext cx="5006336" cy="1325563"/>
          </a:xfrm>
        </p:spPr>
        <p:txBody>
          <a:bodyPr>
            <a:normAutofit/>
          </a:bodyPr>
          <a:lstStyle/>
          <a:p>
            <a:r>
              <a:rPr lang="es-MX" dirty="0"/>
              <a:t>Módulos y Paquetes </a:t>
            </a:r>
          </a:p>
        </p:txBody>
      </p:sp>
      <p:sp>
        <p:nvSpPr>
          <p:cNvPr id="12" name="Freeform: Shape 11">
            <a:extLst>
              <a:ext uri="{FF2B5EF4-FFF2-40B4-BE49-F238E27FC236}">
                <a16:creationId xmlns:a16="http://schemas.microsoft.com/office/drawing/2014/main" id="{4F74D28C-3268-4E35-8EE1-D92CB4A85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58D44E42-C462-4105-BC86-FE75B4E3C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024154" cy="6858000"/>
          </a:xfrm>
          <a:custGeom>
            <a:avLst/>
            <a:gdLst>
              <a:gd name="connsiteX0" fmla="*/ 70374 w 6024154"/>
              <a:gd name="connsiteY0" fmla="*/ 0 h 6858000"/>
              <a:gd name="connsiteX1" fmla="*/ 6024154 w 6024154"/>
              <a:gd name="connsiteY1" fmla="*/ 0 h 6858000"/>
              <a:gd name="connsiteX2" fmla="*/ 6024154 w 6024154"/>
              <a:gd name="connsiteY2" fmla="*/ 6858000 h 6858000"/>
              <a:gd name="connsiteX3" fmla="*/ 3587167 w 6024154"/>
              <a:gd name="connsiteY3" fmla="*/ 6858000 h 6858000"/>
              <a:gd name="connsiteX4" fmla="*/ 3474220 w 6024154"/>
              <a:gd name="connsiteY4" fmla="*/ 6800152 h 6858000"/>
              <a:gd name="connsiteX5" fmla="*/ 0 w 6024154"/>
              <a:gd name="connsiteY5" fmla="*/ 962844 h 6858000"/>
              <a:gd name="connsiteX6" fmla="*/ 34274 w 6024154"/>
              <a:gd name="connsiteY6" fmla="*/ 2840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70374" y="0"/>
                </a:moveTo>
                <a:lnTo>
                  <a:pt x="6024154" y="0"/>
                </a:lnTo>
                <a:lnTo>
                  <a:pt x="6024154" y="6858000"/>
                </a:lnTo>
                <a:lnTo>
                  <a:pt x="3587167" y="6858000"/>
                </a:lnTo>
                <a:lnTo>
                  <a:pt x="3474220" y="6800152"/>
                </a:lnTo>
                <a:cubicBezTo>
                  <a:pt x="1404818" y="5675986"/>
                  <a:pt x="0" y="3483472"/>
                  <a:pt x="0" y="962844"/>
                </a:cubicBezTo>
                <a:cubicBezTo>
                  <a:pt x="0" y="733696"/>
                  <a:pt x="11610" y="507260"/>
                  <a:pt x="34274" y="284091"/>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Imagen 6">
            <a:extLst>
              <a:ext uri="{FF2B5EF4-FFF2-40B4-BE49-F238E27FC236}">
                <a16:creationId xmlns:a16="http://schemas.microsoft.com/office/drawing/2014/main" id="{C31A991B-9642-4A30-B427-DFD8FA4721F5}"/>
              </a:ext>
            </a:extLst>
          </p:cNvPr>
          <p:cNvPicPr>
            <a:picLocks noChangeAspect="1"/>
          </p:cNvPicPr>
          <p:nvPr/>
        </p:nvPicPr>
        <p:blipFill>
          <a:blip r:embed="rId2"/>
          <a:stretch>
            <a:fillRect/>
          </a:stretch>
        </p:blipFill>
        <p:spPr>
          <a:xfrm>
            <a:off x="802650" y="286808"/>
            <a:ext cx="3228456" cy="4818592"/>
          </a:xfrm>
          <a:prstGeom prst="rect">
            <a:avLst/>
          </a:prstGeom>
        </p:spPr>
      </p:pic>
      <p:sp>
        <p:nvSpPr>
          <p:cNvPr id="5" name="Marcador de número de diapositiva 4">
            <a:extLst>
              <a:ext uri="{FF2B5EF4-FFF2-40B4-BE49-F238E27FC236}">
                <a16:creationId xmlns:a16="http://schemas.microsoft.com/office/drawing/2014/main" id="{4ECCE1D0-C8E1-19CA-369C-0633CA4C5609}"/>
              </a:ext>
            </a:extLst>
          </p:cNvPr>
          <p:cNvSpPr>
            <a:spLocks noGrp="1"/>
          </p:cNvSpPr>
          <p:nvPr>
            <p:ph type="sldNum" sz="quarter" idx="12"/>
          </p:nvPr>
        </p:nvSpPr>
        <p:spPr>
          <a:xfrm>
            <a:off x="11000232" y="599325"/>
            <a:ext cx="548640" cy="548640"/>
          </a:xfrm>
          <a:prstGeom prst="ellipse">
            <a:avLst/>
          </a:prstGeom>
          <a:solidFill>
            <a:srgbClr val="306098"/>
          </a:solidFill>
        </p:spPr>
        <p:txBody>
          <a:bodyPr anchor="ctr">
            <a:normAutofit fontScale="77500" lnSpcReduction="20000"/>
          </a:bodyPr>
          <a:lstStyle/>
          <a:p>
            <a:pPr algn="ctr">
              <a:spcAft>
                <a:spcPts val="600"/>
              </a:spcAft>
            </a:pPr>
            <a:fld id="{4EA4A3B0-B5DF-4E2B-B48F-E4B7B7872040}" type="slidenum">
              <a:rPr lang="es-MX" sz="1500">
                <a:solidFill>
                  <a:srgbClr val="FFFFFF"/>
                </a:solidFill>
              </a:rPr>
              <a:pPr algn="ctr">
                <a:spcAft>
                  <a:spcPts val="600"/>
                </a:spcAft>
              </a:pPr>
              <a:t>181</a:t>
            </a:fld>
            <a:endParaRPr lang="es-MX" sz="1500">
              <a:solidFill>
                <a:srgbClr val="FFFFFF"/>
              </a:solidFill>
            </a:endParaRPr>
          </a:p>
        </p:txBody>
      </p:sp>
      <p:sp>
        <p:nvSpPr>
          <p:cNvPr id="3" name="Marcador de contenido 2">
            <a:extLst>
              <a:ext uri="{FF2B5EF4-FFF2-40B4-BE49-F238E27FC236}">
                <a16:creationId xmlns:a16="http://schemas.microsoft.com/office/drawing/2014/main" id="{3184D204-86BA-2B84-4F85-D462C1806515}"/>
              </a:ext>
            </a:extLst>
          </p:cNvPr>
          <p:cNvSpPr>
            <a:spLocks noGrp="1"/>
          </p:cNvSpPr>
          <p:nvPr>
            <p:ph idx="1"/>
          </p:nvPr>
        </p:nvSpPr>
        <p:spPr>
          <a:xfrm>
            <a:off x="6658044" y="2871982"/>
            <a:ext cx="5006336" cy="3181684"/>
          </a:xfrm>
        </p:spPr>
        <p:txBody>
          <a:bodyPr anchor="t">
            <a:normAutofit/>
          </a:bodyPr>
          <a:lstStyle/>
          <a:p>
            <a:pPr marL="0" indent="0">
              <a:buNone/>
            </a:pPr>
            <a:r>
              <a:rPr lang="es-MX" sz="1100"/>
              <a:t>Los módulos no son más que archivos .py, que almacenan funciones, variables y clases, y pueden ser importado por otros. Los paquetes agrupan estos módulos en carpetas, de los cuales uno debe ser __init__.py</a:t>
            </a:r>
          </a:p>
          <a:p>
            <a:pPr marL="0" indent="0">
              <a:buNone/>
            </a:pPr>
            <a:r>
              <a:rPr lang="es-MX" sz="1100"/>
              <a:t>Importar un módulo</a:t>
            </a:r>
          </a:p>
          <a:p>
            <a:pPr marL="0" indent="0">
              <a:buNone/>
            </a:pPr>
            <a:r>
              <a:rPr lang="es-MX" sz="1100"/>
              <a:t>import modulo1</a:t>
            </a:r>
          </a:p>
          <a:p>
            <a:pPr marL="0" indent="0">
              <a:buNone/>
            </a:pPr>
            <a:r>
              <a:rPr lang="es-MX" sz="1100"/>
              <a:t>Importar una función del módulo</a:t>
            </a:r>
          </a:p>
          <a:p>
            <a:pPr marL="0" indent="0">
              <a:buNone/>
            </a:pPr>
            <a:r>
              <a:rPr lang="es-MX" sz="1100"/>
              <a:t>from modulo1 import función</a:t>
            </a:r>
          </a:p>
          <a:p>
            <a:pPr marL="0" indent="0">
              <a:buNone/>
            </a:pPr>
            <a:r>
              <a:rPr lang="es-MX" sz="1100"/>
              <a:t>Ejecutar desde la consola</a:t>
            </a:r>
          </a:p>
          <a:p>
            <a:pPr marL="0" indent="0">
              <a:buNone/>
            </a:pPr>
            <a:r>
              <a:rPr lang="es-MX" sz="1100"/>
              <a:t>ruta&gt; python modulo1.py</a:t>
            </a:r>
          </a:p>
          <a:p>
            <a:pPr marL="0" indent="0">
              <a:buNone/>
            </a:pPr>
            <a:r>
              <a:rPr lang="es-MX" sz="1100"/>
              <a:t>Importar un módulo de un (sub) paquete</a:t>
            </a:r>
          </a:p>
          <a:p>
            <a:pPr marL="0" indent="0">
              <a:buNone/>
            </a:pPr>
            <a:r>
              <a:rPr lang="pt-BR" sz="1100"/>
              <a:t>from paquete.subpaquete import modulo3</a:t>
            </a:r>
            <a:endParaRPr lang="es-MX" sz="1100"/>
          </a:p>
        </p:txBody>
      </p:sp>
      <p:sp>
        <p:nvSpPr>
          <p:cNvPr id="4" name="Marcador de pie de página 3">
            <a:extLst>
              <a:ext uri="{FF2B5EF4-FFF2-40B4-BE49-F238E27FC236}">
                <a16:creationId xmlns:a16="http://schemas.microsoft.com/office/drawing/2014/main" id="{3ED0A0E9-B14F-8010-E9E9-5DD91CF15D78}"/>
              </a:ext>
            </a:extLst>
          </p:cNvPr>
          <p:cNvSpPr>
            <a:spLocks noGrp="1"/>
          </p:cNvSpPr>
          <p:nvPr>
            <p:ph type="ftr" sz="quarter" idx="11"/>
          </p:nvPr>
        </p:nvSpPr>
        <p:spPr>
          <a:xfrm>
            <a:off x="6657173" y="6199632"/>
            <a:ext cx="5006336" cy="365125"/>
          </a:xfrm>
        </p:spPr>
        <p:txBody>
          <a:bodyPr>
            <a:normAutofit/>
          </a:bodyPr>
          <a:lstStyle/>
          <a:p>
            <a:pPr algn="l">
              <a:spcAft>
                <a:spcPts val="600"/>
              </a:spcAft>
            </a:pPr>
            <a:r>
              <a:rPr lang="es-MX" sz="1100">
                <a:solidFill>
                  <a:schemeClr val="tx1">
                    <a:alpha val="80000"/>
                  </a:schemeClr>
                </a:solidFill>
              </a:rPr>
              <a:t>Arabots Robotics</a:t>
            </a:r>
          </a:p>
        </p:txBody>
      </p:sp>
    </p:spTree>
    <p:extLst>
      <p:ext uri="{BB962C8B-B14F-4D97-AF65-F5344CB8AC3E}">
        <p14:creationId xmlns:p14="http://schemas.microsoft.com/office/powerpoint/2010/main" val="3240390572"/>
      </p:ext>
    </p:extLst>
  </p:cSld>
  <p:clrMapOvr>
    <a:overrideClrMapping bg1="dk1" tx1="lt1" bg2="dk2" tx2="lt2" accent1="accent1" accent2="accent2" accent3="accent3" accent4="accent4" accent5="accent5" accent6="accent6" hlink="hlink" folHlink="folHlink"/>
  </p:clrMapOvr>
</p:sld>
</file>

<file path=ppt/slides/slide18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3CDB7751-E8C6-DB3A-B5CE-8EA1CED226C3}"/>
              </a:ext>
            </a:extLst>
          </p:cNvPr>
          <p:cNvSpPr>
            <a:spLocks noGrp="1"/>
          </p:cNvSpPr>
          <p:nvPr>
            <p:ph type="title"/>
          </p:nvPr>
        </p:nvSpPr>
        <p:spPr>
          <a:xfrm>
            <a:off x="2311147" y="365760"/>
            <a:ext cx="7569706" cy="1288238"/>
          </a:xfrm>
        </p:spPr>
        <p:txBody>
          <a:bodyPr anchor="ctr">
            <a:normAutofit/>
          </a:bodyPr>
          <a:lstStyle/>
          <a:p>
            <a:pPr algn="ctr"/>
            <a:r>
              <a:rPr lang="es-MX" dirty="0"/>
              <a:t>Manejo de errores </a:t>
            </a:r>
          </a:p>
        </p:txBody>
      </p:sp>
      <p:sp>
        <p:nvSpPr>
          <p:cNvPr id="3" name="Marcador de contenido 2">
            <a:extLst>
              <a:ext uri="{FF2B5EF4-FFF2-40B4-BE49-F238E27FC236}">
                <a16:creationId xmlns:a16="http://schemas.microsoft.com/office/drawing/2014/main" id="{9383C4B5-9EE1-27E9-2CC0-D2C3208080ED}"/>
              </a:ext>
            </a:extLst>
          </p:cNvPr>
          <p:cNvSpPr>
            <a:spLocks noGrp="1"/>
          </p:cNvSpPr>
          <p:nvPr>
            <p:ph idx="1"/>
          </p:nvPr>
        </p:nvSpPr>
        <p:spPr>
          <a:xfrm>
            <a:off x="2165569" y="1956816"/>
            <a:ext cx="7860863" cy="4024884"/>
          </a:xfrm>
        </p:spPr>
        <p:txBody>
          <a:bodyPr anchor="t">
            <a:normAutofit/>
          </a:bodyPr>
          <a:lstStyle/>
          <a:p>
            <a:pPr marL="0" indent="0">
              <a:buNone/>
            </a:pPr>
            <a:r>
              <a:rPr lang="es-MX" sz="2000"/>
              <a:t>Existen estrategias para capturar y gestionar los errores que pueden presentarse al ejecutar un programa, a fines de evitar una falla mayor y controlar la información que es mostrada al usuario.</a:t>
            </a:r>
          </a:p>
          <a:p>
            <a:pPr marL="0" indent="0">
              <a:buNone/>
            </a:pPr>
            <a:r>
              <a:rPr lang="es-MX" sz="2000"/>
              <a:t>El código que se encuentra dentro de try se ejecuta hasta finalizar o hasta que se presenta un error (excepción) </a:t>
            </a:r>
          </a:p>
          <a:p>
            <a:pPr marL="0" indent="0">
              <a:buNone/>
            </a:pPr>
            <a:r>
              <a:rPr lang="es-MX" sz="2000"/>
              <a:t>Contiene el manejador de errores (respuesta del programa ante un error), atrapando las excepciones que se presentan durante la ejecución de try </a:t>
            </a:r>
          </a:p>
          <a:p>
            <a:pPr marL="0" indent="0">
              <a:buNone/>
            </a:pPr>
            <a:r>
              <a:rPr lang="es-MX" sz="2000"/>
              <a:t>Engloba el código que se ejecutará únicamente cuando ninguna excepción haya sido detectada en la ejecución de try (sin errores) </a:t>
            </a:r>
          </a:p>
          <a:p>
            <a:pPr marL="0" indent="0">
              <a:buNone/>
            </a:pPr>
            <a:r>
              <a:rPr lang="es-MX" sz="2000"/>
              <a:t>Contiene código que se ejecuta siempre, se hayan presentado o no errores.</a:t>
            </a:r>
          </a:p>
        </p:txBody>
      </p:sp>
      <p:sp>
        <p:nvSpPr>
          <p:cNvPr id="4" name="Marcador de pie de página 3">
            <a:extLst>
              <a:ext uri="{FF2B5EF4-FFF2-40B4-BE49-F238E27FC236}">
                <a16:creationId xmlns:a16="http://schemas.microsoft.com/office/drawing/2014/main" id="{30B756CF-84F8-A0F8-63A9-C378C09FB199}"/>
              </a:ext>
            </a:extLst>
          </p:cNvPr>
          <p:cNvSpPr>
            <a:spLocks noGrp="1"/>
          </p:cNvSpPr>
          <p:nvPr>
            <p:ph type="ftr" sz="quarter" idx="11"/>
          </p:nvPr>
        </p:nvSpPr>
        <p:spPr>
          <a:xfrm>
            <a:off x="4084320" y="6199632"/>
            <a:ext cx="4023360" cy="365125"/>
          </a:xfrm>
        </p:spPr>
        <p:txBody>
          <a:bodyPr>
            <a:normAutofit/>
          </a:bodyPr>
          <a:lstStyle/>
          <a:p>
            <a:pPr>
              <a:spcAft>
                <a:spcPts val="600"/>
              </a:spcAft>
            </a:pPr>
            <a:r>
              <a:rPr lang="es-MX">
                <a:solidFill>
                  <a:schemeClr val="tx1">
                    <a:alpha val="80000"/>
                  </a:schemeClr>
                </a:solidFill>
              </a:rPr>
              <a:t>Arabots Robotics</a:t>
            </a:r>
          </a:p>
        </p:txBody>
      </p:sp>
      <p:sp>
        <p:nvSpPr>
          <p:cNvPr id="5" name="Marcador de número de diapositiva 4">
            <a:extLst>
              <a:ext uri="{FF2B5EF4-FFF2-40B4-BE49-F238E27FC236}">
                <a16:creationId xmlns:a16="http://schemas.microsoft.com/office/drawing/2014/main" id="{F86D3CB0-969B-2C8D-84B8-985F0547A32E}"/>
              </a:ext>
            </a:extLst>
          </p:cNvPr>
          <p:cNvSpPr>
            <a:spLocks noGrp="1"/>
          </p:cNvSpPr>
          <p:nvPr>
            <p:ph type="sldNum" sz="quarter" idx="12"/>
          </p:nvPr>
        </p:nvSpPr>
        <p:spPr>
          <a:xfrm>
            <a:off x="11263713" y="6108192"/>
            <a:ext cx="548640" cy="548640"/>
          </a:xfrm>
          <a:prstGeom prst="ellipse">
            <a:avLst/>
          </a:prstGeom>
          <a:solidFill>
            <a:srgbClr val="808080"/>
          </a:solidFill>
        </p:spPr>
        <p:txBody>
          <a:bodyPr>
            <a:normAutofit fontScale="77500" lnSpcReduction="20000"/>
          </a:bodyPr>
          <a:lstStyle/>
          <a:p>
            <a:pPr algn="ctr">
              <a:spcAft>
                <a:spcPts val="600"/>
              </a:spcAft>
            </a:pPr>
            <a:fld id="{4EA4A3B0-B5DF-4E2B-B48F-E4B7B7872040}" type="slidenum">
              <a:rPr lang="es-MX" sz="1500">
                <a:solidFill>
                  <a:srgbClr val="FFFFFF"/>
                </a:solidFill>
              </a:rPr>
              <a:pPr algn="ctr">
                <a:spcAft>
                  <a:spcPts val="600"/>
                </a:spcAft>
              </a:pPr>
              <a:t>182</a:t>
            </a:fld>
            <a:endParaRPr lang="es-MX" sz="1500">
              <a:solidFill>
                <a:srgbClr val="FFFFFF"/>
              </a:solidFill>
            </a:endParaRPr>
          </a:p>
        </p:txBody>
      </p:sp>
    </p:spTree>
    <p:extLst>
      <p:ext uri="{BB962C8B-B14F-4D97-AF65-F5344CB8AC3E}">
        <p14:creationId xmlns:p14="http://schemas.microsoft.com/office/powerpoint/2010/main" val="918377166"/>
      </p:ext>
    </p:extLst>
  </p:cSld>
  <p:clrMapOvr>
    <a:overrideClrMapping bg1="dk1" tx1="lt1" bg2="dk2" tx2="lt2" accent1="accent1" accent2="accent2" accent3="accent3" accent4="accent4" accent5="accent5" accent6="accent6" hlink="hlink" folHlink="folHlink"/>
  </p:clrMapOvr>
</p:sld>
</file>

<file path=ppt/slides/slide18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63808FB5-AC93-C1C7-E899-AA26E8CA9223}"/>
              </a:ext>
            </a:extLst>
          </p:cNvPr>
          <p:cNvSpPr>
            <a:spLocks noGrp="1"/>
          </p:cNvSpPr>
          <p:nvPr>
            <p:ph type="title"/>
          </p:nvPr>
        </p:nvSpPr>
        <p:spPr>
          <a:xfrm>
            <a:off x="2311147" y="365760"/>
            <a:ext cx="7569706" cy="1288238"/>
          </a:xfrm>
        </p:spPr>
        <p:txBody>
          <a:bodyPr anchor="ctr">
            <a:normAutofit/>
          </a:bodyPr>
          <a:lstStyle/>
          <a:p>
            <a:pPr algn="ctr"/>
            <a:endParaRPr lang="es-MX"/>
          </a:p>
        </p:txBody>
      </p:sp>
      <p:sp>
        <p:nvSpPr>
          <p:cNvPr id="3" name="Marcador de contenido 2">
            <a:extLst>
              <a:ext uri="{FF2B5EF4-FFF2-40B4-BE49-F238E27FC236}">
                <a16:creationId xmlns:a16="http://schemas.microsoft.com/office/drawing/2014/main" id="{DB55ACA5-3328-A173-433D-A0EF09C0EA49}"/>
              </a:ext>
            </a:extLst>
          </p:cNvPr>
          <p:cNvSpPr>
            <a:spLocks noGrp="1"/>
          </p:cNvSpPr>
          <p:nvPr>
            <p:ph idx="1"/>
          </p:nvPr>
        </p:nvSpPr>
        <p:spPr>
          <a:xfrm>
            <a:off x="2165569" y="1956816"/>
            <a:ext cx="7860863" cy="4024884"/>
          </a:xfrm>
        </p:spPr>
        <p:txBody>
          <a:bodyPr anchor="t">
            <a:normAutofit/>
          </a:bodyPr>
          <a:lstStyle/>
          <a:p>
            <a:pPr marL="0" indent="0">
              <a:buNone/>
            </a:pPr>
            <a:r>
              <a:rPr lang="es-MX" sz="2400"/>
              <a:t>Es buena práctica capturar y manejar las excepciones posibles individualmente y brindar información acerca del error y su posible solución.</a:t>
            </a:r>
          </a:p>
          <a:p>
            <a:pPr marL="0" indent="0">
              <a:buNone/>
            </a:pPr>
            <a:r>
              <a:rPr lang="en-US" sz="2400"/>
              <a:t>except ValueError: </a:t>
            </a:r>
          </a:p>
          <a:p>
            <a:pPr marL="0" indent="0">
              <a:buNone/>
            </a:pPr>
            <a:r>
              <a:rPr lang="en-US" sz="2400"/>
              <a:t>except TypeError: </a:t>
            </a:r>
          </a:p>
          <a:p>
            <a:pPr marL="0" indent="0">
              <a:buNone/>
            </a:pPr>
            <a:r>
              <a:rPr lang="en-US" sz="2400"/>
              <a:t>except FileNotFoundError: </a:t>
            </a:r>
          </a:p>
          <a:p>
            <a:pPr marL="0" indent="0">
              <a:buNone/>
            </a:pPr>
            <a:r>
              <a:rPr lang="en-US" sz="2400"/>
              <a:t>... etc</a:t>
            </a:r>
            <a:endParaRPr lang="es-MX" sz="2400"/>
          </a:p>
        </p:txBody>
      </p:sp>
      <p:sp>
        <p:nvSpPr>
          <p:cNvPr id="4" name="Marcador de pie de página 3">
            <a:extLst>
              <a:ext uri="{FF2B5EF4-FFF2-40B4-BE49-F238E27FC236}">
                <a16:creationId xmlns:a16="http://schemas.microsoft.com/office/drawing/2014/main" id="{7662E378-CC9D-C1CD-2BD0-F476A02E446A}"/>
              </a:ext>
            </a:extLst>
          </p:cNvPr>
          <p:cNvSpPr>
            <a:spLocks noGrp="1"/>
          </p:cNvSpPr>
          <p:nvPr>
            <p:ph type="ftr" sz="quarter" idx="11"/>
          </p:nvPr>
        </p:nvSpPr>
        <p:spPr>
          <a:xfrm>
            <a:off x="4084320" y="6199632"/>
            <a:ext cx="4023360" cy="365125"/>
          </a:xfrm>
        </p:spPr>
        <p:txBody>
          <a:bodyPr>
            <a:normAutofit/>
          </a:bodyPr>
          <a:lstStyle/>
          <a:p>
            <a:pPr>
              <a:spcAft>
                <a:spcPts val="600"/>
              </a:spcAft>
            </a:pPr>
            <a:r>
              <a:rPr lang="es-MX">
                <a:solidFill>
                  <a:schemeClr val="tx1">
                    <a:alpha val="80000"/>
                  </a:schemeClr>
                </a:solidFill>
              </a:rPr>
              <a:t>Arabots Robotics</a:t>
            </a:r>
          </a:p>
        </p:txBody>
      </p:sp>
      <p:sp>
        <p:nvSpPr>
          <p:cNvPr id="5" name="Marcador de número de diapositiva 4">
            <a:extLst>
              <a:ext uri="{FF2B5EF4-FFF2-40B4-BE49-F238E27FC236}">
                <a16:creationId xmlns:a16="http://schemas.microsoft.com/office/drawing/2014/main" id="{E80F517F-5647-FDC3-42B0-6EBFCBB2A018}"/>
              </a:ext>
            </a:extLst>
          </p:cNvPr>
          <p:cNvSpPr>
            <a:spLocks noGrp="1"/>
          </p:cNvSpPr>
          <p:nvPr>
            <p:ph type="sldNum" sz="quarter" idx="12"/>
          </p:nvPr>
        </p:nvSpPr>
        <p:spPr>
          <a:xfrm>
            <a:off x="11263713" y="6108192"/>
            <a:ext cx="548640" cy="548640"/>
          </a:xfrm>
          <a:prstGeom prst="ellipse">
            <a:avLst/>
          </a:prstGeom>
          <a:solidFill>
            <a:srgbClr val="808080"/>
          </a:solidFill>
        </p:spPr>
        <p:txBody>
          <a:bodyPr>
            <a:normAutofit fontScale="77500" lnSpcReduction="20000"/>
          </a:bodyPr>
          <a:lstStyle/>
          <a:p>
            <a:pPr algn="ctr">
              <a:spcAft>
                <a:spcPts val="600"/>
              </a:spcAft>
            </a:pPr>
            <a:fld id="{4EA4A3B0-B5DF-4E2B-B48F-E4B7B7872040}" type="slidenum">
              <a:rPr lang="es-MX" sz="1500">
                <a:solidFill>
                  <a:srgbClr val="FFFFFF"/>
                </a:solidFill>
              </a:rPr>
              <a:pPr algn="ctr">
                <a:spcAft>
                  <a:spcPts val="600"/>
                </a:spcAft>
              </a:pPr>
              <a:t>183</a:t>
            </a:fld>
            <a:endParaRPr lang="es-MX" sz="1500">
              <a:solidFill>
                <a:srgbClr val="FFFFFF"/>
              </a:solidFill>
            </a:endParaRPr>
          </a:p>
        </p:txBody>
      </p:sp>
    </p:spTree>
    <p:extLst>
      <p:ext uri="{BB962C8B-B14F-4D97-AF65-F5344CB8AC3E}">
        <p14:creationId xmlns:p14="http://schemas.microsoft.com/office/powerpoint/2010/main" val="2128111069"/>
      </p:ext>
    </p:extLst>
  </p:cSld>
  <p:clrMapOvr>
    <a:overrideClrMapping bg1="dk1" tx1="lt1" bg2="dk2" tx2="lt2" accent1="accent1" accent2="accent2" accent3="accent3" accent4="accent4" accent5="accent5" accent6="accent6" hlink="hlink" folHlink="folHlink"/>
  </p:clrMapOvr>
</p:sld>
</file>

<file path=ppt/slides/slide18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979F3FAB-9C0A-F839-66A3-1E24C544D6A3}"/>
              </a:ext>
            </a:extLst>
          </p:cNvPr>
          <p:cNvSpPr>
            <a:spLocks noGrp="1"/>
          </p:cNvSpPr>
          <p:nvPr>
            <p:ph type="title"/>
          </p:nvPr>
        </p:nvSpPr>
        <p:spPr>
          <a:xfrm>
            <a:off x="2311147" y="365760"/>
            <a:ext cx="7569706" cy="1288238"/>
          </a:xfrm>
        </p:spPr>
        <p:txBody>
          <a:bodyPr anchor="ctr">
            <a:normAutofit/>
          </a:bodyPr>
          <a:lstStyle/>
          <a:p>
            <a:pPr algn="ctr"/>
            <a:r>
              <a:rPr lang="es-MX" sz="4100" err="1"/>
              <a:t>Pylint</a:t>
            </a:r>
            <a:br>
              <a:rPr lang="es-MX" sz="4100"/>
            </a:br>
            <a:endParaRPr lang="es-MX" sz="4100"/>
          </a:p>
        </p:txBody>
      </p:sp>
      <p:sp>
        <p:nvSpPr>
          <p:cNvPr id="3" name="Marcador de contenido 2">
            <a:extLst>
              <a:ext uri="{FF2B5EF4-FFF2-40B4-BE49-F238E27FC236}">
                <a16:creationId xmlns:a16="http://schemas.microsoft.com/office/drawing/2014/main" id="{94874645-E811-C3D3-7961-7E52AC3D4E29}"/>
              </a:ext>
            </a:extLst>
          </p:cNvPr>
          <p:cNvSpPr>
            <a:spLocks noGrp="1"/>
          </p:cNvSpPr>
          <p:nvPr>
            <p:ph idx="1"/>
          </p:nvPr>
        </p:nvSpPr>
        <p:spPr>
          <a:xfrm>
            <a:off x="2165569" y="1956816"/>
            <a:ext cx="7860863" cy="4024884"/>
          </a:xfrm>
        </p:spPr>
        <p:txBody>
          <a:bodyPr anchor="t">
            <a:normAutofit/>
          </a:bodyPr>
          <a:lstStyle/>
          <a:p>
            <a:pPr marL="0" indent="0">
              <a:buNone/>
            </a:pPr>
            <a:r>
              <a:rPr lang="es-MX" sz="2000"/>
              <a:t>Pylint es un verificador de código, errores y calidad para Python, siguiendo el estilo recomendado por PEP 8, la guía de estilo de Python. Es de gran utilidad en el trabajo en equipo</a:t>
            </a:r>
          </a:p>
          <a:p>
            <a:pPr marL="0" indent="0">
              <a:buNone/>
            </a:pPr>
            <a:r>
              <a:rPr lang="es-MX" sz="2000"/>
              <a:t>pip install pylint</a:t>
            </a:r>
          </a:p>
          <a:p>
            <a:pPr marL="0" indent="0">
              <a:buNone/>
            </a:pPr>
            <a:r>
              <a:rPr lang="es-MX" sz="2000"/>
              <a:t>Ejecutar desde la consola: </a:t>
            </a:r>
          </a:p>
          <a:p>
            <a:pPr marL="0" indent="0">
              <a:buNone/>
            </a:pPr>
            <a:r>
              <a:rPr lang="es-MX" sz="2000"/>
              <a:t>ruta&gt; pylint modulo1.py -r y</a:t>
            </a:r>
          </a:p>
          <a:p>
            <a:pPr marL="0" indent="0">
              <a:buNone/>
            </a:pPr>
            <a:r>
              <a:rPr lang="es-MX" sz="2000"/>
              <a:t>Al ejecutarse, Pylint devuelve un reporte con las características que fueron evaluadas, errores y puntuaciones parciales</a:t>
            </a:r>
          </a:p>
          <a:p>
            <a:pPr marL="0" indent="0">
              <a:buNone/>
            </a:pPr>
            <a:r>
              <a:rPr lang="en-US" sz="2000"/>
              <a:t>Your code has been rated at 6.67/10</a:t>
            </a:r>
            <a:endParaRPr lang="es-MX" sz="2000"/>
          </a:p>
          <a:p>
            <a:pPr marL="0" indent="0">
              <a:buNone/>
            </a:pPr>
            <a:r>
              <a:rPr lang="es-MX" sz="2000"/>
              <a:t>A mayor puntaje, mayor será la calidad de tu código. Un umbral aceptable será &gt;= 7.00/10 </a:t>
            </a:r>
          </a:p>
        </p:txBody>
      </p:sp>
      <p:sp>
        <p:nvSpPr>
          <p:cNvPr id="4" name="Marcador de pie de página 3">
            <a:extLst>
              <a:ext uri="{FF2B5EF4-FFF2-40B4-BE49-F238E27FC236}">
                <a16:creationId xmlns:a16="http://schemas.microsoft.com/office/drawing/2014/main" id="{CB291D28-F011-AF55-A58B-F4FBFC21981F}"/>
              </a:ext>
            </a:extLst>
          </p:cNvPr>
          <p:cNvSpPr>
            <a:spLocks noGrp="1"/>
          </p:cNvSpPr>
          <p:nvPr>
            <p:ph type="ftr" sz="quarter" idx="11"/>
          </p:nvPr>
        </p:nvSpPr>
        <p:spPr>
          <a:xfrm>
            <a:off x="4084320" y="6199632"/>
            <a:ext cx="4023360" cy="365125"/>
          </a:xfrm>
        </p:spPr>
        <p:txBody>
          <a:bodyPr>
            <a:normAutofit/>
          </a:bodyPr>
          <a:lstStyle/>
          <a:p>
            <a:pPr>
              <a:spcAft>
                <a:spcPts val="600"/>
              </a:spcAft>
            </a:pPr>
            <a:r>
              <a:rPr lang="es-MX">
                <a:solidFill>
                  <a:schemeClr val="tx1">
                    <a:alpha val="80000"/>
                  </a:schemeClr>
                </a:solidFill>
              </a:rPr>
              <a:t>Arabots Robotics</a:t>
            </a:r>
          </a:p>
        </p:txBody>
      </p:sp>
      <p:sp>
        <p:nvSpPr>
          <p:cNvPr id="5" name="Marcador de número de diapositiva 4">
            <a:extLst>
              <a:ext uri="{FF2B5EF4-FFF2-40B4-BE49-F238E27FC236}">
                <a16:creationId xmlns:a16="http://schemas.microsoft.com/office/drawing/2014/main" id="{1954A39C-B30E-A46B-B3A9-CB69E755EE1A}"/>
              </a:ext>
            </a:extLst>
          </p:cNvPr>
          <p:cNvSpPr>
            <a:spLocks noGrp="1"/>
          </p:cNvSpPr>
          <p:nvPr>
            <p:ph type="sldNum" sz="quarter" idx="12"/>
          </p:nvPr>
        </p:nvSpPr>
        <p:spPr>
          <a:xfrm>
            <a:off x="11263713" y="6108192"/>
            <a:ext cx="548640" cy="548640"/>
          </a:xfrm>
          <a:prstGeom prst="ellipse">
            <a:avLst/>
          </a:prstGeom>
          <a:solidFill>
            <a:srgbClr val="808080"/>
          </a:solidFill>
        </p:spPr>
        <p:txBody>
          <a:bodyPr>
            <a:normAutofit fontScale="77500" lnSpcReduction="20000"/>
          </a:bodyPr>
          <a:lstStyle/>
          <a:p>
            <a:pPr algn="ctr">
              <a:spcAft>
                <a:spcPts val="600"/>
              </a:spcAft>
            </a:pPr>
            <a:fld id="{4EA4A3B0-B5DF-4E2B-B48F-E4B7B7872040}" type="slidenum">
              <a:rPr lang="es-MX" sz="1500">
                <a:solidFill>
                  <a:srgbClr val="FFFFFF"/>
                </a:solidFill>
              </a:rPr>
              <a:pPr algn="ctr">
                <a:spcAft>
                  <a:spcPts val="600"/>
                </a:spcAft>
              </a:pPr>
              <a:t>184</a:t>
            </a:fld>
            <a:endParaRPr lang="es-MX" sz="1500">
              <a:solidFill>
                <a:srgbClr val="FFFFFF"/>
              </a:solidFill>
            </a:endParaRPr>
          </a:p>
        </p:txBody>
      </p:sp>
    </p:spTree>
    <p:extLst>
      <p:ext uri="{BB962C8B-B14F-4D97-AF65-F5344CB8AC3E}">
        <p14:creationId xmlns:p14="http://schemas.microsoft.com/office/powerpoint/2010/main" val="1188444094"/>
      </p:ext>
    </p:extLst>
  </p:cSld>
  <p:clrMapOvr>
    <a:overrideClrMapping bg1="dk1" tx1="lt1" bg2="dk2" tx2="lt2" accent1="accent1" accent2="accent2" accent3="accent3" accent4="accent4" accent5="accent5" accent6="accent6" hlink="hlink" folHlink="folHlink"/>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C726ED1-9C50-BB88-9807-89B100CC2719}"/>
              </a:ext>
            </a:extLst>
          </p:cNvPr>
          <p:cNvSpPr>
            <a:spLocks noGrp="1"/>
          </p:cNvSpPr>
          <p:nvPr>
            <p:ph type="title"/>
          </p:nvPr>
        </p:nvSpPr>
        <p:spPr>
          <a:xfrm>
            <a:off x="640080" y="325369"/>
            <a:ext cx="4368602" cy="1956841"/>
          </a:xfrm>
        </p:spPr>
        <p:txBody>
          <a:bodyPr anchor="b">
            <a:normAutofit/>
          </a:bodyPr>
          <a:lstStyle/>
          <a:p>
            <a:r>
              <a:rPr lang="es-MX" sz="5400"/>
              <a:t>Unittest</a:t>
            </a:r>
          </a:p>
        </p:txBody>
      </p:sp>
      <p:sp>
        <p:nvSpPr>
          <p:cNvPr id="1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9B94F53-8FA5-E9AF-816A-3E3131DB36CF}"/>
              </a:ext>
            </a:extLst>
          </p:cNvPr>
          <p:cNvSpPr>
            <a:spLocks noGrp="1"/>
          </p:cNvSpPr>
          <p:nvPr>
            <p:ph idx="1"/>
          </p:nvPr>
        </p:nvSpPr>
        <p:spPr>
          <a:xfrm>
            <a:off x="640080" y="2872899"/>
            <a:ext cx="4243589" cy="3320668"/>
          </a:xfrm>
        </p:spPr>
        <p:txBody>
          <a:bodyPr>
            <a:normAutofit/>
          </a:bodyPr>
          <a:lstStyle/>
          <a:p>
            <a:pPr marL="0" indent="0">
              <a:buNone/>
            </a:pPr>
            <a:r>
              <a:rPr lang="es-MX" sz="1000"/>
              <a:t>Unit Testing es un método o herramienta utilizado en programación para determinar si un módulo o un conjunto de módulos de código funciona correctamente. Dicha evaluación se realiza en un archivo independiente. En Python, se implementa desde el módulo incorporado unittest.</a:t>
            </a:r>
          </a:p>
          <a:p>
            <a:pPr marL="0" indent="0">
              <a:buNone/>
            </a:pPr>
            <a:r>
              <a:rPr lang="es-MX" sz="1000"/>
              <a:t>import unittest </a:t>
            </a:r>
          </a:p>
          <a:p>
            <a:pPr marL="0" indent="0">
              <a:buNone/>
            </a:pPr>
            <a:r>
              <a:rPr lang="es-MX" sz="1000"/>
              <a:t>import mimodulo</a:t>
            </a:r>
          </a:p>
          <a:p>
            <a:pPr marL="0" indent="0">
              <a:buNone/>
            </a:pPr>
            <a:r>
              <a:rPr lang="es-MX" sz="1000"/>
              <a:t>class NombrePrueba(unittest.TestCase):</a:t>
            </a:r>
          </a:p>
          <a:p>
            <a:pPr marL="0" indent="0">
              <a:buNone/>
            </a:pPr>
            <a:r>
              <a:rPr lang="es-MX" sz="1000"/>
              <a:t> def test_prueba(self): </a:t>
            </a:r>
          </a:p>
          <a:p>
            <a:pPr marL="0" indent="0">
              <a:buNone/>
            </a:pPr>
            <a:r>
              <a:rPr lang="es-MX" sz="1000"/>
              <a:t>primer_valor = {algo} </a:t>
            </a:r>
          </a:p>
          <a:p>
            <a:pPr marL="0" indent="0">
              <a:buNone/>
            </a:pPr>
            <a:r>
              <a:rPr lang="es-MX" sz="1000"/>
              <a:t>segundo_valor = {salida de mimodulo.funcion} </a:t>
            </a:r>
          </a:p>
          <a:p>
            <a:pPr marL="0" indent="0">
              <a:buNone/>
            </a:pPr>
            <a:r>
              <a:rPr lang="es-MX" sz="1000"/>
              <a:t>self.assertEqual(primer_valor, segundo_valor, mensaje)</a:t>
            </a:r>
          </a:p>
          <a:p>
            <a:pPr marL="0" indent="0">
              <a:buNone/>
            </a:pPr>
            <a:r>
              <a:rPr lang="en-US" sz="1000"/>
              <a:t>if __name__ == '__main__': unittest.main()</a:t>
            </a:r>
          </a:p>
          <a:p>
            <a:pPr marL="0" indent="0">
              <a:buNone/>
            </a:pPr>
            <a:r>
              <a:rPr lang="es-MX" sz="1000"/>
              <a:t>Es importante respetar las porciones de código con fondo amarillo.</a:t>
            </a:r>
          </a:p>
        </p:txBody>
      </p:sp>
      <p:pic>
        <p:nvPicPr>
          <p:cNvPr id="7" name="Picture 6" descr="Organizadores de diferentes colores">
            <a:extLst>
              <a:ext uri="{FF2B5EF4-FFF2-40B4-BE49-F238E27FC236}">
                <a16:creationId xmlns:a16="http://schemas.microsoft.com/office/drawing/2014/main" id="{5EC1EE28-A346-4196-6236-F0C6FCBC488A}"/>
              </a:ext>
            </a:extLst>
          </p:cNvPr>
          <p:cNvPicPr>
            <a:picLocks noChangeAspect="1"/>
          </p:cNvPicPr>
          <p:nvPr/>
        </p:nvPicPr>
        <p:blipFill rotWithShape="1">
          <a:blip r:embed="rId2"/>
          <a:srcRect l="19712" r="19605"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Marcador de pie de página 3">
            <a:extLst>
              <a:ext uri="{FF2B5EF4-FFF2-40B4-BE49-F238E27FC236}">
                <a16:creationId xmlns:a16="http://schemas.microsoft.com/office/drawing/2014/main" id="{FFB272EB-EEE0-498D-5B53-5D9109DC126E}"/>
              </a:ext>
            </a:extLst>
          </p:cNvPr>
          <p:cNvSpPr>
            <a:spLocks noGrp="1"/>
          </p:cNvSpPr>
          <p:nvPr>
            <p:ph type="ftr" sz="quarter" idx="11"/>
          </p:nvPr>
        </p:nvSpPr>
        <p:spPr>
          <a:xfrm>
            <a:off x="6248400" y="6356350"/>
            <a:ext cx="4114800" cy="365125"/>
          </a:xfrm>
        </p:spPr>
        <p:txBody>
          <a:bodyPr>
            <a:normAutofit/>
          </a:bodyPr>
          <a:lstStyle/>
          <a:p>
            <a:pPr algn="l">
              <a:spcAft>
                <a:spcPts val="600"/>
              </a:spcAft>
            </a:pPr>
            <a:r>
              <a:rPr lang="es-MX">
                <a:solidFill>
                  <a:srgbClr val="FFFFFF"/>
                </a:solidFill>
              </a:rPr>
              <a:t>Arabots Robotics</a:t>
            </a:r>
          </a:p>
        </p:txBody>
      </p:sp>
      <p:sp>
        <p:nvSpPr>
          <p:cNvPr id="5" name="Marcador de número de diapositiva 4">
            <a:extLst>
              <a:ext uri="{FF2B5EF4-FFF2-40B4-BE49-F238E27FC236}">
                <a16:creationId xmlns:a16="http://schemas.microsoft.com/office/drawing/2014/main" id="{9F266FFC-C222-9182-E5DF-57BDA8089871}"/>
              </a:ext>
            </a:extLst>
          </p:cNvPr>
          <p:cNvSpPr>
            <a:spLocks noGrp="1"/>
          </p:cNvSpPr>
          <p:nvPr>
            <p:ph type="sldNum" sz="quarter" idx="12"/>
          </p:nvPr>
        </p:nvSpPr>
        <p:spPr>
          <a:xfrm>
            <a:off x="10439400" y="6356350"/>
            <a:ext cx="914400" cy="365125"/>
          </a:xfrm>
        </p:spPr>
        <p:txBody>
          <a:bodyPr>
            <a:normAutofit/>
          </a:bodyPr>
          <a:lstStyle/>
          <a:p>
            <a:pPr>
              <a:spcAft>
                <a:spcPts val="600"/>
              </a:spcAft>
            </a:pPr>
            <a:fld id="{4EA4A3B0-B5DF-4E2B-B48F-E4B7B7872040}" type="slidenum">
              <a:rPr lang="es-MX">
                <a:solidFill>
                  <a:srgbClr val="FFFFFF"/>
                </a:solidFill>
              </a:rPr>
              <a:pPr>
                <a:spcAft>
                  <a:spcPts val="600"/>
                </a:spcAft>
              </a:pPr>
              <a:t>185</a:t>
            </a:fld>
            <a:endParaRPr lang="es-MX">
              <a:solidFill>
                <a:srgbClr val="FFFFFF"/>
              </a:solidFill>
            </a:endParaRPr>
          </a:p>
        </p:txBody>
      </p:sp>
    </p:spTree>
    <p:extLst>
      <p:ext uri="{BB962C8B-B14F-4D97-AF65-F5344CB8AC3E}">
        <p14:creationId xmlns:p14="http://schemas.microsoft.com/office/powerpoint/2010/main" val="66076855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8DEEB58-53E3-8D78-22FA-CDADFFAA3DB6}"/>
              </a:ext>
            </a:extLst>
          </p:cNvPr>
          <p:cNvSpPr>
            <a:spLocks noGrp="1"/>
          </p:cNvSpPr>
          <p:nvPr>
            <p:ph type="title"/>
          </p:nvPr>
        </p:nvSpPr>
        <p:spPr>
          <a:xfrm>
            <a:off x="838200" y="365125"/>
            <a:ext cx="10515600" cy="1325563"/>
          </a:xfrm>
        </p:spPr>
        <p:txBody>
          <a:bodyPr>
            <a:normAutofit/>
          </a:bodyPr>
          <a:lstStyle/>
          <a:p>
            <a:endParaRPr lang="es-MX" sz="5400"/>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DA6959D-23B1-1CB5-FC9A-F2D8225DB7D7}"/>
              </a:ext>
            </a:extLst>
          </p:cNvPr>
          <p:cNvSpPr>
            <a:spLocks noGrp="1"/>
          </p:cNvSpPr>
          <p:nvPr>
            <p:ph idx="1"/>
          </p:nvPr>
        </p:nvSpPr>
        <p:spPr>
          <a:xfrm>
            <a:off x="838200" y="1929384"/>
            <a:ext cx="10515600" cy="4251960"/>
          </a:xfrm>
        </p:spPr>
        <p:txBody>
          <a:bodyPr>
            <a:normAutofit/>
          </a:bodyPr>
          <a:lstStyle/>
          <a:p>
            <a:pPr marL="0" indent="0">
              <a:buNone/>
            </a:pPr>
            <a:r>
              <a:rPr lang="es-MX" sz="2200"/>
              <a:t>Los primeros dos argumentos de assertEqual son dos valores que se comparan para establecer si hay igualdad entre ellos. Por eso, uno debe obtenerse a partir de una función del módulo evaluado, y otro ser la salida esperada para una misma entrada de información que en el primer caso. El tercer parámetro (mensaje), contendrá un string con información que se mostrará al usuario en caso de que el test falle. </a:t>
            </a:r>
          </a:p>
          <a:p>
            <a:pPr marL="0" indent="0">
              <a:buNone/>
            </a:pPr>
            <a:endParaRPr lang="es-MX" sz="2200"/>
          </a:p>
          <a:p>
            <a:pPr marL="0" indent="0">
              <a:buNone/>
            </a:pPr>
            <a:r>
              <a:rPr lang="es-MX" sz="2200"/>
              <a:t>Antes incluso de ejecutar el código, Python lee el archivo para definir algunas variables globales. Una de ellas es __name__, que toma el nombre "__main__" en caso que Python esté corriendo en dicho módulo de manera individual. Si por el contrario, el módulo fuera importado, la variable __name__ toma el nombre del módulo. Este bloque de código evalúa que la prueba se esté ejecutando directamente</a:t>
            </a:r>
          </a:p>
        </p:txBody>
      </p:sp>
      <p:sp>
        <p:nvSpPr>
          <p:cNvPr id="4" name="Marcador de pie de página 3">
            <a:extLst>
              <a:ext uri="{FF2B5EF4-FFF2-40B4-BE49-F238E27FC236}">
                <a16:creationId xmlns:a16="http://schemas.microsoft.com/office/drawing/2014/main" id="{92FE2A28-2AE6-DFF0-679C-8147F21797CC}"/>
              </a:ext>
            </a:extLst>
          </p:cNvPr>
          <p:cNvSpPr>
            <a:spLocks noGrp="1"/>
          </p:cNvSpPr>
          <p:nvPr>
            <p:ph type="ftr" sz="quarter" idx="11"/>
          </p:nvPr>
        </p:nvSpPr>
        <p:spPr>
          <a:xfrm>
            <a:off x="4038600" y="6356350"/>
            <a:ext cx="4114800" cy="365125"/>
          </a:xfrm>
        </p:spPr>
        <p:txBody>
          <a:bodyPr>
            <a:normAutofit/>
          </a:bodyPr>
          <a:lstStyle/>
          <a:p>
            <a:pPr>
              <a:spcAft>
                <a:spcPts val="600"/>
              </a:spcAft>
            </a:pPr>
            <a:r>
              <a:rPr lang="es-MX" dirty="0"/>
              <a:t>Arabots Robotics</a:t>
            </a:r>
            <a:endParaRPr lang="es-MX"/>
          </a:p>
        </p:txBody>
      </p:sp>
      <p:sp>
        <p:nvSpPr>
          <p:cNvPr id="5" name="Marcador de número de diapositiva 4">
            <a:extLst>
              <a:ext uri="{FF2B5EF4-FFF2-40B4-BE49-F238E27FC236}">
                <a16:creationId xmlns:a16="http://schemas.microsoft.com/office/drawing/2014/main" id="{0BDB515C-1017-D287-C404-2D79D9683BC2}"/>
              </a:ext>
            </a:extLst>
          </p:cNvPr>
          <p:cNvSpPr>
            <a:spLocks noGrp="1"/>
          </p:cNvSpPr>
          <p:nvPr>
            <p:ph type="sldNum" sz="quarter" idx="12"/>
          </p:nvPr>
        </p:nvSpPr>
        <p:spPr>
          <a:xfrm>
            <a:off x="8610600" y="6356350"/>
            <a:ext cx="2743200" cy="365125"/>
          </a:xfrm>
        </p:spPr>
        <p:txBody>
          <a:bodyPr>
            <a:normAutofit/>
          </a:bodyPr>
          <a:lstStyle/>
          <a:p>
            <a:pPr>
              <a:spcAft>
                <a:spcPts val="600"/>
              </a:spcAft>
            </a:pPr>
            <a:fld id="{4EA4A3B0-B5DF-4E2B-B48F-E4B7B7872040}" type="slidenum">
              <a:rPr lang="es-MX" smtClean="0"/>
              <a:pPr>
                <a:spcAft>
                  <a:spcPts val="600"/>
                </a:spcAft>
              </a:pPr>
              <a:t>186</a:t>
            </a:fld>
            <a:endParaRPr lang="es-MX"/>
          </a:p>
        </p:txBody>
      </p:sp>
    </p:spTree>
    <p:extLst>
      <p:ext uri="{BB962C8B-B14F-4D97-AF65-F5344CB8AC3E}">
        <p14:creationId xmlns:p14="http://schemas.microsoft.com/office/powerpoint/2010/main" val="251911293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14EA78C-DF9E-9ACC-B1F4-506D326A690C}"/>
              </a:ext>
            </a:extLst>
          </p:cNvPr>
          <p:cNvSpPr>
            <a:spLocks noGrp="1"/>
          </p:cNvSpPr>
          <p:nvPr>
            <p:ph type="title"/>
          </p:nvPr>
        </p:nvSpPr>
        <p:spPr>
          <a:xfrm>
            <a:off x="640080" y="325369"/>
            <a:ext cx="4368602" cy="1956841"/>
          </a:xfrm>
        </p:spPr>
        <p:txBody>
          <a:bodyPr anchor="b">
            <a:normAutofit/>
          </a:bodyPr>
          <a:lstStyle/>
          <a:p>
            <a:r>
              <a:rPr lang="es-MX" sz="5400"/>
              <a:t>Decoradores </a:t>
            </a:r>
          </a:p>
        </p:txBody>
      </p:sp>
      <p:sp>
        <p:nvSpPr>
          <p:cNvPr id="1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85EF90D-208F-EABA-DD08-1C9271BA6243}"/>
              </a:ext>
            </a:extLst>
          </p:cNvPr>
          <p:cNvSpPr>
            <a:spLocks noGrp="1"/>
          </p:cNvSpPr>
          <p:nvPr>
            <p:ph idx="1"/>
          </p:nvPr>
        </p:nvSpPr>
        <p:spPr>
          <a:xfrm>
            <a:off x="640080" y="2872899"/>
            <a:ext cx="4243589" cy="3320668"/>
          </a:xfrm>
        </p:spPr>
        <p:txBody>
          <a:bodyPr>
            <a:normAutofit/>
          </a:bodyPr>
          <a:lstStyle/>
          <a:p>
            <a:pPr marL="0" indent="0">
              <a:buNone/>
            </a:pPr>
            <a:r>
              <a:rPr lang="es-MX" sz="1500"/>
              <a:t>Los decoradores son patrones de diseño en Python utilizados para dar nueva funcionalidad a objetos (funciones), modificando su comportamiento sin alterar su </a:t>
            </a:r>
          </a:p>
          <a:p>
            <a:pPr marL="0" indent="0">
              <a:buNone/>
            </a:pPr>
            <a:r>
              <a:rPr lang="es-MX" sz="1500"/>
              <a:t>Las funciones en Python soportan operaciones tales como ser asignadas a una variable, pasadas como argumento, y ser devueltas por otra función como resultado. También, es posible definir funciones dentro de funciones, sin que estén disponibles fuera de la función dentro de la cual fueron definidas. Los decoradores permiten que una función se modifique ante determinados escenarios, sin duplicar código. estructura: son funciones que modifican funciones.</a:t>
            </a:r>
          </a:p>
        </p:txBody>
      </p:sp>
      <p:pic>
        <p:nvPicPr>
          <p:cNvPr id="7" name="Picture 6" descr="Primer plano de un patrón de fibra de carbono">
            <a:extLst>
              <a:ext uri="{FF2B5EF4-FFF2-40B4-BE49-F238E27FC236}">
                <a16:creationId xmlns:a16="http://schemas.microsoft.com/office/drawing/2014/main" id="{B82EEC36-A722-8805-2B6C-3EE5EDF520D8}"/>
              </a:ext>
            </a:extLst>
          </p:cNvPr>
          <p:cNvPicPr>
            <a:picLocks noChangeAspect="1"/>
          </p:cNvPicPr>
          <p:nvPr/>
        </p:nvPicPr>
        <p:blipFill rotWithShape="1">
          <a:blip r:embed="rId2"/>
          <a:srcRect l="33268" r="6049"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Marcador de pie de página 3">
            <a:extLst>
              <a:ext uri="{FF2B5EF4-FFF2-40B4-BE49-F238E27FC236}">
                <a16:creationId xmlns:a16="http://schemas.microsoft.com/office/drawing/2014/main" id="{237E6E2D-8701-E11B-2CBF-02D98D117F45}"/>
              </a:ext>
            </a:extLst>
          </p:cNvPr>
          <p:cNvSpPr>
            <a:spLocks noGrp="1"/>
          </p:cNvSpPr>
          <p:nvPr>
            <p:ph type="ftr" sz="quarter" idx="11"/>
          </p:nvPr>
        </p:nvSpPr>
        <p:spPr>
          <a:xfrm>
            <a:off x="6248400" y="6356350"/>
            <a:ext cx="4114800" cy="365125"/>
          </a:xfrm>
        </p:spPr>
        <p:txBody>
          <a:bodyPr>
            <a:normAutofit/>
          </a:bodyPr>
          <a:lstStyle/>
          <a:p>
            <a:pPr algn="l">
              <a:spcAft>
                <a:spcPts val="600"/>
              </a:spcAft>
            </a:pPr>
            <a:r>
              <a:rPr lang="es-MX">
                <a:solidFill>
                  <a:srgbClr val="FFFFFF"/>
                </a:solidFill>
              </a:rPr>
              <a:t>Arabots Robotics</a:t>
            </a:r>
          </a:p>
        </p:txBody>
      </p:sp>
      <p:sp>
        <p:nvSpPr>
          <p:cNvPr id="5" name="Marcador de número de diapositiva 4">
            <a:extLst>
              <a:ext uri="{FF2B5EF4-FFF2-40B4-BE49-F238E27FC236}">
                <a16:creationId xmlns:a16="http://schemas.microsoft.com/office/drawing/2014/main" id="{3268B5EB-7734-0D1D-88C3-C2A64CF1D5F0}"/>
              </a:ext>
            </a:extLst>
          </p:cNvPr>
          <p:cNvSpPr>
            <a:spLocks noGrp="1"/>
          </p:cNvSpPr>
          <p:nvPr>
            <p:ph type="sldNum" sz="quarter" idx="12"/>
          </p:nvPr>
        </p:nvSpPr>
        <p:spPr>
          <a:xfrm>
            <a:off x="10439400" y="6356350"/>
            <a:ext cx="914400" cy="365125"/>
          </a:xfrm>
        </p:spPr>
        <p:txBody>
          <a:bodyPr>
            <a:normAutofit/>
          </a:bodyPr>
          <a:lstStyle/>
          <a:p>
            <a:pPr>
              <a:spcAft>
                <a:spcPts val="600"/>
              </a:spcAft>
            </a:pPr>
            <a:fld id="{4EA4A3B0-B5DF-4E2B-B48F-E4B7B7872040}" type="slidenum">
              <a:rPr lang="es-MX">
                <a:solidFill>
                  <a:srgbClr val="FFFFFF"/>
                </a:solidFill>
              </a:rPr>
              <a:pPr>
                <a:spcAft>
                  <a:spcPts val="600"/>
                </a:spcAft>
              </a:pPr>
              <a:t>187</a:t>
            </a:fld>
            <a:endParaRPr lang="es-MX">
              <a:solidFill>
                <a:srgbClr val="FFFFFF"/>
              </a:solidFill>
            </a:endParaRPr>
          </a:p>
        </p:txBody>
      </p:sp>
    </p:spTree>
    <p:extLst>
      <p:ext uri="{BB962C8B-B14F-4D97-AF65-F5344CB8AC3E}">
        <p14:creationId xmlns:p14="http://schemas.microsoft.com/office/powerpoint/2010/main" val="217235076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C32DF3D-3F59-481D-A237-77C31AD492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3DCF933-B512-9E67-BF2C-BC3D34468358}"/>
              </a:ext>
            </a:extLst>
          </p:cNvPr>
          <p:cNvSpPr>
            <a:spLocks noGrp="1"/>
          </p:cNvSpPr>
          <p:nvPr>
            <p:ph type="title"/>
          </p:nvPr>
        </p:nvSpPr>
        <p:spPr>
          <a:xfrm>
            <a:off x="841248" y="643467"/>
            <a:ext cx="3840480" cy="5571066"/>
          </a:xfrm>
        </p:spPr>
        <p:txBody>
          <a:bodyPr anchor="ctr">
            <a:normAutofit/>
          </a:bodyPr>
          <a:lstStyle/>
          <a:p>
            <a:r>
              <a:rPr lang="es-MX" sz="5400"/>
              <a:t>Generadores </a:t>
            </a:r>
          </a:p>
        </p:txBody>
      </p:sp>
      <p:sp>
        <p:nvSpPr>
          <p:cNvPr id="12" name="Freeform: Shape 11">
            <a:extLst>
              <a:ext uri="{FF2B5EF4-FFF2-40B4-BE49-F238E27FC236}">
                <a16:creationId xmlns:a16="http://schemas.microsoft.com/office/drawing/2014/main" id="{32F02326-30C4-4095-988F-932A425AE2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39686" y="0"/>
            <a:ext cx="7152315" cy="6858000"/>
          </a:xfrm>
          <a:custGeom>
            <a:avLst/>
            <a:gdLst>
              <a:gd name="connsiteX0" fmla="*/ 17101 w 7152315"/>
              <a:gd name="connsiteY0" fmla="*/ 0 h 6858000"/>
              <a:gd name="connsiteX1" fmla="*/ 7152315 w 7152315"/>
              <a:gd name="connsiteY1" fmla="*/ 0 h 6858000"/>
              <a:gd name="connsiteX2" fmla="*/ 7152315 w 7152315"/>
              <a:gd name="connsiteY2" fmla="*/ 6858000 h 6858000"/>
              <a:gd name="connsiteX3" fmla="*/ 15999 w 7152315"/>
              <a:gd name="connsiteY3" fmla="*/ 6858000 h 6858000"/>
              <a:gd name="connsiteX4" fmla="*/ 9729 w 7152315"/>
              <a:gd name="connsiteY4" fmla="*/ 6734157 h 6858000"/>
              <a:gd name="connsiteX5" fmla="*/ 15819 w 7152315"/>
              <a:gd name="connsiteY5" fmla="*/ 6122264 h 6858000"/>
              <a:gd name="connsiteX6" fmla="*/ 11379 w 7152315"/>
              <a:gd name="connsiteY6" fmla="*/ 5614784 h 6858000"/>
              <a:gd name="connsiteX7" fmla="*/ 20006 w 7152315"/>
              <a:gd name="connsiteY7" fmla="*/ 5204359 h 6858000"/>
              <a:gd name="connsiteX8" fmla="*/ 16962 w 7152315"/>
              <a:gd name="connsiteY8" fmla="*/ 4811696 h 6858000"/>
              <a:gd name="connsiteX9" fmla="*/ 13409 w 7152315"/>
              <a:gd name="connsiteY9" fmla="*/ 4358135 h 6858000"/>
              <a:gd name="connsiteX10" fmla="*/ 12774 w 7152315"/>
              <a:gd name="connsiteY10" fmla="*/ 4038423 h 6858000"/>
              <a:gd name="connsiteX11" fmla="*/ 10110 w 7152315"/>
              <a:gd name="connsiteY11" fmla="*/ 3630663 h 6858000"/>
              <a:gd name="connsiteX12" fmla="*/ 16581 w 7152315"/>
              <a:gd name="connsiteY12" fmla="*/ 3275427 h 6858000"/>
              <a:gd name="connsiteX13" fmla="*/ 27872 w 7152315"/>
              <a:gd name="connsiteY13" fmla="*/ 2871219 h 6858000"/>
              <a:gd name="connsiteX14" fmla="*/ 17596 w 7152315"/>
              <a:gd name="connsiteY14" fmla="*/ 2235600 h 6858000"/>
              <a:gd name="connsiteX15" fmla="*/ 14170 w 7152315"/>
              <a:gd name="connsiteY15" fmla="*/ 1894827 h 6858000"/>
              <a:gd name="connsiteX16" fmla="*/ 11632 w 7152315"/>
              <a:gd name="connsiteY16" fmla="*/ 1603026 h 6858000"/>
              <a:gd name="connsiteX17" fmla="*/ 14551 w 7152315"/>
              <a:gd name="connsiteY17" fmla="*/ 1307799 h 6858000"/>
              <a:gd name="connsiteX18" fmla="*/ 14551 w 7152315"/>
              <a:gd name="connsiteY18" fmla="*/ 887733 h 6858000"/>
              <a:gd name="connsiteX19" fmla="*/ 849 w 7152315"/>
              <a:gd name="connsiteY19" fmla="*/ 349169 h 6858000"/>
              <a:gd name="connsiteX20" fmla="*/ 1404 w 7152315"/>
              <a:gd name="connsiteY20" fmla="*/ 1605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52315" h="6858000">
                <a:moveTo>
                  <a:pt x="17101" y="0"/>
                </a:moveTo>
                <a:lnTo>
                  <a:pt x="7152315" y="0"/>
                </a:lnTo>
                <a:lnTo>
                  <a:pt x="7152315" y="6858000"/>
                </a:lnTo>
                <a:lnTo>
                  <a:pt x="15999" y="6858000"/>
                </a:lnTo>
                <a:lnTo>
                  <a:pt x="9729" y="6734157"/>
                </a:lnTo>
                <a:cubicBezTo>
                  <a:pt x="5924" y="6530150"/>
                  <a:pt x="12521" y="6326271"/>
                  <a:pt x="15819" y="6122264"/>
                </a:cubicBezTo>
                <a:cubicBezTo>
                  <a:pt x="18484" y="5952766"/>
                  <a:pt x="-1689" y="5783013"/>
                  <a:pt x="11379" y="5614784"/>
                </a:cubicBezTo>
                <a:cubicBezTo>
                  <a:pt x="22112" y="5478259"/>
                  <a:pt x="24992" y="5341214"/>
                  <a:pt x="20006" y="5204359"/>
                </a:cubicBezTo>
                <a:cubicBezTo>
                  <a:pt x="14932" y="5073429"/>
                  <a:pt x="13917" y="4942537"/>
                  <a:pt x="16962" y="4811696"/>
                </a:cubicBezTo>
                <a:cubicBezTo>
                  <a:pt x="20640" y="4660467"/>
                  <a:pt x="16962" y="4509238"/>
                  <a:pt x="13409" y="4358135"/>
                </a:cubicBezTo>
                <a:cubicBezTo>
                  <a:pt x="10872" y="4251565"/>
                  <a:pt x="10998" y="4144994"/>
                  <a:pt x="12774" y="4038423"/>
                </a:cubicBezTo>
                <a:cubicBezTo>
                  <a:pt x="15185" y="3902545"/>
                  <a:pt x="19879" y="3766540"/>
                  <a:pt x="10110" y="3630663"/>
                </a:cubicBezTo>
                <a:cubicBezTo>
                  <a:pt x="1178" y="3512306"/>
                  <a:pt x="3347" y="3393378"/>
                  <a:pt x="16581" y="3275427"/>
                </a:cubicBezTo>
                <a:cubicBezTo>
                  <a:pt x="33403" y="3141377"/>
                  <a:pt x="37183" y="3006006"/>
                  <a:pt x="27872" y="2871219"/>
                </a:cubicBezTo>
                <a:cubicBezTo>
                  <a:pt x="11315" y="2659765"/>
                  <a:pt x="7890" y="2447486"/>
                  <a:pt x="17596" y="2235600"/>
                </a:cubicBezTo>
                <a:cubicBezTo>
                  <a:pt x="22797" y="2122038"/>
                  <a:pt x="21655" y="2008261"/>
                  <a:pt x="14170" y="1894827"/>
                </a:cubicBezTo>
                <a:cubicBezTo>
                  <a:pt x="8144" y="1797670"/>
                  <a:pt x="7294" y="1700272"/>
                  <a:pt x="11632" y="1603026"/>
                </a:cubicBezTo>
                <a:cubicBezTo>
                  <a:pt x="15566" y="1504575"/>
                  <a:pt x="17215" y="1406124"/>
                  <a:pt x="14551" y="1307799"/>
                </a:cubicBezTo>
                <a:cubicBezTo>
                  <a:pt x="10872" y="1168242"/>
                  <a:pt x="10110" y="1027798"/>
                  <a:pt x="14551" y="887733"/>
                </a:cubicBezTo>
                <a:cubicBezTo>
                  <a:pt x="20894" y="708085"/>
                  <a:pt x="3132" y="528817"/>
                  <a:pt x="849" y="349169"/>
                </a:cubicBezTo>
                <a:cubicBezTo>
                  <a:pt x="24" y="286241"/>
                  <a:pt x="-769" y="223346"/>
                  <a:pt x="1404" y="16059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Marcador de contenido 2">
            <a:extLst>
              <a:ext uri="{FF2B5EF4-FFF2-40B4-BE49-F238E27FC236}">
                <a16:creationId xmlns:a16="http://schemas.microsoft.com/office/drawing/2014/main" id="{E518E1D5-876F-3846-203B-04DAD4B1D259}"/>
              </a:ext>
            </a:extLst>
          </p:cNvPr>
          <p:cNvSpPr>
            <a:spLocks noGrp="1"/>
          </p:cNvSpPr>
          <p:nvPr>
            <p:ph idx="1"/>
          </p:nvPr>
        </p:nvSpPr>
        <p:spPr>
          <a:xfrm>
            <a:off x="5568696" y="643467"/>
            <a:ext cx="5788152" cy="5571066"/>
          </a:xfrm>
        </p:spPr>
        <p:txBody>
          <a:bodyPr anchor="ctr">
            <a:normAutofit/>
          </a:bodyPr>
          <a:lstStyle/>
          <a:p>
            <a:pPr marL="0" indent="0">
              <a:buNone/>
            </a:pPr>
            <a:r>
              <a:rPr lang="es-MX" sz="1500">
                <a:solidFill>
                  <a:srgbClr val="FFFFFF"/>
                </a:solidFill>
              </a:rPr>
              <a:t>Los generadores son tipos especiales de funciones que devuelven un iterador que no almacena su contenido completo en memoria, sino que "demora" la ejecución de una expresión hasta que su valor se solicita.</a:t>
            </a:r>
          </a:p>
          <a:p>
            <a:pPr marL="0" indent="0">
              <a:buNone/>
            </a:pPr>
            <a:r>
              <a:rPr lang="pt-BR" sz="1500">
                <a:solidFill>
                  <a:srgbClr val="FFFFFF"/>
                </a:solidFill>
              </a:rPr>
              <a:t>def secuencia_infinita(): </a:t>
            </a:r>
          </a:p>
          <a:p>
            <a:pPr marL="0" indent="0">
              <a:buNone/>
            </a:pPr>
            <a:r>
              <a:rPr lang="pt-BR" sz="1500">
                <a:solidFill>
                  <a:srgbClr val="FFFFFF"/>
                </a:solidFill>
              </a:rPr>
              <a:t>num = 0 </a:t>
            </a:r>
          </a:p>
          <a:p>
            <a:pPr marL="0" indent="0">
              <a:buNone/>
            </a:pPr>
            <a:r>
              <a:rPr lang="pt-BR" sz="1500">
                <a:solidFill>
                  <a:srgbClr val="FFFFFF"/>
                </a:solidFill>
              </a:rPr>
              <a:t>while True: </a:t>
            </a:r>
          </a:p>
          <a:p>
            <a:pPr marL="0" indent="0">
              <a:buNone/>
            </a:pPr>
            <a:r>
              <a:rPr lang="pt-BR" sz="1500">
                <a:solidFill>
                  <a:srgbClr val="FFFFFF"/>
                </a:solidFill>
              </a:rPr>
              <a:t>yield num </a:t>
            </a:r>
          </a:p>
          <a:p>
            <a:pPr marL="0" indent="0">
              <a:buNone/>
            </a:pPr>
            <a:r>
              <a:rPr lang="pt-BR" sz="1500">
                <a:solidFill>
                  <a:srgbClr val="FFFFFF"/>
                </a:solidFill>
              </a:rPr>
              <a:t>num += 1 </a:t>
            </a:r>
          </a:p>
          <a:p>
            <a:pPr marL="0" indent="0">
              <a:buNone/>
            </a:pPr>
            <a:r>
              <a:rPr lang="es-MX" sz="1500">
                <a:solidFill>
                  <a:srgbClr val="FFFFFF"/>
                </a:solidFill>
              </a:rPr>
              <a:t>Dado que un ordenador no cuenta con memoria infinita, no podría generarse una secuencia de números sin límite sin la ayuda de un generador.</a:t>
            </a:r>
          </a:p>
          <a:p>
            <a:pPr marL="0" indent="0">
              <a:buNone/>
            </a:pPr>
            <a:r>
              <a:rPr lang="es-MX" sz="1500">
                <a:solidFill>
                  <a:srgbClr val="FFFFFF"/>
                </a:solidFill>
              </a:rPr>
              <a:t>Lo mismo ocurre con datos que, sin ser infinitos, ocuparían demasiado espacio en memoria de almacenarse repentinamente</a:t>
            </a:r>
          </a:p>
          <a:p>
            <a:pPr marL="0" indent="0">
              <a:buNone/>
            </a:pPr>
            <a:r>
              <a:rPr lang="es-MX" sz="1500">
                <a:solidFill>
                  <a:srgbClr val="FFFFFF"/>
                </a:solidFill>
              </a:rPr>
              <a:t>generador = secuencia_infinita() </a:t>
            </a:r>
          </a:p>
          <a:p>
            <a:pPr marL="0" indent="0">
              <a:buNone/>
            </a:pPr>
            <a:r>
              <a:rPr lang="es-MX" sz="1500">
                <a:solidFill>
                  <a:srgbClr val="FFFFFF"/>
                </a:solidFill>
              </a:rPr>
              <a:t>print(next(generador)) </a:t>
            </a:r>
          </a:p>
          <a:p>
            <a:pPr marL="0" indent="0">
              <a:buNone/>
            </a:pPr>
            <a:r>
              <a:rPr lang="es-MX" sz="1500">
                <a:solidFill>
                  <a:srgbClr val="FFFFFF"/>
                </a:solidFill>
              </a:rPr>
              <a:t>print(next(generador)) </a:t>
            </a:r>
          </a:p>
          <a:p>
            <a:pPr marL="0" indent="0">
              <a:buNone/>
            </a:pPr>
            <a:r>
              <a:rPr lang="es-MX" sz="1500">
                <a:solidFill>
                  <a:srgbClr val="FFFFFF"/>
                </a:solidFill>
              </a:rPr>
              <a:t>print(next(generador))</a:t>
            </a:r>
          </a:p>
        </p:txBody>
      </p:sp>
      <p:sp>
        <p:nvSpPr>
          <p:cNvPr id="4" name="Marcador de pie de página 3">
            <a:extLst>
              <a:ext uri="{FF2B5EF4-FFF2-40B4-BE49-F238E27FC236}">
                <a16:creationId xmlns:a16="http://schemas.microsoft.com/office/drawing/2014/main" id="{1C6324D6-73A0-01E1-189A-85EB8E71909B}"/>
              </a:ext>
            </a:extLst>
          </p:cNvPr>
          <p:cNvSpPr>
            <a:spLocks noGrp="1"/>
          </p:cNvSpPr>
          <p:nvPr>
            <p:ph type="ftr" sz="quarter" idx="11"/>
          </p:nvPr>
        </p:nvSpPr>
        <p:spPr>
          <a:xfrm>
            <a:off x="5568696" y="6356350"/>
            <a:ext cx="4114800" cy="365125"/>
          </a:xfrm>
        </p:spPr>
        <p:txBody>
          <a:bodyPr>
            <a:normAutofit/>
          </a:bodyPr>
          <a:lstStyle/>
          <a:p>
            <a:pPr algn="l">
              <a:spcAft>
                <a:spcPts val="600"/>
              </a:spcAft>
            </a:pPr>
            <a:r>
              <a:rPr lang="es-MX">
                <a:solidFill>
                  <a:srgbClr val="FFFFFF"/>
                </a:solidFill>
              </a:rPr>
              <a:t>Arabots Robotics</a:t>
            </a:r>
          </a:p>
        </p:txBody>
      </p:sp>
      <p:sp>
        <p:nvSpPr>
          <p:cNvPr id="5" name="Marcador de número de diapositiva 4">
            <a:extLst>
              <a:ext uri="{FF2B5EF4-FFF2-40B4-BE49-F238E27FC236}">
                <a16:creationId xmlns:a16="http://schemas.microsoft.com/office/drawing/2014/main" id="{85FD9C62-F3E4-4119-FD83-4C410D08637C}"/>
              </a:ext>
            </a:extLst>
          </p:cNvPr>
          <p:cNvSpPr>
            <a:spLocks noGrp="1"/>
          </p:cNvSpPr>
          <p:nvPr>
            <p:ph type="sldNum" sz="quarter" idx="12"/>
          </p:nvPr>
        </p:nvSpPr>
        <p:spPr>
          <a:xfrm>
            <a:off x="10134600" y="6356350"/>
            <a:ext cx="1219200" cy="365125"/>
          </a:xfrm>
        </p:spPr>
        <p:txBody>
          <a:bodyPr>
            <a:normAutofit/>
          </a:bodyPr>
          <a:lstStyle/>
          <a:p>
            <a:pPr>
              <a:spcAft>
                <a:spcPts val="600"/>
              </a:spcAft>
            </a:pPr>
            <a:fld id="{4EA4A3B0-B5DF-4E2B-B48F-E4B7B7872040}" type="slidenum">
              <a:rPr lang="es-MX">
                <a:solidFill>
                  <a:srgbClr val="FFFFFF"/>
                </a:solidFill>
              </a:rPr>
              <a:pPr>
                <a:spcAft>
                  <a:spcPts val="600"/>
                </a:spcAft>
              </a:pPr>
              <a:t>188</a:t>
            </a:fld>
            <a:endParaRPr lang="es-MX">
              <a:solidFill>
                <a:srgbClr val="FFFFFF"/>
              </a:solidFill>
            </a:endParaRPr>
          </a:p>
        </p:txBody>
      </p:sp>
    </p:spTree>
    <p:extLst>
      <p:ext uri="{BB962C8B-B14F-4D97-AF65-F5344CB8AC3E}">
        <p14:creationId xmlns:p14="http://schemas.microsoft.com/office/powerpoint/2010/main" val="188659527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C32DF3D-3F59-481D-A237-77C31AD492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7BD08EA-41EE-BD7B-8C1A-D04B6A66B3B4}"/>
              </a:ext>
            </a:extLst>
          </p:cNvPr>
          <p:cNvSpPr>
            <a:spLocks noGrp="1"/>
          </p:cNvSpPr>
          <p:nvPr>
            <p:ph type="title"/>
          </p:nvPr>
        </p:nvSpPr>
        <p:spPr>
          <a:xfrm>
            <a:off x="841248" y="643467"/>
            <a:ext cx="3840480" cy="5571066"/>
          </a:xfrm>
        </p:spPr>
        <p:txBody>
          <a:bodyPr anchor="ctr">
            <a:normAutofit/>
          </a:bodyPr>
          <a:lstStyle/>
          <a:p>
            <a:r>
              <a:rPr lang="es-MX" sz="5400"/>
              <a:t>Ejercicios</a:t>
            </a:r>
          </a:p>
        </p:txBody>
      </p:sp>
      <p:sp>
        <p:nvSpPr>
          <p:cNvPr id="12" name="Freeform: Shape 11">
            <a:extLst>
              <a:ext uri="{FF2B5EF4-FFF2-40B4-BE49-F238E27FC236}">
                <a16:creationId xmlns:a16="http://schemas.microsoft.com/office/drawing/2014/main" id="{32F02326-30C4-4095-988F-932A425AE2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39686" y="0"/>
            <a:ext cx="7152315" cy="6858000"/>
          </a:xfrm>
          <a:custGeom>
            <a:avLst/>
            <a:gdLst>
              <a:gd name="connsiteX0" fmla="*/ 17101 w 7152315"/>
              <a:gd name="connsiteY0" fmla="*/ 0 h 6858000"/>
              <a:gd name="connsiteX1" fmla="*/ 7152315 w 7152315"/>
              <a:gd name="connsiteY1" fmla="*/ 0 h 6858000"/>
              <a:gd name="connsiteX2" fmla="*/ 7152315 w 7152315"/>
              <a:gd name="connsiteY2" fmla="*/ 6858000 h 6858000"/>
              <a:gd name="connsiteX3" fmla="*/ 15999 w 7152315"/>
              <a:gd name="connsiteY3" fmla="*/ 6858000 h 6858000"/>
              <a:gd name="connsiteX4" fmla="*/ 9729 w 7152315"/>
              <a:gd name="connsiteY4" fmla="*/ 6734157 h 6858000"/>
              <a:gd name="connsiteX5" fmla="*/ 15819 w 7152315"/>
              <a:gd name="connsiteY5" fmla="*/ 6122264 h 6858000"/>
              <a:gd name="connsiteX6" fmla="*/ 11379 w 7152315"/>
              <a:gd name="connsiteY6" fmla="*/ 5614784 h 6858000"/>
              <a:gd name="connsiteX7" fmla="*/ 20006 w 7152315"/>
              <a:gd name="connsiteY7" fmla="*/ 5204359 h 6858000"/>
              <a:gd name="connsiteX8" fmla="*/ 16962 w 7152315"/>
              <a:gd name="connsiteY8" fmla="*/ 4811696 h 6858000"/>
              <a:gd name="connsiteX9" fmla="*/ 13409 w 7152315"/>
              <a:gd name="connsiteY9" fmla="*/ 4358135 h 6858000"/>
              <a:gd name="connsiteX10" fmla="*/ 12774 w 7152315"/>
              <a:gd name="connsiteY10" fmla="*/ 4038423 h 6858000"/>
              <a:gd name="connsiteX11" fmla="*/ 10110 w 7152315"/>
              <a:gd name="connsiteY11" fmla="*/ 3630663 h 6858000"/>
              <a:gd name="connsiteX12" fmla="*/ 16581 w 7152315"/>
              <a:gd name="connsiteY12" fmla="*/ 3275427 h 6858000"/>
              <a:gd name="connsiteX13" fmla="*/ 27872 w 7152315"/>
              <a:gd name="connsiteY13" fmla="*/ 2871219 h 6858000"/>
              <a:gd name="connsiteX14" fmla="*/ 17596 w 7152315"/>
              <a:gd name="connsiteY14" fmla="*/ 2235600 h 6858000"/>
              <a:gd name="connsiteX15" fmla="*/ 14170 w 7152315"/>
              <a:gd name="connsiteY15" fmla="*/ 1894827 h 6858000"/>
              <a:gd name="connsiteX16" fmla="*/ 11632 w 7152315"/>
              <a:gd name="connsiteY16" fmla="*/ 1603026 h 6858000"/>
              <a:gd name="connsiteX17" fmla="*/ 14551 w 7152315"/>
              <a:gd name="connsiteY17" fmla="*/ 1307799 h 6858000"/>
              <a:gd name="connsiteX18" fmla="*/ 14551 w 7152315"/>
              <a:gd name="connsiteY18" fmla="*/ 887733 h 6858000"/>
              <a:gd name="connsiteX19" fmla="*/ 849 w 7152315"/>
              <a:gd name="connsiteY19" fmla="*/ 349169 h 6858000"/>
              <a:gd name="connsiteX20" fmla="*/ 1404 w 7152315"/>
              <a:gd name="connsiteY20" fmla="*/ 1605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52315" h="6858000">
                <a:moveTo>
                  <a:pt x="17101" y="0"/>
                </a:moveTo>
                <a:lnTo>
                  <a:pt x="7152315" y="0"/>
                </a:lnTo>
                <a:lnTo>
                  <a:pt x="7152315" y="6858000"/>
                </a:lnTo>
                <a:lnTo>
                  <a:pt x="15999" y="6858000"/>
                </a:lnTo>
                <a:lnTo>
                  <a:pt x="9729" y="6734157"/>
                </a:lnTo>
                <a:cubicBezTo>
                  <a:pt x="5924" y="6530150"/>
                  <a:pt x="12521" y="6326271"/>
                  <a:pt x="15819" y="6122264"/>
                </a:cubicBezTo>
                <a:cubicBezTo>
                  <a:pt x="18484" y="5952766"/>
                  <a:pt x="-1689" y="5783013"/>
                  <a:pt x="11379" y="5614784"/>
                </a:cubicBezTo>
                <a:cubicBezTo>
                  <a:pt x="22112" y="5478259"/>
                  <a:pt x="24992" y="5341214"/>
                  <a:pt x="20006" y="5204359"/>
                </a:cubicBezTo>
                <a:cubicBezTo>
                  <a:pt x="14932" y="5073429"/>
                  <a:pt x="13917" y="4942537"/>
                  <a:pt x="16962" y="4811696"/>
                </a:cubicBezTo>
                <a:cubicBezTo>
                  <a:pt x="20640" y="4660467"/>
                  <a:pt x="16962" y="4509238"/>
                  <a:pt x="13409" y="4358135"/>
                </a:cubicBezTo>
                <a:cubicBezTo>
                  <a:pt x="10872" y="4251565"/>
                  <a:pt x="10998" y="4144994"/>
                  <a:pt x="12774" y="4038423"/>
                </a:cubicBezTo>
                <a:cubicBezTo>
                  <a:pt x="15185" y="3902545"/>
                  <a:pt x="19879" y="3766540"/>
                  <a:pt x="10110" y="3630663"/>
                </a:cubicBezTo>
                <a:cubicBezTo>
                  <a:pt x="1178" y="3512306"/>
                  <a:pt x="3347" y="3393378"/>
                  <a:pt x="16581" y="3275427"/>
                </a:cubicBezTo>
                <a:cubicBezTo>
                  <a:pt x="33403" y="3141377"/>
                  <a:pt x="37183" y="3006006"/>
                  <a:pt x="27872" y="2871219"/>
                </a:cubicBezTo>
                <a:cubicBezTo>
                  <a:pt x="11315" y="2659765"/>
                  <a:pt x="7890" y="2447486"/>
                  <a:pt x="17596" y="2235600"/>
                </a:cubicBezTo>
                <a:cubicBezTo>
                  <a:pt x="22797" y="2122038"/>
                  <a:pt x="21655" y="2008261"/>
                  <a:pt x="14170" y="1894827"/>
                </a:cubicBezTo>
                <a:cubicBezTo>
                  <a:pt x="8144" y="1797670"/>
                  <a:pt x="7294" y="1700272"/>
                  <a:pt x="11632" y="1603026"/>
                </a:cubicBezTo>
                <a:cubicBezTo>
                  <a:pt x="15566" y="1504575"/>
                  <a:pt x="17215" y="1406124"/>
                  <a:pt x="14551" y="1307799"/>
                </a:cubicBezTo>
                <a:cubicBezTo>
                  <a:pt x="10872" y="1168242"/>
                  <a:pt x="10110" y="1027798"/>
                  <a:pt x="14551" y="887733"/>
                </a:cubicBezTo>
                <a:cubicBezTo>
                  <a:pt x="20894" y="708085"/>
                  <a:pt x="3132" y="528817"/>
                  <a:pt x="849" y="349169"/>
                </a:cubicBezTo>
                <a:cubicBezTo>
                  <a:pt x="24" y="286241"/>
                  <a:pt x="-769" y="223346"/>
                  <a:pt x="1404" y="16059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Marcador de contenido 2">
            <a:extLst>
              <a:ext uri="{FF2B5EF4-FFF2-40B4-BE49-F238E27FC236}">
                <a16:creationId xmlns:a16="http://schemas.microsoft.com/office/drawing/2014/main" id="{2228EE68-9135-06EF-8B86-9D6A47E8D389}"/>
              </a:ext>
            </a:extLst>
          </p:cNvPr>
          <p:cNvSpPr>
            <a:spLocks noGrp="1"/>
          </p:cNvSpPr>
          <p:nvPr>
            <p:ph idx="1"/>
          </p:nvPr>
        </p:nvSpPr>
        <p:spPr>
          <a:xfrm>
            <a:off x="5568696" y="643467"/>
            <a:ext cx="5788152" cy="5571066"/>
          </a:xfrm>
        </p:spPr>
        <p:txBody>
          <a:bodyPr anchor="ctr">
            <a:normAutofit/>
          </a:bodyPr>
          <a:lstStyle/>
          <a:p>
            <a:pPr marL="0" indent="0">
              <a:buNone/>
            </a:pPr>
            <a:r>
              <a:rPr kumimoji="0" lang="es-MX" altLang="es-MX" sz="2000" b="0" i="0" u="none" strike="noStrike" cap="none" normalizeH="0" baseline="0">
                <a:ln>
                  <a:noFill/>
                </a:ln>
                <a:solidFill>
                  <a:srgbClr val="FFFFFF"/>
                </a:solidFill>
                <a:effectLst/>
                <a:latin typeface="udemy sans"/>
              </a:rPr>
              <a:t>Crea un generador (almacenado en la variable </a:t>
            </a:r>
            <a:r>
              <a:rPr kumimoji="0" lang="es-MX" altLang="es-MX" sz="2000" b="0" i="0" u="none" strike="noStrike" cap="none" normalizeH="0" baseline="0">
                <a:ln>
                  <a:noFill/>
                </a:ln>
                <a:solidFill>
                  <a:srgbClr val="FFFFFF"/>
                </a:solidFill>
                <a:effectLst/>
                <a:latin typeface="sfmono-regular"/>
              </a:rPr>
              <a:t>generador</a:t>
            </a:r>
            <a:r>
              <a:rPr kumimoji="0" lang="es-MX" altLang="es-MX" sz="2000" b="0" i="0" u="none" strike="noStrike" cap="none" normalizeH="0" baseline="0">
                <a:ln>
                  <a:noFill/>
                </a:ln>
                <a:solidFill>
                  <a:srgbClr val="FFFFFF"/>
                </a:solidFill>
                <a:effectLst/>
                <a:latin typeface="udemy sans"/>
              </a:rPr>
              <a:t>) que sea capaz de devolver una secuencia infinita de números, iniciando desde el 1, y entregando un número consecutivo superior cada vez que sea llamada mediante </a:t>
            </a:r>
            <a:r>
              <a:rPr kumimoji="0" lang="es-MX" altLang="es-MX" sz="2000" b="0" i="0" u="none" strike="noStrike" cap="none" normalizeH="0" baseline="0">
                <a:ln>
                  <a:noFill/>
                </a:ln>
                <a:solidFill>
                  <a:srgbClr val="FFFFFF"/>
                </a:solidFill>
                <a:effectLst/>
                <a:latin typeface="sfmono-regular"/>
              </a:rPr>
              <a:t>next</a:t>
            </a:r>
            <a:r>
              <a:rPr kumimoji="0" lang="es-MX" altLang="es-MX" sz="2000" b="0" i="0" u="none" strike="noStrike" cap="none" normalizeH="0" baseline="0">
                <a:ln>
                  <a:noFill/>
                </a:ln>
                <a:solidFill>
                  <a:srgbClr val="FFFFFF"/>
                </a:solidFill>
                <a:effectLst/>
                <a:latin typeface="udemy sans"/>
              </a:rPr>
              <a:t>.</a:t>
            </a:r>
            <a:r>
              <a:rPr kumimoji="0" lang="es-MX" altLang="es-MX" sz="2000" b="0" i="0" u="none" strike="noStrike" cap="none" normalizeH="0" baseline="0">
                <a:ln>
                  <a:noFill/>
                </a:ln>
                <a:solidFill>
                  <a:srgbClr val="FFFFFF"/>
                </a:solidFill>
                <a:effectLst/>
              </a:rPr>
              <a:t> </a:t>
            </a:r>
          </a:p>
          <a:p>
            <a:pPr marL="0" indent="0">
              <a:buNone/>
            </a:pPr>
            <a:r>
              <a:rPr kumimoji="0" lang="es-MX" altLang="es-MX" sz="2000" b="0" i="0" u="none" strike="noStrike" cap="none" normalizeH="0" baseline="0">
                <a:ln>
                  <a:noFill/>
                </a:ln>
                <a:solidFill>
                  <a:srgbClr val="FFFFFF"/>
                </a:solidFill>
                <a:effectLst/>
                <a:latin typeface="udemy sans"/>
              </a:rPr>
              <a:t>Crea un generador (almacenado en la variable </a:t>
            </a:r>
            <a:r>
              <a:rPr kumimoji="0" lang="es-MX" altLang="es-MX" sz="2000" b="0" i="0" u="none" strike="noStrike" cap="none" normalizeH="0" baseline="0">
                <a:ln>
                  <a:noFill/>
                </a:ln>
                <a:solidFill>
                  <a:srgbClr val="FFFFFF"/>
                </a:solidFill>
                <a:effectLst/>
                <a:latin typeface="sfmono-regular"/>
              </a:rPr>
              <a:t>generador</a:t>
            </a:r>
            <a:r>
              <a:rPr kumimoji="0" lang="es-MX" altLang="es-MX" sz="2000" b="0" i="0" u="none" strike="noStrike" cap="none" normalizeH="0" baseline="0">
                <a:ln>
                  <a:noFill/>
                </a:ln>
                <a:solidFill>
                  <a:srgbClr val="FFFFFF"/>
                </a:solidFill>
                <a:effectLst/>
                <a:latin typeface="udemy sans"/>
              </a:rPr>
              <a:t>) que sea capaz de devolver de manera indefinida múltiplos de 7, iniciando desde el mismo 7, y que cada vez que sea llamado devuelva el siguiente múltiplo (7, 14, 21, 28...).</a:t>
            </a:r>
            <a:r>
              <a:rPr kumimoji="0" lang="es-MX" altLang="es-MX" sz="2000" b="0" i="0" u="none" strike="noStrike" cap="none" normalizeH="0" baseline="0">
                <a:ln>
                  <a:noFill/>
                </a:ln>
                <a:solidFill>
                  <a:srgbClr val="FFFFFF"/>
                </a:solidFill>
                <a:effectLst/>
              </a:rPr>
              <a:t> </a:t>
            </a:r>
          </a:p>
          <a:p>
            <a:pPr marL="0" indent="0">
              <a:buNone/>
            </a:pPr>
            <a:endParaRPr lang="es-MX" altLang="es-MX" sz="2000">
              <a:solidFill>
                <a:srgbClr val="FFFFFF"/>
              </a:solidFill>
              <a:latin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r>
              <a:rPr kumimoji="0" lang="es-MX" altLang="es-MX" sz="2000" b="0" i="0" u="none" strike="noStrike" cap="none" normalizeH="0" baseline="0">
                <a:ln>
                  <a:noFill/>
                </a:ln>
                <a:solidFill>
                  <a:srgbClr val="FFFFFF"/>
                </a:solidFill>
                <a:effectLst/>
                <a:latin typeface="udemy sans"/>
              </a:rPr>
              <a:t>Crea un generador que reste una a una las vidas de un personaje de videojuego, y devuelva un mensaje cada vez que sea llamado:</a:t>
            </a:r>
            <a:endParaRPr kumimoji="0" lang="es-MX" altLang="es-MX" sz="2000" b="0" i="0" u="none" strike="noStrike" cap="none" normalizeH="0" baseline="0">
              <a:ln>
                <a:noFill/>
              </a:ln>
              <a:solidFill>
                <a:srgbClr val="FFFFFF"/>
              </a:solidFill>
              <a:effectLst/>
            </a:endParaRPr>
          </a:p>
          <a:p>
            <a:pPr marL="0" marR="0" lvl="0" indent="0" defTabSz="914400" rtl="0" eaLnBrk="0" fontAlgn="base" latinLnBrk="0" hangingPunct="0">
              <a:spcBef>
                <a:spcPct val="0"/>
              </a:spcBef>
              <a:spcAft>
                <a:spcPct val="0"/>
              </a:spcAft>
              <a:buClrTx/>
              <a:buSzTx/>
              <a:buFontTx/>
              <a:buAutoNum type="arabicPeriod"/>
              <a:tabLst/>
            </a:pPr>
            <a:r>
              <a:rPr kumimoji="0" lang="es-MX" altLang="es-MX" sz="2000" b="0" i="0" u="none" strike="noStrike" cap="none" normalizeH="0" baseline="0">
                <a:ln>
                  <a:noFill/>
                </a:ln>
                <a:solidFill>
                  <a:srgbClr val="FFFFFF"/>
                </a:solidFill>
                <a:effectLst/>
                <a:latin typeface="udemy sans"/>
              </a:rPr>
              <a:t>"Te quedan 3 vidas"</a:t>
            </a:r>
          </a:p>
          <a:p>
            <a:pPr marL="0" marR="0" lvl="0" indent="0" defTabSz="914400" rtl="0" eaLnBrk="0" fontAlgn="base" latinLnBrk="0" hangingPunct="0">
              <a:spcBef>
                <a:spcPct val="0"/>
              </a:spcBef>
              <a:spcAft>
                <a:spcPct val="0"/>
              </a:spcAft>
              <a:buClrTx/>
              <a:buSzTx/>
              <a:buFontTx/>
              <a:buAutoNum type="arabicPeriod" startAt="2"/>
              <a:tabLst/>
            </a:pPr>
            <a:r>
              <a:rPr kumimoji="0" lang="es-MX" altLang="es-MX" sz="2000" b="0" i="0" u="none" strike="noStrike" cap="none" normalizeH="0" baseline="0">
                <a:ln>
                  <a:noFill/>
                </a:ln>
                <a:solidFill>
                  <a:srgbClr val="FFFFFF"/>
                </a:solidFill>
                <a:effectLst/>
                <a:latin typeface="udemy sans"/>
              </a:rPr>
              <a:t>"Te quedan 2 vidas"</a:t>
            </a:r>
          </a:p>
          <a:p>
            <a:pPr marL="0" marR="0" lvl="0" indent="0" defTabSz="914400" rtl="0" eaLnBrk="0" fontAlgn="base" latinLnBrk="0" hangingPunct="0">
              <a:spcBef>
                <a:spcPct val="0"/>
              </a:spcBef>
              <a:spcAft>
                <a:spcPct val="0"/>
              </a:spcAft>
              <a:buClrTx/>
              <a:buSzTx/>
              <a:buFontTx/>
              <a:buAutoNum type="arabicPeriod" startAt="3"/>
              <a:tabLst/>
            </a:pPr>
            <a:r>
              <a:rPr kumimoji="0" lang="es-MX" altLang="es-MX" sz="2000" b="0" i="0" u="none" strike="noStrike" cap="none" normalizeH="0" baseline="0">
                <a:ln>
                  <a:noFill/>
                </a:ln>
                <a:solidFill>
                  <a:srgbClr val="FFFFFF"/>
                </a:solidFill>
                <a:effectLst/>
                <a:latin typeface="udemy sans"/>
              </a:rPr>
              <a:t>"Te queda 1 vida"</a:t>
            </a:r>
          </a:p>
          <a:p>
            <a:pPr marL="0" marR="0" lvl="0" indent="0" defTabSz="914400" rtl="0" eaLnBrk="0" fontAlgn="base" latinLnBrk="0" hangingPunct="0">
              <a:spcBef>
                <a:spcPct val="0"/>
              </a:spcBef>
              <a:spcAft>
                <a:spcPct val="0"/>
              </a:spcAft>
              <a:buClrTx/>
              <a:buSzTx/>
              <a:buFontTx/>
              <a:buAutoNum type="arabicPeriod" startAt="4"/>
              <a:tabLst/>
            </a:pPr>
            <a:r>
              <a:rPr kumimoji="0" lang="es-MX" altLang="es-MX" sz="2000" b="0" i="0" u="none" strike="noStrike" cap="none" normalizeH="0" baseline="0">
                <a:ln>
                  <a:noFill/>
                </a:ln>
                <a:solidFill>
                  <a:srgbClr val="FFFFFF"/>
                </a:solidFill>
                <a:effectLst/>
                <a:latin typeface="udemy sans"/>
              </a:rPr>
              <a:t>"Game Over"</a:t>
            </a:r>
          </a:p>
          <a:p>
            <a:pPr marL="0" marR="0" lvl="0" indent="0" defTabSz="914400" rtl="0" eaLnBrk="0" fontAlgn="base" latinLnBrk="0" hangingPunct="0">
              <a:spcBef>
                <a:spcPct val="0"/>
              </a:spcBef>
              <a:spcAft>
                <a:spcPct val="0"/>
              </a:spcAft>
              <a:buClrTx/>
              <a:buSzTx/>
              <a:buFontTx/>
              <a:buNone/>
              <a:tabLst/>
            </a:pPr>
            <a:r>
              <a:rPr kumimoji="0" lang="es-MX" altLang="es-MX" sz="2000" b="0" i="0" u="none" strike="noStrike" cap="none" normalizeH="0" baseline="0">
                <a:ln>
                  <a:noFill/>
                </a:ln>
                <a:solidFill>
                  <a:srgbClr val="FFFFFF"/>
                </a:solidFill>
                <a:effectLst/>
                <a:latin typeface="udemy sans"/>
              </a:rPr>
              <a:t>Almacena el generador en la variable </a:t>
            </a:r>
            <a:r>
              <a:rPr kumimoji="0" lang="es-MX" altLang="es-MX" sz="2000" b="0" i="0" u="none" strike="noStrike" cap="none" normalizeH="0" baseline="0">
                <a:ln>
                  <a:noFill/>
                </a:ln>
                <a:solidFill>
                  <a:srgbClr val="FFFFFF"/>
                </a:solidFill>
                <a:effectLst/>
                <a:latin typeface="sfmono-regular"/>
              </a:rPr>
              <a:t>perder_vida</a:t>
            </a:r>
            <a:endParaRPr kumimoji="0" lang="es-MX" altLang="es-MX" sz="2000" b="0" i="0" u="none" strike="noStrike" cap="none" normalizeH="0" baseline="0">
              <a:ln>
                <a:noFill/>
              </a:ln>
              <a:solidFill>
                <a:srgbClr val="FFFFFF"/>
              </a:solidFill>
              <a:effectLst/>
              <a:latin typeface="Arial" panose="020B0604020202020204" pitchFamily="34" charset="0"/>
            </a:endParaRPr>
          </a:p>
          <a:p>
            <a:pPr marL="0" indent="0">
              <a:buNone/>
            </a:pPr>
            <a:endParaRPr kumimoji="0" lang="es-MX" altLang="es-MX" sz="2000" b="0" i="0" u="none" strike="noStrike" cap="none" normalizeH="0" baseline="0">
              <a:ln>
                <a:noFill/>
              </a:ln>
              <a:solidFill>
                <a:srgbClr val="FFFFFF"/>
              </a:solidFill>
              <a:effectLst/>
              <a:latin typeface="Arial" panose="020B0604020202020204" pitchFamily="34" charset="0"/>
            </a:endParaRPr>
          </a:p>
          <a:p>
            <a:pPr marL="0" indent="0">
              <a:buNone/>
            </a:pPr>
            <a:endParaRPr kumimoji="0" lang="es-MX" altLang="es-MX" sz="2000" b="0" i="0" u="none" strike="noStrike" cap="none" normalizeH="0" baseline="0">
              <a:ln>
                <a:noFill/>
              </a:ln>
              <a:solidFill>
                <a:srgbClr val="FFFFFF"/>
              </a:solidFill>
              <a:effectLst/>
              <a:latin typeface="Arial" panose="020B0604020202020204" pitchFamily="34" charset="0"/>
            </a:endParaRPr>
          </a:p>
          <a:p>
            <a:pPr marL="0" indent="0">
              <a:buNone/>
            </a:pPr>
            <a:endParaRPr lang="es-MX" sz="2000">
              <a:solidFill>
                <a:srgbClr val="FFFFFF"/>
              </a:solidFill>
            </a:endParaRPr>
          </a:p>
        </p:txBody>
      </p:sp>
      <p:sp>
        <p:nvSpPr>
          <p:cNvPr id="4" name="Marcador de pie de página 3">
            <a:extLst>
              <a:ext uri="{FF2B5EF4-FFF2-40B4-BE49-F238E27FC236}">
                <a16:creationId xmlns:a16="http://schemas.microsoft.com/office/drawing/2014/main" id="{04E86458-907A-1D6D-7CDC-1726775DD277}"/>
              </a:ext>
            </a:extLst>
          </p:cNvPr>
          <p:cNvSpPr>
            <a:spLocks noGrp="1"/>
          </p:cNvSpPr>
          <p:nvPr>
            <p:ph type="ftr" sz="quarter" idx="11"/>
          </p:nvPr>
        </p:nvSpPr>
        <p:spPr>
          <a:xfrm>
            <a:off x="5568696" y="6356350"/>
            <a:ext cx="4114800" cy="365125"/>
          </a:xfrm>
        </p:spPr>
        <p:txBody>
          <a:bodyPr>
            <a:normAutofit/>
          </a:bodyPr>
          <a:lstStyle/>
          <a:p>
            <a:pPr algn="l">
              <a:spcAft>
                <a:spcPts val="600"/>
              </a:spcAft>
            </a:pPr>
            <a:r>
              <a:rPr lang="es-MX">
                <a:solidFill>
                  <a:srgbClr val="FFFFFF"/>
                </a:solidFill>
              </a:rPr>
              <a:t>Arabots Robotics</a:t>
            </a:r>
          </a:p>
        </p:txBody>
      </p:sp>
      <p:sp>
        <p:nvSpPr>
          <p:cNvPr id="5" name="Marcador de número de diapositiva 4">
            <a:extLst>
              <a:ext uri="{FF2B5EF4-FFF2-40B4-BE49-F238E27FC236}">
                <a16:creationId xmlns:a16="http://schemas.microsoft.com/office/drawing/2014/main" id="{E566A306-DE46-EE48-EA6B-F3BBDD20BFA8}"/>
              </a:ext>
            </a:extLst>
          </p:cNvPr>
          <p:cNvSpPr>
            <a:spLocks noGrp="1"/>
          </p:cNvSpPr>
          <p:nvPr>
            <p:ph type="sldNum" sz="quarter" idx="12"/>
          </p:nvPr>
        </p:nvSpPr>
        <p:spPr>
          <a:xfrm>
            <a:off x="10134600" y="6356350"/>
            <a:ext cx="1219200" cy="365125"/>
          </a:xfrm>
        </p:spPr>
        <p:txBody>
          <a:bodyPr>
            <a:normAutofit/>
          </a:bodyPr>
          <a:lstStyle/>
          <a:p>
            <a:pPr>
              <a:spcAft>
                <a:spcPts val="600"/>
              </a:spcAft>
            </a:pPr>
            <a:fld id="{4EA4A3B0-B5DF-4E2B-B48F-E4B7B7872040}" type="slidenum">
              <a:rPr lang="es-MX">
                <a:solidFill>
                  <a:srgbClr val="FFFFFF"/>
                </a:solidFill>
              </a:rPr>
              <a:pPr>
                <a:spcAft>
                  <a:spcPts val="600"/>
                </a:spcAft>
              </a:pPr>
              <a:t>189</a:t>
            </a:fld>
            <a:endParaRPr lang="es-MX">
              <a:solidFill>
                <a:srgbClr val="FFFFFF"/>
              </a:solidFill>
            </a:endParaRPr>
          </a:p>
        </p:txBody>
      </p:sp>
    </p:spTree>
    <p:extLst>
      <p:ext uri="{BB962C8B-B14F-4D97-AF65-F5344CB8AC3E}">
        <p14:creationId xmlns:p14="http://schemas.microsoft.com/office/powerpoint/2010/main" val="218380451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E00E91F-91AF-4641-45C4-AEA412C8F10D}"/>
              </a:ext>
            </a:extLst>
          </p:cNvPr>
          <p:cNvPicPr>
            <a:picLocks noChangeAspect="1"/>
          </p:cNvPicPr>
          <p:nvPr/>
        </p:nvPicPr>
        <p:blipFill rotWithShape="1">
          <a:blip r:embed="rId2">
            <a:alphaModFix amt="50000"/>
          </a:blip>
          <a:srcRect r="1779" b="1"/>
          <a:stretch/>
        </p:blipFill>
        <p:spPr>
          <a:xfrm>
            <a:off x="20" y="1"/>
            <a:ext cx="12191980" cy="6857999"/>
          </a:xfrm>
          <a:prstGeom prst="rect">
            <a:avLst/>
          </a:prstGeom>
        </p:spPr>
      </p:pic>
      <p:sp>
        <p:nvSpPr>
          <p:cNvPr id="2" name="Título 1">
            <a:extLst>
              <a:ext uri="{FF2B5EF4-FFF2-40B4-BE49-F238E27FC236}">
                <a16:creationId xmlns:a16="http://schemas.microsoft.com/office/drawing/2014/main" id="{ACCBBA16-FC02-B333-9E6F-1AFB1BA90949}"/>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dirty="0">
                <a:solidFill>
                  <a:srgbClr val="FFFFFF"/>
                </a:solidFill>
              </a:rPr>
              <a:t>end</a:t>
            </a:r>
          </a:p>
        </p:txBody>
      </p:sp>
      <p:sp>
        <p:nvSpPr>
          <p:cNvPr id="3" name="Marcador de texto 2">
            <a:extLst>
              <a:ext uri="{FF2B5EF4-FFF2-40B4-BE49-F238E27FC236}">
                <a16:creationId xmlns:a16="http://schemas.microsoft.com/office/drawing/2014/main" id="{026BF96F-2225-BEA7-C1FC-A736460635C6}"/>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endParaRPr lang="en-US">
              <a:solidFill>
                <a:srgbClr val="FFFFFF"/>
              </a:solidFill>
            </a:endParaRPr>
          </a:p>
        </p:txBody>
      </p:sp>
      <p:sp>
        <p:nvSpPr>
          <p:cNvPr id="4" name="Marcador de pie de página 3">
            <a:extLst>
              <a:ext uri="{FF2B5EF4-FFF2-40B4-BE49-F238E27FC236}">
                <a16:creationId xmlns:a16="http://schemas.microsoft.com/office/drawing/2014/main" id="{B15A23D0-F8B1-D7E2-0262-65B6196C44D8}"/>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srgbClr val="FFFFFF"/>
                </a:solidFill>
                <a:latin typeface="Calibri" panose="020F0502020204030204"/>
                <a:ea typeface="+mn-ea"/>
                <a:cs typeface="+mn-cs"/>
              </a:rPr>
              <a:t>Arabots Robotics</a:t>
            </a:r>
          </a:p>
        </p:txBody>
      </p:sp>
      <p:sp>
        <p:nvSpPr>
          <p:cNvPr id="5" name="Marcador de número de diapositiva 4">
            <a:extLst>
              <a:ext uri="{FF2B5EF4-FFF2-40B4-BE49-F238E27FC236}">
                <a16:creationId xmlns:a16="http://schemas.microsoft.com/office/drawing/2014/main" id="{C67F45E2-5841-156B-E4D6-F413CC6B27A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4EA4A3B0-B5DF-4E2B-B48F-E4B7B7872040}" type="slidenum">
              <a:rPr lang="en-US">
                <a:solidFill>
                  <a:srgbClr val="FFFFFF"/>
                </a:solidFill>
                <a:latin typeface="Calibri" panose="020F0502020204030204"/>
              </a:rPr>
              <a:pPr>
                <a:spcAft>
                  <a:spcPts val="600"/>
                </a:spcAft>
                <a:defRPr/>
              </a:pPr>
              <a:t>190</a:t>
            </a:fld>
            <a:endParaRPr lang="en-US">
              <a:solidFill>
                <a:srgbClr val="FFFFFF"/>
              </a:solidFill>
              <a:latin typeface="Calibri" panose="020F0502020204030204"/>
            </a:endParaRPr>
          </a:p>
        </p:txBody>
      </p:sp>
    </p:spTree>
    <p:extLst>
      <p:ext uri="{BB962C8B-B14F-4D97-AF65-F5344CB8AC3E}">
        <p14:creationId xmlns:p14="http://schemas.microsoft.com/office/powerpoint/2010/main" val="1077976984"/>
      </p:ext>
    </p:extLst>
  </p:cSld>
  <p:clrMapOvr>
    <a:overrideClrMapping bg1="dk1" tx1="lt1" bg2="dk2" tx2="lt2" accent1="accent1" accent2="accent2" accent3="accent3" accent4="accent4" accent5="accent5" accent6="accent6" hlink="hlink" folHlink="folHlink"/>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3733B7-351E-AC75-A61D-E36A932F2362}"/>
              </a:ext>
            </a:extLst>
          </p:cNvPr>
          <p:cNvSpPr>
            <a:spLocks noGrp="1"/>
          </p:cNvSpPr>
          <p:nvPr>
            <p:ph type="title"/>
          </p:nvPr>
        </p:nvSpPr>
        <p:spPr/>
        <p:txBody>
          <a:bodyPr/>
          <a:lstStyle/>
          <a:p>
            <a:r>
              <a:rPr lang="es-MX" dirty="0">
                <a:solidFill>
                  <a:schemeClr val="bg1"/>
                </a:solidFill>
              </a:rPr>
              <a:t>Clase 9</a:t>
            </a:r>
            <a:br>
              <a:rPr lang="es-MX" dirty="0">
                <a:solidFill>
                  <a:schemeClr val="bg1"/>
                </a:solidFill>
              </a:rPr>
            </a:br>
            <a:r>
              <a:rPr lang="es-MX" dirty="0" err="1">
                <a:solidFill>
                  <a:schemeClr val="bg1"/>
                </a:solidFill>
              </a:rPr>
              <a:t>Collections</a:t>
            </a:r>
            <a:endParaRPr lang="es-MX" dirty="0">
              <a:solidFill>
                <a:schemeClr val="bg1"/>
              </a:solidFill>
            </a:endParaRPr>
          </a:p>
        </p:txBody>
      </p:sp>
      <p:sp>
        <p:nvSpPr>
          <p:cNvPr id="3" name="Marcador de contenido 2">
            <a:extLst>
              <a:ext uri="{FF2B5EF4-FFF2-40B4-BE49-F238E27FC236}">
                <a16:creationId xmlns:a16="http://schemas.microsoft.com/office/drawing/2014/main" id="{E3F686AB-F05E-8961-76DC-05F0B02B0FD5}"/>
              </a:ext>
            </a:extLst>
          </p:cNvPr>
          <p:cNvSpPr>
            <a:spLocks noGrp="1"/>
          </p:cNvSpPr>
          <p:nvPr>
            <p:ph idx="1"/>
          </p:nvPr>
        </p:nvSpPr>
        <p:spPr/>
        <p:txBody>
          <a:bodyPr>
            <a:normAutofit fontScale="77500" lnSpcReduction="20000"/>
          </a:bodyPr>
          <a:lstStyle/>
          <a:p>
            <a:pPr marL="0" indent="0">
              <a:buNone/>
            </a:pPr>
            <a:r>
              <a:rPr lang="es-MX" dirty="0"/>
              <a:t>El módulo </a:t>
            </a:r>
            <a:r>
              <a:rPr lang="es-MX" dirty="0" err="1"/>
              <a:t>Collections</a:t>
            </a:r>
            <a:r>
              <a:rPr lang="es-MX" dirty="0"/>
              <a:t> amplía los tipos de contenedores disponibles en Python. Un contenedor almacena diferentes objetos y proporciona una nueva forma de acceder e iterar sobre los mismos.</a:t>
            </a:r>
          </a:p>
          <a:p>
            <a:pPr marL="0" indent="0">
              <a:buNone/>
            </a:pPr>
            <a:r>
              <a:rPr lang="es-MX" dirty="0" err="1"/>
              <a:t>Counters</a:t>
            </a:r>
            <a:r>
              <a:rPr lang="es-MX" dirty="0"/>
              <a:t> (Contadores): Es una subclase del diccionario, usado para contar las repeticiones de cada elemento en un iterable, en forma de diccionario</a:t>
            </a:r>
            <a:r>
              <a:rPr lang="es-MX" dirty="0">
                <a:sym typeface="Wingdings" panose="05000000000000000000" pitchFamily="2" charset="2"/>
              </a:rPr>
              <a:t></a:t>
            </a:r>
          </a:p>
          <a:p>
            <a:pPr marL="0" indent="0">
              <a:buNone/>
            </a:pPr>
            <a:r>
              <a:rPr lang="en-US" dirty="0">
                <a:solidFill>
                  <a:schemeClr val="bg1"/>
                </a:solidFill>
              </a:rPr>
              <a:t>from collections import Counter </a:t>
            </a:r>
          </a:p>
          <a:p>
            <a:pPr marL="0" indent="0">
              <a:buNone/>
            </a:pPr>
            <a:r>
              <a:rPr lang="en-US" dirty="0">
                <a:solidFill>
                  <a:schemeClr val="bg1"/>
                </a:solidFill>
              </a:rPr>
              <a:t>Counter(</a:t>
            </a:r>
            <a:r>
              <a:rPr lang="en-US" dirty="0" err="1">
                <a:solidFill>
                  <a:schemeClr val="bg1"/>
                </a:solidFill>
              </a:rPr>
              <a:t>iterable</a:t>
            </a:r>
            <a:r>
              <a:rPr lang="en-US" dirty="0">
                <a:solidFill>
                  <a:schemeClr val="bg1"/>
                </a:solidFill>
              </a:rPr>
              <a:t>) </a:t>
            </a:r>
          </a:p>
          <a:p>
            <a:pPr marL="0" indent="0">
              <a:buNone/>
            </a:pPr>
            <a:r>
              <a:rPr lang="en-US" dirty="0">
                <a:solidFill>
                  <a:schemeClr val="bg1"/>
                </a:solidFill>
              </a:rPr>
              <a:t>&gt;&gt; Counter({'valor': </a:t>
            </a:r>
            <a:r>
              <a:rPr lang="en-US" dirty="0" err="1">
                <a:solidFill>
                  <a:schemeClr val="bg1"/>
                </a:solidFill>
              </a:rPr>
              <a:t>repeticiones</a:t>
            </a:r>
            <a:r>
              <a:rPr lang="en-US" dirty="0">
                <a:solidFill>
                  <a:schemeClr val="bg1"/>
                </a:solidFill>
              </a:rPr>
              <a:t>, ...})</a:t>
            </a:r>
          </a:p>
          <a:p>
            <a:pPr marL="0" indent="0">
              <a:buNone/>
            </a:pPr>
            <a:r>
              <a:rPr lang="es-MX" dirty="0" err="1"/>
              <a:t>DefaultDict</a:t>
            </a:r>
            <a:r>
              <a:rPr lang="es-MX" dirty="0"/>
              <a:t>: Es una subclase del diccionario, usado para proporcionar valores por defecto para las claves que no existan, sin generar un mensaje de error. El valor por defecto puede ser un tipo de dato (</a:t>
            </a:r>
            <a:r>
              <a:rPr lang="es-MX" dirty="0" err="1"/>
              <a:t>int</a:t>
            </a:r>
            <a:r>
              <a:rPr lang="es-MX" dirty="0"/>
              <a:t>, </a:t>
            </a:r>
            <a:r>
              <a:rPr lang="es-MX" dirty="0" err="1"/>
              <a:t>list</a:t>
            </a:r>
            <a:r>
              <a:rPr lang="es-MX" dirty="0"/>
              <a:t>, etc.) o una función lambda que proporcione dicho valor directamente (lambda: "mi valor"). </a:t>
            </a:r>
          </a:p>
          <a:p>
            <a:pPr marL="0" indent="0">
              <a:buNone/>
            </a:pPr>
            <a:r>
              <a:rPr lang="es-MX" dirty="0" err="1">
                <a:solidFill>
                  <a:schemeClr val="bg1"/>
                </a:solidFill>
              </a:rPr>
              <a:t>from</a:t>
            </a:r>
            <a:r>
              <a:rPr lang="es-MX" dirty="0">
                <a:solidFill>
                  <a:schemeClr val="bg1"/>
                </a:solidFill>
              </a:rPr>
              <a:t> </a:t>
            </a:r>
            <a:r>
              <a:rPr lang="es-MX" dirty="0" err="1">
                <a:solidFill>
                  <a:schemeClr val="bg1"/>
                </a:solidFill>
              </a:rPr>
              <a:t>collections</a:t>
            </a:r>
            <a:r>
              <a:rPr lang="es-MX" dirty="0">
                <a:solidFill>
                  <a:schemeClr val="bg1"/>
                </a:solidFill>
              </a:rPr>
              <a:t> </a:t>
            </a:r>
            <a:r>
              <a:rPr lang="es-MX" dirty="0" err="1">
                <a:solidFill>
                  <a:schemeClr val="bg1"/>
                </a:solidFill>
              </a:rPr>
              <a:t>import</a:t>
            </a:r>
            <a:r>
              <a:rPr lang="es-MX" dirty="0">
                <a:solidFill>
                  <a:schemeClr val="bg1"/>
                </a:solidFill>
              </a:rPr>
              <a:t> </a:t>
            </a:r>
            <a:r>
              <a:rPr lang="es-MX" dirty="0" err="1">
                <a:solidFill>
                  <a:schemeClr val="bg1"/>
                </a:solidFill>
              </a:rPr>
              <a:t>defaultdict</a:t>
            </a:r>
            <a:r>
              <a:rPr lang="es-MX" dirty="0">
                <a:solidFill>
                  <a:schemeClr val="bg1"/>
                </a:solidFill>
              </a:rPr>
              <a:t> </a:t>
            </a:r>
          </a:p>
          <a:p>
            <a:pPr marL="0" indent="0">
              <a:buNone/>
            </a:pPr>
            <a:r>
              <a:rPr lang="es-MX" dirty="0" err="1">
                <a:solidFill>
                  <a:schemeClr val="bg1"/>
                </a:solidFill>
              </a:rPr>
              <a:t>mi_dic</a:t>
            </a:r>
            <a:r>
              <a:rPr lang="es-MX" dirty="0">
                <a:solidFill>
                  <a:schemeClr val="bg1"/>
                </a:solidFill>
              </a:rPr>
              <a:t> = </a:t>
            </a:r>
            <a:r>
              <a:rPr lang="es-MX" dirty="0" err="1">
                <a:solidFill>
                  <a:schemeClr val="bg1"/>
                </a:solidFill>
              </a:rPr>
              <a:t>defaultdict</a:t>
            </a:r>
            <a:r>
              <a:rPr lang="es-MX" dirty="0">
                <a:solidFill>
                  <a:schemeClr val="bg1"/>
                </a:solidFill>
              </a:rPr>
              <a:t>(lambda: "No encontrado")</a:t>
            </a:r>
          </a:p>
        </p:txBody>
      </p:sp>
      <p:sp>
        <p:nvSpPr>
          <p:cNvPr id="4" name="Marcador de pie de página 3">
            <a:extLst>
              <a:ext uri="{FF2B5EF4-FFF2-40B4-BE49-F238E27FC236}">
                <a16:creationId xmlns:a16="http://schemas.microsoft.com/office/drawing/2014/main" id="{1E9570E7-A6D3-4937-4BC1-A2BF474F02FD}"/>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E6E3E4B1-B8E8-0775-8557-5BAD20766801}"/>
              </a:ext>
            </a:extLst>
          </p:cNvPr>
          <p:cNvSpPr>
            <a:spLocks noGrp="1"/>
          </p:cNvSpPr>
          <p:nvPr>
            <p:ph type="sldNum" sz="quarter" idx="12"/>
          </p:nvPr>
        </p:nvSpPr>
        <p:spPr/>
        <p:txBody>
          <a:bodyPr/>
          <a:lstStyle/>
          <a:p>
            <a:fld id="{4EA4A3B0-B5DF-4E2B-B48F-E4B7B7872040}" type="slidenum">
              <a:rPr lang="es-MX" smtClean="0"/>
              <a:t>191</a:t>
            </a:fld>
            <a:endParaRPr lang="es-MX"/>
          </a:p>
        </p:txBody>
      </p:sp>
    </p:spTree>
    <p:extLst>
      <p:ext uri="{BB962C8B-B14F-4D97-AF65-F5344CB8AC3E}">
        <p14:creationId xmlns:p14="http://schemas.microsoft.com/office/powerpoint/2010/main" val="382916013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FF8ACF-344A-BDF0-4B58-54F9DB177AE3}"/>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A9782172-5612-FE1A-A15E-A89B92AD2037}"/>
              </a:ext>
            </a:extLst>
          </p:cNvPr>
          <p:cNvSpPr>
            <a:spLocks noGrp="1"/>
          </p:cNvSpPr>
          <p:nvPr>
            <p:ph idx="1"/>
          </p:nvPr>
        </p:nvSpPr>
        <p:spPr/>
        <p:txBody>
          <a:bodyPr/>
          <a:lstStyle/>
          <a:p>
            <a:pPr marL="0" indent="0">
              <a:buNone/>
            </a:pPr>
            <a:r>
              <a:rPr lang="es-MX" dirty="0" err="1"/>
              <a:t>NamedTuple</a:t>
            </a:r>
            <a:r>
              <a:rPr lang="es-MX" dirty="0"/>
              <a:t>: devuelve una tupla donde las posiciones de sus elementos tienen un nombre, además de un número de índice como las tuplas tradicionales. </a:t>
            </a:r>
          </a:p>
          <a:p>
            <a:pPr marL="0" indent="0">
              <a:buNone/>
            </a:pPr>
            <a:r>
              <a:rPr lang="es-MX" dirty="0" err="1">
                <a:solidFill>
                  <a:schemeClr val="bg1"/>
                </a:solidFill>
              </a:rPr>
              <a:t>from</a:t>
            </a:r>
            <a:r>
              <a:rPr lang="es-MX" dirty="0">
                <a:solidFill>
                  <a:schemeClr val="bg1"/>
                </a:solidFill>
              </a:rPr>
              <a:t> </a:t>
            </a:r>
            <a:r>
              <a:rPr lang="es-MX" dirty="0" err="1">
                <a:solidFill>
                  <a:schemeClr val="bg1"/>
                </a:solidFill>
              </a:rPr>
              <a:t>collections</a:t>
            </a:r>
            <a:r>
              <a:rPr lang="es-MX" dirty="0">
                <a:solidFill>
                  <a:schemeClr val="bg1"/>
                </a:solidFill>
              </a:rPr>
              <a:t> </a:t>
            </a:r>
            <a:r>
              <a:rPr lang="es-MX" dirty="0" err="1">
                <a:solidFill>
                  <a:schemeClr val="bg1"/>
                </a:solidFill>
              </a:rPr>
              <a:t>import</a:t>
            </a:r>
            <a:r>
              <a:rPr lang="es-MX" dirty="0">
                <a:solidFill>
                  <a:schemeClr val="bg1"/>
                </a:solidFill>
              </a:rPr>
              <a:t> </a:t>
            </a:r>
            <a:r>
              <a:rPr lang="es-MX" dirty="0" err="1">
                <a:solidFill>
                  <a:schemeClr val="bg1"/>
                </a:solidFill>
              </a:rPr>
              <a:t>namedtuple</a:t>
            </a:r>
            <a:r>
              <a:rPr lang="es-MX" dirty="0">
                <a:solidFill>
                  <a:schemeClr val="bg1"/>
                </a:solidFill>
              </a:rPr>
              <a:t> </a:t>
            </a:r>
          </a:p>
          <a:p>
            <a:pPr marL="0" indent="0">
              <a:buNone/>
            </a:pPr>
            <a:r>
              <a:rPr lang="es-MX" dirty="0" err="1">
                <a:solidFill>
                  <a:schemeClr val="bg1"/>
                </a:solidFill>
              </a:rPr>
              <a:t>mi_tupla</a:t>
            </a:r>
            <a:r>
              <a:rPr lang="es-MX" dirty="0">
                <a:solidFill>
                  <a:schemeClr val="bg1"/>
                </a:solidFill>
              </a:rPr>
              <a:t>= </a:t>
            </a:r>
            <a:r>
              <a:rPr lang="es-MX" dirty="0" err="1">
                <a:solidFill>
                  <a:schemeClr val="bg1"/>
                </a:solidFill>
              </a:rPr>
              <a:t>namedtuple</a:t>
            </a:r>
            <a:r>
              <a:rPr lang="es-MX" dirty="0">
                <a:solidFill>
                  <a:schemeClr val="bg1"/>
                </a:solidFill>
              </a:rPr>
              <a:t>('Persona' ,['nombre' , 'edad' , 'altura’]) </a:t>
            </a:r>
          </a:p>
          <a:p>
            <a:pPr marL="0" indent="0">
              <a:buNone/>
            </a:pPr>
            <a:r>
              <a:rPr lang="es-MX" dirty="0">
                <a:solidFill>
                  <a:schemeClr val="bg1"/>
                </a:solidFill>
              </a:rPr>
              <a:t>persona1 = Persona("Marcos" , 39, 1.88)</a:t>
            </a:r>
          </a:p>
        </p:txBody>
      </p:sp>
      <p:sp>
        <p:nvSpPr>
          <p:cNvPr id="4" name="Marcador de pie de página 3">
            <a:extLst>
              <a:ext uri="{FF2B5EF4-FFF2-40B4-BE49-F238E27FC236}">
                <a16:creationId xmlns:a16="http://schemas.microsoft.com/office/drawing/2014/main" id="{009F510D-AFF6-D818-3092-228A890F9F32}"/>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95DAE882-49ED-2DDA-55D9-EE8344953158}"/>
              </a:ext>
            </a:extLst>
          </p:cNvPr>
          <p:cNvSpPr>
            <a:spLocks noGrp="1"/>
          </p:cNvSpPr>
          <p:nvPr>
            <p:ph type="sldNum" sz="quarter" idx="12"/>
          </p:nvPr>
        </p:nvSpPr>
        <p:spPr/>
        <p:txBody>
          <a:bodyPr/>
          <a:lstStyle/>
          <a:p>
            <a:fld id="{4EA4A3B0-B5DF-4E2B-B48F-E4B7B7872040}" type="slidenum">
              <a:rPr lang="es-MX" smtClean="0"/>
              <a:t>192</a:t>
            </a:fld>
            <a:endParaRPr lang="es-MX"/>
          </a:p>
        </p:txBody>
      </p:sp>
    </p:spTree>
    <p:extLst>
      <p:ext uri="{BB962C8B-B14F-4D97-AF65-F5344CB8AC3E}">
        <p14:creationId xmlns:p14="http://schemas.microsoft.com/office/powerpoint/2010/main" val="338908485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88476C-78E5-D912-FAAF-FB334E76B300}"/>
              </a:ext>
            </a:extLst>
          </p:cNvPr>
          <p:cNvSpPr>
            <a:spLocks noGrp="1"/>
          </p:cNvSpPr>
          <p:nvPr>
            <p:ph type="title"/>
          </p:nvPr>
        </p:nvSpPr>
        <p:spPr/>
        <p:txBody>
          <a:bodyPr/>
          <a:lstStyle/>
          <a:p>
            <a:r>
              <a:rPr lang="es-MX" dirty="0">
                <a:solidFill>
                  <a:schemeClr val="bg1"/>
                </a:solidFill>
              </a:rPr>
              <a:t>Ejercicios</a:t>
            </a:r>
          </a:p>
        </p:txBody>
      </p:sp>
      <p:sp>
        <p:nvSpPr>
          <p:cNvPr id="3" name="Marcador de contenido 2">
            <a:extLst>
              <a:ext uri="{FF2B5EF4-FFF2-40B4-BE49-F238E27FC236}">
                <a16:creationId xmlns:a16="http://schemas.microsoft.com/office/drawing/2014/main" id="{F9A44C06-7BAA-2908-A2D3-59BBCAF74AAC}"/>
              </a:ext>
            </a:extLst>
          </p:cNvPr>
          <p:cNvSpPr>
            <a:spLocks noGrp="1"/>
          </p:cNvSpPr>
          <p:nvPr>
            <p:ph idx="1"/>
          </p:nvPr>
        </p:nvSpPr>
        <p:spPr/>
        <p:txBody>
          <a:bodyPr>
            <a:normAutofit fontScale="47500" lnSpcReduction="20000"/>
          </a:bodyPr>
          <a:lstStyle/>
          <a:p>
            <a:pPr marL="0" indent="0">
              <a:buNone/>
            </a:pPr>
            <a:r>
              <a:rPr kumimoji="0" lang="es-MX" altLang="es-MX" sz="3800" b="0" i="0" u="none" strike="noStrike" cap="none" normalizeH="0" baseline="0" dirty="0">
                <a:ln>
                  <a:noFill/>
                </a:ln>
                <a:effectLst/>
                <a:latin typeface="udemy sans"/>
              </a:rPr>
              <a:t>Aplica un </a:t>
            </a:r>
            <a:r>
              <a:rPr kumimoji="0" lang="es-MX" altLang="es-MX" sz="3800" b="1" i="0" u="none" strike="noStrike" cap="none" normalizeH="0" baseline="0" dirty="0" err="1">
                <a:ln>
                  <a:noFill/>
                </a:ln>
                <a:effectLst/>
                <a:latin typeface="udemy sans"/>
              </a:rPr>
              <a:t>Counter</a:t>
            </a:r>
            <a:r>
              <a:rPr kumimoji="0" lang="es-MX" altLang="es-MX" sz="3800" b="1" i="0" u="none" strike="noStrike" cap="none" normalizeH="0" baseline="0" dirty="0">
                <a:ln>
                  <a:noFill/>
                </a:ln>
                <a:effectLst/>
                <a:latin typeface="udemy sans"/>
              </a:rPr>
              <a:t> </a:t>
            </a:r>
            <a:r>
              <a:rPr kumimoji="0" lang="es-MX" altLang="es-MX" sz="3800" b="0" i="0" u="none" strike="noStrike" cap="none" normalizeH="0" baseline="0" dirty="0">
                <a:ln>
                  <a:noFill/>
                </a:ln>
                <a:effectLst/>
                <a:latin typeface="udemy sans"/>
              </a:rPr>
              <a:t>(contador) sobre la </a:t>
            </a:r>
            <a:r>
              <a:rPr kumimoji="0" lang="es-MX" altLang="es-MX" sz="3800" b="1" i="0" u="none" strike="noStrike" cap="none" normalizeH="0" baseline="0" dirty="0">
                <a:ln>
                  <a:noFill/>
                </a:ln>
                <a:effectLst/>
                <a:latin typeface="udemy sans"/>
              </a:rPr>
              <a:t>lista </a:t>
            </a:r>
            <a:r>
              <a:rPr kumimoji="0" lang="es-MX" altLang="es-MX" sz="3800" b="0" i="0" u="none" strike="noStrike" cap="none" normalizeH="0" baseline="0" dirty="0">
                <a:ln>
                  <a:noFill/>
                </a:ln>
                <a:effectLst/>
                <a:latin typeface="udemy sans"/>
              </a:rPr>
              <a:t>de números entregada a continuación, y almacénalo en una variable llamada </a:t>
            </a:r>
            <a:r>
              <a:rPr kumimoji="0" lang="es-MX" altLang="es-MX" sz="3800" b="0" i="0" u="none" strike="noStrike" cap="none" normalizeH="0" baseline="0" dirty="0">
                <a:ln>
                  <a:noFill/>
                </a:ln>
                <a:effectLst/>
                <a:latin typeface="sfmono-regular"/>
              </a:rPr>
              <a:t>contador</a:t>
            </a:r>
          </a:p>
          <a:p>
            <a:pPr marL="0" indent="0">
              <a:buNone/>
            </a:pPr>
            <a:endParaRPr lang="es-MX" altLang="es-MX" sz="3800" dirty="0">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3800" b="0" i="0" u="none" strike="noStrike" cap="none" normalizeH="0" baseline="0" dirty="0">
                <a:ln>
                  <a:noFill/>
                </a:ln>
                <a:effectLst/>
                <a:latin typeface="udemy sans"/>
              </a:rPr>
              <a:t>Crea un </a:t>
            </a:r>
            <a:r>
              <a:rPr kumimoji="0" lang="es-MX" altLang="es-MX" sz="3800" b="1" i="0" u="none" strike="noStrike" cap="none" normalizeH="0" baseline="0" dirty="0">
                <a:ln>
                  <a:noFill/>
                </a:ln>
                <a:effectLst/>
                <a:latin typeface="udemy sans"/>
              </a:rPr>
              <a:t>diccionario llamado</a:t>
            </a:r>
            <a:r>
              <a:rPr kumimoji="0" lang="es-MX" altLang="es-MX" sz="3800" b="0" i="0" u="none" strike="noStrike" cap="none" normalizeH="0" baseline="0" dirty="0">
                <a:ln>
                  <a:noFill/>
                </a:ln>
                <a:effectLst/>
                <a:latin typeface="udemy sans"/>
              </a:rPr>
              <a:t> </a:t>
            </a:r>
            <a:r>
              <a:rPr kumimoji="0" lang="es-MX" altLang="es-MX" sz="3800" b="0" i="0" u="none" strike="noStrike" cap="none" normalizeH="0" baseline="0" dirty="0" err="1">
                <a:ln>
                  <a:noFill/>
                </a:ln>
                <a:effectLst/>
                <a:latin typeface="sfmono-regular"/>
              </a:rPr>
              <a:t>mi_diccionario</a:t>
            </a:r>
            <a:r>
              <a:rPr kumimoji="0" lang="es-MX" altLang="es-MX" sz="3800" b="0" i="0" u="none" strike="noStrike" cap="none" normalizeH="0" baseline="0" dirty="0">
                <a:ln>
                  <a:noFill/>
                </a:ln>
                <a:effectLst/>
                <a:latin typeface="udemy sans"/>
              </a:rPr>
              <a:t>,</a:t>
            </a:r>
            <a:r>
              <a:rPr kumimoji="0" lang="es-MX" altLang="es-MX" sz="3800" b="1" i="0" u="none" strike="noStrike" cap="none" normalizeH="0" baseline="0" dirty="0">
                <a:ln>
                  <a:noFill/>
                </a:ln>
                <a:effectLst/>
                <a:latin typeface="udemy sans"/>
              </a:rPr>
              <a:t> </a:t>
            </a:r>
            <a:r>
              <a:rPr kumimoji="0" lang="es-MX" altLang="es-MX" sz="3800" b="0" i="0" u="none" strike="noStrike" cap="none" normalizeH="0" baseline="0" dirty="0">
                <a:ln>
                  <a:noFill/>
                </a:ln>
                <a:effectLst/>
                <a:latin typeface="udemy sans"/>
              </a:rPr>
              <a:t>para el cual, cuando </a:t>
            </a:r>
            <a:r>
              <a:rPr kumimoji="0" lang="es-MX" altLang="es-MX" sz="3800" b="1" i="0" u="none" strike="noStrike" cap="none" normalizeH="0" baseline="0" dirty="0">
                <a:ln>
                  <a:noFill/>
                </a:ln>
                <a:effectLst/>
                <a:latin typeface="udemy sans"/>
              </a:rPr>
              <a:t>no se halle una palabra clave</a:t>
            </a:r>
            <a:r>
              <a:rPr kumimoji="0" lang="es-MX" altLang="es-MX" sz="3800" b="0" i="0" u="none" strike="noStrike" cap="none" normalizeH="0" baseline="0" dirty="0">
                <a:ln>
                  <a:noFill/>
                </a:ln>
                <a:effectLst/>
                <a:latin typeface="udemy sans"/>
              </a:rPr>
              <a:t> buscada, se cargue con el </a:t>
            </a:r>
            <a:r>
              <a:rPr kumimoji="0" lang="es-MX" altLang="es-MX" sz="3800" b="0" i="0" u="none" strike="noStrike" cap="none" normalizeH="0" baseline="0" dirty="0" err="1">
                <a:ln>
                  <a:noFill/>
                </a:ln>
                <a:effectLst/>
                <a:latin typeface="udemy sans"/>
              </a:rPr>
              <a:t>string</a:t>
            </a:r>
            <a:r>
              <a:rPr kumimoji="0" lang="es-MX" altLang="es-MX" sz="3800" b="0" i="0" u="none" strike="noStrike" cap="none" normalizeH="0" baseline="0" dirty="0">
                <a:ln>
                  <a:noFill/>
                </a:ln>
                <a:effectLst/>
                <a:latin typeface="udemy sans"/>
              </a:rPr>
              <a:t> </a:t>
            </a:r>
            <a:r>
              <a:rPr kumimoji="0" lang="es-MX" altLang="es-MX" sz="3800" b="1" i="0" u="none" strike="noStrike" cap="none" normalizeH="0" baseline="0" dirty="0">
                <a:ln>
                  <a:noFill/>
                </a:ln>
                <a:effectLst/>
                <a:latin typeface="udemy sans"/>
              </a:rPr>
              <a:t>"Valor no hallado".</a:t>
            </a:r>
            <a:endParaRPr kumimoji="0" lang="es-MX" altLang="es-MX" sz="3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3800" b="0" i="0" u="none" strike="noStrike" cap="none" normalizeH="0" baseline="0" dirty="0">
                <a:ln>
                  <a:noFill/>
                </a:ln>
                <a:effectLst/>
                <a:latin typeface="udemy sans"/>
              </a:rPr>
              <a:t>Carga el diccionario, al menos, con el siguiente par de datos:</a:t>
            </a:r>
            <a:endParaRPr kumimoji="0" lang="es-MX" altLang="es-MX" sz="3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3800" b="0" i="0" u="none" strike="noStrike" cap="none" normalizeH="0" baseline="0" dirty="0">
                <a:ln>
                  <a:noFill/>
                </a:ln>
                <a:effectLst/>
                <a:latin typeface="udemy sans"/>
              </a:rPr>
              <a:t>palabra clave = </a:t>
            </a:r>
            <a:r>
              <a:rPr kumimoji="0" lang="es-MX" altLang="es-MX" sz="3800" b="0" i="0" u="none" strike="noStrike" cap="none" normalizeH="0" baseline="0" dirty="0">
                <a:ln>
                  <a:noFill/>
                </a:ln>
                <a:effectLst/>
                <a:latin typeface="sfmono-regular"/>
              </a:rPr>
              <a:t>edad</a:t>
            </a:r>
            <a:endParaRPr kumimoji="0" lang="es-MX" altLang="es-MX" sz="3800" b="0" i="0" u="none" strike="noStrike" cap="none" normalizeH="0" baseline="0" dirty="0">
              <a:ln>
                <a:noFill/>
              </a:ln>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3800" b="0" i="0" u="none" strike="noStrike" cap="none" normalizeH="0" baseline="0" dirty="0">
                <a:ln>
                  <a:noFill/>
                </a:ln>
                <a:effectLst/>
                <a:latin typeface="udemy sans"/>
              </a:rPr>
              <a:t>valor = </a:t>
            </a:r>
            <a:r>
              <a:rPr kumimoji="0" lang="es-MX" altLang="es-MX" sz="3800" b="0" i="0" u="none" strike="noStrike" cap="none" normalizeH="0" baseline="0" dirty="0">
                <a:ln>
                  <a:noFill/>
                </a:ln>
                <a:effectLst/>
                <a:latin typeface="sfmono-regular"/>
              </a:rPr>
              <a:t>44</a:t>
            </a:r>
            <a:endParaRPr kumimoji="0" lang="es-MX" altLang="es-MX" sz="3800" b="0" i="0" u="none" strike="noStrike" cap="none" normalizeH="0" baseline="0" dirty="0">
              <a:ln>
                <a:noFill/>
              </a:ln>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3800" b="0" i="1" u="none" strike="noStrike" cap="none" normalizeH="0" baseline="0" dirty="0">
                <a:ln>
                  <a:noFill/>
                </a:ln>
                <a:effectLst/>
                <a:latin typeface="udemy sans"/>
              </a:rPr>
              <a:t>Utiliza el método </a:t>
            </a:r>
            <a:r>
              <a:rPr kumimoji="0" lang="es-MX" altLang="es-MX" sz="3800" b="0" i="1" u="none" strike="noStrike" cap="none" normalizeH="0" baseline="0" dirty="0" err="1">
                <a:ln>
                  <a:noFill/>
                </a:ln>
                <a:effectLst/>
                <a:latin typeface="sfmono-regular"/>
              </a:rPr>
              <a:t>defaultdict</a:t>
            </a:r>
            <a:r>
              <a:rPr kumimoji="0" lang="es-MX" altLang="es-MX" sz="3800" b="0" i="1" u="none" strike="noStrike" cap="none" normalizeH="0" baseline="0" dirty="0">
                <a:ln>
                  <a:noFill/>
                </a:ln>
                <a:effectLst/>
                <a:latin typeface="udemy sans"/>
              </a:rPr>
              <a:t> del módulo </a:t>
            </a:r>
            <a:r>
              <a:rPr kumimoji="0" lang="es-MX" altLang="es-MX" sz="3800" b="1" i="1" u="none" strike="noStrike" cap="none" normalizeH="0" baseline="0" dirty="0" err="1">
                <a:ln>
                  <a:noFill/>
                </a:ln>
                <a:effectLst/>
                <a:latin typeface="udemy sans"/>
              </a:rPr>
              <a:t>Collections</a:t>
            </a:r>
            <a:r>
              <a:rPr kumimoji="0" lang="es-MX" altLang="es-MX" sz="3800" b="0" i="1" u="none" strike="noStrike" cap="none" normalizeH="0" baseline="0" dirty="0">
                <a:ln>
                  <a:noFill/>
                </a:ln>
                <a:effectLst/>
                <a:latin typeface="udemy sans"/>
              </a:rPr>
              <a:t>.</a:t>
            </a:r>
            <a:endParaRPr kumimoji="0" lang="es-MX" altLang="es-MX" sz="3800" b="0" i="0" u="none" strike="noStrike" cap="none" normalizeH="0" baseline="0" dirty="0">
              <a:ln>
                <a:noFill/>
              </a:ln>
              <a:effectLst/>
              <a:latin typeface="Arial" panose="020B0604020202020204" pitchFamily="34" charset="0"/>
            </a:endParaRPr>
          </a:p>
          <a:p>
            <a:pPr marL="0" indent="0">
              <a:buNone/>
            </a:pPr>
            <a:r>
              <a:rPr kumimoji="0" lang="es-MX" altLang="es-MX" sz="3800" b="0" i="0" u="none" strike="noStrike" cap="none" normalizeH="0" baseline="0" dirty="0">
                <a:ln>
                  <a:noFill/>
                </a:ln>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3800" b="0" i="1" u="none" strike="noStrike" cap="none" normalizeH="0" baseline="0" dirty="0">
                <a:ln>
                  <a:noFill/>
                </a:ln>
                <a:effectLst/>
                <a:latin typeface="udemy sans"/>
              </a:rPr>
              <a:t>Una </a:t>
            </a:r>
            <a:r>
              <a:rPr kumimoji="0" lang="es-MX" altLang="es-MX" sz="3800" b="1" i="1" u="none" strike="noStrike" cap="none" normalizeH="0" baseline="0" dirty="0">
                <a:ln>
                  <a:noFill/>
                </a:ln>
                <a:effectLst/>
                <a:latin typeface="udemy sans"/>
              </a:rPr>
              <a:t>cola doblemente terminada</a:t>
            </a:r>
            <a:r>
              <a:rPr kumimoji="0" lang="es-MX" altLang="es-MX" sz="3800" b="0" i="1" u="none" strike="noStrike" cap="none" normalizeH="0" baseline="0" dirty="0">
                <a:ln>
                  <a:noFill/>
                </a:ln>
                <a:effectLst/>
                <a:latin typeface="udemy sans"/>
              </a:rPr>
              <a:t> o </a:t>
            </a:r>
            <a:r>
              <a:rPr kumimoji="0" lang="es-MX" altLang="es-MX" sz="3800" b="1" i="1" u="none" strike="noStrike" cap="none" normalizeH="0" baseline="0" dirty="0" err="1">
                <a:ln>
                  <a:noFill/>
                </a:ln>
                <a:effectLst/>
                <a:latin typeface="udemy sans"/>
              </a:rPr>
              <a:t>deque</a:t>
            </a:r>
            <a:r>
              <a:rPr kumimoji="0" lang="es-MX" altLang="es-MX" sz="3800" b="0" i="1" u="none" strike="noStrike" cap="none" normalizeH="0" baseline="0" dirty="0">
                <a:ln>
                  <a:noFill/>
                </a:ln>
                <a:effectLst/>
                <a:latin typeface="udemy sans"/>
              </a:rPr>
              <a:t> (del inglés </a:t>
            </a:r>
            <a:r>
              <a:rPr kumimoji="0" lang="es-MX" altLang="es-MX" sz="3800" b="0" i="1" u="none" strike="noStrike" cap="none" normalizeH="0" baseline="0" dirty="0" err="1">
                <a:ln>
                  <a:noFill/>
                </a:ln>
                <a:effectLst/>
                <a:latin typeface="udemy sans"/>
              </a:rPr>
              <a:t>double</a:t>
            </a:r>
            <a:r>
              <a:rPr kumimoji="0" lang="es-MX" altLang="es-MX" sz="3800" b="0" i="1" u="none" strike="noStrike" cap="none" normalizeH="0" baseline="0" dirty="0">
                <a:ln>
                  <a:noFill/>
                </a:ln>
                <a:effectLst/>
                <a:latin typeface="udemy sans"/>
              </a:rPr>
              <a:t> </a:t>
            </a:r>
            <a:r>
              <a:rPr kumimoji="0" lang="es-MX" altLang="es-MX" sz="3800" b="0" i="1" u="none" strike="noStrike" cap="none" normalizeH="0" baseline="0" dirty="0" err="1">
                <a:ln>
                  <a:noFill/>
                </a:ln>
                <a:effectLst/>
                <a:latin typeface="udemy sans"/>
              </a:rPr>
              <a:t>ended</a:t>
            </a:r>
            <a:r>
              <a:rPr kumimoji="0" lang="es-MX" altLang="es-MX" sz="3800" b="0" i="1" u="none" strike="noStrike" cap="none" normalizeH="0" baseline="0" dirty="0">
                <a:ln>
                  <a:noFill/>
                </a:ln>
                <a:effectLst/>
                <a:latin typeface="udemy sans"/>
              </a:rPr>
              <a:t> </a:t>
            </a:r>
            <a:r>
              <a:rPr kumimoji="0" lang="es-MX" altLang="es-MX" sz="3800" b="0" i="1" u="none" strike="noStrike" cap="none" normalizeH="0" baseline="0" dirty="0" err="1">
                <a:ln>
                  <a:noFill/>
                </a:ln>
                <a:effectLst/>
                <a:latin typeface="udemy sans"/>
              </a:rPr>
              <a:t>queue</a:t>
            </a:r>
            <a:r>
              <a:rPr kumimoji="0" lang="es-MX" altLang="es-MX" sz="3800" b="0" i="1" u="none" strike="noStrike" cap="none" normalizeH="0" baseline="0" dirty="0">
                <a:ln>
                  <a:noFill/>
                </a:ln>
                <a:effectLst/>
                <a:latin typeface="udemy sans"/>
              </a:rPr>
              <a:t>) es una estructura de datos lineal que permite insertar y eliminar elementos por ambos extremos.</a:t>
            </a:r>
            <a:endParaRPr kumimoji="0" lang="es-MX" altLang="es-MX" sz="3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3800" b="0" i="0" u="none" strike="noStrike" cap="none" normalizeH="0" baseline="0" dirty="0">
                <a:ln>
                  <a:noFill/>
                </a:ln>
                <a:effectLst/>
                <a:latin typeface="udemy sans"/>
              </a:rPr>
              <a:t>Investiga más al respecto en cualquier sitio de documentación, y a continuación implementa una </a:t>
            </a:r>
            <a:r>
              <a:rPr kumimoji="0" lang="es-MX" altLang="es-MX" sz="3800" b="1" i="0" u="none" strike="noStrike" cap="none" normalizeH="0" baseline="0" dirty="0" err="1">
                <a:ln>
                  <a:noFill/>
                </a:ln>
                <a:effectLst/>
                <a:latin typeface="udemy sans"/>
              </a:rPr>
              <a:t>deque</a:t>
            </a:r>
            <a:r>
              <a:rPr kumimoji="0" lang="es-MX" altLang="es-MX" sz="3800" b="1" i="0" u="none" strike="noStrike" cap="none" normalizeH="0" baseline="0" dirty="0">
                <a:ln>
                  <a:noFill/>
                </a:ln>
                <a:effectLst/>
                <a:latin typeface="udemy sans"/>
              </a:rPr>
              <a:t> </a:t>
            </a:r>
            <a:r>
              <a:rPr kumimoji="0" lang="es-MX" altLang="es-MX" sz="3800" b="0" i="0" u="none" strike="noStrike" cap="none" normalizeH="0" baseline="0" dirty="0">
                <a:ln>
                  <a:noFill/>
                </a:ln>
                <a:effectLst/>
                <a:latin typeface="udemy sans"/>
              </a:rPr>
              <a:t>a partir del módulo </a:t>
            </a:r>
            <a:r>
              <a:rPr kumimoji="0" lang="es-MX" altLang="es-MX" sz="3800" b="1" i="0" u="none" strike="noStrike" cap="none" normalizeH="0" baseline="0" dirty="0" err="1">
                <a:ln>
                  <a:noFill/>
                </a:ln>
                <a:effectLst/>
                <a:latin typeface="udemy sans"/>
              </a:rPr>
              <a:t>collections</a:t>
            </a:r>
            <a:r>
              <a:rPr kumimoji="0" lang="es-MX" altLang="es-MX" sz="3800" b="0" i="0" u="none" strike="noStrike" cap="none" normalizeH="0" baseline="0" dirty="0">
                <a:ln>
                  <a:noFill/>
                </a:ln>
                <a:effectLst/>
                <a:latin typeface="udemy sans"/>
              </a:rPr>
              <a:t>. Los elementos iniciales de la lista se brindan a continuación.</a:t>
            </a:r>
            <a:endParaRPr kumimoji="0" lang="es-MX" altLang="es-MX" sz="3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3800" b="0" i="0" u="none" strike="noStrike" cap="none" normalizeH="0" baseline="0" dirty="0">
                <a:ln>
                  <a:noFill/>
                </a:ln>
                <a:effectLst/>
                <a:latin typeface="udemy sans"/>
              </a:rPr>
              <a:t>["Londres", "</a:t>
            </a:r>
            <a:r>
              <a:rPr kumimoji="0" lang="es-MX" altLang="es-MX" sz="3800" b="0" i="0" u="none" strike="noStrike" cap="none" normalizeH="0" baseline="0" dirty="0" err="1">
                <a:ln>
                  <a:noFill/>
                </a:ln>
                <a:effectLst/>
                <a:latin typeface="udemy sans"/>
              </a:rPr>
              <a:t>Berlin</a:t>
            </a:r>
            <a:r>
              <a:rPr kumimoji="0" lang="es-MX" altLang="es-MX" sz="3800" b="0" i="0" u="none" strike="noStrike" cap="none" normalizeH="0" baseline="0" dirty="0">
                <a:ln>
                  <a:noFill/>
                </a:ln>
                <a:effectLst/>
                <a:latin typeface="udemy sans"/>
              </a:rPr>
              <a:t>", "París", "Madrid", "Roma", "Moscú"]</a:t>
            </a:r>
            <a:endParaRPr kumimoji="0" lang="es-MX" altLang="es-MX" sz="3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3800" b="0" i="0" u="none" strike="noStrike" cap="none" normalizeH="0" baseline="0" dirty="0">
                <a:ln>
                  <a:noFill/>
                </a:ln>
                <a:effectLst/>
                <a:latin typeface="udemy sans"/>
              </a:rPr>
              <a:t>La lista debe tener la capacidad de incorporar elementos por la izquierda, y recibir el nombre </a:t>
            </a:r>
            <a:r>
              <a:rPr kumimoji="0" lang="es-MX" altLang="es-MX" sz="3800" b="0" i="0" u="none" strike="noStrike" cap="none" normalizeH="0" baseline="0" dirty="0" err="1">
                <a:ln>
                  <a:noFill/>
                </a:ln>
                <a:effectLst/>
                <a:latin typeface="sfmono-regular"/>
              </a:rPr>
              <a:t>lista_ciudades</a:t>
            </a:r>
            <a:endParaRPr kumimoji="0" lang="es-MX" altLang="es-MX" sz="3800" b="0" i="0" u="none" strike="noStrike" cap="none" normalizeH="0" baseline="0" dirty="0">
              <a:ln>
                <a:noFill/>
              </a:ln>
              <a:effectLst/>
              <a:latin typeface="Arial" panose="020B0604020202020204" pitchFamily="34" charset="0"/>
            </a:endParaRPr>
          </a:p>
          <a:p>
            <a:pPr marL="0" indent="0">
              <a:buNone/>
            </a:pPr>
            <a:endParaRPr lang="es-MX" dirty="0"/>
          </a:p>
        </p:txBody>
      </p:sp>
      <p:sp>
        <p:nvSpPr>
          <p:cNvPr id="4" name="Marcador de pie de página 3">
            <a:extLst>
              <a:ext uri="{FF2B5EF4-FFF2-40B4-BE49-F238E27FC236}">
                <a16:creationId xmlns:a16="http://schemas.microsoft.com/office/drawing/2014/main" id="{AB0A8499-6E7C-2CA6-B98D-69DD80809E61}"/>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D2DBB092-03E3-5321-DD22-838A5BB0E8B5}"/>
              </a:ext>
            </a:extLst>
          </p:cNvPr>
          <p:cNvSpPr>
            <a:spLocks noGrp="1"/>
          </p:cNvSpPr>
          <p:nvPr>
            <p:ph type="sldNum" sz="quarter" idx="12"/>
          </p:nvPr>
        </p:nvSpPr>
        <p:spPr/>
        <p:txBody>
          <a:bodyPr/>
          <a:lstStyle/>
          <a:p>
            <a:fld id="{4EA4A3B0-B5DF-4E2B-B48F-E4B7B7872040}" type="slidenum">
              <a:rPr lang="es-MX" smtClean="0"/>
              <a:t>193</a:t>
            </a:fld>
            <a:endParaRPr lang="es-MX"/>
          </a:p>
        </p:txBody>
      </p:sp>
    </p:spTree>
    <p:extLst>
      <p:ext uri="{BB962C8B-B14F-4D97-AF65-F5344CB8AC3E}">
        <p14:creationId xmlns:p14="http://schemas.microsoft.com/office/powerpoint/2010/main" val="75293786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82707E-626A-0A62-0DA1-99A534F2BB12}"/>
              </a:ext>
            </a:extLst>
          </p:cNvPr>
          <p:cNvSpPr>
            <a:spLocks noGrp="1"/>
          </p:cNvSpPr>
          <p:nvPr>
            <p:ph type="title"/>
          </p:nvPr>
        </p:nvSpPr>
        <p:spPr/>
        <p:txBody>
          <a:bodyPr/>
          <a:lstStyle/>
          <a:p>
            <a:r>
              <a:rPr lang="es-MX" dirty="0">
                <a:solidFill>
                  <a:schemeClr val="bg1"/>
                </a:solidFill>
              </a:rPr>
              <a:t>Módulos </a:t>
            </a:r>
            <a:r>
              <a:rPr lang="es-MX" dirty="0" err="1">
                <a:solidFill>
                  <a:schemeClr val="bg1"/>
                </a:solidFill>
              </a:rPr>
              <a:t>shutil</a:t>
            </a:r>
            <a:r>
              <a:rPr lang="es-MX" dirty="0">
                <a:solidFill>
                  <a:schemeClr val="bg1"/>
                </a:solidFill>
              </a:rPr>
              <a:t> </a:t>
            </a:r>
          </a:p>
        </p:txBody>
      </p:sp>
      <p:sp>
        <p:nvSpPr>
          <p:cNvPr id="3" name="Marcador de contenido 2">
            <a:extLst>
              <a:ext uri="{FF2B5EF4-FFF2-40B4-BE49-F238E27FC236}">
                <a16:creationId xmlns:a16="http://schemas.microsoft.com/office/drawing/2014/main" id="{EB7202C2-90CE-A635-92E3-F3D02D0433BA}"/>
              </a:ext>
            </a:extLst>
          </p:cNvPr>
          <p:cNvSpPr>
            <a:spLocks noGrp="1"/>
          </p:cNvSpPr>
          <p:nvPr>
            <p:ph idx="1"/>
          </p:nvPr>
        </p:nvSpPr>
        <p:spPr/>
        <p:txBody>
          <a:bodyPr>
            <a:normAutofit fontScale="70000" lnSpcReduction="20000"/>
          </a:bodyPr>
          <a:lstStyle/>
          <a:p>
            <a:pPr marL="0" indent="0">
              <a:buNone/>
            </a:pPr>
            <a:r>
              <a:rPr lang="es-MX" dirty="0"/>
              <a:t>El módulo </a:t>
            </a:r>
            <a:r>
              <a:rPr lang="es-MX" dirty="0" err="1"/>
              <a:t>Shutil</a:t>
            </a:r>
            <a:r>
              <a:rPr lang="es-MX" dirty="0"/>
              <a:t> ofrece funcionalidades de alto nivel sobre archivos, tales como copiar, crear, eliminar y mover entre directorios. También mencionaremos métodos del módulo os que cumplen objetivos similares.</a:t>
            </a:r>
          </a:p>
          <a:p>
            <a:pPr marL="0" indent="0">
              <a:buNone/>
            </a:pPr>
            <a:r>
              <a:rPr lang="es-MX" dirty="0" err="1">
                <a:solidFill>
                  <a:schemeClr val="bg1"/>
                </a:solidFill>
              </a:rPr>
              <a:t>import</a:t>
            </a:r>
            <a:r>
              <a:rPr lang="es-MX" dirty="0">
                <a:solidFill>
                  <a:schemeClr val="bg1"/>
                </a:solidFill>
              </a:rPr>
              <a:t> </a:t>
            </a:r>
            <a:r>
              <a:rPr lang="es-MX" dirty="0" err="1">
                <a:solidFill>
                  <a:schemeClr val="bg1"/>
                </a:solidFill>
              </a:rPr>
              <a:t>shutil</a:t>
            </a:r>
            <a:endParaRPr lang="es-MX" dirty="0">
              <a:solidFill>
                <a:schemeClr val="bg1"/>
              </a:solidFill>
            </a:endParaRPr>
          </a:p>
          <a:p>
            <a:pPr marL="0" indent="0">
              <a:buNone/>
            </a:pPr>
            <a:r>
              <a:rPr lang="es-MX" dirty="0" err="1">
                <a:solidFill>
                  <a:schemeClr val="bg1"/>
                </a:solidFill>
              </a:rPr>
              <a:t>shutil.move</a:t>
            </a:r>
            <a:r>
              <a:rPr lang="es-MX" dirty="0">
                <a:solidFill>
                  <a:schemeClr val="bg1"/>
                </a:solidFill>
              </a:rPr>
              <a:t>(archivo, directorio) : </a:t>
            </a:r>
            <a:r>
              <a:rPr lang="es-MX" dirty="0"/>
              <a:t>mueve un archivo desde el directorio actual hacia aquel que se especifica en el segundo parámetro. </a:t>
            </a:r>
          </a:p>
          <a:p>
            <a:pPr marL="0" indent="0">
              <a:buNone/>
            </a:pPr>
            <a:r>
              <a:rPr lang="es-MX" dirty="0" err="1">
                <a:solidFill>
                  <a:schemeClr val="bg1"/>
                </a:solidFill>
              </a:rPr>
              <a:t>os.unlink</a:t>
            </a:r>
            <a:r>
              <a:rPr lang="es-MX" dirty="0">
                <a:solidFill>
                  <a:schemeClr val="bg1"/>
                </a:solidFill>
              </a:rPr>
              <a:t>(directorio) : </a:t>
            </a:r>
            <a:r>
              <a:rPr lang="es-MX" dirty="0"/>
              <a:t>elimina un archivo del directorio indicado</a:t>
            </a:r>
          </a:p>
          <a:p>
            <a:pPr marL="0" indent="0">
              <a:buNone/>
            </a:pPr>
            <a:r>
              <a:rPr lang="es-MX" dirty="0" err="1">
                <a:solidFill>
                  <a:schemeClr val="bg1"/>
                </a:solidFill>
              </a:rPr>
              <a:t>os.rmdir</a:t>
            </a:r>
            <a:r>
              <a:rPr lang="es-MX" dirty="0">
                <a:solidFill>
                  <a:schemeClr val="bg1"/>
                </a:solidFill>
              </a:rPr>
              <a:t>(directorio) : </a:t>
            </a:r>
            <a:r>
              <a:rPr lang="es-MX" dirty="0"/>
              <a:t>elimina una carpeta vacía</a:t>
            </a:r>
          </a:p>
          <a:p>
            <a:pPr marL="0" indent="0">
              <a:buNone/>
            </a:pPr>
            <a:r>
              <a:rPr lang="es-MX" dirty="0" err="1">
                <a:solidFill>
                  <a:schemeClr val="bg1"/>
                </a:solidFill>
              </a:rPr>
              <a:t>shutil.rmtree</a:t>
            </a:r>
            <a:r>
              <a:rPr lang="es-MX" dirty="0">
                <a:solidFill>
                  <a:schemeClr val="bg1"/>
                </a:solidFill>
              </a:rPr>
              <a:t>(directorio) : </a:t>
            </a:r>
            <a:r>
              <a:rPr lang="es-MX" dirty="0"/>
              <a:t>elimina una carpeta indicada en el directorio, incluyendo todas sus ramificaciones (subcarpetas y archivos), de manera definitiva y sin pasar por la papelera de reciclaje. </a:t>
            </a:r>
          </a:p>
          <a:p>
            <a:pPr marL="0" indent="0">
              <a:buNone/>
            </a:pPr>
            <a:r>
              <a:rPr lang="es-MX" dirty="0">
                <a:solidFill>
                  <a:schemeClr val="bg1"/>
                </a:solidFill>
              </a:rPr>
              <a:t>send2trash.send2trash(archivo) </a:t>
            </a:r>
            <a:r>
              <a:rPr lang="es-MX" dirty="0"/>
              <a:t>: envía un archivo a la papelera de reciclaje (es necesario instalar el módulo </a:t>
            </a:r>
            <a:r>
              <a:rPr lang="es-MX" dirty="0" err="1">
                <a:solidFill>
                  <a:schemeClr val="bg1"/>
                </a:solidFill>
              </a:rPr>
              <a:t>pip</a:t>
            </a:r>
            <a:r>
              <a:rPr lang="es-MX" dirty="0">
                <a:solidFill>
                  <a:schemeClr val="bg1"/>
                </a:solidFill>
              </a:rPr>
              <a:t> </a:t>
            </a:r>
            <a:r>
              <a:rPr lang="es-MX" dirty="0" err="1">
                <a:solidFill>
                  <a:schemeClr val="bg1"/>
                </a:solidFill>
              </a:rPr>
              <a:t>install</a:t>
            </a:r>
            <a:r>
              <a:rPr lang="es-MX" dirty="0">
                <a:solidFill>
                  <a:schemeClr val="bg1"/>
                </a:solidFill>
              </a:rPr>
              <a:t> Send2Trash </a:t>
            </a:r>
            <a:r>
              <a:rPr lang="es-MX" dirty="0"/>
              <a:t>desde y luego importarlo) </a:t>
            </a:r>
          </a:p>
          <a:p>
            <a:pPr marL="0" indent="0">
              <a:buNone/>
            </a:pPr>
            <a:r>
              <a:rPr lang="es-MX" dirty="0" err="1">
                <a:solidFill>
                  <a:schemeClr val="bg1"/>
                </a:solidFill>
              </a:rPr>
              <a:t>os.walk</a:t>
            </a:r>
            <a:r>
              <a:rPr lang="es-MX" dirty="0">
                <a:solidFill>
                  <a:schemeClr val="bg1"/>
                </a:solidFill>
              </a:rPr>
              <a:t>(directorio) : </a:t>
            </a:r>
            <a:r>
              <a:rPr lang="es-MX" dirty="0"/>
              <a:t>recorre el directorio indicado, y devuelve los nombres de carpetas, subcarpetas y archivos dentro de ellas en forma de tupla, a través de un generador</a:t>
            </a:r>
          </a:p>
        </p:txBody>
      </p:sp>
      <p:sp>
        <p:nvSpPr>
          <p:cNvPr id="4" name="Marcador de pie de página 3">
            <a:extLst>
              <a:ext uri="{FF2B5EF4-FFF2-40B4-BE49-F238E27FC236}">
                <a16:creationId xmlns:a16="http://schemas.microsoft.com/office/drawing/2014/main" id="{0BB42B93-4947-3C8C-3B98-BB9A312542E0}"/>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F5742139-01A4-957A-35BB-551E15059D47}"/>
              </a:ext>
            </a:extLst>
          </p:cNvPr>
          <p:cNvSpPr>
            <a:spLocks noGrp="1"/>
          </p:cNvSpPr>
          <p:nvPr>
            <p:ph type="sldNum" sz="quarter" idx="12"/>
          </p:nvPr>
        </p:nvSpPr>
        <p:spPr/>
        <p:txBody>
          <a:bodyPr/>
          <a:lstStyle/>
          <a:p>
            <a:fld id="{4EA4A3B0-B5DF-4E2B-B48F-E4B7B7872040}" type="slidenum">
              <a:rPr lang="es-MX" smtClean="0"/>
              <a:t>194</a:t>
            </a:fld>
            <a:endParaRPr lang="es-MX"/>
          </a:p>
        </p:txBody>
      </p:sp>
    </p:spTree>
    <p:extLst>
      <p:ext uri="{BB962C8B-B14F-4D97-AF65-F5344CB8AC3E}">
        <p14:creationId xmlns:p14="http://schemas.microsoft.com/office/powerpoint/2010/main" val="21472970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AF1E6F-7AE6-C312-28C6-A1EC629CDCBB}"/>
              </a:ext>
            </a:extLst>
          </p:cNvPr>
          <p:cNvSpPr>
            <a:spLocks noGrp="1"/>
          </p:cNvSpPr>
          <p:nvPr>
            <p:ph type="title"/>
          </p:nvPr>
        </p:nvSpPr>
        <p:spPr/>
        <p:txBody>
          <a:bodyPr/>
          <a:lstStyle/>
          <a:p>
            <a:r>
              <a:rPr lang="es-MX" dirty="0" err="1">
                <a:solidFill>
                  <a:schemeClr val="bg1"/>
                </a:solidFill>
              </a:rPr>
              <a:t>Datetime</a:t>
            </a:r>
            <a:endParaRPr lang="es-MX" dirty="0">
              <a:solidFill>
                <a:schemeClr val="bg1"/>
              </a:solidFill>
            </a:endParaRPr>
          </a:p>
        </p:txBody>
      </p:sp>
      <p:sp>
        <p:nvSpPr>
          <p:cNvPr id="3" name="Marcador de contenido 2">
            <a:extLst>
              <a:ext uri="{FF2B5EF4-FFF2-40B4-BE49-F238E27FC236}">
                <a16:creationId xmlns:a16="http://schemas.microsoft.com/office/drawing/2014/main" id="{A5207378-A42C-0ECE-D34F-A81043353FA8}"/>
              </a:ext>
            </a:extLst>
          </p:cNvPr>
          <p:cNvSpPr>
            <a:spLocks noGrp="1"/>
          </p:cNvSpPr>
          <p:nvPr>
            <p:ph idx="1"/>
          </p:nvPr>
        </p:nvSpPr>
        <p:spPr>
          <a:xfrm>
            <a:off x="978159" y="1991016"/>
            <a:ext cx="10515600" cy="4351338"/>
          </a:xfrm>
        </p:spPr>
        <p:txBody>
          <a:bodyPr>
            <a:normAutofit fontScale="77500" lnSpcReduction="20000"/>
          </a:bodyPr>
          <a:lstStyle/>
          <a:p>
            <a:pPr marL="0" indent="0">
              <a:buNone/>
            </a:pPr>
            <a:r>
              <a:rPr lang="es-MX" dirty="0"/>
              <a:t>El módulo </a:t>
            </a:r>
            <a:r>
              <a:rPr lang="es-MX" dirty="0" err="1"/>
              <a:t>datetime</a:t>
            </a:r>
            <a:r>
              <a:rPr lang="es-MX" dirty="0"/>
              <a:t> (incorporado en Python) puede importarse en proyectos para trabajar con fechas y horas, así como intervalos y duraciones.</a:t>
            </a:r>
          </a:p>
          <a:p>
            <a:pPr marL="0" indent="0">
              <a:buNone/>
            </a:pPr>
            <a:r>
              <a:rPr lang="es-MX" dirty="0" err="1">
                <a:solidFill>
                  <a:schemeClr val="bg1"/>
                </a:solidFill>
              </a:rPr>
              <a:t>import</a:t>
            </a:r>
            <a:r>
              <a:rPr lang="es-MX" dirty="0">
                <a:solidFill>
                  <a:schemeClr val="bg1"/>
                </a:solidFill>
              </a:rPr>
              <a:t> </a:t>
            </a:r>
            <a:r>
              <a:rPr lang="es-MX" dirty="0" err="1">
                <a:solidFill>
                  <a:schemeClr val="bg1"/>
                </a:solidFill>
              </a:rPr>
              <a:t>datetime</a:t>
            </a:r>
            <a:endParaRPr lang="es-MX" dirty="0">
              <a:solidFill>
                <a:schemeClr val="bg1"/>
              </a:solidFill>
            </a:endParaRPr>
          </a:p>
          <a:p>
            <a:pPr marL="0" indent="0">
              <a:buNone/>
            </a:pPr>
            <a:r>
              <a:rPr lang="es-MX" dirty="0" err="1"/>
              <a:t>mi_fecha</a:t>
            </a:r>
            <a:r>
              <a:rPr lang="es-MX" dirty="0"/>
              <a:t> = </a:t>
            </a:r>
            <a:r>
              <a:rPr lang="es-MX" dirty="0" err="1"/>
              <a:t>datetime.date</a:t>
            </a:r>
            <a:r>
              <a:rPr lang="es-MX" dirty="0"/>
              <a:t>(</a:t>
            </a:r>
            <a:r>
              <a:rPr lang="es-MX" dirty="0" err="1"/>
              <a:t>año,mes,día</a:t>
            </a:r>
            <a:r>
              <a:rPr lang="es-MX" dirty="0"/>
              <a:t>)</a:t>
            </a:r>
          </a:p>
          <a:p>
            <a:pPr marL="0" indent="0">
              <a:buNone/>
            </a:pPr>
            <a:r>
              <a:rPr lang="es-MX" dirty="0">
                <a:solidFill>
                  <a:schemeClr val="bg1"/>
                </a:solidFill>
              </a:rPr>
              <a:t>Fecha:</a:t>
            </a:r>
          </a:p>
          <a:p>
            <a:pPr marL="0" indent="0">
              <a:buNone/>
            </a:pPr>
            <a:r>
              <a:rPr lang="es-MX" dirty="0" err="1"/>
              <a:t>año,mes,día</a:t>
            </a:r>
            <a:r>
              <a:rPr lang="es-MX" dirty="0"/>
              <a:t> son </a:t>
            </a:r>
            <a:r>
              <a:rPr lang="es-MX" dirty="0" err="1"/>
              <a:t>integers</a:t>
            </a:r>
            <a:r>
              <a:rPr lang="es-MX" dirty="0"/>
              <a:t> comprendidos en los rangos de fechas "reales" (12 meses y 31 días como máximo). También podemos extraer el año, mes y día individualmente:</a:t>
            </a:r>
          </a:p>
          <a:p>
            <a:pPr marL="0" indent="0">
              <a:buNone/>
            </a:pPr>
            <a:r>
              <a:rPr lang="es-MX" dirty="0" err="1"/>
              <a:t>anio</a:t>
            </a:r>
            <a:r>
              <a:rPr lang="es-MX" dirty="0"/>
              <a:t> = </a:t>
            </a:r>
            <a:r>
              <a:rPr lang="es-MX" dirty="0" err="1"/>
              <a:t>mi_fecha.year</a:t>
            </a:r>
            <a:r>
              <a:rPr lang="es-MX" dirty="0"/>
              <a:t> </a:t>
            </a:r>
          </a:p>
          <a:p>
            <a:pPr marL="0" indent="0">
              <a:buNone/>
            </a:pPr>
            <a:r>
              <a:rPr lang="es-MX" dirty="0"/>
              <a:t>mes = </a:t>
            </a:r>
            <a:r>
              <a:rPr lang="es-MX" dirty="0" err="1"/>
              <a:t>mi_fecha.month</a:t>
            </a:r>
            <a:r>
              <a:rPr lang="es-MX" dirty="0"/>
              <a:t> </a:t>
            </a:r>
          </a:p>
          <a:p>
            <a:pPr marL="0" indent="0">
              <a:buNone/>
            </a:pPr>
            <a:r>
              <a:rPr lang="es-MX" dirty="0" err="1"/>
              <a:t>dia</a:t>
            </a:r>
            <a:r>
              <a:rPr lang="es-MX" dirty="0"/>
              <a:t> = </a:t>
            </a:r>
            <a:r>
              <a:rPr lang="es-MX" dirty="0" err="1"/>
              <a:t>mi_fecha.day</a:t>
            </a:r>
            <a:endParaRPr lang="es-MX" dirty="0"/>
          </a:p>
          <a:p>
            <a:pPr marL="0" indent="0">
              <a:buNone/>
            </a:pPr>
            <a:endParaRPr lang="es-MX" dirty="0"/>
          </a:p>
          <a:p>
            <a:pPr marL="0" indent="0">
              <a:buNone/>
            </a:pPr>
            <a:r>
              <a:rPr lang="es-MX" dirty="0">
                <a:solidFill>
                  <a:schemeClr val="bg1"/>
                </a:solidFill>
              </a:rPr>
              <a:t>hoy</a:t>
            </a:r>
            <a:r>
              <a:rPr lang="es-MX" dirty="0"/>
              <a:t> = </a:t>
            </a:r>
            <a:r>
              <a:rPr lang="es-MX" dirty="0" err="1"/>
              <a:t>datetime.date.today</a:t>
            </a:r>
            <a:r>
              <a:rPr lang="es-MX" dirty="0"/>
              <a:t>()    Obtener el día actual</a:t>
            </a:r>
          </a:p>
        </p:txBody>
      </p:sp>
      <p:sp>
        <p:nvSpPr>
          <p:cNvPr id="4" name="Marcador de pie de página 3">
            <a:extLst>
              <a:ext uri="{FF2B5EF4-FFF2-40B4-BE49-F238E27FC236}">
                <a16:creationId xmlns:a16="http://schemas.microsoft.com/office/drawing/2014/main" id="{16574E46-EFE9-DBF4-175C-DAC2D193ADD6}"/>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10B93320-03E9-DE43-EAD4-F8216D02DF8C}"/>
              </a:ext>
            </a:extLst>
          </p:cNvPr>
          <p:cNvSpPr>
            <a:spLocks noGrp="1"/>
          </p:cNvSpPr>
          <p:nvPr>
            <p:ph type="sldNum" sz="quarter" idx="12"/>
          </p:nvPr>
        </p:nvSpPr>
        <p:spPr/>
        <p:txBody>
          <a:bodyPr/>
          <a:lstStyle/>
          <a:p>
            <a:fld id="{4EA4A3B0-B5DF-4E2B-B48F-E4B7B7872040}" type="slidenum">
              <a:rPr lang="es-MX" smtClean="0"/>
              <a:t>195</a:t>
            </a:fld>
            <a:endParaRPr lang="es-MX"/>
          </a:p>
        </p:txBody>
      </p:sp>
    </p:spTree>
    <p:extLst>
      <p:ext uri="{BB962C8B-B14F-4D97-AF65-F5344CB8AC3E}">
        <p14:creationId xmlns:p14="http://schemas.microsoft.com/office/powerpoint/2010/main" val="85050943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656F1-74FE-A56A-1E8D-E5934FD1B8A4}"/>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C3DACE63-A2C2-2E49-5C31-361DA88FE47F}"/>
              </a:ext>
            </a:extLst>
          </p:cNvPr>
          <p:cNvSpPr>
            <a:spLocks noGrp="1"/>
          </p:cNvSpPr>
          <p:nvPr>
            <p:ph idx="1"/>
          </p:nvPr>
        </p:nvSpPr>
        <p:spPr/>
        <p:txBody>
          <a:bodyPr>
            <a:normAutofit fontScale="70000" lnSpcReduction="20000"/>
          </a:bodyPr>
          <a:lstStyle/>
          <a:p>
            <a:pPr marL="0" indent="0">
              <a:buNone/>
            </a:pPr>
            <a:r>
              <a:rPr lang="es-MX" dirty="0">
                <a:solidFill>
                  <a:schemeClr val="bg1"/>
                </a:solidFill>
              </a:rPr>
              <a:t>Hora:</a:t>
            </a:r>
          </a:p>
          <a:p>
            <a:pPr marL="0" indent="0">
              <a:buNone/>
            </a:pPr>
            <a:r>
              <a:rPr lang="pt-BR" dirty="0" err="1"/>
              <a:t>mi_hora</a:t>
            </a:r>
            <a:r>
              <a:rPr lang="pt-BR" dirty="0"/>
              <a:t> = </a:t>
            </a:r>
            <a:r>
              <a:rPr lang="pt-BR" dirty="0" err="1"/>
              <a:t>datetime.time</a:t>
            </a:r>
            <a:r>
              <a:rPr lang="pt-BR" dirty="0"/>
              <a:t>(hora, minuto, segundo, </a:t>
            </a:r>
            <a:r>
              <a:rPr lang="pt-BR" dirty="0" err="1"/>
              <a:t>microsegundo</a:t>
            </a:r>
            <a:r>
              <a:rPr lang="pt-BR" dirty="0"/>
              <a:t>)</a:t>
            </a:r>
          </a:p>
          <a:p>
            <a:pPr marL="0" indent="0">
              <a:buNone/>
            </a:pPr>
            <a:r>
              <a:rPr lang="es-MX" dirty="0"/>
              <a:t>Todos los argumentos son opcionales (se asumen 0 si no se indican), y deben estar comprendidos entre 0 y 24 para las horas, 0 y 60 para minutos y segundos, y 0 y 1000000 para los microsegundos.</a:t>
            </a:r>
            <a:endParaRPr lang="pt-BR" dirty="0"/>
          </a:p>
          <a:p>
            <a:pPr marL="0" indent="0">
              <a:buNone/>
            </a:pPr>
            <a:r>
              <a:rPr lang="pt-BR" dirty="0">
                <a:solidFill>
                  <a:schemeClr val="bg1"/>
                </a:solidFill>
              </a:rPr>
              <a:t>Fecha y Hora:</a:t>
            </a:r>
          </a:p>
          <a:p>
            <a:pPr marL="0" indent="0">
              <a:buNone/>
            </a:pPr>
            <a:r>
              <a:rPr lang="es-MX" dirty="0" err="1"/>
              <a:t>fecha_hora</a:t>
            </a:r>
            <a:r>
              <a:rPr lang="es-MX" dirty="0"/>
              <a:t> = </a:t>
            </a:r>
            <a:r>
              <a:rPr lang="es-MX" dirty="0" err="1"/>
              <a:t>datetime.datetime</a:t>
            </a:r>
            <a:r>
              <a:rPr lang="es-MX" dirty="0"/>
              <a:t>(año, mes, día, hora, minuto, segundo, </a:t>
            </a:r>
            <a:r>
              <a:rPr lang="es-MX" dirty="0" err="1"/>
              <a:t>microseg</a:t>
            </a:r>
            <a:r>
              <a:rPr lang="es-MX" dirty="0"/>
              <a:t>)      </a:t>
            </a:r>
          </a:p>
          <a:p>
            <a:pPr marL="0" indent="0">
              <a:buNone/>
            </a:pPr>
            <a:r>
              <a:rPr lang="es-MX" dirty="0"/>
              <a:t>Combina todas las fechas y horas </a:t>
            </a:r>
          </a:p>
          <a:p>
            <a:pPr marL="0" indent="0">
              <a:buNone/>
            </a:pPr>
            <a:endParaRPr lang="es-MX" dirty="0"/>
          </a:p>
          <a:p>
            <a:pPr marL="0" indent="0">
              <a:buNone/>
            </a:pPr>
            <a:r>
              <a:rPr lang="es-MX" dirty="0">
                <a:solidFill>
                  <a:schemeClr val="bg1"/>
                </a:solidFill>
              </a:rPr>
              <a:t>ahora =</a:t>
            </a:r>
            <a:r>
              <a:rPr lang="es-MX" dirty="0"/>
              <a:t> </a:t>
            </a:r>
            <a:r>
              <a:rPr lang="es-MX" dirty="0" err="1"/>
              <a:t>datetime.datetime.now</a:t>
            </a:r>
            <a:r>
              <a:rPr lang="es-MX" dirty="0"/>
              <a:t>()       Obtener fecha y Hora actual</a:t>
            </a:r>
          </a:p>
          <a:p>
            <a:pPr marL="0" indent="0">
              <a:buNone/>
            </a:pPr>
            <a:r>
              <a:rPr lang="es-MX" dirty="0">
                <a:solidFill>
                  <a:schemeClr val="bg1"/>
                </a:solidFill>
              </a:rPr>
              <a:t>hora = </a:t>
            </a:r>
            <a:r>
              <a:rPr lang="es-MX" dirty="0" err="1"/>
              <a:t>ahora.hour</a:t>
            </a:r>
            <a:r>
              <a:rPr lang="es-MX" dirty="0"/>
              <a:t> </a:t>
            </a:r>
          </a:p>
          <a:p>
            <a:pPr marL="0" indent="0">
              <a:buNone/>
            </a:pPr>
            <a:r>
              <a:rPr lang="es-MX" dirty="0">
                <a:solidFill>
                  <a:schemeClr val="bg1"/>
                </a:solidFill>
              </a:rPr>
              <a:t>minuto = </a:t>
            </a:r>
            <a:r>
              <a:rPr lang="es-MX" dirty="0" err="1"/>
              <a:t>ahora.minute</a:t>
            </a:r>
            <a:r>
              <a:rPr lang="es-MX" dirty="0"/>
              <a:t> </a:t>
            </a:r>
          </a:p>
          <a:p>
            <a:pPr marL="0" indent="0">
              <a:buNone/>
            </a:pPr>
            <a:r>
              <a:rPr lang="es-MX" dirty="0">
                <a:solidFill>
                  <a:schemeClr val="bg1"/>
                </a:solidFill>
              </a:rPr>
              <a:t>Segundo = </a:t>
            </a:r>
            <a:r>
              <a:rPr lang="es-MX" dirty="0" err="1"/>
              <a:t>ahora.second</a:t>
            </a:r>
            <a:endParaRPr lang="es-MX" dirty="0"/>
          </a:p>
          <a:p>
            <a:pPr marL="0" indent="0">
              <a:buNone/>
            </a:pPr>
            <a:r>
              <a:rPr lang="es-MX" dirty="0"/>
              <a:t>Obtener horas, minutos y segundos </a:t>
            </a:r>
          </a:p>
        </p:txBody>
      </p:sp>
      <p:sp>
        <p:nvSpPr>
          <p:cNvPr id="4" name="Marcador de pie de página 3">
            <a:extLst>
              <a:ext uri="{FF2B5EF4-FFF2-40B4-BE49-F238E27FC236}">
                <a16:creationId xmlns:a16="http://schemas.microsoft.com/office/drawing/2014/main" id="{CA5AEBF8-2A92-309F-B284-C6F9F60CD62C}"/>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9439D8F5-5BE0-1878-3676-C87FBF6C2BE2}"/>
              </a:ext>
            </a:extLst>
          </p:cNvPr>
          <p:cNvSpPr>
            <a:spLocks noGrp="1"/>
          </p:cNvSpPr>
          <p:nvPr>
            <p:ph type="sldNum" sz="quarter" idx="12"/>
          </p:nvPr>
        </p:nvSpPr>
        <p:spPr/>
        <p:txBody>
          <a:bodyPr/>
          <a:lstStyle/>
          <a:p>
            <a:fld id="{4EA4A3B0-B5DF-4E2B-B48F-E4B7B7872040}" type="slidenum">
              <a:rPr lang="es-MX" smtClean="0"/>
              <a:t>196</a:t>
            </a:fld>
            <a:endParaRPr lang="es-MX"/>
          </a:p>
        </p:txBody>
      </p:sp>
      <p:grpSp>
        <p:nvGrpSpPr>
          <p:cNvPr id="8" name="Grupo 7">
            <a:extLst>
              <a:ext uri="{FF2B5EF4-FFF2-40B4-BE49-F238E27FC236}">
                <a16:creationId xmlns:a16="http://schemas.microsoft.com/office/drawing/2014/main" id="{EB38D477-9F83-12C0-F8DA-15EDB358E13D}"/>
              </a:ext>
            </a:extLst>
          </p:cNvPr>
          <p:cNvGrpSpPr/>
          <p:nvPr/>
        </p:nvGrpSpPr>
        <p:grpSpPr>
          <a:xfrm rot="9293121">
            <a:off x="4506218" y="3710748"/>
            <a:ext cx="379800" cy="202680"/>
            <a:chOff x="2398048" y="5119670"/>
            <a:chExt cx="379800" cy="202680"/>
          </a:xfrm>
        </p:grpSpPr>
        <mc:AlternateContent xmlns:mc="http://schemas.openxmlformats.org/markup-compatibility/2006" xmlns:p14="http://schemas.microsoft.com/office/powerpoint/2010/main">
          <mc:Choice Requires="p14">
            <p:contentPart p14:bwMode="auto" r:id="rId2">
              <p14:nvContentPartPr>
                <p14:cNvPr id="6" name="Entrada de lápiz 5">
                  <a:extLst>
                    <a:ext uri="{FF2B5EF4-FFF2-40B4-BE49-F238E27FC236}">
                      <a16:creationId xmlns:a16="http://schemas.microsoft.com/office/drawing/2014/main" id="{5E89E84C-20CA-310D-C659-8991559E9C09}"/>
                    </a:ext>
                  </a:extLst>
                </p14:cNvPr>
                <p14:cNvContentPartPr/>
                <p14:nvPr/>
              </p14:nvContentPartPr>
              <p14:xfrm>
                <a:off x="2398048" y="5187710"/>
                <a:ext cx="270360" cy="29520"/>
              </p14:xfrm>
            </p:contentPart>
          </mc:Choice>
          <mc:Fallback xmlns="">
            <p:pic>
              <p:nvPicPr>
                <p:cNvPr id="6" name="Entrada de lápiz 5">
                  <a:extLst>
                    <a:ext uri="{FF2B5EF4-FFF2-40B4-BE49-F238E27FC236}">
                      <a16:creationId xmlns:a16="http://schemas.microsoft.com/office/drawing/2014/main" id="{5E89E84C-20CA-310D-C659-8991559E9C09}"/>
                    </a:ext>
                  </a:extLst>
                </p:cNvPr>
                <p:cNvPicPr/>
                <p:nvPr/>
              </p:nvPicPr>
              <p:blipFill>
                <a:blip r:embed="rId3"/>
                <a:stretch>
                  <a:fillRect/>
                </a:stretch>
              </p:blipFill>
              <p:spPr>
                <a:xfrm>
                  <a:off x="2389048" y="5178710"/>
                  <a:ext cx="28800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Entrada de lápiz 6">
                  <a:extLst>
                    <a:ext uri="{FF2B5EF4-FFF2-40B4-BE49-F238E27FC236}">
                      <a16:creationId xmlns:a16="http://schemas.microsoft.com/office/drawing/2014/main" id="{B1EAA307-8E30-19CB-A3CC-7A0AC12233B2}"/>
                    </a:ext>
                  </a:extLst>
                </p14:cNvPr>
                <p14:cNvContentPartPr/>
                <p14:nvPr/>
              </p14:nvContentPartPr>
              <p14:xfrm>
                <a:off x="2613328" y="5119670"/>
                <a:ext cx="164520" cy="202680"/>
              </p14:xfrm>
            </p:contentPart>
          </mc:Choice>
          <mc:Fallback xmlns="">
            <p:pic>
              <p:nvPicPr>
                <p:cNvPr id="7" name="Entrada de lápiz 6">
                  <a:extLst>
                    <a:ext uri="{FF2B5EF4-FFF2-40B4-BE49-F238E27FC236}">
                      <a16:creationId xmlns:a16="http://schemas.microsoft.com/office/drawing/2014/main" id="{B1EAA307-8E30-19CB-A3CC-7A0AC12233B2}"/>
                    </a:ext>
                  </a:extLst>
                </p:cNvPr>
                <p:cNvPicPr/>
                <p:nvPr/>
              </p:nvPicPr>
              <p:blipFill>
                <a:blip r:embed="rId5"/>
                <a:stretch>
                  <a:fillRect/>
                </a:stretch>
              </p:blipFill>
              <p:spPr>
                <a:xfrm>
                  <a:off x="2604328" y="5111030"/>
                  <a:ext cx="182160" cy="220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9" name="Entrada de lápiz 8">
                <a:extLst>
                  <a:ext uri="{FF2B5EF4-FFF2-40B4-BE49-F238E27FC236}">
                    <a16:creationId xmlns:a16="http://schemas.microsoft.com/office/drawing/2014/main" id="{2468E358-4A13-1A1A-98DB-C3B7E2D6931D}"/>
                  </a:ext>
                </a:extLst>
              </p14:cNvPr>
              <p14:cNvContentPartPr/>
              <p14:nvPr/>
            </p14:nvContentPartPr>
            <p14:xfrm>
              <a:off x="4325134" y="4520342"/>
              <a:ext cx="428400" cy="48240"/>
            </p14:xfrm>
          </p:contentPart>
        </mc:Choice>
        <mc:Fallback xmlns="">
          <p:pic>
            <p:nvPicPr>
              <p:cNvPr id="9" name="Entrada de lápiz 8">
                <a:extLst>
                  <a:ext uri="{FF2B5EF4-FFF2-40B4-BE49-F238E27FC236}">
                    <a16:creationId xmlns:a16="http://schemas.microsoft.com/office/drawing/2014/main" id="{2468E358-4A13-1A1A-98DB-C3B7E2D6931D}"/>
                  </a:ext>
                </a:extLst>
              </p:cNvPr>
              <p:cNvPicPr/>
              <p:nvPr/>
            </p:nvPicPr>
            <p:blipFill>
              <a:blip r:embed="rId7"/>
              <a:stretch>
                <a:fillRect/>
              </a:stretch>
            </p:blipFill>
            <p:spPr>
              <a:xfrm>
                <a:off x="4316134" y="4511702"/>
                <a:ext cx="44604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Entrada de lápiz 9">
                <a:extLst>
                  <a:ext uri="{FF2B5EF4-FFF2-40B4-BE49-F238E27FC236}">
                    <a16:creationId xmlns:a16="http://schemas.microsoft.com/office/drawing/2014/main" id="{5F0894B7-B0EB-FAB1-2B5C-9D559CB66F9B}"/>
                  </a:ext>
                </a:extLst>
              </p14:cNvPr>
              <p14:cNvContentPartPr/>
              <p14:nvPr/>
            </p14:nvContentPartPr>
            <p14:xfrm>
              <a:off x="4579352" y="4426382"/>
              <a:ext cx="206640" cy="187920"/>
            </p14:xfrm>
          </p:contentPart>
        </mc:Choice>
        <mc:Fallback xmlns="">
          <p:pic>
            <p:nvPicPr>
              <p:cNvPr id="10" name="Entrada de lápiz 9">
                <a:extLst>
                  <a:ext uri="{FF2B5EF4-FFF2-40B4-BE49-F238E27FC236}">
                    <a16:creationId xmlns:a16="http://schemas.microsoft.com/office/drawing/2014/main" id="{5F0894B7-B0EB-FAB1-2B5C-9D559CB66F9B}"/>
                  </a:ext>
                </a:extLst>
              </p:cNvPr>
              <p:cNvPicPr/>
              <p:nvPr/>
            </p:nvPicPr>
            <p:blipFill>
              <a:blip r:embed="rId9"/>
              <a:stretch>
                <a:fillRect/>
              </a:stretch>
            </p:blipFill>
            <p:spPr>
              <a:xfrm>
                <a:off x="4570712" y="4417742"/>
                <a:ext cx="22428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Entrada de lápiz 10">
                <a:extLst>
                  <a:ext uri="{FF2B5EF4-FFF2-40B4-BE49-F238E27FC236}">
                    <a16:creationId xmlns:a16="http://schemas.microsoft.com/office/drawing/2014/main" id="{D8E81B62-D31F-DF8C-5ACB-D08CE887B4A5}"/>
                  </a:ext>
                </a:extLst>
              </p14:cNvPr>
              <p14:cNvContentPartPr/>
              <p14:nvPr/>
            </p14:nvContentPartPr>
            <p14:xfrm>
              <a:off x="3832288" y="5152430"/>
              <a:ext cx="310680" cy="166320"/>
            </p14:xfrm>
          </p:contentPart>
        </mc:Choice>
        <mc:Fallback xmlns="">
          <p:pic>
            <p:nvPicPr>
              <p:cNvPr id="11" name="Entrada de lápiz 10">
                <a:extLst>
                  <a:ext uri="{FF2B5EF4-FFF2-40B4-BE49-F238E27FC236}">
                    <a16:creationId xmlns:a16="http://schemas.microsoft.com/office/drawing/2014/main" id="{D8E81B62-D31F-DF8C-5ACB-D08CE887B4A5}"/>
                  </a:ext>
                </a:extLst>
              </p:cNvPr>
              <p:cNvPicPr/>
              <p:nvPr/>
            </p:nvPicPr>
            <p:blipFill>
              <a:blip r:embed="rId11"/>
              <a:stretch>
                <a:fillRect/>
              </a:stretch>
            </p:blipFill>
            <p:spPr>
              <a:xfrm>
                <a:off x="3823648" y="5143430"/>
                <a:ext cx="3283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Entrada de lápiz 11">
                <a:extLst>
                  <a:ext uri="{FF2B5EF4-FFF2-40B4-BE49-F238E27FC236}">
                    <a16:creationId xmlns:a16="http://schemas.microsoft.com/office/drawing/2014/main" id="{041C943A-3CC1-B36C-C3A4-35E465081E32}"/>
                  </a:ext>
                </a:extLst>
              </p14:cNvPr>
              <p14:cNvContentPartPr/>
              <p14:nvPr/>
            </p14:nvContentPartPr>
            <p14:xfrm>
              <a:off x="3844168" y="5205710"/>
              <a:ext cx="945000" cy="686880"/>
            </p14:xfrm>
          </p:contentPart>
        </mc:Choice>
        <mc:Fallback xmlns="">
          <p:pic>
            <p:nvPicPr>
              <p:cNvPr id="12" name="Entrada de lápiz 11">
                <a:extLst>
                  <a:ext uri="{FF2B5EF4-FFF2-40B4-BE49-F238E27FC236}">
                    <a16:creationId xmlns:a16="http://schemas.microsoft.com/office/drawing/2014/main" id="{041C943A-3CC1-B36C-C3A4-35E465081E32}"/>
                  </a:ext>
                </a:extLst>
              </p:cNvPr>
              <p:cNvPicPr/>
              <p:nvPr/>
            </p:nvPicPr>
            <p:blipFill>
              <a:blip r:embed="rId13"/>
              <a:stretch>
                <a:fillRect/>
              </a:stretch>
            </p:blipFill>
            <p:spPr>
              <a:xfrm>
                <a:off x="3835528" y="5197070"/>
                <a:ext cx="962640" cy="704520"/>
              </a:xfrm>
              <a:prstGeom prst="rect">
                <a:avLst/>
              </a:prstGeom>
            </p:spPr>
          </p:pic>
        </mc:Fallback>
      </mc:AlternateContent>
    </p:spTree>
    <p:extLst>
      <p:ext uri="{BB962C8B-B14F-4D97-AF65-F5344CB8AC3E}">
        <p14:creationId xmlns:p14="http://schemas.microsoft.com/office/powerpoint/2010/main" val="895579246"/>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FE3316-EAB3-17CD-8005-60BC83B4A1E5}"/>
              </a:ext>
            </a:extLst>
          </p:cNvPr>
          <p:cNvSpPr>
            <a:spLocks noGrp="1"/>
          </p:cNvSpPr>
          <p:nvPr>
            <p:ph type="title"/>
          </p:nvPr>
        </p:nvSpPr>
        <p:spPr/>
        <p:txBody>
          <a:bodyPr/>
          <a:lstStyle/>
          <a:p>
            <a:r>
              <a:rPr lang="es-MX" dirty="0">
                <a:solidFill>
                  <a:schemeClr val="bg1"/>
                </a:solidFill>
              </a:rPr>
              <a:t>Ejercicios</a:t>
            </a:r>
          </a:p>
        </p:txBody>
      </p:sp>
      <p:sp>
        <p:nvSpPr>
          <p:cNvPr id="3" name="Marcador de contenido 2">
            <a:extLst>
              <a:ext uri="{FF2B5EF4-FFF2-40B4-BE49-F238E27FC236}">
                <a16:creationId xmlns:a16="http://schemas.microsoft.com/office/drawing/2014/main" id="{81CC08B6-2024-1E27-12D8-178C1483958D}"/>
              </a:ext>
            </a:extLst>
          </p:cNvPr>
          <p:cNvSpPr>
            <a:spLocks noGrp="1"/>
          </p:cNvSpPr>
          <p:nvPr>
            <p:ph idx="1"/>
          </p:nvPr>
        </p:nvSpPr>
        <p:spPr/>
        <p:txBody>
          <a:bodyPr>
            <a:normAutofit lnSpcReduction="10000"/>
          </a:bodyPr>
          <a:lstStyle/>
          <a:p>
            <a:pPr marL="0" indent="0">
              <a:buNone/>
            </a:pPr>
            <a:r>
              <a:rPr kumimoji="0" lang="es-MX" altLang="es-MX" sz="2800" b="0" i="0" u="none" strike="noStrike" cap="none" normalizeH="0" baseline="0" dirty="0">
                <a:ln>
                  <a:noFill/>
                </a:ln>
                <a:effectLst/>
                <a:latin typeface="udemy sans"/>
              </a:rPr>
              <a:t>Crea un objeto </a:t>
            </a:r>
            <a:r>
              <a:rPr kumimoji="0" lang="es-MX" altLang="es-MX" sz="2800" b="1" i="0" u="none" strike="noStrike" cap="none" normalizeH="0" baseline="0" dirty="0">
                <a:ln>
                  <a:noFill/>
                </a:ln>
                <a:effectLst/>
                <a:latin typeface="udemy sans"/>
              </a:rPr>
              <a:t>fecha </a:t>
            </a:r>
            <a:r>
              <a:rPr kumimoji="0" lang="es-MX" altLang="es-MX" sz="2800" b="0" i="0" u="none" strike="noStrike" cap="none" normalizeH="0" baseline="0" dirty="0">
                <a:ln>
                  <a:noFill/>
                </a:ln>
                <a:effectLst/>
                <a:latin typeface="udemy sans"/>
              </a:rPr>
              <a:t>llamado </a:t>
            </a:r>
            <a:r>
              <a:rPr kumimoji="0" lang="es-MX" altLang="es-MX" sz="2400" b="0" i="0" u="none" strike="noStrike" cap="none" normalizeH="0" baseline="0" dirty="0" err="1">
                <a:ln>
                  <a:noFill/>
                </a:ln>
                <a:effectLst/>
                <a:latin typeface="sfmono-regular"/>
              </a:rPr>
              <a:t>mi_fecha</a:t>
            </a:r>
            <a:r>
              <a:rPr kumimoji="0" lang="es-MX" altLang="es-MX" sz="2800" b="0" i="0" u="none" strike="noStrike" cap="none" normalizeH="0" baseline="0" dirty="0">
                <a:ln>
                  <a:noFill/>
                </a:ln>
                <a:effectLst/>
                <a:latin typeface="udemy sans"/>
              </a:rPr>
              <a:t> que almacene el día </a:t>
            </a:r>
            <a:r>
              <a:rPr kumimoji="0" lang="es-MX" altLang="es-MX" sz="2800" b="1" i="0" u="none" strike="noStrike" cap="none" normalizeH="0" baseline="0" dirty="0">
                <a:ln>
                  <a:noFill/>
                </a:ln>
                <a:effectLst/>
                <a:latin typeface="udemy sans"/>
              </a:rPr>
              <a:t>3 de febrero de 1999</a:t>
            </a:r>
            <a:r>
              <a:rPr kumimoji="0" lang="es-MX" altLang="es-MX" sz="2000" b="0" i="0" u="none" strike="noStrike" cap="none" normalizeH="0" baseline="0" dirty="0">
                <a:ln>
                  <a:noFill/>
                </a:ln>
                <a:effectLst/>
              </a:rPr>
              <a:t> </a:t>
            </a:r>
            <a:endParaRPr kumimoji="0" lang="es-MX" altLang="es-MX" sz="5400" b="0" i="0" u="none" strike="noStrike" cap="none" normalizeH="0" baseline="0" dirty="0">
              <a:ln>
                <a:noFill/>
              </a:ln>
              <a:effectLst/>
              <a:latin typeface="Arial" panose="020B0604020202020204" pitchFamily="34" charset="0"/>
            </a:endParaRPr>
          </a:p>
          <a:p>
            <a:pPr marL="0" indent="0">
              <a:buNone/>
            </a:pPr>
            <a:endParaRPr lang="es-MX" dirty="0"/>
          </a:p>
          <a:p>
            <a:pPr marL="0" indent="0">
              <a:buNone/>
            </a:pPr>
            <a:r>
              <a:rPr kumimoji="0" lang="es-MX" altLang="es-MX" sz="2800" b="0" i="0" u="none" strike="noStrike" cap="none" normalizeH="0" baseline="0" dirty="0">
                <a:ln>
                  <a:noFill/>
                </a:ln>
                <a:effectLst/>
                <a:latin typeface="udemy sans"/>
              </a:rPr>
              <a:t>Crea un objeto en la variable </a:t>
            </a:r>
            <a:r>
              <a:rPr kumimoji="0" lang="es-MX" altLang="es-MX" sz="2400" b="0" i="0" u="none" strike="noStrike" cap="none" normalizeH="0" baseline="0" dirty="0">
                <a:ln>
                  <a:noFill/>
                </a:ln>
                <a:effectLst/>
                <a:latin typeface="sfmono-regular"/>
              </a:rPr>
              <a:t>hoy</a:t>
            </a:r>
            <a:r>
              <a:rPr kumimoji="0" lang="es-MX" altLang="es-MX" sz="2800" b="0" i="0" u="none" strike="noStrike" cap="none" normalizeH="0" baseline="0" dirty="0">
                <a:ln>
                  <a:noFill/>
                </a:ln>
                <a:effectLst/>
                <a:latin typeface="udemy sans"/>
              </a:rPr>
              <a:t> que </a:t>
            </a:r>
            <a:r>
              <a:rPr kumimoji="0" lang="es-MX" altLang="es-MX" sz="2800" b="1" i="1" u="none" strike="noStrike" cap="none" normalizeH="0" baseline="0" dirty="0">
                <a:ln>
                  <a:noFill/>
                </a:ln>
                <a:effectLst/>
                <a:latin typeface="udemy sans"/>
              </a:rPr>
              <a:t>siempre </a:t>
            </a:r>
            <a:r>
              <a:rPr kumimoji="0" lang="es-MX" altLang="es-MX" sz="2800" b="0" i="0" u="none" strike="noStrike" cap="none" normalizeH="0" baseline="0" dirty="0">
                <a:ln>
                  <a:noFill/>
                </a:ln>
                <a:effectLst/>
                <a:latin typeface="udemy sans"/>
              </a:rPr>
              <a:t>almacene la </a:t>
            </a:r>
            <a:r>
              <a:rPr kumimoji="0" lang="es-MX" altLang="es-MX" sz="2800" b="1" i="0" u="none" strike="noStrike" cap="none" normalizeH="0" baseline="0" dirty="0">
                <a:ln>
                  <a:noFill/>
                </a:ln>
                <a:effectLst/>
                <a:latin typeface="udemy sans"/>
              </a:rPr>
              <a:t>fecha actual </a:t>
            </a:r>
            <a:r>
              <a:rPr kumimoji="0" lang="es-MX" altLang="es-MX" sz="2800" b="0" i="0" u="none" strike="noStrike" cap="none" normalizeH="0" baseline="0" dirty="0">
                <a:ln>
                  <a:noFill/>
                </a:ln>
                <a:effectLst/>
                <a:latin typeface="udemy sans"/>
              </a:rPr>
              <a:t>cuando sea invocada</a:t>
            </a:r>
          </a:p>
          <a:p>
            <a:pPr marL="0" indent="0">
              <a:buNone/>
            </a:pPr>
            <a:endParaRPr lang="es-MX" dirty="0">
              <a:latin typeface="udemy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800" b="0" i="0" u="none" strike="noStrike" cap="none" normalizeH="0" baseline="0" dirty="0">
                <a:ln>
                  <a:noFill/>
                </a:ln>
                <a:effectLst/>
                <a:latin typeface="udemy sans"/>
              </a:rPr>
              <a:t>En una variable llamada </a:t>
            </a:r>
            <a:r>
              <a:rPr kumimoji="0" lang="es-MX" altLang="es-MX" sz="2400" b="0" i="0" u="none" strike="noStrike" cap="none" normalizeH="0" baseline="0" dirty="0">
                <a:ln>
                  <a:noFill/>
                </a:ln>
                <a:effectLst/>
                <a:latin typeface="sfmono-regular"/>
              </a:rPr>
              <a:t>minutos</a:t>
            </a:r>
            <a:r>
              <a:rPr kumimoji="0" lang="es-MX" altLang="es-MX" sz="2800" b="0" i="0" u="none" strike="noStrike" cap="none" normalizeH="0" baseline="0" dirty="0">
                <a:ln>
                  <a:noFill/>
                </a:ln>
                <a:effectLst/>
                <a:latin typeface="udemy sans"/>
              </a:rPr>
              <a:t>, almacena </a:t>
            </a:r>
            <a:r>
              <a:rPr kumimoji="0" lang="es-MX" altLang="es-MX" sz="2800" b="0" i="1" u="none" strike="noStrike" cap="none" normalizeH="0" baseline="0" dirty="0">
                <a:ln>
                  <a:noFill/>
                </a:ln>
                <a:effectLst/>
                <a:latin typeface="udemy sans"/>
              </a:rPr>
              <a:t>únicamente </a:t>
            </a:r>
            <a:r>
              <a:rPr kumimoji="0" lang="es-MX" altLang="es-MX" sz="2800" b="0" i="0" u="none" strike="noStrike" cap="none" normalizeH="0" baseline="0" dirty="0">
                <a:ln>
                  <a:noFill/>
                </a:ln>
                <a:effectLst/>
                <a:latin typeface="udemy sans"/>
              </a:rPr>
              <a:t>los </a:t>
            </a:r>
            <a:r>
              <a:rPr kumimoji="0" lang="es-MX" altLang="es-MX" sz="2800" b="1" i="0" u="none" strike="noStrike" cap="none" normalizeH="0" baseline="0" dirty="0">
                <a:ln>
                  <a:noFill/>
                </a:ln>
                <a:effectLst/>
                <a:latin typeface="udemy sans"/>
              </a:rPr>
              <a:t>minutos </a:t>
            </a:r>
            <a:r>
              <a:rPr kumimoji="0" lang="es-MX" altLang="es-MX" sz="2800" b="0" i="0" u="none" strike="noStrike" cap="none" normalizeH="0" baseline="0" dirty="0">
                <a:ln>
                  <a:noFill/>
                </a:ln>
                <a:effectLst/>
                <a:latin typeface="udemy sans"/>
              </a:rPr>
              <a:t>de la</a:t>
            </a:r>
            <a:r>
              <a:rPr kumimoji="0" lang="es-MX" altLang="es-MX" sz="2800" b="1" i="0" u="none" strike="noStrike" cap="none" normalizeH="0" baseline="0" dirty="0">
                <a:ln>
                  <a:noFill/>
                </a:ln>
                <a:effectLst/>
                <a:latin typeface="udemy sans"/>
              </a:rPr>
              <a:t> hora actual</a:t>
            </a:r>
            <a:r>
              <a:rPr kumimoji="0" lang="es-MX" altLang="es-MX" sz="2800" b="0" i="0" u="none" strike="noStrike" cap="none" normalizeH="0" baseline="0" dirty="0">
                <a:ln>
                  <a:noFill/>
                </a:ln>
                <a:effectLst/>
                <a:latin typeface="udemy sans"/>
              </a:rPr>
              <a:t>.</a:t>
            </a:r>
            <a:endParaRPr kumimoji="0" lang="es-MX" altLang="es-MX" sz="20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800" b="0" i="1" u="none" strike="noStrike" cap="none" normalizeH="0" baseline="0" dirty="0">
                <a:ln>
                  <a:noFill/>
                </a:ln>
                <a:effectLst/>
                <a:latin typeface="udemy sans"/>
              </a:rPr>
              <a:t>Por ejemplo, si se ejecutara a las </a:t>
            </a:r>
            <a:r>
              <a:rPr kumimoji="0" lang="es-MX" altLang="es-MX" sz="2800" b="1" i="1" u="none" strike="noStrike" cap="none" normalizeH="0" baseline="0" dirty="0">
                <a:ln>
                  <a:noFill/>
                </a:ln>
                <a:effectLst/>
                <a:latin typeface="udemy sans"/>
              </a:rPr>
              <a:t>20:43:17 </a:t>
            </a:r>
            <a:r>
              <a:rPr kumimoji="0" lang="es-MX" altLang="es-MX" sz="2800" b="0" i="1" u="none" strike="noStrike" cap="none" normalizeH="0" baseline="0" dirty="0">
                <a:ln>
                  <a:noFill/>
                </a:ln>
                <a:effectLst/>
                <a:latin typeface="udemy sans"/>
              </a:rPr>
              <a:t>de la noche, la variable </a:t>
            </a:r>
            <a:r>
              <a:rPr kumimoji="0" lang="es-MX" altLang="es-MX" sz="2400" b="0" i="1" u="none" strike="noStrike" cap="none" normalizeH="0" baseline="0" dirty="0">
                <a:ln>
                  <a:noFill/>
                </a:ln>
                <a:effectLst/>
                <a:latin typeface="sfmono-regular"/>
              </a:rPr>
              <a:t>minutos</a:t>
            </a:r>
            <a:r>
              <a:rPr kumimoji="0" lang="es-MX" altLang="es-MX" sz="2800" b="0" i="1" u="none" strike="noStrike" cap="none" normalizeH="0" baseline="0" dirty="0">
                <a:ln>
                  <a:noFill/>
                </a:ln>
                <a:effectLst/>
                <a:latin typeface="udemy sans"/>
              </a:rPr>
              <a:t> debe almacenar el valor 43</a:t>
            </a:r>
            <a:endParaRPr kumimoji="0" lang="es-MX" altLang="es-MX" sz="5400" b="0" i="0" u="none" strike="noStrike" cap="none" normalizeH="0" baseline="0" dirty="0">
              <a:ln>
                <a:noFill/>
              </a:ln>
              <a:effectLst/>
              <a:latin typeface="Arial" panose="020B0604020202020204" pitchFamily="34" charset="0"/>
            </a:endParaRPr>
          </a:p>
          <a:p>
            <a:pPr marL="0" indent="0">
              <a:buNone/>
            </a:pPr>
            <a:endParaRPr lang="es-MX" dirty="0"/>
          </a:p>
        </p:txBody>
      </p:sp>
      <p:sp>
        <p:nvSpPr>
          <p:cNvPr id="4" name="Marcador de pie de página 3">
            <a:extLst>
              <a:ext uri="{FF2B5EF4-FFF2-40B4-BE49-F238E27FC236}">
                <a16:creationId xmlns:a16="http://schemas.microsoft.com/office/drawing/2014/main" id="{66DA143F-3211-F158-E410-7C1647D11A50}"/>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3D7BA45B-28C5-8905-3415-F26D6FFCECFC}"/>
              </a:ext>
            </a:extLst>
          </p:cNvPr>
          <p:cNvSpPr>
            <a:spLocks noGrp="1"/>
          </p:cNvSpPr>
          <p:nvPr>
            <p:ph type="sldNum" sz="quarter" idx="12"/>
          </p:nvPr>
        </p:nvSpPr>
        <p:spPr/>
        <p:txBody>
          <a:bodyPr/>
          <a:lstStyle/>
          <a:p>
            <a:fld id="{4EA4A3B0-B5DF-4E2B-B48F-E4B7B7872040}" type="slidenum">
              <a:rPr lang="es-MX" smtClean="0"/>
              <a:t>197</a:t>
            </a:fld>
            <a:endParaRPr lang="es-MX"/>
          </a:p>
        </p:txBody>
      </p:sp>
    </p:spTree>
    <p:extLst>
      <p:ext uri="{BB962C8B-B14F-4D97-AF65-F5344CB8AC3E}">
        <p14:creationId xmlns:p14="http://schemas.microsoft.com/office/powerpoint/2010/main" val="198681405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6380E2-3591-A102-E623-31DD14A34C72}"/>
              </a:ext>
            </a:extLst>
          </p:cNvPr>
          <p:cNvSpPr>
            <a:spLocks noGrp="1"/>
          </p:cNvSpPr>
          <p:nvPr>
            <p:ph type="title"/>
          </p:nvPr>
        </p:nvSpPr>
        <p:spPr/>
        <p:txBody>
          <a:bodyPr/>
          <a:lstStyle/>
          <a:p>
            <a:r>
              <a:rPr lang="es-MX" dirty="0">
                <a:solidFill>
                  <a:schemeClr val="bg1"/>
                </a:solidFill>
              </a:rPr>
              <a:t>Medir el Tiempo</a:t>
            </a:r>
          </a:p>
        </p:txBody>
      </p:sp>
      <p:sp>
        <p:nvSpPr>
          <p:cNvPr id="3" name="Marcador de contenido 2">
            <a:extLst>
              <a:ext uri="{FF2B5EF4-FFF2-40B4-BE49-F238E27FC236}">
                <a16:creationId xmlns:a16="http://schemas.microsoft.com/office/drawing/2014/main" id="{7317E8A8-7377-6A2C-76DF-D7B12A88C00C}"/>
              </a:ext>
            </a:extLst>
          </p:cNvPr>
          <p:cNvSpPr>
            <a:spLocks noGrp="1"/>
          </p:cNvSpPr>
          <p:nvPr>
            <p:ph idx="1"/>
          </p:nvPr>
        </p:nvSpPr>
        <p:spPr/>
        <p:txBody>
          <a:bodyPr>
            <a:normAutofit lnSpcReduction="10000"/>
          </a:bodyPr>
          <a:lstStyle/>
          <a:p>
            <a:pPr marL="0" indent="0">
              <a:buNone/>
            </a:pPr>
            <a:r>
              <a:rPr lang="es-MX" dirty="0"/>
              <a:t>Estudiar el tiempo transcurrido durante la ejecución de un código nos permite conocerlo mejor y tomar decisiones acerca de la vía más </a:t>
            </a:r>
            <a:r>
              <a:rPr lang="es-MX" dirty="0" err="1"/>
              <a:t>eficiete</a:t>
            </a:r>
            <a:r>
              <a:rPr lang="es-MX" dirty="0"/>
              <a:t> para resolver un problema. Tenemos dos módulos que nos ayudarán: time y </a:t>
            </a:r>
            <a:r>
              <a:rPr lang="es-MX" dirty="0" err="1"/>
              <a:t>timeit</a:t>
            </a:r>
            <a:r>
              <a:rPr lang="es-MX" dirty="0"/>
              <a:t>.</a:t>
            </a:r>
          </a:p>
          <a:p>
            <a:pPr marL="0" indent="0">
              <a:buNone/>
            </a:pPr>
            <a:r>
              <a:rPr lang="es-MX" dirty="0">
                <a:solidFill>
                  <a:schemeClr val="bg1"/>
                </a:solidFill>
              </a:rPr>
              <a:t>utilizando time:</a:t>
            </a:r>
          </a:p>
          <a:p>
            <a:pPr marL="0" indent="0">
              <a:buNone/>
            </a:pPr>
            <a:r>
              <a:rPr lang="pt-BR" dirty="0">
                <a:solidFill>
                  <a:schemeClr val="bg1"/>
                </a:solidFill>
              </a:rPr>
              <a:t>inicio = </a:t>
            </a:r>
            <a:r>
              <a:rPr lang="pt-BR" dirty="0" err="1">
                <a:solidFill>
                  <a:schemeClr val="bg1"/>
                </a:solidFill>
              </a:rPr>
              <a:t>time.time</a:t>
            </a:r>
            <a:r>
              <a:rPr lang="pt-BR" dirty="0">
                <a:solidFill>
                  <a:schemeClr val="bg1"/>
                </a:solidFill>
              </a:rPr>
              <a:t>()                       </a:t>
            </a:r>
          </a:p>
          <a:p>
            <a:pPr marL="0" indent="0">
              <a:buNone/>
            </a:pPr>
            <a:r>
              <a:rPr lang="pt-BR" dirty="0">
                <a:solidFill>
                  <a:schemeClr val="bg1"/>
                </a:solidFill>
              </a:rPr>
              <a:t>[código] </a:t>
            </a:r>
          </a:p>
          <a:p>
            <a:pPr marL="0" indent="0">
              <a:buNone/>
            </a:pPr>
            <a:r>
              <a:rPr lang="pt-BR" dirty="0">
                <a:solidFill>
                  <a:schemeClr val="bg1"/>
                </a:solidFill>
              </a:rPr>
              <a:t>final = </a:t>
            </a:r>
            <a:r>
              <a:rPr lang="pt-BR" dirty="0" err="1">
                <a:solidFill>
                  <a:schemeClr val="bg1"/>
                </a:solidFill>
              </a:rPr>
              <a:t>time.time</a:t>
            </a:r>
            <a:r>
              <a:rPr lang="pt-BR" dirty="0">
                <a:solidFill>
                  <a:schemeClr val="bg1"/>
                </a:solidFill>
              </a:rPr>
              <a:t>() </a:t>
            </a:r>
          </a:p>
          <a:p>
            <a:pPr marL="0" indent="0">
              <a:buNone/>
            </a:pPr>
            <a:r>
              <a:rPr lang="pt-BR" dirty="0" err="1">
                <a:solidFill>
                  <a:schemeClr val="bg1"/>
                </a:solidFill>
              </a:rPr>
              <a:t>duracion</a:t>
            </a:r>
            <a:r>
              <a:rPr lang="pt-BR" dirty="0">
                <a:solidFill>
                  <a:schemeClr val="bg1"/>
                </a:solidFill>
              </a:rPr>
              <a:t> = final – inicio</a:t>
            </a:r>
          </a:p>
          <a:p>
            <a:pPr marL="0" indent="0">
              <a:buNone/>
            </a:pPr>
            <a:r>
              <a:rPr lang="es-MX" dirty="0"/>
              <a:t>Para funciones que toman varios segundos para ejecutarse</a:t>
            </a:r>
          </a:p>
        </p:txBody>
      </p:sp>
      <p:sp>
        <p:nvSpPr>
          <p:cNvPr id="4" name="Marcador de pie de página 3">
            <a:extLst>
              <a:ext uri="{FF2B5EF4-FFF2-40B4-BE49-F238E27FC236}">
                <a16:creationId xmlns:a16="http://schemas.microsoft.com/office/drawing/2014/main" id="{6A830F8C-F9F2-A47E-C60A-4B2FE087FA19}"/>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9BE081A9-EA82-32A2-9242-D77DF7191E12}"/>
              </a:ext>
            </a:extLst>
          </p:cNvPr>
          <p:cNvSpPr>
            <a:spLocks noGrp="1"/>
          </p:cNvSpPr>
          <p:nvPr>
            <p:ph type="sldNum" sz="quarter" idx="12"/>
          </p:nvPr>
        </p:nvSpPr>
        <p:spPr/>
        <p:txBody>
          <a:bodyPr/>
          <a:lstStyle/>
          <a:p>
            <a:fld id="{4EA4A3B0-B5DF-4E2B-B48F-E4B7B7872040}" type="slidenum">
              <a:rPr lang="es-MX" smtClean="0"/>
              <a:t>198</a:t>
            </a:fld>
            <a:endParaRPr lang="es-MX"/>
          </a:p>
        </p:txBody>
      </p:sp>
      <p:grpSp>
        <p:nvGrpSpPr>
          <p:cNvPr id="10" name="Grupo 9">
            <a:extLst>
              <a:ext uri="{FF2B5EF4-FFF2-40B4-BE49-F238E27FC236}">
                <a16:creationId xmlns:a16="http://schemas.microsoft.com/office/drawing/2014/main" id="{CD369FCA-1EC4-411E-B74A-7373E1BF2A37}"/>
              </a:ext>
            </a:extLst>
          </p:cNvPr>
          <p:cNvGrpSpPr/>
          <p:nvPr/>
        </p:nvGrpSpPr>
        <p:grpSpPr>
          <a:xfrm>
            <a:off x="4258888" y="4011950"/>
            <a:ext cx="1033920" cy="1297440"/>
            <a:chOff x="4258888" y="4011950"/>
            <a:chExt cx="1033920" cy="1297440"/>
          </a:xfrm>
        </p:grpSpPr>
        <mc:AlternateContent xmlns:mc="http://schemas.openxmlformats.org/markup-compatibility/2006" xmlns:p14="http://schemas.microsoft.com/office/powerpoint/2010/main">
          <mc:Choice Requires="p14">
            <p:contentPart p14:bwMode="auto" r:id="rId2">
              <p14:nvContentPartPr>
                <p14:cNvPr id="8" name="Entrada de lápiz 7">
                  <a:extLst>
                    <a:ext uri="{FF2B5EF4-FFF2-40B4-BE49-F238E27FC236}">
                      <a16:creationId xmlns:a16="http://schemas.microsoft.com/office/drawing/2014/main" id="{A5B374B9-BEE0-51C2-8576-D180CD55F8C1}"/>
                    </a:ext>
                  </a:extLst>
                </p14:cNvPr>
                <p14:cNvContentPartPr/>
                <p14:nvPr/>
              </p14:nvContentPartPr>
              <p14:xfrm>
                <a:off x="4545088" y="4188350"/>
                <a:ext cx="747720" cy="1121040"/>
              </p14:xfrm>
            </p:contentPart>
          </mc:Choice>
          <mc:Fallback xmlns="">
            <p:pic>
              <p:nvPicPr>
                <p:cNvPr id="8" name="Entrada de lápiz 7">
                  <a:extLst>
                    <a:ext uri="{FF2B5EF4-FFF2-40B4-BE49-F238E27FC236}">
                      <a16:creationId xmlns:a16="http://schemas.microsoft.com/office/drawing/2014/main" id="{A5B374B9-BEE0-51C2-8576-D180CD55F8C1}"/>
                    </a:ext>
                  </a:extLst>
                </p:cNvPr>
                <p:cNvPicPr/>
                <p:nvPr/>
              </p:nvPicPr>
              <p:blipFill>
                <a:blip r:embed="rId3"/>
                <a:stretch>
                  <a:fillRect/>
                </a:stretch>
              </p:blipFill>
              <p:spPr>
                <a:xfrm>
                  <a:off x="4536088" y="4179350"/>
                  <a:ext cx="765360" cy="1138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Entrada de lápiz 8">
                  <a:extLst>
                    <a:ext uri="{FF2B5EF4-FFF2-40B4-BE49-F238E27FC236}">
                      <a16:creationId xmlns:a16="http://schemas.microsoft.com/office/drawing/2014/main" id="{DEC34D80-EFEB-1FC4-C86C-00C7F2F763CB}"/>
                    </a:ext>
                  </a:extLst>
                </p14:cNvPr>
                <p14:cNvContentPartPr/>
                <p14:nvPr/>
              </p14:nvContentPartPr>
              <p14:xfrm>
                <a:off x="4258888" y="4011950"/>
                <a:ext cx="406440" cy="329400"/>
              </p14:xfrm>
            </p:contentPart>
          </mc:Choice>
          <mc:Fallback xmlns="">
            <p:pic>
              <p:nvPicPr>
                <p:cNvPr id="9" name="Entrada de lápiz 8">
                  <a:extLst>
                    <a:ext uri="{FF2B5EF4-FFF2-40B4-BE49-F238E27FC236}">
                      <a16:creationId xmlns:a16="http://schemas.microsoft.com/office/drawing/2014/main" id="{DEC34D80-EFEB-1FC4-C86C-00C7F2F763CB}"/>
                    </a:ext>
                  </a:extLst>
                </p:cNvPr>
                <p:cNvPicPr/>
                <p:nvPr/>
              </p:nvPicPr>
              <p:blipFill>
                <a:blip r:embed="rId5"/>
                <a:stretch>
                  <a:fillRect/>
                </a:stretch>
              </p:blipFill>
              <p:spPr>
                <a:xfrm>
                  <a:off x="4249888" y="4002950"/>
                  <a:ext cx="424080" cy="347040"/>
                </a:xfrm>
                <a:prstGeom prst="rect">
                  <a:avLst/>
                </a:prstGeom>
              </p:spPr>
            </p:pic>
          </mc:Fallback>
        </mc:AlternateContent>
      </p:grpSp>
    </p:spTree>
    <p:extLst>
      <p:ext uri="{BB962C8B-B14F-4D97-AF65-F5344CB8AC3E}">
        <p14:creationId xmlns:p14="http://schemas.microsoft.com/office/powerpoint/2010/main" val="183943514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0D1EAA-C35F-C367-89BB-4B1ED674742B}"/>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D4E347A2-895D-B0D5-C05F-7F69FFB27430}"/>
              </a:ext>
            </a:extLst>
          </p:cNvPr>
          <p:cNvSpPr>
            <a:spLocks noGrp="1"/>
          </p:cNvSpPr>
          <p:nvPr>
            <p:ph idx="1"/>
          </p:nvPr>
        </p:nvSpPr>
        <p:spPr/>
        <p:txBody>
          <a:bodyPr/>
          <a:lstStyle/>
          <a:p>
            <a:pPr marL="0" indent="0">
              <a:buNone/>
            </a:pPr>
            <a:r>
              <a:rPr lang="es-MX" dirty="0">
                <a:solidFill>
                  <a:schemeClr val="bg1"/>
                </a:solidFill>
              </a:rPr>
              <a:t>utilizando </a:t>
            </a:r>
            <a:r>
              <a:rPr lang="es-MX" dirty="0" err="1">
                <a:solidFill>
                  <a:schemeClr val="bg1"/>
                </a:solidFill>
              </a:rPr>
              <a:t>timeit</a:t>
            </a:r>
            <a:r>
              <a:rPr lang="es-MX" dirty="0">
                <a:solidFill>
                  <a:schemeClr val="bg1"/>
                </a:solidFill>
              </a:rPr>
              <a:t>:</a:t>
            </a:r>
          </a:p>
          <a:p>
            <a:pPr marL="0" indent="0">
              <a:buNone/>
            </a:pPr>
            <a:r>
              <a:rPr lang="es-MX" dirty="0" err="1"/>
              <a:t>duracion</a:t>
            </a:r>
            <a:r>
              <a:rPr lang="es-MX" dirty="0"/>
              <a:t> = </a:t>
            </a:r>
            <a:r>
              <a:rPr lang="es-MX" dirty="0" err="1"/>
              <a:t>timeit.timeit</a:t>
            </a:r>
            <a:r>
              <a:rPr lang="es-MX" dirty="0"/>
              <a:t>(</a:t>
            </a:r>
            <a:r>
              <a:rPr lang="es-MX" dirty="0" err="1"/>
              <a:t>declaracion</a:t>
            </a:r>
            <a:r>
              <a:rPr lang="es-MX" dirty="0"/>
              <a:t>, </a:t>
            </a:r>
            <a:r>
              <a:rPr lang="es-MX" dirty="0" err="1"/>
              <a:t>setup</a:t>
            </a:r>
            <a:r>
              <a:rPr lang="es-MX" dirty="0"/>
              <a:t>, </a:t>
            </a:r>
            <a:r>
              <a:rPr lang="es-MX" dirty="0" err="1"/>
              <a:t>number</a:t>
            </a:r>
            <a:r>
              <a:rPr lang="es-MX" dirty="0"/>
              <a:t> = numero)</a:t>
            </a:r>
            <a:endParaRPr lang="es-MX" dirty="0">
              <a:solidFill>
                <a:schemeClr val="bg1"/>
              </a:solidFill>
            </a:endParaRPr>
          </a:p>
          <a:p>
            <a:pPr marL="0" indent="0">
              <a:buNone/>
            </a:pPr>
            <a:endParaRPr lang="es-MX" dirty="0">
              <a:solidFill>
                <a:schemeClr val="bg1"/>
              </a:solidFill>
            </a:endParaRPr>
          </a:p>
          <a:p>
            <a:pPr marL="0" indent="0">
              <a:buNone/>
            </a:pPr>
            <a:r>
              <a:rPr lang="es-MX" dirty="0" err="1">
                <a:solidFill>
                  <a:schemeClr val="bg1"/>
                </a:solidFill>
              </a:rPr>
              <a:t>declaracion</a:t>
            </a:r>
            <a:r>
              <a:rPr lang="es-MX" dirty="0">
                <a:solidFill>
                  <a:schemeClr val="bg1"/>
                </a:solidFill>
              </a:rPr>
              <a:t>: </a:t>
            </a:r>
            <a:r>
              <a:rPr lang="es-MX" dirty="0"/>
              <a:t>recibe el código que cuya duración de ejecución queremos medir </a:t>
            </a:r>
          </a:p>
          <a:p>
            <a:pPr marL="0" indent="0">
              <a:buNone/>
            </a:pPr>
            <a:r>
              <a:rPr lang="es-MX" dirty="0" err="1">
                <a:solidFill>
                  <a:schemeClr val="bg1"/>
                </a:solidFill>
              </a:rPr>
              <a:t>setup</a:t>
            </a:r>
            <a:r>
              <a:rPr lang="es-MX" dirty="0">
                <a:solidFill>
                  <a:schemeClr val="bg1"/>
                </a:solidFill>
              </a:rPr>
              <a:t>: </a:t>
            </a:r>
            <a:r>
              <a:rPr lang="es-MX" dirty="0"/>
              <a:t>recibe las instrucciones que el parámetro </a:t>
            </a:r>
            <a:r>
              <a:rPr lang="es-MX" dirty="0" err="1"/>
              <a:t>declaracion</a:t>
            </a:r>
            <a:r>
              <a:rPr lang="es-MX" dirty="0"/>
              <a:t> requiere para funcionar </a:t>
            </a:r>
          </a:p>
          <a:p>
            <a:pPr marL="0" indent="0">
              <a:buNone/>
            </a:pPr>
            <a:r>
              <a:rPr lang="es-MX" dirty="0" err="1">
                <a:solidFill>
                  <a:schemeClr val="bg1"/>
                </a:solidFill>
              </a:rPr>
              <a:t>number</a:t>
            </a:r>
            <a:r>
              <a:rPr lang="es-MX" dirty="0">
                <a:solidFill>
                  <a:schemeClr val="bg1"/>
                </a:solidFill>
              </a:rPr>
              <a:t>: </a:t>
            </a:r>
            <a:r>
              <a:rPr lang="es-MX" dirty="0"/>
              <a:t>cantidad de veces que se evaluará el código para obtener su tiempo de ejecución mínimo. </a:t>
            </a:r>
            <a:endParaRPr lang="es-MX" dirty="0">
              <a:solidFill>
                <a:schemeClr val="bg1"/>
              </a:solidFill>
            </a:endParaRPr>
          </a:p>
        </p:txBody>
      </p:sp>
      <p:sp>
        <p:nvSpPr>
          <p:cNvPr id="4" name="Marcador de pie de página 3">
            <a:extLst>
              <a:ext uri="{FF2B5EF4-FFF2-40B4-BE49-F238E27FC236}">
                <a16:creationId xmlns:a16="http://schemas.microsoft.com/office/drawing/2014/main" id="{E079B088-7268-D719-9B49-D1BE19D6F26B}"/>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BECEF09D-70FE-8A4E-D530-578C19F05DE1}"/>
              </a:ext>
            </a:extLst>
          </p:cNvPr>
          <p:cNvSpPr>
            <a:spLocks noGrp="1"/>
          </p:cNvSpPr>
          <p:nvPr>
            <p:ph type="sldNum" sz="quarter" idx="12"/>
          </p:nvPr>
        </p:nvSpPr>
        <p:spPr/>
        <p:txBody>
          <a:bodyPr/>
          <a:lstStyle/>
          <a:p>
            <a:fld id="{4EA4A3B0-B5DF-4E2B-B48F-E4B7B7872040}" type="slidenum">
              <a:rPr lang="es-MX" smtClean="0"/>
              <a:t>199</a:t>
            </a:fld>
            <a:endParaRPr lang="es-MX"/>
          </a:p>
        </p:txBody>
      </p:sp>
    </p:spTree>
    <p:extLst>
      <p:ext uri="{BB962C8B-B14F-4D97-AF65-F5344CB8AC3E}">
        <p14:creationId xmlns:p14="http://schemas.microsoft.com/office/powerpoint/2010/main" val="73828987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7A2B88-0B55-E079-3A18-1E55D0F15506}"/>
              </a:ext>
            </a:extLst>
          </p:cNvPr>
          <p:cNvSpPr>
            <a:spLocks noGrp="1"/>
          </p:cNvSpPr>
          <p:nvPr>
            <p:ph type="title"/>
          </p:nvPr>
        </p:nvSpPr>
        <p:spPr/>
        <p:txBody>
          <a:bodyPr/>
          <a:lstStyle/>
          <a:p>
            <a:r>
              <a:rPr lang="es-MX" dirty="0" err="1">
                <a:solidFill>
                  <a:schemeClr val="bg1"/>
                </a:solidFill>
              </a:rPr>
              <a:t>Math</a:t>
            </a:r>
            <a:endParaRPr lang="es-MX" dirty="0">
              <a:solidFill>
                <a:schemeClr val="bg1"/>
              </a:solidFill>
            </a:endParaRPr>
          </a:p>
        </p:txBody>
      </p:sp>
      <p:sp>
        <p:nvSpPr>
          <p:cNvPr id="3" name="Marcador de contenido 2">
            <a:extLst>
              <a:ext uri="{FF2B5EF4-FFF2-40B4-BE49-F238E27FC236}">
                <a16:creationId xmlns:a16="http://schemas.microsoft.com/office/drawing/2014/main" id="{D4B951F5-0954-A34B-42EE-D646CCAA3BF1}"/>
              </a:ext>
            </a:extLst>
          </p:cNvPr>
          <p:cNvSpPr>
            <a:spLocks noGrp="1"/>
          </p:cNvSpPr>
          <p:nvPr>
            <p:ph idx="1"/>
          </p:nvPr>
        </p:nvSpPr>
        <p:spPr>
          <a:xfrm>
            <a:off x="838200" y="1368424"/>
            <a:ext cx="10515600" cy="4987925"/>
          </a:xfrm>
        </p:spPr>
        <p:txBody>
          <a:bodyPr>
            <a:noAutofit/>
          </a:bodyPr>
          <a:lstStyle/>
          <a:p>
            <a:pPr marL="0" indent="0">
              <a:buNone/>
            </a:pPr>
            <a:r>
              <a:rPr lang="es-MX" sz="1400" dirty="0"/>
              <a:t>El módulo </a:t>
            </a:r>
            <a:r>
              <a:rPr lang="es-MX" sz="1400" dirty="0" err="1"/>
              <a:t>math</a:t>
            </a:r>
            <a:r>
              <a:rPr lang="es-MX" sz="1400" dirty="0"/>
              <a:t> contiene un conjunto de métodos y constantes que se pueden utilizar para resolver tareas matemáticas de mayor complejidad. Es el equivalente a la calculadora científica dentro de Python.</a:t>
            </a:r>
          </a:p>
          <a:p>
            <a:pPr marL="0" indent="0">
              <a:buNone/>
            </a:pPr>
            <a:r>
              <a:rPr lang="es-MX" sz="1400" dirty="0"/>
              <a:t>Algunas de las situaciones que pueden ayudarnos a resolver son:</a:t>
            </a:r>
          </a:p>
          <a:p>
            <a:pPr marL="0" indent="0">
              <a:buNone/>
            </a:pPr>
            <a:r>
              <a:rPr lang="es-MX" sz="1400" dirty="0">
                <a:solidFill>
                  <a:schemeClr val="bg1"/>
                </a:solidFill>
              </a:rPr>
              <a:t>Relaciones trigonométricas (seno, coseno, tangente, sus inversas e hiperbólicas) </a:t>
            </a:r>
          </a:p>
          <a:p>
            <a:pPr marL="0" indent="0">
              <a:buNone/>
            </a:pPr>
            <a:r>
              <a:rPr lang="es-MX" sz="1400" dirty="0">
                <a:solidFill>
                  <a:schemeClr val="bg1"/>
                </a:solidFill>
              </a:rPr>
              <a:t>Funciones logarítmicas </a:t>
            </a:r>
          </a:p>
          <a:p>
            <a:pPr marL="0" indent="0">
              <a:buNone/>
            </a:pPr>
            <a:r>
              <a:rPr lang="es-MX" sz="1400" dirty="0">
                <a:solidFill>
                  <a:schemeClr val="bg1"/>
                </a:solidFill>
              </a:rPr>
              <a:t>Potencias y raíces </a:t>
            </a:r>
          </a:p>
          <a:p>
            <a:pPr marL="0" indent="0">
              <a:buNone/>
            </a:pPr>
            <a:r>
              <a:rPr lang="es-MX" sz="1400" dirty="0">
                <a:solidFill>
                  <a:schemeClr val="bg1"/>
                </a:solidFill>
              </a:rPr>
              <a:t>Combinatoria y permutaciones </a:t>
            </a:r>
          </a:p>
          <a:p>
            <a:pPr marL="0" indent="0">
              <a:buNone/>
            </a:pPr>
            <a:r>
              <a:rPr lang="es-MX" sz="1400" dirty="0">
                <a:solidFill>
                  <a:schemeClr val="bg1"/>
                </a:solidFill>
              </a:rPr>
              <a:t>Redondeos </a:t>
            </a:r>
          </a:p>
          <a:p>
            <a:pPr marL="0" indent="0">
              <a:buNone/>
            </a:pPr>
            <a:r>
              <a:rPr lang="es-MX" sz="1400" dirty="0">
                <a:solidFill>
                  <a:schemeClr val="bg1"/>
                </a:solidFill>
              </a:rPr>
              <a:t>Factoriales</a:t>
            </a:r>
          </a:p>
          <a:p>
            <a:pPr marL="0" indent="0">
              <a:buNone/>
            </a:pPr>
            <a:r>
              <a:rPr lang="es-MX" sz="1400" dirty="0"/>
              <a:t>... entre muchas otras (¡te recomendamos leer su documentación de acuerdo con tus necesidades!)</a:t>
            </a:r>
          </a:p>
          <a:p>
            <a:pPr marL="0" indent="0">
              <a:buNone/>
            </a:pPr>
            <a:r>
              <a:rPr lang="es-MX" sz="1400" dirty="0"/>
              <a:t>Las constantes que encontrarás:</a:t>
            </a:r>
          </a:p>
          <a:p>
            <a:pPr marL="0" indent="0">
              <a:buNone/>
            </a:pPr>
            <a:r>
              <a:rPr lang="es-MX" sz="1400" dirty="0">
                <a:solidFill>
                  <a:schemeClr val="bg1"/>
                </a:solidFill>
              </a:rPr>
              <a:t>Pi (3.1415...) </a:t>
            </a:r>
          </a:p>
          <a:p>
            <a:pPr marL="0" indent="0">
              <a:buNone/>
            </a:pPr>
            <a:r>
              <a:rPr lang="es-MX" sz="1400" dirty="0">
                <a:solidFill>
                  <a:schemeClr val="bg1"/>
                </a:solidFill>
              </a:rPr>
              <a:t>e o Constante de Euler (2.7182...)</a:t>
            </a:r>
          </a:p>
          <a:p>
            <a:pPr marL="0" indent="0">
              <a:buNone/>
            </a:pPr>
            <a:r>
              <a:rPr lang="es-MX" sz="1400" dirty="0">
                <a:solidFill>
                  <a:schemeClr val="bg1"/>
                </a:solidFill>
              </a:rPr>
              <a:t> Tau (6.2831...) </a:t>
            </a:r>
          </a:p>
          <a:p>
            <a:pPr marL="0" indent="0">
              <a:buNone/>
            </a:pPr>
            <a:r>
              <a:rPr lang="es-MX" sz="1400" dirty="0">
                <a:solidFill>
                  <a:schemeClr val="bg1"/>
                </a:solidFill>
              </a:rPr>
              <a:t>Infinito (el concepto matemático de infinito positivo)</a:t>
            </a:r>
          </a:p>
          <a:p>
            <a:pPr marL="0" indent="0">
              <a:buNone/>
            </a:pPr>
            <a:r>
              <a:rPr lang="es-MX" sz="1400" dirty="0">
                <a:solidFill>
                  <a:schemeClr val="bg1"/>
                </a:solidFill>
              </a:rPr>
              <a:t> Nulo (</a:t>
            </a:r>
            <a:r>
              <a:rPr lang="es-MX" sz="1400" dirty="0" err="1">
                <a:solidFill>
                  <a:schemeClr val="bg1"/>
                </a:solidFill>
              </a:rPr>
              <a:t>NaN</a:t>
            </a:r>
            <a:r>
              <a:rPr lang="es-MX" sz="1400" dirty="0">
                <a:solidFill>
                  <a:schemeClr val="bg1"/>
                </a:solidFill>
              </a:rPr>
              <a:t>: </a:t>
            </a:r>
            <a:r>
              <a:rPr lang="es-MX" sz="1400" dirty="0" err="1">
                <a:solidFill>
                  <a:schemeClr val="bg1"/>
                </a:solidFill>
              </a:rPr>
              <a:t>not</a:t>
            </a:r>
            <a:r>
              <a:rPr lang="es-MX" sz="1400" dirty="0">
                <a:solidFill>
                  <a:schemeClr val="bg1"/>
                </a:solidFill>
              </a:rPr>
              <a:t>-a-</a:t>
            </a:r>
            <a:r>
              <a:rPr lang="es-MX" sz="1400" dirty="0" err="1">
                <a:solidFill>
                  <a:schemeClr val="bg1"/>
                </a:solidFill>
              </a:rPr>
              <a:t>number</a:t>
            </a:r>
            <a:r>
              <a:rPr lang="es-MX" sz="1400" dirty="0">
                <a:solidFill>
                  <a:schemeClr val="bg1"/>
                </a:solidFill>
              </a:rPr>
              <a:t>)</a:t>
            </a:r>
          </a:p>
        </p:txBody>
      </p:sp>
      <p:sp>
        <p:nvSpPr>
          <p:cNvPr id="4" name="Marcador de pie de página 3">
            <a:extLst>
              <a:ext uri="{FF2B5EF4-FFF2-40B4-BE49-F238E27FC236}">
                <a16:creationId xmlns:a16="http://schemas.microsoft.com/office/drawing/2014/main" id="{AD6A3899-0ECD-1C8D-A953-44ACD19CE90E}"/>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EAEE4DD3-C17C-91FD-B8CC-60420358CA62}"/>
              </a:ext>
            </a:extLst>
          </p:cNvPr>
          <p:cNvSpPr>
            <a:spLocks noGrp="1"/>
          </p:cNvSpPr>
          <p:nvPr>
            <p:ph type="sldNum" sz="quarter" idx="12"/>
          </p:nvPr>
        </p:nvSpPr>
        <p:spPr/>
        <p:txBody>
          <a:bodyPr/>
          <a:lstStyle/>
          <a:p>
            <a:fld id="{4EA4A3B0-B5DF-4E2B-B48F-E4B7B7872040}" type="slidenum">
              <a:rPr lang="es-MX" smtClean="0"/>
              <a:t>200</a:t>
            </a:fld>
            <a:endParaRPr lang="es-MX"/>
          </a:p>
        </p:txBody>
      </p:sp>
    </p:spTree>
    <p:extLst>
      <p:ext uri="{BB962C8B-B14F-4D97-AF65-F5344CB8AC3E}">
        <p14:creationId xmlns:p14="http://schemas.microsoft.com/office/powerpoint/2010/main" val="2431928999"/>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17F2CE-6D60-0967-9327-D4897E99AB1F}"/>
              </a:ext>
            </a:extLst>
          </p:cNvPr>
          <p:cNvSpPr>
            <a:spLocks noGrp="1"/>
          </p:cNvSpPr>
          <p:nvPr>
            <p:ph type="title"/>
          </p:nvPr>
        </p:nvSpPr>
        <p:spPr/>
        <p:txBody>
          <a:bodyPr/>
          <a:lstStyle/>
          <a:p>
            <a:r>
              <a:rPr lang="es-MX" dirty="0">
                <a:solidFill>
                  <a:schemeClr val="bg1"/>
                </a:solidFill>
              </a:rPr>
              <a:t>Ejercicios </a:t>
            </a:r>
          </a:p>
        </p:txBody>
      </p:sp>
      <p:sp>
        <p:nvSpPr>
          <p:cNvPr id="3" name="Marcador de contenido 2">
            <a:extLst>
              <a:ext uri="{FF2B5EF4-FFF2-40B4-BE49-F238E27FC236}">
                <a16:creationId xmlns:a16="http://schemas.microsoft.com/office/drawing/2014/main" id="{568B9938-C78A-29AB-7447-8027ADCEABA5}"/>
              </a:ext>
            </a:extLst>
          </p:cNvPr>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effectLst/>
                <a:latin typeface="udemy sans"/>
              </a:rPr>
              <a:t>Obtén el </a:t>
            </a:r>
            <a:r>
              <a:rPr kumimoji="0" lang="es-MX" altLang="es-MX" sz="2000" b="1" i="0" u="sng" strike="noStrike" cap="none" normalizeH="0" baseline="0" dirty="0">
                <a:ln>
                  <a:noFill/>
                </a:ln>
                <a:effectLst/>
                <a:latin typeface="udemy sans"/>
                <a:hlinkClick r:id="rId2">
                  <a:extLst>
                    <a:ext uri="{A12FA001-AC4F-418D-AE19-62706E023703}">
                      <ahyp:hlinkClr xmlns:ahyp="http://schemas.microsoft.com/office/drawing/2018/hyperlinkcolor" val="tx"/>
                    </a:ext>
                  </a:extLst>
                </a:hlinkClick>
              </a:rPr>
              <a:t>logaritmo base 10</a:t>
            </a:r>
            <a:r>
              <a:rPr kumimoji="0" lang="es-MX" altLang="es-MX" sz="2000" b="1" i="0" u="none" strike="noStrike" cap="none" normalizeH="0" baseline="0" dirty="0">
                <a:ln>
                  <a:noFill/>
                </a:ln>
                <a:effectLst/>
                <a:latin typeface="udemy sans"/>
              </a:rPr>
              <a:t> </a:t>
            </a:r>
            <a:r>
              <a:rPr kumimoji="0" lang="es-MX" altLang="es-MX" sz="2000" b="0" i="0" u="none" strike="noStrike" cap="none" normalizeH="0" baseline="0" dirty="0">
                <a:ln>
                  <a:noFill/>
                </a:ln>
                <a:effectLst/>
                <a:latin typeface="udemy sans"/>
              </a:rPr>
              <a:t>del número </a:t>
            </a:r>
            <a:r>
              <a:rPr kumimoji="0" lang="es-MX" altLang="es-MX" sz="2000" b="1" i="0" u="none" strike="noStrike" cap="none" normalizeH="0" baseline="0" dirty="0">
                <a:ln>
                  <a:noFill/>
                </a:ln>
                <a:effectLst/>
                <a:latin typeface="udemy sans"/>
              </a:rPr>
              <a:t>25</a:t>
            </a:r>
            <a:r>
              <a:rPr kumimoji="0" lang="es-MX" altLang="es-MX" sz="2000" b="0" i="0" u="none" strike="noStrike" cap="none" normalizeH="0" baseline="0" dirty="0">
                <a:ln>
                  <a:noFill/>
                </a:ln>
                <a:effectLst/>
                <a:latin typeface="udemy sans"/>
              </a:rPr>
              <a:t>, y almacena el resultado en la variable </a:t>
            </a:r>
            <a:r>
              <a:rPr kumimoji="0" lang="es-MX" altLang="es-MX" sz="2000" b="0" i="0" u="none" strike="noStrike" cap="none" normalizeH="0" baseline="0" dirty="0">
                <a:ln>
                  <a:noFill/>
                </a:ln>
                <a:effectLst/>
                <a:latin typeface="sfmono-regular"/>
              </a:rPr>
              <a:t>resultado</a:t>
            </a:r>
            <a:r>
              <a:rPr kumimoji="0" lang="es-MX" altLang="es-MX" sz="2000" b="0" i="0" u="none" strike="noStrike" cap="none" normalizeH="0" baseline="0" dirty="0">
                <a:ln>
                  <a:noFill/>
                </a:ln>
                <a:effectLst/>
                <a:latin typeface="udemy sans"/>
              </a:rPr>
              <a:t>.</a:t>
            </a:r>
            <a:endParaRPr kumimoji="0" lang="es-MX" altLang="es-MX" sz="20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effectLst/>
                <a:latin typeface="udemy sans"/>
              </a:rPr>
              <a:t>Puedes utilizar el método </a:t>
            </a:r>
            <a:r>
              <a:rPr kumimoji="0" lang="es-MX" altLang="es-MX" sz="2000" b="0" i="0" u="none" strike="noStrike" cap="none" normalizeH="0" baseline="0" dirty="0">
                <a:ln>
                  <a:noFill/>
                </a:ln>
                <a:effectLst/>
                <a:latin typeface="sfmono-regular"/>
              </a:rPr>
              <a:t>math.log10()</a:t>
            </a:r>
            <a:endParaRPr kumimoji="0" lang="es-MX" altLang="es-MX" sz="20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0" i="1" u="none" strike="noStrike" cap="none" normalizeH="0" baseline="0" dirty="0">
                <a:ln>
                  <a:noFill/>
                </a:ln>
                <a:effectLst/>
                <a:latin typeface="udemy sans"/>
              </a:rPr>
              <a:t>Puedes consultar el enlace anterior si quieres conocer más acerca del </a:t>
            </a:r>
            <a:r>
              <a:rPr kumimoji="0" lang="es-MX" altLang="es-MX" sz="2000" b="0" i="1" u="sng" strike="noStrike" cap="none" normalizeH="0" baseline="0" dirty="0">
                <a:ln>
                  <a:noFill/>
                </a:ln>
                <a:effectLst/>
                <a:latin typeface="udemy sans"/>
                <a:hlinkClick r:id="rId2">
                  <a:extLst>
                    <a:ext uri="{A12FA001-AC4F-418D-AE19-62706E023703}">
                      <ahyp:hlinkClr xmlns:ahyp="http://schemas.microsoft.com/office/drawing/2018/hyperlinkcolor" val="tx"/>
                    </a:ext>
                  </a:extLst>
                </a:hlinkClick>
              </a:rPr>
              <a:t>logaritmo decimal</a:t>
            </a:r>
            <a:r>
              <a:rPr kumimoji="0" lang="es-MX" altLang="es-MX" sz="2000" b="0" i="1" u="none" strike="noStrike" cap="none" normalizeH="0" baseline="0" dirty="0">
                <a:ln>
                  <a:noFill/>
                </a:ln>
                <a:effectLst/>
                <a:latin typeface="udemy sans"/>
              </a:rPr>
              <a:t>.</a:t>
            </a:r>
            <a:endParaRPr kumimoji="0" lang="es-MX" altLang="es-MX" sz="2000" b="0" i="0" u="none" strike="noStrike" cap="none" normalizeH="0" baseline="0" dirty="0">
              <a:ln>
                <a:noFill/>
              </a:ln>
              <a:effectLst/>
              <a:latin typeface="Arial" panose="020B0604020202020204" pitchFamily="34" charset="0"/>
            </a:endParaRPr>
          </a:p>
          <a:p>
            <a:pPr marL="0" indent="0">
              <a:buNone/>
            </a:pPr>
            <a:endParaRPr kumimoji="0" lang="es-MX" altLang="es-MX" sz="2000" b="0" i="0" u="none" strike="noStrike" cap="none" normalizeH="0" baseline="0" dirty="0">
              <a:ln>
                <a:noFill/>
              </a:ln>
              <a:effectLst/>
              <a:latin typeface="udemy sans"/>
            </a:endParaRPr>
          </a:p>
          <a:p>
            <a:pPr marL="0" indent="0">
              <a:buNone/>
            </a:pPr>
            <a:r>
              <a:rPr kumimoji="0" lang="es-MX" altLang="es-MX" sz="2000" b="0" i="0" u="none" strike="noStrike" cap="none" normalizeH="0" baseline="0" dirty="0" err="1">
                <a:ln>
                  <a:noFill/>
                </a:ln>
                <a:effectLst/>
                <a:latin typeface="udemy sans"/>
              </a:rPr>
              <a:t>Obten</a:t>
            </a:r>
            <a:r>
              <a:rPr kumimoji="0" lang="es-MX" altLang="es-MX" sz="2000" b="0" i="0" u="none" strike="noStrike" cap="none" normalizeH="0" baseline="0" dirty="0">
                <a:ln>
                  <a:noFill/>
                </a:ln>
                <a:effectLst/>
                <a:latin typeface="udemy sans"/>
              </a:rPr>
              <a:t> la</a:t>
            </a:r>
            <a:r>
              <a:rPr kumimoji="0" lang="es-MX" altLang="es-MX" sz="2000" b="1" i="0" u="none" strike="noStrike" cap="none" normalizeH="0" baseline="0" dirty="0">
                <a:ln>
                  <a:noFill/>
                </a:ln>
                <a:effectLst/>
                <a:latin typeface="udemy sans"/>
              </a:rPr>
              <a:t> raíz cuadrada de pi </a:t>
            </a:r>
            <a:r>
              <a:rPr kumimoji="0" lang="es-MX" altLang="es-MX" sz="2000" b="0" i="0" u="none" strike="noStrike" cap="none" normalizeH="0" baseline="0" dirty="0">
                <a:ln>
                  <a:noFill/>
                </a:ln>
                <a:effectLst/>
                <a:latin typeface="udemy sans"/>
              </a:rPr>
              <a:t>con la constante </a:t>
            </a:r>
            <a:r>
              <a:rPr kumimoji="0" lang="es-MX" altLang="es-MX" sz="2000" b="0" i="0" u="none" strike="noStrike" cap="none" normalizeH="0" baseline="0" dirty="0" err="1">
                <a:ln>
                  <a:noFill/>
                </a:ln>
                <a:effectLst/>
                <a:latin typeface="sfmono-regular"/>
              </a:rPr>
              <a:t>math.pi</a:t>
            </a:r>
            <a:r>
              <a:rPr kumimoji="0" lang="es-MX" altLang="es-MX" sz="2000" b="0" i="0" u="none" strike="noStrike" cap="none" normalizeH="0" baseline="0" dirty="0">
                <a:ln>
                  <a:noFill/>
                </a:ln>
                <a:effectLst/>
                <a:latin typeface="udemy sans"/>
              </a:rPr>
              <a:t> y el método </a:t>
            </a:r>
            <a:r>
              <a:rPr kumimoji="0" lang="es-MX" altLang="es-MX" sz="2000" b="0" i="0" u="none" strike="noStrike" cap="none" normalizeH="0" baseline="0" dirty="0" err="1">
                <a:ln>
                  <a:noFill/>
                </a:ln>
                <a:effectLst/>
                <a:latin typeface="sfmono-regular"/>
              </a:rPr>
              <a:t>math.sqrt</a:t>
            </a:r>
            <a:r>
              <a:rPr kumimoji="0" lang="es-MX" altLang="es-MX" sz="2000" b="0" i="0" u="none" strike="noStrike" cap="none" normalizeH="0" baseline="0" dirty="0">
                <a:ln>
                  <a:noFill/>
                </a:ln>
                <a:effectLst/>
                <a:latin typeface="sfmono-regular"/>
              </a:rPr>
              <a:t>()</a:t>
            </a:r>
            <a:r>
              <a:rPr kumimoji="0" lang="es-MX" altLang="es-MX" sz="2000" b="0" i="0" u="none" strike="noStrike" cap="none" normalizeH="0" baseline="0" dirty="0">
                <a:ln>
                  <a:noFill/>
                </a:ln>
                <a:effectLst/>
                <a:latin typeface="udemy sans"/>
              </a:rPr>
              <a:t> . Almacena el resultado obtenido en la variable </a:t>
            </a:r>
            <a:r>
              <a:rPr kumimoji="0" lang="es-MX" altLang="es-MX" sz="2000" b="0" i="0" u="none" strike="noStrike" cap="none" normalizeH="0" baseline="0" dirty="0">
                <a:ln>
                  <a:noFill/>
                </a:ln>
                <a:effectLst/>
                <a:latin typeface="sfmono-regular"/>
              </a:rPr>
              <a:t>resultado</a:t>
            </a:r>
            <a:r>
              <a:rPr kumimoji="0" lang="es-MX" altLang="es-MX" sz="2000" b="0" i="0" u="none" strike="noStrike" cap="none" normalizeH="0" baseline="0" dirty="0">
                <a:ln>
                  <a:noFill/>
                </a:ln>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2000" b="0" i="0" u="none" strike="noStrike" cap="none" normalizeH="0" baseline="0" dirty="0">
              <a:ln>
                <a:noFill/>
              </a:ln>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2000" dirty="0">
              <a:latin typeface="udemy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2000" b="0" i="0" u="none" strike="noStrike" cap="none" normalizeH="0" baseline="0" dirty="0">
              <a:ln>
                <a:noFill/>
              </a:ln>
              <a:effectLst/>
              <a:latin typeface="udemy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effectLst/>
                <a:latin typeface="udemy sans"/>
              </a:rPr>
              <a:t>Encuentra el</a:t>
            </a:r>
            <a:r>
              <a:rPr kumimoji="0" lang="es-MX" altLang="es-MX" sz="2000" b="1" i="0" u="none" strike="noStrike" cap="none" normalizeH="0" baseline="0" dirty="0">
                <a:ln>
                  <a:noFill/>
                </a:ln>
                <a:effectLst/>
                <a:latin typeface="udemy sans"/>
              </a:rPr>
              <a:t> factorial de 7 </a:t>
            </a:r>
            <a:r>
              <a:rPr kumimoji="0" lang="es-MX" altLang="es-MX" sz="2000" b="0" i="0" u="none" strike="noStrike" cap="none" normalizeH="0" baseline="0" dirty="0">
                <a:ln>
                  <a:noFill/>
                </a:ln>
                <a:effectLst/>
                <a:latin typeface="udemy sans"/>
              </a:rPr>
              <a:t>y almacena el resultado en la variable </a:t>
            </a:r>
            <a:r>
              <a:rPr kumimoji="0" lang="es-MX" altLang="es-MX" sz="2000" b="0" i="0" u="none" strike="noStrike" cap="none" normalizeH="0" baseline="0" dirty="0">
                <a:ln>
                  <a:noFill/>
                </a:ln>
                <a:effectLst/>
                <a:latin typeface="sfmono-regular"/>
              </a:rPr>
              <a:t>resultado</a:t>
            </a:r>
            <a:r>
              <a:rPr kumimoji="0" lang="es-MX" altLang="es-MX" sz="2000" b="0" i="0" u="none" strike="noStrike" cap="none" normalizeH="0" baseline="0" dirty="0">
                <a:ln>
                  <a:noFill/>
                </a:ln>
                <a:effectLst/>
                <a:latin typeface="udemy sans"/>
              </a:rPr>
              <a:t>.</a:t>
            </a:r>
            <a:endParaRPr kumimoji="0" lang="es-MX" altLang="es-MX" sz="20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effectLst/>
                <a:latin typeface="udemy sans"/>
              </a:rPr>
              <a:t>El método a utilizar es </a:t>
            </a:r>
            <a:r>
              <a:rPr kumimoji="0" lang="es-MX" altLang="es-MX" sz="2000" b="0" i="0" u="none" strike="noStrike" cap="none" normalizeH="0" baseline="0" dirty="0">
                <a:ln>
                  <a:noFill/>
                </a:ln>
                <a:effectLst/>
                <a:latin typeface="sfmono-regular"/>
              </a:rPr>
              <a:t>factorial()</a:t>
            </a:r>
            <a:endParaRPr kumimoji="0" lang="es-MX" altLang="es-MX" sz="2000" b="0" i="0" u="none" strike="noStrike" cap="none" normalizeH="0" baseline="0" dirty="0">
              <a:ln>
                <a:noFill/>
              </a:ln>
              <a:effectLst/>
              <a:latin typeface="Arial" panose="020B0604020202020204" pitchFamily="34" charset="0"/>
            </a:endParaRPr>
          </a:p>
          <a:p>
            <a:pPr marL="0" indent="0">
              <a:buNone/>
            </a:pPr>
            <a:endParaRPr kumimoji="0" lang="es-MX" altLang="es-MX" sz="2000" b="0" i="0" u="none" strike="noStrike" cap="none" normalizeH="0" baseline="0" dirty="0">
              <a:ln>
                <a:noFill/>
              </a:ln>
              <a:solidFill>
                <a:schemeClr val="tx1"/>
              </a:solidFill>
              <a:effectLst/>
            </a:endParaRPr>
          </a:p>
          <a:p>
            <a:pPr marL="0" indent="0">
              <a:buNone/>
            </a:pPr>
            <a:endParaRPr kumimoji="0" lang="es-MX" altLang="es-MX" sz="5400" b="0" i="0" u="none" strike="noStrike" cap="none" normalizeH="0" baseline="0" dirty="0">
              <a:ln>
                <a:noFill/>
              </a:ln>
              <a:solidFill>
                <a:schemeClr val="tx1"/>
              </a:solidFill>
              <a:effectLst/>
              <a:latin typeface="Arial" panose="020B0604020202020204" pitchFamily="34" charset="0"/>
            </a:endParaRPr>
          </a:p>
          <a:p>
            <a:pPr marL="0" indent="0">
              <a:buNone/>
            </a:pPr>
            <a:endParaRPr lang="es-MX" dirty="0"/>
          </a:p>
        </p:txBody>
      </p:sp>
      <p:sp>
        <p:nvSpPr>
          <p:cNvPr id="4" name="Marcador de pie de página 3">
            <a:extLst>
              <a:ext uri="{FF2B5EF4-FFF2-40B4-BE49-F238E27FC236}">
                <a16:creationId xmlns:a16="http://schemas.microsoft.com/office/drawing/2014/main" id="{0078FD42-37C1-8154-2D01-B5B62A32ED5E}"/>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395F501F-5634-F04B-8262-2B10AB6FDD34}"/>
              </a:ext>
            </a:extLst>
          </p:cNvPr>
          <p:cNvSpPr>
            <a:spLocks noGrp="1"/>
          </p:cNvSpPr>
          <p:nvPr>
            <p:ph type="sldNum" sz="quarter" idx="12"/>
          </p:nvPr>
        </p:nvSpPr>
        <p:spPr/>
        <p:txBody>
          <a:bodyPr/>
          <a:lstStyle/>
          <a:p>
            <a:fld id="{4EA4A3B0-B5DF-4E2B-B48F-E4B7B7872040}" type="slidenum">
              <a:rPr lang="es-MX" smtClean="0"/>
              <a:t>201</a:t>
            </a:fld>
            <a:endParaRPr lang="es-MX"/>
          </a:p>
        </p:txBody>
      </p:sp>
      <p:sp>
        <p:nvSpPr>
          <p:cNvPr id="7" name="Rectangle 2">
            <a:extLst>
              <a:ext uri="{FF2B5EF4-FFF2-40B4-BE49-F238E27FC236}">
                <a16:creationId xmlns:a16="http://schemas.microsoft.com/office/drawing/2014/main" id="{E7F46EFC-DEFE-1666-5C4C-D0CE186B8489}"/>
              </a:ext>
            </a:extLst>
          </p:cNvPr>
          <p:cNvSpPr>
            <a:spLocks noChangeArrowheads="1"/>
          </p:cNvSpPr>
          <p:nvPr/>
        </p:nvSpPr>
        <p:spPr bwMode="auto">
          <a:xfrm>
            <a:off x="0" y="226626"/>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0744185"/>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21C3E0-BCD0-1AB8-0BC8-580CEADE2BBB}"/>
              </a:ext>
            </a:extLst>
          </p:cNvPr>
          <p:cNvSpPr>
            <a:spLocks noGrp="1"/>
          </p:cNvSpPr>
          <p:nvPr>
            <p:ph type="title"/>
          </p:nvPr>
        </p:nvSpPr>
        <p:spPr/>
        <p:txBody>
          <a:bodyPr/>
          <a:lstStyle/>
          <a:p>
            <a:r>
              <a:rPr lang="es-MX" dirty="0">
                <a:solidFill>
                  <a:schemeClr val="bg1"/>
                </a:solidFill>
              </a:rPr>
              <a:t>Expresiones Regulares </a:t>
            </a:r>
          </a:p>
        </p:txBody>
      </p:sp>
      <p:sp>
        <p:nvSpPr>
          <p:cNvPr id="3" name="Marcador de contenido 2">
            <a:extLst>
              <a:ext uri="{FF2B5EF4-FFF2-40B4-BE49-F238E27FC236}">
                <a16:creationId xmlns:a16="http://schemas.microsoft.com/office/drawing/2014/main" id="{83F5E31A-F360-3F72-DAA3-736DC0A03E04}"/>
              </a:ext>
            </a:extLst>
          </p:cNvPr>
          <p:cNvSpPr>
            <a:spLocks noGrp="1"/>
          </p:cNvSpPr>
          <p:nvPr>
            <p:ph idx="1"/>
          </p:nvPr>
        </p:nvSpPr>
        <p:spPr/>
        <p:txBody>
          <a:bodyPr>
            <a:normAutofit fontScale="92500" lnSpcReduction="10000"/>
          </a:bodyPr>
          <a:lstStyle/>
          <a:p>
            <a:pPr marL="0" indent="0">
              <a:buNone/>
            </a:pPr>
            <a:r>
              <a:rPr lang="es-MX" dirty="0"/>
              <a:t>Una expresión regular es una secuencia de caracteres que forman un patrón de búsqueda determinado. Pueden ser utilizadas para verificar </a:t>
            </a:r>
            <a:r>
              <a:rPr lang="es-MX" dirty="0" err="1"/>
              <a:t>strings</a:t>
            </a:r>
            <a:r>
              <a:rPr lang="es-MX" dirty="0"/>
              <a:t> en búsqueda de un contenido (patrón) específico. Utilizamos el módulo re en Python.</a:t>
            </a:r>
          </a:p>
          <a:p>
            <a:pPr marL="0" indent="0">
              <a:buNone/>
            </a:pPr>
            <a:r>
              <a:rPr lang="es-MX" dirty="0" err="1"/>
              <a:t>import</a:t>
            </a:r>
            <a:r>
              <a:rPr lang="es-MX" dirty="0"/>
              <a:t> re</a:t>
            </a:r>
          </a:p>
          <a:p>
            <a:pPr marL="0" indent="0">
              <a:buNone/>
            </a:pPr>
            <a:r>
              <a:rPr lang="es-MX" dirty="0">
                <a:solidFill>
                  <a:schemeClr val="bg1"/>
                </a:solidFill>
              </a:rPr>
              <a:t>Funciones: </a:t>
            </a:r>
          </a:p>
          <a:p>
            <a:pPr marL="0" indent="0">
              <a:buNone/>
            </a:pPr>
            <a:r>
              <a:rPr lang="es-MX" dirty="0" err="1"/>
              <a:t>search</a:t>
            </a:r>
            <a:r>
              <a:rPr lang="es-MX" dirty="0"/>
              <a:t>( ): devuelve un objeto "match" que contiene información acerca del hallazgo si se encuentra en algún punto del </a:t>
            </a:r>
            <a:r>
              <a:rPr lang="es-MX" dirty="0" err="1"/>
              <a:t>string</a:t>
            </a:r>
            <a:r>
              <a:rPr lang="es-MX" dirty="0"/>
              <a:t> </a:t>
            </a:r>
          </a:p>
          <a:p>
            <a:pPr marL="0" indent="0">
              <a:buNone/>
            </a:pPr>
            <a:r>
              <a:rPr lang="es-MX" dirty="0" err="1"/>
              <a:t>findall</a:t>
            </a:r>
            <a:r>
              <a:rPr lang="es-MX" dirty="0"/>
              <a:t>( ): devuelve una lista que contiene todos los hallazgos del patrón</a:t>
            </a:r>
          </a:p>
          <a:p>
            <a:pPr marL="0" indent="0">
              <a:buNone/>
            </a:pPr>
            <a:r>
              <a:rPr lang="es-MX" dirty="0"/>
              <a:t>Para formar patrones, utilizamos los siguientes cuantificadores y caracteres especiales:</a:t>
            </a:r>
            <a:endParaRPr lang="es-MX" dirty="0">
              <a:solidFill>
                <a:schemeClr val="bg1"/>
              </a:solidFill>
            </a:endParaRPr>
          </a:p>
        </p:txBody>
      </p:sp>
      <p:sp>
        <p:nvSpPr>
          <p:cNvPr id="4" name="Marcador de pie de página 3">
            <a:extLst>
              <a:ext uri="{FF2B5EF4-FFF2-40B4-BE49-F238E27FC236}">
                <a16:creationId xmlns:a16="http://schemas.microsoft.com/office/drawing/2014/main" id="{6D7CE877-4443-9191-5953-4E2C832670CA}"/>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F1320737-0A84-FE5E-2B86-5AD78CAB988D}"/>
              </a:ext>
            </a:extLst>
          </p:cNvPr>
          <p:cNvSpPr>
            <a:spLocks noGrp="1"/>
          </p:cNvSpPr>
          <p:nvPr>
            <p:ph type="sldNum" sz="quarter" idx="12"/>
          </p:nvPr>
        </p:nvSpPr>
        <p:spPr/>
        <p:txBody>
          <a:bodyPr/>
          <a:lstStyle/>
          <a:p>
            <a:fld id="{4EA4A3B0-B5DF-4E2B-B48F-E4B7B7872040}" type="slidenum">
              <a:rPr lang="es-MX" smtClean="0"/>
              <a:t>202</a:t>
            </a:fld>
            <a:endParaRPr lang="es-MX"/>
          </a:p>
        </p:txBody>
      </p:sp>
    </p:spTree>
    <p:extLst>
      <p:ext uri="{BB962C8B-B14F-4D97-AF65-F5344CB8AC3E}">
        <p14:creationId xmlns:p14="http://schemas.microsoft.com/office/powerpoint/2010/main" val="2749604027"/>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895A23-60E8-8ACB-96A4-2190383A7A2E}"/>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219C5A48-7DCD-3203-D0F9-B5B8D37B872B}"/>
              </a:ext>
            </a:extLst>
          </p:cNvPr>
          <p:cNvSpPr>
            <a:spLocks noGrp="1"/>
          </p:cNvSpPr>
          <p:nvPr>
            <p:ph idx="1"/>
          </p:nvPr>
        </p:nvSpPr>
        <p:spPr/>
        <p:txBody>
          <a:bodyPr>
            <a:normAutofit fontScale="85000" lnSpcReduction="20000"/>
          </a:bodyPr>
          <a:lstStyle/>
          <a:p>
            <a:pPr marL="0" indent="0">
              <a:buNone/>
            </a:pPr>
            <a:r>
              <a:rPr lang="es-MX" dirty="0">
                <a:solidFill>
                  <a:schemeClr val="bg1"/>
                </a:solidFill>
              </a:rPr>
              <a:t>Para formar patrones, utilizamos los siguientes cuantificadores y caracteres especiales:</a:t>
            </a:r>
          </a:p>
          <a:p>
            <a:pPr marL="0" indent="0">
              <a:buNone/>
            </a:pPr>
            <a:r>
              <a:rPr lang="es-MX" dirty="0"/>
              <a:t>[ ] un set de caracteres un</a:t>
            </a:r>
          </a:p>
          <a:p>
            <a:pPr marL="0" indent="0">
              <a:buNone/>
            </a:pPr>
            <a:r>
              <a:rPr lang="es-MX" dirty="0"/>
              <a:t>. carácter cualquiera</a:t>
            </a:r>
          </a:p>
          <a:p>
            <a:pPr marL="0" indent="0">
              <a:buNone/>
            </a:pPr>
            <a:r>
              <a:rPr lang="es-MX" dirty="0"/>
              <a:t>^ inicia con </a:t>
            </a:r>
          </a:p>
          <a:p>
            <a:pPr marL="0" indent="0">
              <a:buNone/>
            </a:pPr>
            <a:r>
              <a:rPr lang="es-MX" dirty="0"/>
              <a:t>$ finaliza con </a:t>
            </a:r>
          </a:p>
          <a:p>
            <a:pPr marL="0" indent="0">
              <a:buNone/>
            </a:pPr>
            <a:r>
              <a:rPr lang="es-MX" dirty="0"/>
              <a:t>* cero o más ocurrencias </a:t>
            </a:r>
          </a:p>
          <a:p>
            <a:pPr marL="0" indent="0">
              <a:buNone/>
            </a:pPr>
            <a:r>
              <a:rPr lang="es-MX" dirty="0"/>
              <a:t>+ una o más ocurrencias </a:t>
            </a:r>
          </a:p>
          <a:p>
            <a:pPr marL="0" indent="0">
              <a:buNone/>
            </a:pPr>
            <a:r>
              <a:rPr lang="es-MX" dirty="0"/>
              <a:t>{ } un número especificado de ocurrencias </a:t>
            </a:r>
          </a:p>
          <a:p>
            <a:pPr marL="0" indent="0">
              <a:buNone/>
            </a:pPr>
            <a:r>
              <a:rPr lang="es-MX" dirty="0"/>
              <a:t>? cero o una ocurrencia </a:t>
            </a:r>
          </a:p>
          <a:p>
            <a:pPr marL="0" indent="0">
              <a:buNone/>
            </a:pPr>
            <a:r>
              <a:rPr lang="es-MX" dirty="0"/>
              <a:t>| operador lógico "O" </a:t>
            </a:r>
          </a:p>
        </p:txBody>
      </p:sp>
      <p:sp>
        <p:nvSpPr>
          <p:cNvPr id="4" name="Marcador de pie de página 3">
            <a:extLst>
              <a:ext uri="{FF2B5EF4-FFF2-40B4-BE49-F238E27FC236}">
                <a16:creationId xmlns:a16="http://schemas.microsoft.com/office/drawing/2014/main" id="{6D41CD3A-A48D-3561-D57F-B41DA3C9F21B}"/>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40A96DA9-0E3D-AA72-0818-DF71D667C97F}"/>
              </a:ext>
            </a:extLst>
          </p:cNvPr>
          <p:cNvSpPr>
            <a:spLocks noGrp="1"/>
          </p:cNvSpPr>
          <p:nvPr>
            <p:ph type="sldNum" sz="quarter" idx="12"/>
          </p:nvPr>
        </p:nvSpPr>
        <p:spPr/>
        <p:txBody>
          <a:bodyPr/>
          <a:lstStyle/>
          <a:p>
            <a:fld id="{4EA4A3B0-B5DF-4E2B-B48F-E4B7B7872040}" type="slidenum">
              <a:rPr lang="es-MX" smtClean="0"/>
              <a:t>203</a:t>
            </a:fld>
            <a:endParaRPr lang="es-MX"/>
          </a:p>
        </p:txBody>
      </p:sp>
    </p:spTree>
    <p:extLst>
      <p:ext uri="{BB962C8B-B14F-4D97-AF65-F5344CB8AC3E}">
        <p14:creationId xmlns:p14="http://schemas.microsoft.com/office/powerpoint/2010/main" val="16281213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CC55F8-0774-5532-FAA4-C98EB0096DDD}"/>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33EF5F16-E6CC-D0B1-EC47-0B0BAEBCDF52}"/>
              </a:ext>
            </a:extLst>
          </p:cNvPr>
          <p:cNvSpPr>
            <a:spLocks noGrp="1"/>
          </p:cNvSpPr>
          <p:nvPr>
            <p:ph idx="1"/>
          </p:nvPr>
        </p:nvSpPr>
        <p:spPr/>
        <p:txBody>
          <a:bodyPr>
            <a:normAutofit fontScale="92500" lnSpcReduction="20000"/>
          </a:bodyPr>
          <a:lstStyle/>
          <a:p>
            <a:pPr marL="0" indent="0">
              <a:buNone/>
            </a:pPr>
            <a:r>
              <a:rPr lang="es-MX" dirty="0"/>
              <a:t>\d dígito numérico </a:t>
            </a:r>
          </a:p>
          <a:p>
            <a:pPr marL="0" indent="0">
              <a:buNone/>
            </a:pPr>
            <a:r>
              <a:rPr lang="es-MX" dirty="0"/>
              <a:t> \D NO numérico </a:t>
            </a:r>
          </a:p>
          <a:p>
            <a:pPr marL="0" indent="0">
              <a:buNone/>
            </a:pPr>
            <a:r>
              <a:rPr lang="es-MX" dirty="0"/>
              <a:t>\w </a:t>
            </a:r>
            <a:r>
              <a:rPr lang="es-MX" dirty="0" err="1"/>
              <a:t>caracter</a:t>
            </a:r>
            <a:r>
              <a:rPr lang="es-MX" dirty="0"/>
              <a:t> alfanumérico </a:t>
            </a:r>
          </a:p>
          <a:p>
            <a:pPr marL="0" indent="0">
              <a:buNone/>
            </a:pPr>
            <a:r>
              <a:rPr lang="es-MX" dirty="0"/>
              <a:t>\W NO alfanumérico </a:t>
            </a:r>
          </a:p>
          <a:p>
            <a:pPr marL="0" indent="0">
              <a:buNone/>
            </a:pPr>
            <a:r>
              <a:rPr lang="es-MX" dirty="0"/>
              <a:t>\s espacio en blanco </a:t>
            </a:r>
          </a:p>
          <a:p>
            <a:pPr marL="0" indent="0">
              <a:buNone/>
            </a:pPr>
            <a:r>
              <a:rPr lang="es-MX" dirty="0"/>
              <a:t>\S NO espacio en blanco</a:t>
            </a:r>
          </a:p>
          <a:p>
            <a:pPr marL="0" indent="0">
              <a:buNone/>
            </a:pPr>
            <a:endParaRPr lang="es-MX" dirty="0"/>
          </a:p>
          <a:p>
            <a:pPr marL="0" indent="0">
              <a:buNone/>
            </a:pPr>
            <a:endParaRPr lang="es-MX" dirty="0"/>
          </a:p>
          <a:p>
            <a:pPr marL="0" indent="0">
              <a:buNone/>
            </a:pPr>
            <a:r>
              <a:rPr lang="es-MX" dirty="0" err="1"/>
              <a:t>patron</a:t>
            </a:r>
            <a:r>
              <a:rPr lang="es-MX" dirty="0"/>
              <a:t> = r'\w{4}\d{4}’ </a:t>
            </a:r>
          </a:p>
          <a:p>
            <a:pPr marL="0" indent="0">
              <a:buNone/>
            </a:pPr>
            <a:r>
              <a:rPr lang="es-MX" dirty="0"/>
              <a:t>verificar = </a:t>
            </a:r>
            <a:r>
              <a:rPr lang="es-MX" dirty="0" err="1"/>
              <a:t>re.search</a:t>
            </a:r>
            <a:r>
              <a:rPr lang="es-MX" dirty="0"/>
              <a:t>(</a:t>
            </a:r>
            <a:r>
              <a:rPr lang="es-MX" dirty="0" err="1"/>
              <a:t>patron</a:t>
            </a:r>
            <a:r>
              <a:rPr lang="es-MX" dirty="0"/>
              <a:t>, "cont1234")</a:t>
            </a:r>
          </a:p>
        </p:txBody>
      </p:sp>
      <p:sp>
        <p:nvSpPr>
          <p:cNvPr id="4" name="Marcador de pie de página 3">
            <a:extLst>
              <a:ext uri="{FF2B5EF4-FFF2-40B4-BE49-F238E27FC236}">
                <a16:creationId xmlns:a16="http://schemas.microsoft.com/office/drawing/2014/main" id="{97D36C31-9331-C112-EC98-A4431929AF21}"/>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E351C87E-C0DB-7DB9-7EFB-9B8974DF6030}"/>
              </a:ext>
            </a:extLst>
          </p:cNvPr>
          <p:cNvSpPr>
            <a:spLocks noGrp="1"/>
          </p:cNvSpPr>
          <p:nvPr>
            <p:ph type="sldNum" sz="quarter" idx="12"/>
          </p:nvPr>
        </p:nvSpPr>
        <p:spPr/>
        <p:txBody>
          <a:bodyPr/>
          <a:lstStyle/>
          <a:p>
            <a:fld id="{4EA4A3B0-B5DF-4E2B-B48F-E4B7B7872040}" type="slidenum">
              <a:rPr lang="es-MX" smtClean="0"/>
              <a:t>204</a:t>
            </a:fld>
            <a:endParaRPr lang="es-MX"/>
          </a:p>
        </p:txBody>
      </p:sp>
    </p:spTree>
    <p:extLst>
      <p:ext uri="{BB962C8B-B14F-4D97-AF65-F5344CB8AC3E}">
        <p14:creationId xmlns:p14="http://schemas.microsoft.com/office/powerpoint/2010/main" val="4101324265"/>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B50C4-CA1B-2005-8DF4-253CD66DE054}"/>
              </a:ext>
            </a:extLst>
          </p:cNvPr>
          <p:cNvSpPr>
            <a:spLocks noGrp="1"/>
          </p:cNvSpPr>
          <p:nvPr>
            <p:ph type="title"/>
          </p:nvPr>
        </p:nvSpPr>
        <p:spPr/>
        <p:txBody>
          <a:bodyPr/>
          <a:lstStyle/>
          <a:p>
            <a:r>
              <a:rPr lang="es-MX" dirty="0">
                <a:solidFill>
                  <a:schemeClr val="bg1"/>
                </a:solidFill>
              </a:rPr>
              <a:t>Ejercicios</a:t>
            </a:r>
          </a:p>
        </p:txBody>
      </p:sp>
      <p:sp>
        <p:nvSpPr>
          <p:cNvPr id="3" name="Marcador de contenido 2">
            <a:extLst>
              <a:ext uri="{FF2B5EF4-FFF2-40B4-BE49-F238E27FC236}">
                <a16:creationId xmlns:a16="http://schemas.microsoft.com/office/drawing/2014/main" id="{67CE2ACD-4B86-F0D7-ED26-05ED3790CAD9}"/>
              </a:ext>
            </a:extLst>
          </p:cNvPr>
          <p:cNvSpPr>
            <a:spLocks noGrp="1"/>
          </p:cNvSpPr>
          <p:nvPr>
            <p:ph idx="1"/>
          </p:nvPr>
        </p:nvSpPr>
        <p:spPr/>
        <p:txBody>
          <a:bodyPr>
            <a:normAutofit fontScale="32500" lnSpcReduction="2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5500" b="0" i="0" u="none" strike="noStrike" cap="none" normalizeH="0" baseline="0" dirty="0">
                <a:ln>
                  <a:noFill/>
                </a:ln>
                <a:effectLst/>
                <a:latin typeface="udemy sans"/>
              </a:rPr>
              <a:t>Crea una función llamada </a:t>
            </a:r>
            <a:r>
              <a:rPr kumimoji="0" lang="es-MX" altLang="es-MX" sz="5500" b="0" i="0" u="none" strike="noStrike" cap="none" normalizeH="0" baseline="0" dirty="0" err="1">
                <a:ln>
                  <a:noFill/>
                </a:ln>
                <a:effectLst/>
                <a:latin typeface="sfmono-regular"/>
              </a:rPr>
              <a:t>verificar_email</a:t>
            </a:r>
            <a:r>
              <a:rPr kumimoji="0" lang="es-MX" altLang="es-MX" sz="5500" b="0" i="0" u="none" strike="noStrike" cap="none" normalizeH="0" baseline="0" dirty="0">
                <a:ln>
                  <a:noFill/>
                </a:ln>
                <a:effectLst/>
                <a:latin typeface="udemy sans"/>
              </a:rPr>
              <a:t> para comprobar si una dirección de email es correcta, que verifique si el email dado como argumento </a:t>
            </a:r>
            <a:r>
              <a:rPr kumimoji="0" lang="es-MX" altLang="es-MX" sz="5500" b="1" i="0" u="none" strike="noStrike" cap="none" normalizeH="0" baseline="0" dirty="0">
                <a:ln>
                  <a:noFill/>
                </a:ln>
                <a:effectLst/>
                <a:latin typeface="udemy sans"/>
              </a:rPr>
              <a:t>contiene </a:t>
            </a:r>
            <a:r>
              <a:rPr kumimoji="0" lang="es-MX" altLang="es-MX" sz="5500" b="0" i="0" u="none" strike="noStrike" cap="none" normalizeH="0" baseline="0" dirty="0">
                <a:ln>
                  <a:noFill/>
                </a:ln>
                <a:effectLst/>
                <a:latin typeface="udemy sans"/>
              </a:rPr>
              <a:t>"@" (entre el nombre de usuario y el dominio) y finaliza en ".</a:t>
            </a:r>
            <a:r>
              <a:rPr kumimoji="0" lang="es-MX" altLang="es-MX" sz="5500" b="0" i="0" u="none" strike="noStrike" cap="none" normalizeH="0" baseline="0" dirty="0" err="1">
                <a:ln>
                  <a:noFill/>
                </a:ln>
                <a:effectLst/>
                <a:latin typeface="udemy sans"/>
              </a:rPr>
              <a:t>com</a:t>
            </a:r>
            <a:r>
              <a:rPr kumimoji="0" lang="es-MX" altLang="es-MX" sz="5500" b="0" i="0" u="none" strike="noStrike" cap="none" normalizeH="0" baseline="0" dirty="0">
                <a:ln>
                  <a:noFill/>
                </a:ln>
                <a:effectLst/>
                <a:latin typeface="udemy sans"/>
              </a:rPr>
              <a:t>" (aunque aceptando también casos que cuentan con un dominio adicional, tal como ".com.br" para el caso de un usuario de Brasil).</a:t>
            </a:r>
            <a:endParaRPr kumimoji="0" lang="es-MX" altLang="es-MX" sz="55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5500" b="0" i="0" u="none" strike="noStrike" cap="none" normalizeH="0" baseline="0" dirty="0">
                <a:ln>
                  <a:noFill/>
                </a:ln>
                <a:effectLst/>
                <a:latin typeface="udemy sans"/>
              </a:rPr>
              <a:t>Si se encuentra el patrón, la función debe finalizar mostrando en pantalla el mensaje </a:t>
            </a:r>
            <a:r>
              <a:rPr kumimoji="0" lang="es-MX" altLang="es-MX" sz="5500" b="0" i="0" u="none" strike="noStrike" cap="none" normalizeH="0" baseline="0" dirty="0">
                <a:ln>
                  <a:noFill/>
                </a:ln>
                <a:effectLst/>
                <a:latin typeface="sfmono-regular"/>
              </a:rPr>
              <a:t>"Ok"</a:t>
            </a:r>
            <a:r>
              <a:rPr kumimoji="0" lang="es-MX" altLang="es-MX" sz="5500" b="0" i="0" u="none" strike="noStrike" cap="none" normalizeH="0" baseline="0" dirty="0">
                <a:ln>
                  <a:noFill/>
                </a:ln>
                <a:effectLst/>
                <a:latin typeface="udemy sans"/>
              </a:rPr>
              <a:t>, pero si detecta que la frase no contiene los elementos indicados, debe informarle al usuario </a:t>
            </a:r>
            <a:r>
              <a:rPr kumimoji="0" lang="es-MX" altLang="es-MX" sz="5500" b="0" i="0" u="none" strike="noStrike" cap="none" normalizeH="0" baseline="0" dirty="0">
                <a:ln>
                  <a:noFill/>
                </a:ln>
                <a:effectLst/>
                <a:latin typeface="sfmono-regular"/>
              </a:rPr>
              <a:t>"La dirección de email es incorrecta"</a:t>
            </a:r>
            <a:r>
              <a:rPr kumimoji="0" lang="es-MX" altLang="es-MX" sz="5500" b="0" i="0" u="none" strike="noStrike" cap="none" normalizeH="0" baseline="0" dirty="0">
                <a:ln>
                  <a:noFill/>
                </a:ln>
                <a:effectLst/>
                <a:latin typeface="udemy sans"/>
              </a:rPr>
              <a:t> imprimiendo el mensaje.</a:t>
            </a:r>
          </a:p>
          <a:p>
            <a:pPr marL="0" indent="0" eaLnBrk="0" fontAlgn="base" hangingPunct="0">
              <a:lnSpc>
                <a:spcPct val="100000"/>
              </a:lnSpc>
              <a:spcBef>
                <a:spcPct val="0"/>
              </a:spcBef>
              <a:spcAft>
                <a:spcPct val="0"/>
              </a:spcAft>
              <a:buNone/>
            </a:pPr>
            <a:endParaRPr kumimoji="0" lang="es-MX" altLang="es-MX" sz="5500" b="0" i="0" u="none" strike="noStrike" cap="none" normalizeH="0" baseline="0" dirty="0">
              <a:ln>
                <a:noFill/>
              </a:ln>
              <a:effectLst/>
              <a:latin typeface="udemy sans"/>
            </a:endParaRPr>
          </a:p>
          <a:p>
            <a:pPr marL="0" indent="0" eaLnBrk="0" fontAlgn="base" hangingPunct="0">
              <a:lnSpc>
                <a:spcPct val="100000"/>
              </a:lnSpc>
              <a:spcBef>
                <a:spcPct val="0"/>
              </a:spcBef>
              <a:spcAft>
                <a:spcPct val="0"/>
              </a:spcAft>
              <a:buNone/>
            </a:pPr>
            <a:r>
              <a:rPr kumimoji="0" lang="es-MX" altLang="es-MX" sz="5500" b="0" i="0" u="none" strike="noStrike" cap="none" normalizeH="0" baseline="0" dirty="0">
                <a:ln>
                  <a:noFill/>
                </a:ln>
                <a:effectLst/>
                <a:latin typeface="udemy sans"/>
              </a:rPr>
              <a:t>Crea una </a:t>
            </a:r>
            <a:r>
              <a:rPr kumimoji="0" lang="es-MX" altLang="es-MX" sz="5500" b="1" i="0" u="none" strike="noStrike" cap="none" normalizeH="0" baseline="0" dirty="0">
                <a:ln>
                  <a:noFill/>
                </a:ln>
                <a:effectLst/>
                <a:latin typeface="udemy sans"/>
              </a:rPr>
              <a:t>función </a:t>
            </a:r>
            <a:r>
              <a:rPr kumimoji="0" lang="es-MX" altLang="es-MX" sz="5500" b="0" i="0" u="none" strike="noStrike" cap="none" normalizeH="0" baseline="0" dirty="0">
                <a:ln>
                  <a:noFill/>
                </a:ln>
                <a:effectLst/>
                <a:latin typeface="udemy sans"/>
              </a:rPr>
              <a:t>llamada </a:t>
            </a:r>
            <a:r>
              <a:rPr kumimoji="0" lang="es-MX" altLang="es-MX" sz="5500" b="1" i="0" u="none" strike="noStrike" cap="none" normalizeH="0" baseline="0" dirty="0" err="1">
                <a:ln>
                  <a:noFill/>
                </a:ln>
                <a:effectLst/>
                <a:latin typeface="sfmono-regular"/>
              </a:rPr>
              <a:t>verificar_saludo</a:t>
            </a:r>
            <a:r>
              <a:rPr kumimoji="0" lang="es-MX" altLang="es-MX" sz="5500" b="1" i="0" u="none" strike="noStrike" cap="none" normalizeH="0" baseline="0" dirty="0">
                <a:ln>
                  <a:noFill/>
                </a:ln>
                <a:effectLst/>
                <a:latin typeface="udemy sans"/>
              </a:rPr>
              <a:t> </a:t>
            </a:r>
            <a:r>
              <a:rPr kumimoji="0" lang="es-MX" altLang="es-MX" sz="5500" b="0" i="0" u="none" strike="noStrike" cap="none" normalizeH="0" baseline="0" dirty="0">
                <a:ln>
                  <a:noFill/>
                </a:ln>
                <a:effectLst/>
                <a:latin typeface="udemy sans"/>
              </a:rPr>
              <a:t>para verificar si una </a:t>
            </a:r>
            <a:r>
              <a:rPr kumimoji="0" lang="es-MX" altLang="es-MX" sz="5500" b="1" i="0" u="none" strike="noStrike" cap="none" normalizeH="0" baseline="0" dirty="0">
                <a:ln>
                  <a:noFill/>
                </a:ln>
                <a:effectLst/>
                <a:latin typeface="udemy sans"/>
              </a:rPr>
              <a:t>frase </a:t>
            </a:r>
            <a:r>
              <a:rPr kumimoji="0" lang="es-MX" altLang="es-MX" sz="5500" b="0" i="0" u="none" strike="noStrike" cap="none" normalizeH="0" baseline="0" dirty="0">
                <a:ln>
                  <a:noFill/>
                </a:ln>
                <a:effectLst/>
                <a:latin typeface="udemy sans"/>
              </a:rPr>
              <a:t>entregada como argumento </a:t>
            </a:r>
            <a:r>
              <a:rPr kumimoji="0" lang="es-MX" altLang="es-MX" sz="5500" b="1" i="1" u="none" strike="noStrike" cap="none" normalizeH="0" baseline="0" dirty="0">
                <a:ln>
                  <a:noFill/>
                </a:ln>
                <a:effectLst/>
                <a:latin typeface="udemy sans"/>
              </a:rPr>
              <a:t>inicia </a:t>
            </a:r>
            <a:r>
              <a:rPr kumimoji="0" lang="es-MX" altLang="es-MX" sz="5500" b="0" i="0" u="none" strike="noStrike" cap="none" normalizeH="0" baseline="0" dirty="0">
                <a:ln>
                  <a:noFill/>
                </a:ln>
                <a:effectLst/>
                <a:latin typeface="udemy sans"/>
              </a:rPr>
              <a:t>con la palabra "</a:t>
            </a:r>
            <a:r>
              <a:rPr kumimoji="0" lang="es-MX" altLang="es-MX" sz="5500" b="0" i="0" u="none" strike="noStrike" cap="none" normalizeH="0" baseline="0" dirty="0">
                <a:ln>
                  <a:noFill/>
                </a:ln>
                <a:effectLst/>
                <a:latin typeface="sfmono-regular"/>
              </a:rPr>
              <a:t>Hola</a:t>
            </a:r>
            <a:r>
              <a:rPr kumimoji="0" lang="es-MX" altLang="es-MX" sz="5500" b="0" i="0" u="none" strike="noStrike" cap="none" normalizeH="0" baseline="0" dirty="0">
                <a:ln>
                  <a:noFill/>
                </a:ln>
                <a:effectLst/>
                <a:latin typeface="udemy sans"/>
              </a:rPr>
              <a:t>". Si se encuentra el patrón, la función debe finalizar mostrando el mensaje </a:t>
            </a:r>
            <a:r>
              <a:rPr kumimoji="0" lang="es-MX" altLang="es-MX" sz="5500" b="0" i="0" u="none" strike="noStrike" cap="none" normalizeH="0" baseline="0" dirty="0">
                <a:ln>
                  <a:noFill/>
                </a:ln>
                <a:effectLst/>
                <a:latin typeface="sfmono-regular"/>
              </a:rPr>
              <a:t>"Ok"</a:t>
            </a:r>
            <a:r>
              <a:rPr kumimoji="0" lang="es-MX" altLang="es-MX" sz="5500" b="0" i="0" u="none" strike="noStrike" cap="none" normalizeH="0" baseline="0" dirty="0">
                <a:ln>
                  <a:noFill/>
                </a:ln>
                <a:effectLst/>
                <a:latin typeface="udemy sans"/>
              </a:rPr>
              <a:t>, pero si detecta que la frase no contiene "Hola", debe informarle al usuario </a:t>
            </a:r>
            <a:r>
              <a:rPr kumimoji="0" lang="es-MX" altLang="es-MX" sz="5500" b="0" i="0" u="none" strike="noStrike" cap="none" normalizeH="0" baseline="0" dirty="0">
                <a:ln>
                  <a:noFill/>
                </a:ln>
                <a:effectLst/>
                <a:latin typeface="sfmono-regular"/>
              </a:rPr>
              <a:t>"No has saludado"</a:t>
            </a:r>
            <a:r>
              <a:rPr kumimoji="0" lang="es-MX" altLang="es-MX" sz="5500" b="0" i="0" u="none" strike="noStrike" cap="none" normalizeH="0" baseline="0" dirty="0">
                <a:ln>
                  <a:noFill/>
                </a:ln>
                <a:effectLst/>
                <a:latin typeface="udemy sans"/>
              </a:rPr>
              <a:t> imprimiendo el mensaje en pantalla</a:t>
            </a:r>
            <a:r>
              <a:rPr kumimoji="0" lang="es-MX" altLang="es-MX" sz="5500" b="0" i="0" u="none" strike="noStrike" cap="none" normalizeH="0" baseline="0" dirty="0">
                <a:ln>
                  <a:noFill/>
                </a:ln>
                <a:effectLst/>
              </a:rPr>
              <a:t> </a:t>
            </a:r>
          </a:p>
          <a:p>
            <a:pPr marL="0" indent="0" eaLnBrk="0" fontAlgn="base" hangingPunct="0">
              <a:lnSpc>
                <a:spcPct val="100000"/>
              </a:lnSpc>
              <a:spcBef>
                <a:spcPct val="0"/>
              </a:spcBef>
              <a:spcAft>
                <a:spcPct val="0"/>
              </a:spcAft>
              <a:buNone/>
            </a:pPr>
            <a:endParaRPr kumimoji="0" lang="es-MX" altLang="es-MX" sz="5500" b="0" i="0" u="none" strike="noStrike" cap="none" normalizeH="0" baseline="0" dirty="0">
              <a:ln>
                <a:noFill/>
              </a:ln>
              <a:effectLst/>
              <a:latin typeface="udemy sans"/>
            </a:endParaRPr>
          </a:p>
          <a:p>
            <a:pPr marL="0" indent="0" eaLnBrk="0" fontAlgn="base" hangingPunct="0">
              <a:lnSpc>
                <a:spcPct val="100000"/>
              </a:lnSpc>
              <a:spcBef>
                <a:spcPct val="0"/>
              </a:spcBef>
              <a:spcAft>
                <a:spcPct val="0"/>
              </a:spcAft>
              <a:buNone/>
            </a:pPr>
            <a:r>
              <a:rPr kumimoji="0" lang="es-MX" altLang="es-MX" sz="5500" b="0" i="0" u="none" strike="noStrike" cap="none" normalizeH="0" baseline="0" dirty="0">
                <a:ln>
                  <a:noFill/>
                </a:ln>
                <a:effectLst/>
                <a:latin typeface="udemy sans"/>
              </a:rPr>
              <a:t>El código postal de una región determinada se forma a partir de </a:t>
            </a:r>
            <a:r>
              <a:rPr kumimoji="0" lang="es-MX" altLang="es-MX" sz="5500" b="1" i="1" u="none" strike="noStrike" cap="none" normalizeH="0" baseline="0" dirty="0">
                <a:ln>
                  <a:noFill/>
                </a:ln>
                <a:effectLst/>
                <a:latin typeface="udemy sans"/>
              </a:rPr>
              <a:t>dos </a:t>
            </a:r>
            <a:r>
              <a:rPr kumimoji="0" lang="es-MX" altLang="es-MX" sz="5500" b="1" i="0" u="none" strike="noStrike" cap="none" normalizeH="0" baseline="0" dirty="0">
                <a:ln>
                  <a:noFill/>
                </a:ln>
                <a:effectLst/>
                <a:latin typeface="udemy sans"/>
              </a:rPr>
              <a:t>caracteres alfanuméricos y </a:t>
            </a:r>
            <a:r>
              <a:rPr kumimoji="0" lang="es-MX" altLang="es-MX" sz="5500" b="1" i="1" u="none" strike="noStrike" cap="none" normalizeH="0" baseline="0" dirty="0">
                <a:ln>
                  <a:noFill/>
                </a:ln>
                <a:effectLst/>
                <a:latin typeface="udemy sans"/>
              </a:rPr>
              <a:t>cuatro </a:t>
            </a:r>
            <a:r>
              <a:rPr kumimoji="0" lang="es-MX" altLang="es-MX" sz="5500" b="1" i="0" u="none" strike="noStrike" cap="none" normalizeH="0" baseline="0" dirty="0">
                <a:ln>
                  <a:noFill/>
                </a:ln>
                <a:effectLst/>
                <a:latin typeface="udemy sans"/>
              </a:rPr>
              <a:t>numéricos a continuación</a:t>
            </a:r>
            <a:r>
              <a:rPr kumimoji="0" lang="es-MX" altLang="es-MX" sz="5500" b="0" i="0" u="none" strike="noStrike" cap="none" normalizeH="0" baseline="0" dirty="0">
                <a:ln>
                  <a:noFill/>
                </a:ln>
                <a:effectLst/>
                <a:latin typeface="udemy sans"/>
              </a:rPr>
              <a:t> (ejemplo: </a:t>
            </a:r>
            <a:r>
              <a:rPr kumimoji="0" lang="es-MX" altLang="es-MX" sz="5500" b="1" i="0" u="none" strike="noStrike" cap="none" normalizeH="0" baseline="0" dirty="0">
                <a:ln>
                  <a:noFill/>
                </a:ln>
                <a:effectLst/>
                <a:latin typeface="udemy sans"/>
              </a:rPr>
              <a:t>XX1234</a:t>
            </a:r>
            <a:r>
              <a:rPr kumimoji="0" lang="es-MX" altLang="es-MX" sz="5500" b="0" i="0" u="none" strike="noStrike" cap="none" normalizeH="0" baseline="0" dirty="0">
                <a:ln>
                  <a:noFill/>
                </a:ln>
                <a:effectLst/>
                <a:latin typeface="udemy sans"/>
              </a:rPr>
              <a:t>). Crea una función, llamada </a:t>
            </a:r>
            <a:r>
              <a:rPr kumimoji="0" lang="es-MX" altLang="es-MX" sz="5500" b="0" i="0" u="none" strike="noStrike" cap="none" normalizeH="0" baseline="0" dirty="0" err="1">
                <a:ln>
                  <a:noFill/>
                </a:ln>
                <a:effectLst/>
                <a:latin typeface="sfmono-regular"/>
              </a:rPr>
              <a:t>verificar_cp</a:t>
            </a:r>
            <a:r>
              <a:rPr kumimoji="0" lang="es-MX" altLang="es-MX" sz="5500" b="0" i="0" u="none" strike="noStrike" cap="none" normalizeH="0" baseline="0" dirty="0">
                <a:ln>
                  <a:noFill/>
                </a:ln>
                <a:effectLst/>
                <a:latin typeface="udemy sans"/>
              </a:rPr>
              <a:t> para comprobar si el código postal pasado como argumento sigue este patrón. Si el patrón es correcto, mostrar al usuario el mensaje "</a:t>
            </a:r>
            <a:r>
              <a:rPr kumimoji="0" lang="es-MX" altLang="es-MX" sz="5500" b="1" i="0" u="none" strike="noStrike" cap="none" normalizeH="0" baseline="0" dirty="0">
                <a:ln>
                  <a:noFill/>
                </a:ln>
                <a:effectLst/>
                <a:latin typeface="udemy sans"/>
              </a:rPr>
              <a:t>Ok</a:t>
            </a:r>
            <a:r>
              <a:rPr kumimoji="0" lang="es-MX" altLang="es-MX" sz="5500" b="0" i="0" u="none" strike="noStrike" cap="none" normalizeH="0" baseline="0" dirty="0">
                <a:ln>
                  <a:noFill/>
                </a:ln>
                <a:effectLst/>
                <a:latin typeface="udemy sans"/>
              </a:rPr>
              <a:t>", de lo contrario: "</a:t>
            </a:r>
            <a:r>
              <a:rPr kumimoji="0" lang="es-MX" altLang="es-MX" sz="5500" b="1" i="0" u="none" strike="noStrike" cap="none" normalizeH="0" baseline="0" dirty="0">
                <a:ln>
                  <a:noFill/>
                </a:ln>
                <a:effectLst/>
                <a:latin typeface="udemy sans"/>
              </a:rPr>
              <a:t>El código postal ingresado no es correcto</a:t>
            </a:r>
            <a:r>
              <a:rPr kumimoji="0" lang="es-MX" altLang="es-MX" sz="5500" b="0" i="0" u="none" strike="noStrike" cap="none" normalizeH="0" baseline="0" dirty="0">
                <a:ln>
                  <a:noFill/>
                </a:ln>
                <a:effectLst/>
                <a:latin typeface="udemy sans"/>
              </a:rPr>
              <a:t>".</a:t>
            </a:r>
            <a:r>
              <a:rPr kumimoji="0" lang="es-MX" altLang="es-MX" sz="5500" b="0" i="0" u="none" strike="noStrike" cap="none" normalizeH="0" baseline="0" dirty="0">
                <a:ln>
                  <a:noFill/>
                </a:ln>
                <a:effectLst/>
              </a:rPr>
              <a:t> </a:t>
            </a:r>
            <a:endParaRPr kumimoji="0" lang="es-MX" altLang="es-MX" sz="5500" b="0" i="0" u="none" strike="noStrike" cap="none" normalizeH="0" baseline="0" dirty="0">
              <a:ln>
                <a:noFill/>
              </a:ln>
              <a:effectLst/>
              <a:latin typeface="Arial" panose="020B0604020202020204" pitchFamily="34" charset="0"/>
            </a:endParaRPr>
          </a:p>
          <a:p>
            <a:pPr marL="0" indent="0" eaLnBrk="0" fontAlgn="base" hangingPunct="0">
              <a:lnSpc>
                <a:spcPct val="100000"/>
              </a:lnSpc>
              <a:spcBef>
                <a:spcPct val="0"/>
              </a:spcBef>
              <a:spcAft>
                <a:spcPct val="0"/>
              </a:spcAft>
              <a:buNone/>
            </a:pPr>
            <a:endParaRPr kumimoji="0" lang="es-MX" altLang="es-MX" sz="9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5400" b="0" i="0" u="none" strike="noStrike" cap="none" normalizeH="0" baseline="0" dirty="0">
              <a:ln>
                <a:noFill/>
              </a:ln>
              <a:solidFill>
                <a:schemeClr val="tx1"/>
              </a:solidFill>
              <a:effectLst/>
              <a:latin typeface="Arial" panose="020B0604020202020204" pitchFamily="34" charset="0"/>
            </a:endParaRPr>
          </a:p>
          <a:p>
            <a:pPr marL="0" indent="0">
              <a:buNone/>
            </a:pPr>
            <a:endParaRPr lang="es-MX" dirty="0"/>
          </a:p>
        </p:txBody>
      </p:sp>
      <p:sp>
        <p:nvSpPr>
          <p:cNvPr id="4" name="Marcador de pie de página 3">
            <a:extLst>
              <a:ext uri="{FF2B5EF4-FFF2-40B4-BE49-F238E27FC236}">
                <a16:creationId xmlns:a16="http://schemas.microsoft.com/office/drawing/2014/main" id="{20E0E5BE-778B-8C83-2A8D-E906C82042EB}"/>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4F4B0EE0-ECE9-4B74-DD00-9BD74B064B48}"/>
              </a:ext>
            </a:extLst>
          </p:cNvPr>
          <p:cNvSpPr>
            <a:spLocks noGrp="1"/>
          </p:cNvSpPr>
          <p:nvPr>
            <p:ph type="sldNum" sz="quarter" idx="12"/>
          </p:nvPr>
        </p:nvSpPr>
        <p:spPr/>
        <p:txBody>
          <a:bodyPr/>
          <a:lstStyle/>
          <a:p>
            <a:fld id="{4EA4A3B0-B5DF-4E2B-B48F-E4B7B7872040}" type="slidenum">
              <a:rPr lang="es-MX" smtClean="0"/>
              <a:t>205</a:t>
            </a:fld>
            <a:endParaRPr lang="es-MX"/>
          </a:p>
        </p:txBody>
      </p:sp>
    </p:spTree>
    <p:extLst>
      <p:ext uri="{BB962C8B-B14F-4D97-AF65-F5344CB8AC3E}">
        <p14:creationId xmlns:p14="http://schemas.microsoft.com/office/powerpoint/2010/main" val="1580468072"/>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B82FB-5389-A18B-2453-FD2A797DE20C}"/>
              </a:ext>
            </a:extLst>
          </p:cNvPr>
          <p:cNvSpPr>
            <a:spLocks noGrp="1"/>
          </p:cNvSpPr>
          <p:nvPr>
            <p:ph type="title"/>
          </p:nvPr>
        </p:nvSpPr>
        <p:spPr/>
        <p:txBody>
          <a:bodyPr/>
          <a:lstStyle/>
          <a:p>
            <a:r>
              <a:rPr lang="es-MX" dirty="0">
                <a:solidFill>
                  <a:schemeClr val="bg1"/>
                </a:solidFill>
              </a:rPr>
              <a:t>Comprimir y Descomprimir Archivos</a:t>
            </a:r>
          </a:p>
        </p:txBody>
      </p:sp>
      <p:sp>
        <p:nvSpPr>
          <p:cNvPr id="3" name="Marcador de contenido 2">
            <a:extLst>
              <a:ext uri="{FF2B5EF4-FFF2-40B4-BE49-F238E27FC236}">
                <a16:creationId xmlns:a16="http://schemas.microsoft.com/office/drawing/2014/main" id="{7F8DB197-4B35-C805-7432-4DFC197E9887}"/>
              </a:ext>
            </a:extLst>
          </p:cNvPr>
          <p:cNvSpPr>
            <a:spLocks noGrp="1"/>
          </p:cNvSpPr>
          <p:nvPr>
            <p:ph idx="1"/>
          </p:nvPr>
        </p:nvSpPr>
        <p:spPr>
          <a:xfrm>
            <a:off x="604934" y="1690688"/>
            <a:ext cx="10515600" cy="4351338"/>
          </a:xfrm>
        </p:spPr>
        <p:txBody>
          <a:bodyPr>
            <a:normAutofit fontScale="85000" lnSpcReduction="20000"/>
          </a:bodyPr>
          <a:lstStyle/>
          <a:p>
            <a:pPr marL="0" indent="0">
              <a:buNone/>
            </a:pPr>
            <a:r>
              <a:rPr lang="es-MX" dirty="0"/>
              <a:t>El formato zip permite comprimir archivos sin pérdida de información, ahorrando espacio de almacenamiento y manteniendo documentos relacionados en un mismo archivo .zip.</a:t>
            </a:r>
          </a:p>
          <a:p>
            <a:pPr marL="0" indent="0">
              <a:buNone/>
            </a:pPr>
            <a:r>
              <a:rPr lang="es-MX" dirty="0"/>
              <a:t>Utilizando el módulo </a:t>
            </a:r>
            <a:r>
              <a:rPr lang="es-MX" dirty="0" err="1"/>
              <a:t>zipfile</a:t>
            </a:r>
            <a:r>
              <a:rPr lang="es-MX" dirty="0"/>
              <a:t>:      </a:t>
            </a:r>
            <a:r>
              <a:rPr lang="es-MX" dirty="0" err="1"/>
              <a:t>import</a:t>
            </a:r>
            <a:r>
              <a:rPr lang="es-MX" dirty="0"/>
              <a:t> </a:t>
            </a:r>
            <a:r>
              <a:rPr lang="es-MX" dirty="0" err="1"/>
              <a:t>zipfile</a:t>
            </a:r>
            <a:endParaRPr lang="es-MX" dirty="0"/>
          </a:p>
          <a:p>
            <a:pPr marL="0" indent="0">
              <a:buNone/>
            </a:pPr>
            <a:r>
              <a:rPr lang="es-MX" dirty="0">
                <a:solidFill>
                  <a:schemeClr val="bg1"/>
                </a:solidFill>
              </a:rPr>
              <a:t>Comprimir archivos:</a:t>
            </a:r>
          </a:p>
          <a:p>
            <a:pPr marL="0" indent="0">
              <a:buNone/>
            </a:pPr>
            <a:r>
              <a:rPr lang="es-MX" dirty="0" err="1"/>
              <a:t>mi_zip</a:t>
            </a:r>
            <a:r>
              <a:rPr lang="es-MX" dirty="0"/>
              <a:t> = </a:t>
            </a:r>
            <a:r>
              <a:rPr lang="es-MX" dirty="0" err="1"/>
              <a:t>zipfile.ZipFile</a:t>
            </a:r>
            <a:r>
              <a:rPr lang="es-MX" dirty="0"/>
              <a:t>("archivo_comprimido.zip" , "w") </a:t>
            </a:r>
            <a:r>
              <a:rPr lang="es-MX" dirty="0" err="1"/>
              <a:t>mi_zip.write</a:t>
            </a:r>
            <a:r>
              <a:rPr lang="es-MX" dirty="0"/>
              <a:t>("mi_archivo.txt") </a:t>
            </a:r>
          </a:p>
          <a:p>
            <a:pPr marL="0" indent="0">
              <a:buNone/>
            </a:pPr>
            <a:r>
              <a:rPr lang="es-MX" dirty="0" err="1"/>
              <a:t>mi_zip.close</a:t>
            </a:r>
            <a:r>
              <a:rPr lang="es-MX" dirty="0"/>
              <a:t>()</a:t>
            </a:r>
          </a:p>
          <a:p>
            <a:pPr marL="0" indent="0">
              <a:buNone/>
            </a:pPr>
            <a:r>
              <a:rPr lang="es-MX" dirty="0">
                <a:solidFill>
                  <a:schemeClr val="bg1"/>
                </a:solidFill>
              </a:rPr>
              <a:t>Descomprimir archivos:</a:t>
            </a:r>
          </a:p>
          <a:p>
            <a:pPr marL="0" indent="0">
              <a:buNone/>
            </a:pPr>
            <a:r>
              <a:rPr lang="es-MX" dirty="0" err="1"/>
              <a:t>mi_zip</a:t>
            </a:r>
            <a:r>
              <a:rPr lang="es-MX" dirty="0"/>
              <a:t> = </a:t>
            </a:r>
            <a:r>
              <a:rPr lang="es-MX" dirty="0" err="1"/>
              <a:t>zipfile.ZipFile</a:t>
            </a:r>
            <a:r>
              <a:rPr lang="es-MX" dirty="0"/>
              <a:t>("archivo_comprimido.zip" , "r") </a:t>
            </a:r>
          </a:p>
          <a:p>
            <a:pPr marL="0" indent="0">
              <a:buNone/>
            </a:pPr>
            <a:r>
              <a:rPr lang="es-MX" dirty="0" err="1"/>
              <a:t>mi_zip.extractall</a:t>
            </a:r>
            <a:r>
              <a:rPr lang="es-MX" dirty="0"/>
              <a:t>()</a:t>
            </a:r>
          </a:p>
          <a:p>
            <a:pPr marL="0" indent="0">
              <a:buNone/>
            </a:pPr>
            <a:r>
              <a:rPr lang="es-MX" dirty="0" err="1"/>
              <a:t>mi_zip.extract</a:t>
            </a:r>
            <a:r>
              <a:rPr lang="es-MX" dirty="0"/>
              <a:t>("mi_archivo.txt") </a:t>
            </a:r>
          </a:p>
        </p:txBody>
      </p:sp>
      <p:sp>
        <p:nvSpPr>
          <p:cNvPr id="4" name="Marcador de pie de página 3">
            <a:extLst>
              <a:ext uri="{FF2B5EF4-FFF2-40B4-BE49-F238E27FC236}">
                <a16:creationId xmlns:a16="http://schemas.microsoft.com/office/drawing/2014/main" id="{70D55512-DE5A-69EC-8044-E86CE539CEC1}"/>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ABB56E6E-3A98-41FB-02DB-6CFDDBA6221D}"/>
              </a:ext>
            </a:extLst>
          </p:cNvPr>
          <p:cNvSpPr>
            <a:spLocks noGrp="1"/>
          </p:cNvSpPr>
          <p:nvPr>
            <p:ph type="sldNum" sz="quarter" idx="12"/>
          </p:nvPr>
        </p:nvSpPr>
        <p:spPr/>
        <p:txBody>
          <a:bodyPr/>
          <a:lstStyle/>
          <a:p>
            <a:fld id="{4EA4A3B0-B5DF-4E2B-B48F-E4B7B7872040}" type="slidenum">
              <a:rPr lang="es-MX" smtClean="0"/>
              <a:t>206</a:t>
            </a:fld>
            <a:endParaRPr lang="es-MX"/>
          </a:p>
        </p:txBody>
      </p:sp>
    </p:spTree>
    <p:extLst>
      <p:ext uri="{BB962C8B-B14F-4D97-AF65-F5344CB8AC3E}">
        <p14:creationId xmlns:p14="http://schemas.microsoft.com/office/powerpoint/2010/main" val="322490677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1B6307-421A-CFA0-B73B-1D3A04577840}"/>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827EEEB9-E848-3CC6-2B8F-3173368B3EEC}"/>
              </a:ext>
            </a:extLst>
          </p:cNvPr>
          <p:cNvSpPr>
            <a:spLocks noGrp="1"/>
          </p:cNvSpPr>
          <p:nvPr>
            <p:ph idx="1"/>
          </p:nvPr>
        </p:nvSpPr>
        <p:spPr/>
        <p:txBody>
          <a:bodyPr/>
          <a:lstStyle/>
          <a:p>
            <a:pPr marL="0" indent="0">
              <a:buNone/>
            </a:pPr>
            <a:r>
              <a:rPr lang="es-MX" dirty="0"/>
              <a:t>Utilizando el módulo </a:t>
            </a:r>
            <a:r>
              <a:rPr lang="es-MX" dirty="0" err="1"/>
              <a:t>shutil</a:t>
            </a:r>
            <a:r>
              <a:rPr lang="es-MX" dirty="0"/>
              <a:t>:          </a:t>
            </a:r>
            <a:r>
              <a:rPr lang="es-MX" dirty="0" err="1"/>
              <a:t>import</a:t>
            </a:r>
            <a:r>
              <a:rPr lang="es-MX" dirty="0"/>
              <a:t> </a:t>
            </a:r>
            <a:r>
              <a:rPr lang="es-MX" dirty="0" err="1"/>
              <a:t>shutil</a:t>
            </a:r>
            <a:endParaRPr lang="es-MX" dirty="0"/>
          </a:p>
          <a:p>
            <a:pPr marL="0" indent="0">
              <a:buNone/>
            </a:pPr>
            <a:r>
              <a:rPr lang="es-MX" dirty="0">
                <a:solidFill>
                  <a:schemeClr val="bg1"/>
                </a:solidFill>
              </a:rPr>
              <a:t>Comprimir archivos:</a:t>
            </a:r>
          </a:p>
          <a:p>
            <a:pPr marL="0" indent="0">
              <a:buNone/>
            </a:pPr>
            <a:r>
              <a:rPr lang="it-IT" dirty="0"/>
              <a:t>shutil.make_archive(archivo_destino, "zip" , carpeta_origen)</a:t>
            </a:r>
            <a:endParaRPr lang="es-MX" dirty="0"/>
          </a:p>
          <a:p>
            <a:pPr marL="0" indent="0">
              <a:buNone/>
            </a:pPr>
            <a:r>
              <a:rPr lang="es-MX" dirty="0">
                <a:solidFill>
                  <a:schemeClr val="bg1"/>
                </a:solidFill>
              </a:rPr>
              <a:t>Descomprimir archivos:</a:t>
            </a:r>
          </a:p>
          <a:p>
            <a:pPr marL="0" indent="0">
              <a:buNone/>
            </a:pPr>
            <a:r>
              <a:rPr lang="es-MX" dirty="0" err="1"/>
              <a:t>shutil.unpack_archive</a:t>
            </a:r>
            <a:r>
              <a:rPr lang="es-MX" dirty="0"/>
              <a:t>(</a:t>
            </a:r>
            <a:r>
              <a:rPr lang="es-MX" dirty="0" err="1"/>
              <a:t>archivo_zip</a:t>
            </a:r>
            <a:r>
              <a:rPr lang="es-MX" dirty="0"/>
              <a:t>, </a:t>
            </a:r>
            <a:r>
              <a:rPr lang="es-MX" dirty="0" err="1"/>
              <a:t>nombre_carpeta_extraccion</a:t>
            </a:r>
            <a:r>
              <a:rPr lang="es-MX" dirty="0"/>
              <a:t>, "zip")</a:t>
            </a:r>
          </a:p>
        </p:txBody>
      </p:sp>
      <p:sp>
        <p:nvSpPr>
          <p:cNvPr id="4" name="Marcador de pie de página 3">
            <a:extLst>
              <a:ext uri="{FF2B5EF4-FFF2-40B4-BE49-F238E27FC236}">
                <a16:creationId xmlns:a16="http://schemas.microsoft.com/office/drawing/2014/main" id="{896A57B6-026D-773B-FB67-F2D8E7C1D16F}"/>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14F36EA5-8BA0-40D4-E760-AF2B88178B4B}"/>
              </a:ext>
            </a:extLst>
          </p:cNvPr>
          <p:cNvSpPr>
            <a:spLocks noGrp="1"/>
          </p:cNvSpPr>
          <p:nvPr>
            <p:ph type="sldNum" sz="quarter" idx="12"/>
          </p:nvPr>
        </p:nvSpPr>
        <p:spPr/>
        <p:txBody>
          <a:bodyPr/>
          <a:lstStyle/>
          <a:p>
            <a:fld id="{4EA4A3B0-B5DF-4E2B-B48F-E4B7B7872040}" type="slidenum">
              <a:rPr lang="es-MX" smtClean="0"/>
              <a:t>207</a:t>
            </a:fld>
            <a:endParaRPr lang="es-MX"/>
          </a:p>
        </p:txBody>
      </p:sp>
    </p:spTree>
    <p:extLst>
      <p:ext uri="{BB962C8B-B14F-4D97-AF65-F5344CB8AC3E}">
        <p14:creationId xmlns:p14="http://schemas.microsoft.com/office/powerpoint/2010/main" val="205250357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4C716E-E931-3354-D161-C29B9CBFD82C}"/>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A706941C-798F-64D6-75C6-E849CF2A8198}"/>
              </a:ext>
            </a:extLst>
          </p:cNvPr>
          <p:cNvSpPr>
            <a:spLocks noGrp="1"/>
          </p:cNvSpPr>
          <p:nvPr>
            <p:ph idx="1"/>
          </p:nvPr>
        </p:nvSpPr>
        <p:spPr/>
        <p:txBody>
          <a:bodyPr/>
          <a:lstStyle/>
          <a:p>
            <a:endParaRPr lang="es-MX"/>
          </a:p>
        </p:txBody>
      </p:sp>
      <p:sp>
        <p:nvSpPr>
          <p:cNvPr id="4" name="Marcador de pie de página 3">
            <a:extLst>
              <a:ext uri="{FF2B5EF4-FFF2-40B4-BE49-F238E27FC236}">
                <a16:creationId xmlns:a16="http://schemas.microsoft.com/office/drawing/2014/main" id="{D3E542DE-2F41-6B4D-E868-E88FB219FA7D}"/>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FDCA0219-FB33-39D7-B9C7-82022B696FD9}"/>
              </a:ext>
            </a:extLst>
          </p:cNvPr>
          <p:cNvSpPr>
            <a:spLocks noGrp="1"/>
          </p:cNvSpPr>
          <p:nvPr>
            <p:ph type="sldNum" sz="quarter" idx="12"/>
          </p:nvPr>
        </p:nvSpPr>
        <p:spPr/>
        <p:txBody>
          <a:bodyPr/>
          <a:lstStyle/>
          <a:p>
            <a:fld id="{4EA4A3B0-B5DF-4E2B-B48F-E4B7B7872040}" type="slidenum">
              <a:rPr lang="es-MX" smtClean="0"/>
              <a:t>208</a:t>
            </a:fld>
            <a:endParaRPr lang="es-MX"/>
          </a:p>
        </p:txBody>
      </p:sp>
    </p:spTree>
    <p:extLst>
      <p:ext uri="{BB962C8B-B14F-4D97-AF65-F5344CB8AC3E}">
        <p14:creationId xmlns:p14="http://schemas.microsoft.com/office/powerpoint/2010/main" val="397761162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C2C18A-F50E-1968-0C7C-AD050E18EC81}"/>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18D50521-D8EE-35BD-CCD0-DEAF406B75D6}"/>
              </a:ext>
            </a:extLst>
          </p:cNvPr>
          <p:cNvSpPr>
            <a:spLocks noGrp="1"/>
          </p:cNvSpPr>
          <p:nvPr>
            <p:ph idx="1"/>
          </p:nvPr>
        </p:nvSpPr>
        <p:spPr/>
        <p:txBody>
          <a:bodyPr/>
          <a:lstStyle/>
          <a:p>
            <a:endParaRPr lang="es-MX"/>
          </a:p>
        </p:txBody>
      </p:sp>
      <p:sp>
        <p:nvSpPr>
          <p:cNvPr id="4" name="Marcador de pie de página 3">
            <a:extLst>
              <a:ext uri="{FF2B5EF4-FFF2-40B4-BE49-F238E27FC236}">
                <a16:creationId xmlns:a16="http://schemas.microsoft.com/office/drawing/2014/main" id="{2164271A-3C56-CCF2-8368-7D4E3CE5908B}"/>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B1E73989-5EC0-57DB-CF94-7ECA56B61704}"/>
              </a:ext>
            </a:extLst>
          </p:cNvPr>
          <p:cNvSpPr>
            <a:spLocks noGrp="1"/>
          </p:cNvSpPr>
          <p:nvPr>
            <p:ph type="sldNum" sz="quarter" idx="12"/>
          </p:nvPr>
        </p:nvSpPr>
        <p:spPr/>
        <p:txBody>
          <a:bodyPr/>
          <a:lstStyle/>
          <a:p>
            <a:fld id="{4EA4A3B0-B5DF-4E2B-B48F-E4B7B7872040}" type="slidenum">
              <a:rPr lang="es-MX" smtClean="0"/>
              <a:t>209</a:t>
            </a:fld>
            <a:endParaRPr lang="es-MX"/>
          </a:p>
        </p:txBody>
      </p:sp>
    </p:spTree>
    <p:extLst>
      <p:ext uri="{BB962C8B-B14F-4D97-AF65-F5344CB8AC3E}">
        <p14:creationId xmlns:p14="http://schemas.microsoft.com/office/powerpoint/2010/main" val="2137042345"/>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18D18A-6A51-8F82-CAEE-289DC173E277}"/>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915E2C0F-FF16-D2DC-CB28-2394877C24CF}"/>
              </a:ext>
            </a:extLst>
          </p:cNvPr>
          <p:cNvSpPr>
            <a:spLocks noGrp="1"/>
          </p:cNvSpPr>
          <p:nvPr>
            <p:ph idx="1"/>
          </p:nvPr>
        </p:nvSpPr>
        <p:spPr/>
        <p:txBody>
          <a:bodyPr/>
          <a:lstStyle/>
          <a:p>
            <a:endParaRPr lang="es-MX"/>
          </a:p>
        </p:txBody>
      </p:sp>
      <p:sp>
        <p:nvSpPr>
          <p:cNvPr id="4" name="Marcador de pie de página 3">
            <a:extLst>
              <a:ext uri="{FF2B5EF4-FFF2-40B4-BE49-F238E27FC236}">
                <a16:creationId xmlns:a16="http://schemas.microsoft.com/office/drawing/2014/main" id="{C924698C-A80B-2751-9519-5692D6C6865F}"/>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A7FA9840-43F4-907B-B79C-D48B23930353}"/>
              </a:ext>
            </a:extLst>
          </p:cNvPr>
          <p:cNvSpPr>
            <a:spLocks noGrp="1"/>
          </p:cNvSpPr>
          <p:nvPr>
            <p:ph type="sldNum" sz="quarter" idx="12"/>
          </p:nvPr>
        </p:nvSpPr>
        <p:spPr/>
        <p:txBody>
          <a:bodyPr/>
          <a:lstStyle/>
          <a:p>
            <a:fld id="{4EA4A3B0-B5DF-4E2B-B48F-E4B7B7872040}" type="slidenum">
              <a:rPr lang="es-MX" smtClean="0"/>
              <a:t>210</a:t>
            </a:fld>
            <a:endParaRPr lang="es-MX"/>
          </a:p>
        </p:txBody>
      </p:sp>
    </p:spTree>
    <p:extLst>
      <p:ext uri="{BB962C8B-B14F-4D97-AF65-F5344CB8AC3E}">
        <p14:creationId xmlns:p14="http://schemas.microsoft.com/office/powerpoint/2010/main" val="513303771"/>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624DAD-D020-89AC-64FC-89AAB86C1DB0}"/>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D9E03C50-7B55-7712-E409-DB5A278AFF32}"/>
              </a:ext>
            </a:extLst>
          </p:cNvPr>
          <p:cNvSpPr>
            <a:spLocks noGrp="1"/>
          </p:cNvSpPr>
          <p:nvPr>
            <p:ph idx="1"/>
          </p:nvPr>
        </p:nvSpPr>
        <p:spPr/>
        <p:txBody>
          <a:bodyPr/>
          <a:lstStyle/>
          <a:p>
            <a:endParaRPr lang="es-MX"/>
          </a:p>
        </p:txBody>
      </p:sp>
      <p:sp>
        <p:nvSpPr>
          <p:cNvPr id="4" name="Marcador de pie de página 3">
            <a:extLst>
              <a:ext uri="{FF2B5EF4-FFF2-40B4-BE49-F238E27FC236}">
                <a16:creationId xmlns:a16="http://schemas.microsoft.com/office/drawing/2014/main" id="{47142052-FD10-56D1-609F-627C1FB89508}"/>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6564E88A-72B0-088D-82DB-BC8515FFB95F}"/>
              </a:ext>
            </a:extLst>
          </p:cNvPr>
          <p:cNvSpPr>
            <a:spLocks noGrp="1"/>
          </p:cNvSpPr>
          <p:nvPr>
            <p:ph type="sldNum" sz="quarter" idx="12"/>
          </p:nvPr>
        </p:nvSpPr>
        <p:spPr/>
        <p:txBody>
          <a:bodyPr/>
          <a:lstStyle/>
          <a:p>
            <a:fld id="{4EA4A3B0-B5DF-4E2B-B48F-E4B7B7872040}" type="slidenum">
              <a:rPr lang="es-MX" smtClean="0"/>
              <a:t>211</a:t>
            </a:fld>
            <a:endParaRPr lang="es-MX"/>
          </a:p>
        </p:txBody>
      </p:sp>
    </p:spTree>
    <p:extLst>
      <p:ext uri="{BB962C8B-B14F-4D97-AF65-F5344CB8AC3E}">
        <p14:creationId xmlns:p14="http://schemas.microsoft.com/office/powerpoint/2010/main" val="1051383693"/>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B13753-8167-9101-C3FF-6FD5023F3562}"/>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473467DD-6E76-CBF3-6A50-CD66D1B63384}"/>
              </a:ext>
            </a:extLst>
          </p:cNvPr>
          <p:cNvSpPr>
            <a:spLocks noGrp="1"/>
          </p:cNvSpPr>
          <p:nvPr>
            <p:ph idx="1"/>
          </p:nvPr>
        </p:nvSpPr>
        <p:spPr/>
        <p:txBody>
          <a:bodyPr/>
          <a:lstStyle/>
          <a:p>
            <a:endParaRPr lang="es-MX"/>
          </a:p>
        </p:txBody>
      </p:sp>
      <p:sp>
        <p:nvSpPr>
          <p:cNvPr id="4" name="Marcador de pie de página 3">
            <a:extLst>
              <a:ext uri="{FF2B5EF4-FFF2-40B4-BE49-F238E27FC236}">
                <a16:creationId xmlns:a16="http://schemas.microsoft.com/office/drawing/2014/main" id="{9D6709B9-52C4-7D11-2806-031BBCF8D994}"/>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C9EC73AF-D35F-3CD1-6DAE-4489B4E2FFB8}"/>
              </a:ext>
            </a:extLst>
          </p:cNvPr>
          <p:cNvSpPr>
            <a:spLocks noGrp="1"/>
          </p:cNvSpPr>
          <p:nvPr>
            <p:ph type="sldNum" sz="quarter" idx="12"/>
          </p:nvPr>
        </p:nvSpPr>
        <p:spPr/>
        <p:txBody>
          <a:bodyPr/>
          <a:lstStyle/>
          <a:p>
            <a:fld id="{4EA4A3B0-B5DF-4E2B-B48F-E4B7B7872040}" type="slidenum">
              <a:rPr lang="es-MX" smtClean="0"/>
              <a:t>212</a:t>
            </a:fld>
            <a:endParaRPr lang="es-MX"/>
          </a:p>
        </p:txBody>
      </p:sp>
    </p:spTree>
    <p:extLst>
      <p:ext uri="{BB962C8B-B14F-4D97-AF65-F5344CB8AC3E}">
        <p14:creationId xmlns:p14="http://schemas.microsoft.com/office/powerpoint/2010/main" val="4279946840"/>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6989D6-325E-23A1-7273-798A53EA56D6}"/>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E6292286-F943-8765-F666-797475DF6FF6}"/>
              </a:ext>
            </a:extLst>
          </p:cNvPr>
          <p:cNvSpPr>
            <a:spLocks noGrp="1"/>
          </p:cNvSpPr>
          <p:nvPr>
            <p:ph idx="1"/>
          </p:nvPr>
        </p:nvSpPr>
        <p:spPr/>
        <p:txBody>
          <a:bodyPr/>
          <a:lstStyle/>
          <a:p>
            <a:endParaRPr lang="es-MX"/>
          </a:p>
        </p:txBody>
      </p:sp>
      <p:sp>
        <p:nvSpPr>
          <p:cNvPr id="4" name="Marcador de pie de página 3">
            <a:extLst>
              <a:ext uri="{FF2B5EF4-FFF2-40B4-BE49-F238E27FC236}">
                <a16:creationId xmlns:a16="http://schemas.microsoft.com/office/drawing/2014/main" id="{1A9CD472-5689-16F6-C160-C31EB78E62D1}"/>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164E93D1-4691-16B7-547E-3DDF002A6E52}"/>
              </a:ext>
            </a:extLst>
          </p:cNvPr>
          <p:cNvSpPr>
            <a:spLocks noGrp="1"/>
          </p:cNvSpPr>
          <p:nvPr>
            <p:ph type="sldNum" sz="quarter" idx="12"/>
          </p:nvPr>
        </p:nvSpPr>
        <p:spPr/>
        <p:txBody>
          <a:bodyPr/>
          <a:lstStyle/>
          <a:p>
            <a:fld id="{4EA4A3B0-B5DF-4E2B-B48F-E4B7B7872040}" type="slidenum">
              <a:rPr lang="es-MX" smtClean="0"/>
              <a:t>213</a:t>
            </a:fld>
            <a:endParaRPr lang="es-MX"/>
          </a:p>
        </p:txBody>
      </p:sp>
    </p:spTree>
    <p:extLst>
      <p:ext uri="{BB962C8B-B14F-4D97-AF65-F5344CB8AC3E}">
        <p14:creationId xmlns:p14="http://schemas.microsoft.com/office/powerpoint/2010/main" val="322143580"/>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C4406D-8CF5-39A6-3427-C7A55F878090}"/>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8DFF9B73-9658-9CF8-699F-2534B615C4A5}"/>
              </a:ext>
            </a:extLst>
          </p:cNvPr>
          <p:cNvSpPr>
            <a:spLocks noGrp="1"/>
          </p:cNvSpPr>
          <p:nvPr>
            <p:ph idx="1"/>
          </p:nvPr>
        </p:nvSpPr>
        <p:spPr/>
        <p:txBody>
          <a:bodyPr/>
          <a:lstStyle/>
          <a:p>
            <a:endParaRPr lang="es-MX"/>
          </a:p>
        </p:txBody>
      </p:sp>
      <p:sp>
        <p:nvSpPr>
          <p:cNvPr id="4" name="Marcador de pie de página 3">
            <a:extLst>
              <a:ext uri="{FF2B5EF4-FFF2-40B4-BE49-F238E27FC236}">
                <a16:creationId xmlns:a16="http://schemas.microsoft.com/office/drawing/2014/main" id="{9AA3B5C6-6777-0AE9-72C9-FBC38272A752}"/>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173ADD42-1F31-F548-EE08-0C5A993702CC}"/>
              </a:ext>
            </a:extLst>
          </p:cNvPr>
          <p:cNvSpPr>
            <a:spLocks noGrp="1"/>
          </p:cNvSpPr>
          <p:nvPr>
            <p:ph type="sldNum" sz="quarter" idx="12"/>
          </p:nvPr>
        </p:nvSpPr>
        <p:spPr/>
        <p:txBody>
          <a:bodyPr/>
          <a:lstStyle/>
          <a:p>
            <a:fld id="{4EA4A3B0-B5DF-4E2B-B48F-E4B7B7872040}" type="slidenum">
              <a:rPr lang="es-MX" smtClean="0"/>
              <a:t>214</a:t>
            </a:fld>
            <a:endParaRPr lang="es-MX"/>
          </a:p>
        </p:txBody>
      </p:sp>
    </p:spTree>
    <p:extLst>
      <p:ext uri="{BB962C8B-B14F-4D97-AF65-F5344CB8AC3E}">
        <p14:creationId xmlns:p14="http://schemas.microsoft.com/office/powerpoint/2010/main" val="3002201203"/>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D1C1A-88AF-F402-A9CC-C142AC82613F}"/>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6E30E7FD-0D24-0D4B-69D3-411E3D751FA0}"/>
              </a:ext>
            </a:extLst>
          </p:cNvPr>
          <p:cNvSpPr>
            <a:spLocks noGrp="1"/>
          </p:cNvSpPr>
          <p:nvPr>
            <p:ph idx="1"/>
          </p:nvPr>
        </p:nvSpPr>
        <p:spPr/>
        <p:txBody>
          <a:bodyPr/>
          <a:lstStyle/>
          <a:p>
            <a:endParaRPr lang="es-MX"/>
          </a:p>
        </p:txBody>
      </p:sp>
      <p:sp>
        <p:nvSpPr>
          <p:cNvPr id="4" name="Marcador de pie de página 3">
            <a:extLst>
              <a:ext uri="{FF2B5EF4-FFF2-40B4-BE49-F238E27FC236}">
                <a16:creationId xmlns:a16="http://schemas.microsoft.com/office/drawing/2014/main" id="{046BFF3B-D7B2-7A3F-AF30-3BDD89203020}"/>
              </a:ext>
            </a:extLst>
          </p:cNvPr>
          <p:cNvSpPr>
            <a:spLocks noGrp="1"/>
          </p:cNvSpPr>
          <p:nvPr>
            <p:ph type="ftr" sz="quarter" idx="11"/>
          </p:nvPr>
        </p:nvSpPr>
        <p:spPr/>
        <p:txBody>
          <a:bodyPr/>
          <a:lstStyle/>
          <a:p>
            <a:r>
              <a:rPr lang="es-MX"/>
              <a:t>Arabots Robotics</a:t>
            </a:r>
          </a:p>
        </p:txBody>
      </p:sp>
      <p:sp>
        <p:nvSpPr>
          <p:cNvPr id="5" name="Marcador de número de diapositiva 4">
            <a:extLst>
              <a:ext uri="{FF2B5EF4-FFF2-40B4-BE49-F238E27FC236}">
                <a16:creationId xmlns:a16="http://schemas.microsoft.com/office/drawing/2014/main" id="{3DE9B2EA-DFD6-7C01-587B-9E2C1A9ADB65}"/>
              </a:ext>
            </a:extLst>
          </p:cNvPr>
          <p:cNvSpPr>
            <a:spLocks noGrp="1"/>
          </p:cNvSpPr>
          <p:nvPr>
            <p:ph type="sldNum" sz="quarter" idx="12"/>
          </p:nvPr>
        </p:nvSpPr>
        <p:spPr/>
        <p:txBody>
          <a:bodyPr/>
          <a:lstStyle/>
          <a:p>
            <a:fld id="{4EA4A3B0-B5DF-4E2B-B48F-E4B7B7872040}" type="slidenum">
              <a:rPr lang="es-MX" smtClean="0"/>
              <a:t>215</a:t>
            </a:fld>
            <a:endParaRPr lang="es-MX"/>
          </a:p>
        </p:txBody>
      </p:sp>
    </p:spTree>
    <p:extLst>
      <p:ext uri="{BB962C8B-B14F-4D97-AF65-F5344CB8AC3E}">
        <p14:creationId xmlns:p14="http://schemas.microsoft.com/office/powerpoint/2010/main" val="177527392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5A738189797264DA4637ECA8F5FD20C" ma:contentTypeVersion="14" ma:contentTypeDescription="Create a new document." ma:contentTypeScope="" ma:versionID="4b0363d9ca5be9066ea8f411dfeb5596">
  <xsd:schema xmlns:xsd="http://www.w3.org/2001/XMLSchema" xmlns:xs="http://www.w3.org/2001/XMLSchema" xmlns:p="http://schemas.microsoft.com/office/2006/metadata/properties" xmlns:ns3="ae1131d4-667d-4635-bb03-aac31d9808d2" xmlns:ns4="00ac44ef-f240-4fdf-a4e8-4922c4c5b1dd" targetNamespace="http://schemas.microsoft.com/office/2006/metadata/properties" ma:root="true" ma:fieldsID="aad325cb941e150ed7f3b18bd6cc7d23" ns3:_="" ns4:_="">
    <xsd:import namespace="ae1131d4-667d-4635-bb03-aac31d9808d2"/>
    <xsd:import namespace="00ac44ef-f240-4fdf-a4e8-4922c4c5b1dd"/>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1131d4-667d-4635-bb03-aac31d9808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0ac44ef-f240-4fdf-a4e8-4922c4c5b1d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87A3C7-C34B-4EE4-9322-ECD8EB59F5AE}">
  <ds:schemaRefs>
    <ds:schemaRef ds:uri="http://schemas.microsoft.com/sharepoint/v3/contenttype/forms"/>
  </ds:schemaRefs>
</ds:datastoreItem>
</file>

<file path=customXml/itemProps2.xml><?xml version="1.0" encoding="utf-8"?>
<ds:datastoreItem xmlns:ds="http://schemas.openxmlformats.org/officeDocument/2006/customXml" ds:itemID="{ABB70E27-1A02-4775-9B1C-29F1A4F2E536}">
  <ds:schemaRefs>
    <ds:schemaRef ds:uri="http://purl.org/dc/dcmitype/"/>
    <ds:schemaRef ds:uri="ae1131d4-667d-4635-bb03-aac31d9808d2"/>
    <ds:schemaRef ds:uri="http://schemas.microsoft.com/office/infopath/2007/PartnerControls"/>
    <ds:schemaRef ds:uri="http://schemas.microsoft.com/office/2006/documentManagement/types"/>
    <ds:schemaRef ds:uri="http://schemas.microsoft.com/office/2006/metadata/properties"/>
    <ds:schemaRef ds:uri="http://purl.org/dc/terms/"/>
    <ds:schemaRef ds:uri="http://schemas.openxmlformats.org/package/2006/metadata/core-properties"/>
    <ds:schemaRef ds:uri="00ac44ef-f240-4fdf-a4e8-4922c4c5b1dd"/>
    <ds:schemaRef ds:uri="http://www.w3.org/XML/1998/namespace"/>
    <ds:schemaRef ds:uri="http://purl.org/dc/elements/1.1/"/>
  </ds:schemaRefs>
</ds:datastoreItem>
</file>

<file path=customXml/itemProps3.xml><?xml version="1.0" encoding="utf-8"?>
<ds:datastoreItem xmlns:ds="http://schemas.openxmlformats.org/officeDocument/2006/customXml" ds:itemID="{78BDA474-1299-4F6D-BF68-8F0351979A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1131d4-667d-4635-bb03-aac31d9808d2"/>
    <ds:schemaRef ds:uri="00ac44ef-f240-4fdf-a4e8-4922c4c5b1d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86477</TotalTime>
  <Words>20948</Words>
  <Application>Microsoft Office PowerPoint</Application>
  <PresentationFormat>Panorámica</PresentationFormat>
  <Paragraphs>1965</Paragraphs>
  <Slides>215</Slides>
  <Notes>2</Notes>
  <HiddenSlides>0</HiddenSlides>
  <MMClips>1</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215</vt:i4>
      </vt:variant>
    </vt:vector>
  </HeadingPairs>
  <TitlesOfParts>
    <vt:vector size="221" baseType="lpstr">
      <vt:lpstr>Arial</vt:lpstr>
      <vt:lpstr>Calibri</vt:lpstr>
      <vt:lpstr>Calibri Light</vt:lpstr>
      <vt:lpstr>sfmono-regular</vt:lpstr>
      <vt:lpstr>udemy sans</vt:lpstr>
      <vt:lpstr>Tema de Office</vt:lpstr>
      <vt:lpstr>Presentación de PowerPoint</vt:lpstr>
      <vt:lpstr>Print() A statement that, when executed, displays (or prints) the argument that is entered in parentheses on the screen.</vt:lpstr>
      <vt:lpstr>Practice Print 1.</vt:lpstr>
      <vt:lpstr>Presentación de PowerPoint</vt:lpstr>
      <vt:lpstr>Exercises Print</vt:lpstr>
      <vt:lpstr>Presentación de PowerPoint</vt:lpstr>
      <vt:lpstr>Ejercicios String </vt:lpstr>
      <vt:lpstr>Quiz</vt:lpstr>
      <vt:lpstr>Project 1 You're going to create a Python code that asks your friend to answer two questions that require a single word each and then shows them those words combined on the screen, to form a creative brand.</vt:lpstr>
      <vt:lpstr>Clase 2</vt:lpstr>
      <vt:lpstr>Types of data</vt:lpstr>
      <vt:lpstr>Presentación de PowerPoint</vt:lpstr>
      <vt:lpstr>Presentación de PowerPoint</vt:lpstr>
      <vt:lpstr>Variable Exercises</vt:lpstr>
      <vt:lpstr>Presentación de PowerPoint</vt:lpstr>
      <vt:lpstr>Presentación de PowerPoint</vt:lpstr>
      <vt:lpstr>Presentación de PowerPoint</vt:lpstr>
      <vt:lpstr>Presentación de PowerPoint</vt:lpstr>
      <vt:lpstr>Variable Exercises</vt:lpstr>
      <vt:lpstr>Presentación de PowerPoint</vt:lpstr>
      <vt:lpstr>Presentación de PowerPoint</vt:lpstr>
      <vt:lpstr>Presentación de PowerPoint</vt:lpstr>
      <vt:lpstr>Operator Exercises</vt:lpstr>
      <vt:lpstr>rounding</vt:lpstr>
      <vt:lpstr>Rounding Exercises</vt:lpstr>
      <vt:lpstr>Quiz 2</vt:lpstr>
      <vt:lpstr>Sets may contain duplicate values?</vt:lpstr>
      <vt:lpstr>Suppose we run the following code:  num1 = 10 num2 = 25 num1 = num2 What will be the value of num1 and num2 upon completion?</vt:lpstr>
      <vt:lpstr>What kind is the result of the following sum?  print(type(7.5 + 2.5))</vt:lpstr>
      <vt:lpstr>Given a variable called num1, with a value of 13.87:  num1 = 13.87  The following lines in Python would yield the same result:  print(round(num1)) print(int(num1))</vt:lpstr>
      <vt:lpstr>What type is the value of variable num1?  num1 = round(13/2,0)</vt:lpstr>
      <vt:lpstr>Which of the following operators would help me detect whether a value is odd or even?  / // % **0.5</vt:lpstr>
      <vt:lpstr>Project2</vt:lpstr>
      <vt:lpstr>This isn't a complex program, but it's understandable that it can get complicated when you're learning. As simple as what you've learned so far is very simple, putting it all together in a single program can be complex, so I'll give you a couple of helps:</vt:lpstr>
      <vt:lpstr>Inicio de la Clase 3</vt:lpstr>
      <vt:lpstr>Index( ) </vt:lpstr>
      <vt:lpstr>Ejercicios</vt:lpstr>
      <vt:lpstr>Substrings</vt:lpstr>
      <vt:lpstr>Ejercicios</vt:lpstr>
      <vt:lpstr>strings: métodos</vt:lpstr>
      <vt:lpstr>Presentación de PowerPoint</vt:lpstr>
      <vt:lpstr>Presentación de PowerPoint</vt:lpstr>
      <vt:lpstr>Presentación de PowerPoint</vt:lpstr>
      <vt:lpstr>métodos de transformación</vt:lpstr>
      <vt:lpstr>Presentación de PowerPoint</vt:lpstr>
      <vt:lpstr>Presentación de PowerPoint</vt:lpstr>
      <vt:lpstr>Método de separación y union</vt:lpstr>
      <vt:lpstr>Presentación de PowerPoint</vt:lpstr>
      <vt:lpstr>Ejercicios</vt:lpstr>
      <vt:lpstr>Propiedades de Strings</vt:lpstr>
      <vt:lpstr>Ejercicio</vt:lpstr>
      <vt:lpstr>Listas</vt:lpstr>
      <vt:lpstr>Presentación de PowerPoint</vt:lpstr>
      <vt:lpstr>Presentación de PowerPoint</vt:lpstr>
      <vt:lpstr>Sets Los sets son otro tipo de estructuras de datos. Se diferencian de listas, tuplas y diccionarios porque son una colección mutable de elementos inmutables, no ordenados y sin datos repetidos. </vt:lpstr>
      <vt:lpstr>Presentación de PowerPoint</vt:lpstr>
      <vt:lpstr>Presentación de PowerPoint</vt:lpstr>
      <vt:lpstr>Presentación de PowerPoint</vt:lpstr>
      <vt:lpstr>Presentación de PowerPoint</vt:lpstr>
      <vt:lpstr>Presentación de PowerPoint</vt:lpstr>
      <vt:lpstr>Presentación de PowerPoint</vt:lpstr>
      <vt:lpstr>Ejercicio</vt:lpstr>
      <vt:lpstr>Diccionarios</vt:lpstr>
      <vt:lpstr>Ejercicios</vt:lpstr>
      <vt:lpstr>Tuples  Los tuples o tuplas, son estructuras de datos que almacenan múltiples elementos en una única variable. Se caracterizan por ser ordenadas e inmutables. Esta característica las hace más eficientes en memoria y a prueba de daños. </vt:lpstr>
      <vt:lpstr>Ejercicios</vt:lpstr>
      <vt:lpstr>Booleanos</vt:lpstr>
      <vt:lpstr>Ejercicios</vt:lpstr>
      <vt:lpstr>Questionario</vt:lpstr>
      <vt:lpstr>Presentación de PowerPoint</vt:lpstr>
      <vt:lpstr>Proyecto 3</vt:lpstr>
      <vt:lpstr>Semana 4</vt:lpstr>
      <vt:lpstr>Operados de comparación </vt:lpstr>
      <vt:lpstr>Ejercicio</vt:lpstr>
      <vt:lpstr>Ejercicio</vt:lpstr>
      <vt:lpstr>Ejercicios</vt:lpstr>
      <vt:lpstr>Operadores lógicos</vt:lpstr>
      <vt:lpstr>Ejercicio</vt:lpstr>
      <vt:lpstr>control de flujo</vt:lpstr>
      <vt:lpstr>Ejercicios </vt:lpstr>
      <vt:lpstr>Ejercicio</vt:lpstr>
      <vt:lpstr>Loops for</vt:lpstr>
      <vt:lpstr>Loops for</vt:lpstr>
      <vt:lpstr>Ejercicio</vt:lpstr>
      <vt:lpstr>Loops while</vt:lpstr>
      <vt:lpstr>Presentación de PowerPoint</vt:lpstr>
      <vt:lpstr>Presentación de PowerPoint</vt:lpstr>
      <vt:lpstr>Presentación de PowerPoint</vt:lpstr>
      <vt:lpstr>Función range()</vt:lpstr>
      <vt:lpstr>Ejercicio</vt:lpstr>
      <vt:lpstr>Función enumerate( )</vt:lpstr>
      <vt:lpstr>Presentación de PowerPoint</vt:lpstr>
      <vt:lpstr>Ejercicio</vt:lpstr>
      <vt:lpstr>Ejercicio</vt:lpstr>
      <vt:lpstr>Ejercicio</vt:lpstr>
      <vt:lpstr>Función Zip()</vt:lpstr>
      <vt:lpstr>Ejercicio</vt:lpstr>
      <vt:lpstr>Ejercicio</vt:lpstr>
      <vt:lpstr>Ejercicio</vt:lpstr>
      <vt:lpstr>Max() &amp; Min()</vt:lpstr>
      <vt:lpstr>Ejercicio</vt:lpstr>
      <vt:lpstr>Ejercicio</vt:lpstr>
      <vt:lpstr>Ejercicio</vt:lpstr>
      <vt:lpstr>Random()</vt:lpstr>
      <vt:lpstr>Ejercicio</vt:lpstr>
      <vt:lpstr>Ejercicio</vt:lpstr>
      <vt:lpstr>Ejercicio</vt:lpstr>
      <vt:lpstr>Comprensión de listas</vt:lpstr>
      <vt:lpstr>Comprensión de listas</vt:lpstr>
      <vt:lpstr>Práctica 1</vt:lpstr>
      <vt:lpstr>Practica 2  </vt:lpstr>
      <vt:lpstr>Practica 3  </vt:lpstr>
      <vt:lpstr>Quiz  </vt:lpstr>
      <vt:lpstr>Quiz  </vt:lpstr>
      <vt:lpstr>Quiz  </vt:lpstr>
      <vt:lpstr>match  </vt:lpstr>
      <vt:lpstr>Proyecto del día: Adivina el número </vt:lpstr>
      <vt:lpstr>Proyecto del día: Adivina el número </vt:lpstr>
      <vt:lpstr>Clase 4 </vt:lpstr>
      <vt:lpstr>Documentación </vt:lpstr>
      <vt:lpstr>Buscar en documentacion</vt:lpstr>
      <vt:lpstr>Remueve los caracteres a la izquierda de nuestro texto principal: </vt:lpstr>
      <vt:lpstr>Funciones </vt:lpstr>
      <vt:lpstr>Funciones</vt:lpstr>
      <vt:lpstr>Ejercicios definicion de funciones</vt:lpstr>
      <vt:lpstr>Return</vt:lpstr>
      <vt:lpstr>Presentación de PowerPoint</vt:lpstr>
      <vt:lpstr>Ejercicios</vt:lpstr>
      <vt:lpstr>funciones dinámicas</vt:lpstr>
      <vt:lpstr>Presentación de PowerPoint</vt:lpstr>
      <vt:lpstr>Ejercicios </vt:lpstr>
      <vt:lpstr>Interacción entre funciones</vt:lpstr>
      <vt:lpstr>Ejercicios</vt:lpstr>
      <vt:lpstr>*args</vt:lpstr>
      <vt:lpstr>Ejercicios</vt:lpstr>
      <vt:lpstr>**kwargs  </vt:lpstr>
      <vt:lpstr>Ejercicios </vt:lpstr>
      <vt:lpstr>Problemas prácticos (ejercicios)</vt:lpstr>
      <vt:lpstr>Proyecto 5</vt:lpstr>
      <vt:lpstr>Termina Clase 20/01/2023</vt:lpstr>
      <vt:lpstr>Clase 6 </vt:lpstr>
      <vt:lpstr>abrir y leer archivos</vt:lpstr>
      <vt:lpstr>Ejercicios</vt:lpstr>
      <vt:lpstr>Crear y escribir archivos </vt:lpstr>
      <vt:lpstr>ejercicios</vt:lpstr>
      <vt:lpstr>directorios</vt:lpstr>
      <vt:lpstr>Cuestionario 6 Preguntas sobre directorios </vt:lpstr>
      <vt:lpstr>pathlib</vt:lpstr>
      <vt:lpstr>Cuestionario 7: Preguntas sobre Pathlib</vt:lpstr>
      <vt:lpstr>Path</vt:lpstr>
      <vt:lpstr>Ejercicios </vt:lpstr>
      <vt:lpstr>limpiar la consola</vt:lpstr>
      <vt:lpstr>Archivo + Funciones </vt:lpstr>
      <vt:lpstr>Ejercicios</vt:lpstr>
      <vt:lpstr>Proyecto  DIA 6</vt:lpstr>
      <vt:lpstr>Fin de la clase 6</vt:lpstr>
      <vt:lpstr>Clase 7</vt:lpstr>
      <vt:lpstr>Clase 7 (clases)</vt:lpstr>
      <vt:lpstr>Como se conforma una clase</vt:lpstr>
      <vt:lpstr>Eercicios</vt:lpstr>
      <vt:lpstr>Atributos</vt:lpstr>
      <vt:lpstr>Presentación de PowerPoint</vt:lpstr>
      <vt:lpstr>Ejercicios</vt:lpstr>
      <vt:lpstr>Metodos</vt:lpstr>
      <vt:lpstr>Presentación de PowerPoint</vt:lpstr>
      <vt:lpstr>Ejercicios</vt:lpstr>
      <vt:lpstr>Tipos de metodos</vt:lpstr>
      <vt:lpstr>Herencia</vt:lpstr>
      <vt:lpstr>Ejercicios</vt:lpstr>
      <vt:lpstr>Herencia Extendida </vt:lpstr>
      <vt:lpstr>Presentación de PowerPoint</vt:lpstr>
      <vt:lpstr>Ejercicios</vt:lpstr>
      <vt:lpstr>Polimorfismo</vt:lpstr>
      <vt:lpstr>Ejercicios</vt:lpstr>
      <vt:lpstr>Pilares de la Programación Orientada a Objetos</vt:lpstr>
      <vt:lpstr>Métodos Especiales </vt:lpstr>
      <vt:lpstr>Ejercicios</vt:lpstr>
      <vt:lpstr>Fin clase 7</vt:lpstr>
      <vt:lpstr>Clase 8</vt:lpstr>
      <vt:lpstr>Clase 8 Instalar paquetes </vt:lpstr>
      <vt:lpstr>Módulos y Paquetes </vt:lpstr>
      <vt:lpstr>Manejo de errores </vt:lpstr>
      <vt:lpstr>Presentación de PowerPoint</vt:lpstr>
      <vt:lpstr>Pylint </vt:lpstr>
      <vt:lpstr>Unittest</vt:lpstr>
      <vt:lpstr>Presentación de PowerPoint</vt:lpstr>
      <vt:lpstr>Decoradores </vt:lpstr>
      <vt:lpstr>Generadores </vt:lpstr>
      <vt:lpstr>Ejercicios</vt:lpstr>
      <vt:lpstr>end</vt:lpstr>
      <vt:lpstr>Clase 9 Collections</vt:lpstr>
      <vt:lpstr>Presentación de PowerPoint</vt:lpstr>
      <vt:lpstr>Ejercicios</vt:lpstr>
      <vt:lpstr>Módulos shutil </vt:lpstr>
      <vt:lpstr>Datetime</vt:lpstr>
      <vt:lpstr>Presentación de PowerPoint</vt:lpstr>
      <vt:lpstr>Ejercicios</vt:lpstr>
      <vt:lpstr>Medir el Tiempo</vt:lpstr>
      <vt:lpstr>Presentación de PowerPoint</vt:lpstr>
      <vt:lpstr>Math</vt:lpstr>
      <vt:lpstr>Ejercicios </vt:lpstr>
      <vt:lpstr>Expresiones Regulares </vt:lpstr>
      <vt:lpstr>Presentación de PowerPoint</vt:lpstr>
      <vt:lpstr>Presentación de PowerPoint</vt:lpstr>
      <vt:lpstr>Ejercicios</vt:lpstr>
      <vt:lpstr>Comprimir y Descomprimir Archivos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Rodrigo Rodriguez Rodriguez</dc:creator>
  <cp:lastModifiedBy>Rodrigo Rodriguez Rodriguez</cp:lastModifiedBy>
  <cp:revision>56</cp:revision>
  <dcterms:created xsi:type="dcterms:W3CDTF">2022-10-15T03:19:51Z</dcterms:created>
  <dcterms:modified xsi:type="dcterms:W3CDTF">2025-09-20T17:10:28Z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0x01010025A738189797264DA4637ECA8F5FD20C</vt:lpwstr>
  </property>
</Properties>
</file>